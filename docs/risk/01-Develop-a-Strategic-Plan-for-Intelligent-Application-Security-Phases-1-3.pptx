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theme/theme4.xml" ContentType="application/vnd.openxmlformats-officedocument.theme+xml"/>
  <Override PartName="/ppt/slideLayouts/slideLayout23.xml" ContentType="application/vnd.openxmlformats-officedocument.presentationml.slideLayout+xml"/>
  <Override PartName="/ppt/theme/theme5.xml" ContentType="application/vnd.openxmlformats-officedocument.theme+xml"/>
  <Override PartName="/ppt/slideLayouts/slideLayout24.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 id="2147483667" r:id="rId2"/>
    <p:sldMasterId id="2147483817" r:id="rId3"/>
    <p:sldMasterId id="2147483838" r:id="rId4"/>
    <p:sldMasterId id="2147483852" r:id="rId5"/>
    <p:sldMasterId id="2147483887" r:id="rId6"/>
  </p:sldMasterIdLst>
  <p:notesMasterIdLst>
    <p:notesMasterId r:id="rId77"/>
  </p:notesMasterIdLst>
  <p:handoutMasterIdLst>
    <p:handoutMasterId r:id="rId78"/>
  </p:handoutMasterIdLst>
  <p:sldIdLst>
    <p:sldId id="347" r:id="rId7"/>
    <p:sldId id="308" r:id="rId8"/>
    <p:sldId id="312" r:id="rId9"/>
    <p:sldId id="4327" r:id="rId10"/>
    <p:sldId id="535" r:id="rId11"/>
    <p:sldId id="256" r:id="rId12"/>
    <p:sldId id="4278" r:id="rId13"/>
    <p:sldId id="4279" r:id="rId14"/>
    <p:sldId id="4280" r:id="rId15"/>
    <p:sldId id="4281" r:id="rId16"/>
    <p:sldId id="4282" r:id="rId17"/>
    <p:sldId id="4283" r:id="rId18"/>
    <p:sldId id="4284" r:id="rId19"/>
    <p:sldId id="2147473768" r:id="rId20"/>
    <p:sldId id="4286" r:id="rId21"/>
    <p:sldId id="4287" r:id="rId22"/>
    <p:sldId id="4315" r:id="rId23"/>
    <p:sldId id="4325" r:id="rId24"/>
    <p:sldId id="4288" r:id="rId25"/>
    <p:sldId id="2147473273" r:id="rId26"/>
    <p:sldId id="4316" r:id="rId27"/>
    <p:sldId id="4317" r:id="rId28"/>
    <p:sldId id="3923" r:id="rId29"/>
    <p:sldId id="4318" r:id="rId30"/>
    <p:sldId id="4330" r:id="rId31"/>
    <p:sldId id="4319" r:id="rId32"/>
    <p:sldId id="2147473762" r:id="rId33"/>
    <p:sldId id="2147473766" r:id="rId34"/>
    <p:sldId id="4309" r:id="rId35"/>
    <p:sldId id="4324" r:id="rId36"/>
    <p:sldId id="4331" r:id="rId37"/>
    <p:sldId id="4334" r:id="rId38"/>
    <p:sldId id="4335" r:id="rId39"/>
    <p:sldId id="4289" r:id="rId40"/>
    <p:sldId id="4290" r:id="rId41"/>
    <p:sldId id="3873" r:id="rId42"/>
    <p:sldId id="2147473760" r:id="rId43"/>
    <p:sldId id="4293" r:id="rId44"/>
    <p:sldId id="4294" r:id="rId45"/>
    <p:sldId id="4295" r:id="rId46"/>
    <p:sldId id="4296" r:id="rId47"/>
    <p:sldId id="4326" r:id="rId48"/>
    <p:sldId id="4314" r:id="rId49"/>
    <p:sldId id="2147473761" r:id="rId50"/>
    <p:sldId id="2147473767" r:id="rId51"/>
    <p:sldId id="4320" r:id="rId52"/>
    <p:sldId id="4321" r:id="rId53"/>
    <p:sldId id="4299" r:id="rId54"/>
    <p:sldId id="4322" r:id="rId55"/>
    <p:sldId id="2147473770" r:id="rId56"/>
    <p:sldId id="4313" r:id="rId57"/>
    <p:sldId id="4328" r:id="rId58"/>
    <p:sldId id="4303" r:id="rId59"/>
    <p:sldId id="4304" r:id="rId60"/>
    <p:sldId id="4300" r:id="rId61"/>
    <p:sldId id="4301" r:id="rId62"/>
    <p:sldId id="4332" r:id="rId63"/>
    <p:sldId id="5195" r:id="rId64"/>
    <p:sldId id="4329" r:id="rId65"/>
    <p:sldId id="4305" r:id="rId66"/>
    <p:sldId id="4302" r:id="rId67"/>
    <p:sldId id="2147473763" r:id="rId68"/>
    <p:sldId id="2147473764" r:id="rId69"/>
    <p:sldId id="4308" r:id="rId70"/>
    <p:sldId id="4310" r:id="rId71"/>
    <p:sldId id="4311" r:id="rId72"/>
    <p:sldId id="4312" r:id="rId73"/>
    <p:sldId id="3911" r:id="rId74"/>
    <p:sldId id="2147473769" r:id="rId75"/>
    <p:sldId id="2147473765" r:id="rId76"/>
  </p:sldIdLst>
  <p:sldSz cx="12193588" cy="6858000"/>
  <p:notesSz cx="11309350" cy="20104100"/>
  <p:embeddedFontLst>
    <p:embeddedFont>
      <p:font typeface="Exo" panose="02000303000000000000" pitchFamily="2" charset="0"/>
      <p:regular r:id="rId79"/>
      <p:bold r:id="rId80"/>
      <p:italic r:id="rId81"/>
      <p:boldItalic r:id="rId82"/>
    </p:embeddedFont>
    <p:embeddedFont>
      <p:font typeface="Exo Light" panose="02000303000000000000" pitchFamily="2" charset="0"/>
      <p:regular r:id="rId83"/>
      <p:italic r:id="rId84"/>
    </p:embeddedFont>
    <p:embeddedFont>
      <p:font typeface="Montserrat" panose="00000500000000000000" pitchFamily="2" charset="0"/>
      <p:regular r:id="rId85"/>
      <p:bold r:id="rId86"/>
      <p:italic r:id="rId87"/>
      <p:boldItalic r:id="rId88"/>
    </p:embeddedFont>
    <p:embeddedFont>
      <p:font typeface="Montserrat Medium" panose="00000600000000000000" pitchFamily="2" charset="0"/>
      <p:regular r:id="rId89"/>
      <p:bold r:id="rId90"/>
      <p:italic r:id="rId91"/>
    </p:embeddedFont>
    <p:embeddedFont>
      <p:font typeface="Montserrat SemiBold" panose="00000700000000000000" pitchFamily="2" charset="0"/>
      <p:regular r:id="rId92"/>
      <p:bold r:id="rId93"/>
      <p:italic r:id="rId94"/>
      <p:boldItalic r:id="rId95"/>
    </p:embeddedFont>
    <p:embeddedFont>
      <p:font typeface="Roboto" panose="02000000000000000000" pitchFamily="2" charset="0"/>
      <p:regular r:id="rId96"/>
      <p:bold r:id="rId97"/>
      <p:italic r:id="rId98"/>
      <p:boldItalic r:id="rId99"/>
    </p:embeddedFont>
    <p:embeddedFont>
      <p:font typeface="Roboto Condensed ExtraLight" panose="020B0604020202020204" charset="0"/>
      <p:regular r:id="rId100"/>
      <p:italic r:id="rId101"/>
    </p:embeddedFont>
    <p:embeddedFont>
      <p:font typeface="Roboto Condensed Light" panose="02000000000000000000" pitchFamily="2" charset="0"/>
      <p:regular r:id="rId102"/>
      <p:italic r:id="rId103"/>
    </p:embeddedFont>
  </p:embeddedFontLst>
  <p:defaultTextStyle>
    <a:defPPr>
      <a:defRPr lang="en-US"/>
    </a:defPPr>
    <a:lvl1pPr marL="0" algn="l" defTabSz="554492" rtl="0" eaLnBrk="1" latinLnBrk="0" hangingPunct="1">
      <a:defRPr sz="1092" kern="1200">
        <a:solidFill>
          <a:schemeClr val="tx1"/>
        </a:solidFill>
        <a:latin typeface="+mn-lt"/>
        <a:ea typeface="+mn-ea"/>
        <a:cs typeface="+mn-cs"/>
      </a:defRPr>
    </a:lvl1pPr>
    <a:lvl2pPr marL="277246" algn="l" defTabSz="554492" rtl="0" eaLnBrk="1" latinLnBrk="0" hangingPunct="1">
      <a:defRPr sz="1092" kern="1200">
        <a:solidFill>
          <a:schemeClr val="tx1"/>
        </a:solidFill>
        <a:latin typeface="+mn-lt"/>
        <a:ea typeface="+mn-ea"/>
        <a:cs typeface="+mn-cs"/>
      </a:defRPr>
    </a:lvl2pPr>
    <a:lvl3pPr marL="554492" algn="l" defTabSz="554492" rtl="0" eaLnBrk="1" latinLnBrk="0" hangingPunct="1">
      <a:defRPr sz="1092" kern="1200">
        <a:solidFill>
          <a:schemeClr val="tx1"/>
        </a:solidFill>
        <a:latin typeface="+mn-lt"/>
        <a:ea typeface="+mn-ea"/>
        <a:cs typeface="+mn-cs"/>
      </a:defRPr>
    </a:lvl3pPr>
    <a:lvl4pPr marL="831738" algn="l" defTabSz="554492" rtl="0" eaLnBrk="1" latinLnBrk="0" hangingPunct="1">
      <a:defRPr sz="1092" kern="1200">
        <a:solidFill>
          <a:schemeClr val="tx1"/>
        </a:solidFill>
        <a:latin typeface="+mn-lt"/>
        <a:ea typeface="+mn-ea"/>
        <a:cs typeface="+mn-cs"/>
      </a:defRPr>
    </a:lvl4pPr>
    <a:lvl5pPr marL="1108984" algn="l" defTabSz="554492" rtl="0" eaLnBrk="1" latinLnBrk="0" hangingPunct="1">
      <a:defRPr sz="1092" kern="1200">
        <a:solidFill>
          <a:schemeClr val="tx1"/>
        </a:solidFill>
        <a:latin typeface="+mn-lt"/>
        <a:ea typeface="+mn-ea"/>
        <a:cs typeface="+mn-cs"/>
      </a:defRPr>
    </a:lvl5pPr>
    <a:lvl6pPr marL="1386230" algn="l" defTabSz="554492" rtl="0" eaLnBrk="1" latinLnBrk="0" hangingPunct="1">
      <a:defRPr sz="1092" kern="1200">
        <a:solidFill>
          <a:schemeClr val="tx1"/>
        </a:solidFill>
        <a:latin typeface="+mn-lt"/>
        <a:ea typeface="+mn-ea"/>
        <a:cs typeface="+mn-cs"/>
      </a:defRPr>
    </a:lvl6pPr>
    <a:lvl7pPr marL="1663476" algn="l" defTabSz="554492" rtl="0" eaLnBrk="1" latinLnBrk="0" hangingPunct="1">
      <a:defRPr sz="1092" kern="1200">
        <a:solidFill>
          <a:schemeClr val="tx1"/>
        </a:solidFill>
        <a:latin typeface="+mn-lt"/>
        <a:ea typeface="+mn-ea"/>
        <a:cs typeface="+mn-cs"/>
      </a:defRPr>
    </a:lvl7pPr>
    <a:lvl8pPr marL="1940723" algn="l" defTabSz="554492" rtl="0" eaLnBrk="1" latinLnBrk="0" hangingPunct="1">
      <a:defRPr sz="1092" kern="1200">
        <a:solidFill>
          <a:schemeClr val="tx1"/>
        </a:solidFill>
        <a:latin typeface="+mn-lt"/>
        <a:ea typeface="+mn-ea"/>
        <a:cs typeface="+mn-cs"/>
      </a:defRPr>
    </a:lvl8pPr>
    <a:lvl9pPr marL="2217969" algn="l" defTabSz="554492" rtl="0" eaLnBrk="1" latinLnBrk="0" hangingPunct="1">
      <a:defRPr sz="1092"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0D02B3F6-70F4-8645-B5BA-8B11454C6E34}">
          <p14:sldIdLst>
            <p14:sldId id="347"/>
            <p14:sldId id="308"/>
            <p14:sldId id="312"/>
            <p14:sldId id="4327"/>
            <p14:sldId id="535"/>
            <p14:sldId id="256"/>
            <p14:sldId id="4278"/>
            <p14:sldId id="4279"/>
            <p14:sldId id="4280"/>
            <p14:sldId id="4281"/>
            <p14:sldId id="4282"/>
            <p14:sldId id="4283"/>
            <p14:sldId id="4284"/>
            <p14:sldId id="2147473768"/>
            <p14:sldId id="4286"/>
          </p14:sldIdLst>
        </p14:section>
        <p14:section name="Phase 1" id="{A95FF588-E3AC-4A03-AA6D-A396BB8BAE81}">
          <p14:sldIdLst>
            <p14:sldId id="4287"/>
            <p14:sldId id="4315"/>
            <p14:sldId id="4325"/>
            <p14:sldId id="4288"/>
            <p14:sldId id="2147473273"/>
            <p14:sldId id="4316"/>
            <p14:sldId id="4317"/>
            <p14:sldId id="3923"/>
            <p14:sldId id="4318"/>
            <p14:sldId id="4330"/>
            <p14:sldId id="4319"/>
            <p14:sldId id="2147473762"/>
            <p14:sldId id="2147473766"/>
            <p14:sldId id="4309"/>
            <p14:sldId id="4324"/>
            <p14:sldId id="4331"/>
            <p14:sldId id="4334"/>
            <p14:sldId id="4335"/>
          </p14:sldIdLst>
        </p14:section>
        <p14:section name="Phase 2" id="{22D582D8-574B-4440-903F-FBAB30E01917}">
          <p14:sldIdLst>
            <p14:sldId id="4289"/>
            <p14:sldId id="4290"/>
            <p14:sldId id="3873"/>
            <p14:sldId id="2147473760"/>
            <p14:sldId id="4293"/>
            <p14:sldId id="4294"/>
            <p14:sldId id="4295"/>
            <p14:sldId id="4296"/>
            <p14:sldId id="4326"/>
            <p14:sldId id="4314"/>
            <p14:sldId id="2147473761"/>
            <p14:sldId id="2147473767"/>
            <p14:sldId id="4320"/>
            <p14:sldId id="4321"/>
            <p14:sldId id="4299"/>
            <p14:sldId id="4322"/>
            <p14:sldId id="2147473770"/>
            <p14:sldId id="4313"/>
            <p14:sldId id="4328"/>
          </p14:sldIdLst>
        </p14:section>
        <p14:section name="Phase 3" id="{37A97802-54F0-4022-AC8E-0043D6B9FB99}">
          <p14:sldIdLst>
            <p14:sldId id="4303"/>
            <p14:sldId id="4304"/>
            <p14:sldId id="4300"/>
            <p14:sldId id="4301"/>
            <p14:sldId id="4332"/>
            <p14:sldId id="5195"/>
            <p14:sldId id="4329"/>
            <p14:sldId id="4305"/>
            <p14:sldId id="4302"/>
            <p14:sldId id="2147473763"/>
            <p14:sldId id="2147473764"/>
            <p14:sldId id="4308"/>
          </p14:sldIdLst>
        </p14:section>
        <p14:section name="Conclusion" id="{414C3626-FF0F-4D9F-9793-3AF9C4A496F6}">
          <p14:sldIdLst>
            <p14:sldId id="4310"/>
            <p14:sldId id="4311"/>
            <p14:sldId id="4312"/>
          </p14:sldIdLst>
        </p14:section>
        <p14:section name="Bibliography" id="{65784BB2-FA45-4DBD-81DC-96BF1E3E2206}">
          <p14:sldIdLst>
            <p14:sldId id="3911"/>
            <p14:sldId id="2147473769"/>
            <p14:sldId id="2147473765"/>
          </p14:sldIdLst>
        </p14:section>
      </p14:sectionLst>
    </p:ext>
    <p:ext uri="{EFAFB233-063F-42B5-8137-9DF3F51BA10A}">
      <p15:sldGuideLst xmlns:p15="http://schemas.microsoft.com/office/powerpoint/2012/main">
        <p15:guide id="1" orient="horz" pos="3792"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6B7"/>
    <a:srgbClr val="C3D9EB"/>
    <a:srgbClr val="717171"/>
    <a:srgbClr val="7CADD4"/>
    <a:srgbClr val="5E3391"/>
    <a:srgbClr val="E9F3FB"/>
    <a:srgbClr val="000000"/>
    <a:srgbClr val="4A4A4A"/>
    <a:srgbClr val="F17A26"/>
    <a:srgbClr val="5E32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9228EC-A63D-4145-B638-3DA2A56149F5}" v="7" dt="2025-12-08T20:14:41.46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97" d="100"/>
          <a:sy n="97" d="100"/>
        </p:scale>
        <p:origin x="810" y="306"/>
      </p:cViewPr>
      <p:guideLst>
        <p:guide orient="horz" pos="3792"/>
        <p:guide pos="3817"/>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font" Target="fonts/font6.fntdata"/><Relationship Id="rId89" Type="http://schemas.openxmlformats.org/officeDocument/2006/relationships/font" Target="fonts/font11.fntdata"/><Relationship Id="rId16" Type="http://schemas.openxmlformats.org/officeDocument/2006/relationships/slide" Target="slides/slide10.xml"/><Relationship Id="rId107" Type="http://schemas.openxmlformats.org/officeDocument/2006/relationships/theme" Target="theme/theme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font" Target="fonts/font1.fntdata"/><Relationship Id="rId102" Type="http://schemas.openxmlformats.org/officeDocument/2006/relationships/font" Target="fonts/font24.fntdata"/><Relationship Id="rId5" Type="http://schemas.openxmlformats.org/officeDocument/2006/relationships/slideMaster" Target="slideMasters/slideMaster5.xml"/><Relationship Id="rId90" Type="http://schemas.openxmlformats.org/officeDocument/2006/relationships/font" Target="fonts/font12.fntdata"/><Relationship Id="rId95" Type="http://schemas.openxmlformats.org/officeDocument/2006/relationships/font" Target="fonts/font17.fntdata"/><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font" Target="fonts/font2.fntdata"/><Relationship Id="rId85" Type="http://schemas.openxmlformats.org/officeDocument/2006/relationships/font" Target="fonts/font7.fntdata"/><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font" Target="fonts/font25.fntdata"/><Relationship Id="rId108" Type="http://schemas.openxmlformats.org/officeDocument/2006/relationships/tableStyles" Target="tableStyles.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font" Target="fonts/font13.fntdata"/><Relationship Id="rId96"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viewProps" Target="view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handoutMaster" Target="handoutMasters/handoutMaster1.xml"/><Relationship Id="rId81" Type="http://schemas.openxmlformats.org/officeDocument/2006/relationships/font" Target="fonts/font3.fntdata"/><Relationship Id="rId86" Type="http://schemas.openxmlformats.org/officeDocument/2006/relationships/font" Target="fonts/font8.fntdata"/><Relationship Id="rId94" Type="http://schemas.openxmlformats.org/officeDocument/2006/relationships/font" Target="fonts/font16.fntdata"/><Relationship Id="rId99" Type="http://schemas.openxmlformats.org/officeDocument/2006/relationships/font" Target="fonts/font21.fntdata"/><Relationship Id="rId101" Type="http://schemas.openxmlformats.org/officeDocument/2006/relationships/font" Target="fonts/font23.fntdata"/><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microsoft.com/office/2015/10/relationships/revisionInfo" Target="revisionInfo.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font" Target="fonts/font19.fntdata"/><Relationship Id="rId104" Type="http://schemas.openxmlformats.org/officeDocument/2006/relationships/commentAuthors" Target="commentAuthors.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font" Target="fonts/font14.fntdata"/><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font" Target="fonts/font9.fntdata"/><Relationship Id="rId110" Type="http://schemas.microsoft.com/office/2018/10/relationships/authors" Target="authors.xml"/><Relationship Id="rId61" Type="http://schemas.openxmlformats.org/officeDocument/2006/relationships/slide" Target="slides/slide55.xml"/><Relationship Id="rId82" Type="http://schemas.openxmlformats.org/officeDocument/2006/relationships/font" Target="fonts/font4.fntdata"/><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notesMaster" Target="notesMasters/notesMaster1.xml"/><Relationship Id="rId100" Type="http://schemas.openxmlformats.org/officeDocument/2006/relationships/font" Target="fonts/font22.fntdata"/><Relationship Id="rId105"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font" Target="fonts/font15.fntdata"/><Relationship Id="rId98" Type="http://schemas.openxmlformats.org/officeDocument/2006/relationships/font" Target="fonts/font20.fntdata"/><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font" Target="fonts/font5.fntdata"/><Relationship Id="rId88" Type="http://schemas.openxmlformats.org/officeDocument/2006/relationships/font" Target="fonts/font10.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Sheet1!$B$1</c:f>
              <c:strCache>
                <c:ptCount val="1"/>
                <c:pt idx="0">
                  <c:v>Sales</c:v>
                </c:pt>
              </c:strCache>
            </c:strRef>
          </c:tx>
          <c:spPr>
            <a:solidFill>
              <a:srgbClr val="2576B7"/>
            </a:solidFill>
            <a:ln>
              <a:noFill/>
            </a:ln>
          </c:spPr>
          <c:dPt>
            <c:idx val="0"/>
            <c:bubble3D val="0"/>
            <c:spPr>
              <a:gradFill>
                <a:gsLst>
                  <a:gs pos="0">
                    <a:schemeClr val="accent1">
                      <a:lumMod val="40000"/>
                      <a:lumOff val="60000"/>
                    </a:schemeClr>
                  </a:gs>
                  <a:gs pos="65000">
                    <a:srgbClr val="2576B7"/>
                  </a:gs>
                </a:gsLst>
                <a:lin ang="2700000" scaled="0"/>
              </a:gradFill>
              <a:ln w="66675">
                <a:noFill/>
              </a:ln>
              <a:effectLst/>
            </c:spPr>
            <c:extLst>
              <c:ext xmlns:c16="http://schemas.microsoft.com/office/drawing/2014/chart" uri="{C3380CC4-5D6E-409C-BE32-E72D297353CC}">
                <c16:uniqueId val="{00000001-7497-4D8F-8328-2685EAF680A2}"/>
              </c:ext>
            </c:extLst>
          </c:dPt>
          <c:dPt>
            <c:idx val="1"/>
            <c:bubble3D val="0"/>
            <c:spPr>
              <a:gradFill>
                <a:gsLst>
                  <a:gs pos="0">
                    <a:srgbClr val="2576B7">
                      <a:alpha val="3000"/>
                    </a:srgbClr>
                  </a:gs>
                  <a:gs pos="99000">
                    <a:srgbClr val="2576B7">
                      <a:alpha val="26000"/>
                    </a:srgbClr>
                  </a:gs>
                </a:gsLst>
                <a:lin ang="2700000" scaled="0"/>
              </a:gradFill>
              <a:ln w="19050">
                <a:noFill/>
              </a:ln>
              <a:effectLst/>
            </c:spPr>
            <c:extLst>
              <c:ext xmlns:c16="http://schemas.microsoft.com/office/drawing/2014/chart" uri="{C3380CC4-5D6E-409C-BE32-E72D297353CC}">
                <c16:uniqueId val="{00000003-7497-4D8F-8328-2685EAF680A2}"/>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4-7497-4D8F-8328-2685EAF680A2}"/>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Sheet1!$B$1</c:f>
              <c:strCache>
                <c:ptCount val="1"/>
                <c:pt idx="0">
                  <c:v>Sales</c:v>
                </c:pt>
              </c:strCache>
            </c:strRef>
          </c:tx>
          <c:spPr>
            <a:solidFill>
              <a:srgbClr val="2576B7"/>
            </a:solidFill>
            <a:ln>
              <a:noFill/>
            </a:ln>
          </c:spPr>
          <c:dPt>
            <c:idx val="0"/>
            <c:bubble3D val="0"/>
            <c:spPr>
              <a:gradFill>
                <a:gsLst>
                  <a:gs pos="0">
                    <a:schemeClr val="accent1">
                      <a:lumMod val="40000"/>
                      <a:lumOff val="60000"/>
                    </a:schemeClr>
                  </a:gs>
                  <a:gs pos="65000">
                    <a:srgbClr val="2576B7"/>
                  </a:gs>
                </a:gsLst>
                <a:lin ang="2700000" scaled="0"/>
              </a:gradFill>
              <a:ln w="66675">
                <a:noFill/>
              </a:ln>
              <a:effectLst/>
            </c:spPr>
            <c:extLst>
              <c:ext xmlns:c16="http://schemas.microsoft.com/office/drawing/2014/chart" uri="{C3380CC4-5D6E-409C-BE32-E72D297353CC}">
                <c16:uniqueId val="{00000001-0EF0-4F3D-867F-FD4BA940A59E}"/>
              </c:ext>
            </c:extLst>
          </c:dPt>
          <c:dPt>
            <c:idx val="1"/>
            <c:bubble3D val="0"/>
            <c:spPr>
              <a:gradFill>
                <a:gsLst>
                  <a:gs pos="0">
                    <a:srgbClr val="2576B7">
                      <a:alpha val="3000"/>
                    </a:srgbClr>
                  </a:gs>
                  <a:gs pos="99000">
                    <a:srgbClr val="2576B7">
                      <a:alpha val="26000"/>
                    </a:srgbClr>
                  </a:gs>
                </a:gsLst>
                <a:lin ang="2700000" scaled="0"/>
              </a:gradFill>
              <a:ln w="19050">
                <a:noFill/>
              </a:ln>
              <a:effectLst/>
            </c:spPr>
            <c:extLst>
              <c:ext xmlns:c16="http://schemas.microsoft.com/office/drawing/2014/chart" uri="{C3380CC4-5D6E-409C-BE32-E72D297353CC}">
                <c16:uniqueId val="{00000003-0EF0-4F3D-867F-FD4BA940A59E}"/>
              </c:ext>
            </c:extLst>
          </c:dPt>
          <c:cat>
            <c:strRef>
              <c:f>Sheet1!$A$2:$A$3</c:f>
              <c:strCache>
                <c:ptCount val="2"/>
                <c:pt idx="0">
                  <c:v>1st Qtr</c:v>
                </c:pt>
                <c:pt idx="1">
                  <c:v>2nd Qtr</c:v>
                </c:pt>
              </c:strCache>
            </c:strRef>
          </c:cat>
          <c:val>
            <c:numRef>
              <c:f>Sheet1!$B$2:$B$3</c:f>
              <c:numCache>
                <c:formatCode>General</c:formatCode>
                <c:ptCount val="2"/>
                <c:pt idx="0">
                  <c:v>92</c:v>
                </c:pt>
                <c:pt idx="1">
                  <c:v>8</c:v>
                </c:pt>
              </c:numCache>
            </c:numRef>
          </c:val>
          <c:extLst>
            <c:ext xmlns:c16="http://schemas.microsoft.com/office/drawing/2014/chart" uri="{C3380CC4-5D6E-409C-BE32-E72D297353CC}">
              <c16:uniqueId val="{00000004-0EF0-4F3D-867F-FD4BA940A59E}"/>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Sheet1!$B$1</c:f>
              <c:strCache>
                <c:ptCount val="1"/>
                <c:pt idx="0">
                  <c:v>Sales</c:v>
                </c:pt>
              </c:strCache>
            </c:strRef>
          </c:tx>
          <c:spPr>
            <a:solidFill>
              <a:srgbClr val="2576B7"/>
            </a:solidFill>
            <a:ln>
              <a:noFill/>
            </a:ln>
          </c:spPr>
          <c:dPt>
            <c:idx val="0"/>
            <c:bubble3D val="0"/>
            <c:spPr>
              <a:gradFill>
                <a:gsLst>
                  <a:gs pos="0">
                    <a:schemeClr val="accent1">
                      <a:lumMod val="40000"/>
                      <a:lumOff val="60000"/>
                    </a:schemeClr>
                  </a:gs>
                  <a:gs pos="65000">
                    <a:srgbClr val="2576B7"/>
                  </a:gs>
                </a:gsLst>
                <a:lin ang="2700000" scaled="0"/>
              </a:gradFill>
              <a:ln w="66675">
                <a:noFill/>
              </a:ln>
              <a:effectLst/>
            </c:spPr>
            <c:extLst>
              <c:ext xmlns:c16="http://schemas.microsoft.com/office/drawing/2014/chart" uri="{C3380CC4-5D6E-409C-BE32-E72D297353CC}">
                <c16:uniqueId val="{00000001-C5CE-4F88-B62B-83D31F4DBEE1}"/>
              </c:ext>
            </c:extLst>
          </c:dPt>
          <c:dPt>
            <c:idx val="1"/>
            <c:bubble3D val="0"/>
            <c:spPr>
              <a:gradFill>
                <a:gsLst>
                  <a:gs pos="0">
                    <a:srgbClr val="2576B7">
                      <a:alpha val="3000"/>
                    </a:srgbClr>
                  </a:gs>
                  <a:gs pos="99000">
                    <a:srgbClr val="2576B7">
                      <a:alpha val="26000"/>
                    </a:srgbClr>
                  </a:gs>
                </a:gsLst>
                <a:lin ang="2700000" scaled="0"/>
              </a:gradFill>
              <a:ln w="19050">
                <a:noFill/>
              </a:ln>
              <a:effectLst/>
            </c:spPr>
            <c:extLst>
              <c:ext xmlns:c16="http://schemas.microsoft.com/office/drawing/2014/chart" uri="{C3380CC4-5D6E-409C-BE32-E72D297353CC}">
                <c16:uniqueId val="{00000003-C5CE-4F88-B62B-83D31F4DBEE1}"/>
              </c:ext>
            </c:extLst>
          </c:dPt>
          <c:cat>
            <c:strRef>
              <c:f>Sheet1!$A$2:$A$3</c:f>
              <c:strCache>
                <c:ptCount val="2"/>
                <c:pt idx="0">
                  <c:v>1st Qtr</c:v>
                </c:pt>
                <c:pt idx="1">
                  <c:v>2nd Qtr</c:v>
                </c:pt>
              </c:strCache>
            </c:strRef>
          </c:cat>
          <c:val>
            <c:numRef>
              <c:f>Sheet1!$B$2:$B$3</c:f>
              <c:numCache>
                <c:formatCode>General</c:formatCode>
                <c:ptCount val="2"/>
                <c:pt idx="0">
                  <c:v>49</c:v>
                </c:pt>
                <c:pt idx="1">
                  <c:v>51</c:v>
                </c:pt>
              </c:numCache>
            </c:numRef>
          </c:val>
          <c:extLst>
            <c:ext xmlns:c16="http://schemas.microsoft.com/office/drawing/2014/chart" uri="{C3380CC4-5D6E-409C-BE32-E72D297353CC}">
              <c16:uniqueId val="{00000004-C5CE-4F88-B62B-83D31F4DBEE1}"/>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Sheet1!$B$1</c:f>
              <c:strCache>
                <c:ptCount val="1"/>
                <c:pt idx="0">
                  <c:v>Sales</c:v>
                </c:pt>
              </c:strCache>
            </c:strRef>
          </c:tx>
          <c:spPr>
            <a:solidFill>
              <a:srgbClr val="2576B7"/>
            </a:solidFill>
            <a:ln>
              <a:noFill/>
            </a:ln>
          </c:spPr>
          <c:dPt>
            <c:idx val="0"/>
            <c:bubble3D val="0"/>
            <c:spPr>
              <a:gradFill>
                <a:gsLst>
                  <a:gs pos="0">
                    <a:schemeClr val="accent1">
                      <a:lumMod val="40000"/>
                      <a:lumOff val="60000"/>
                    </a:schemeClr>
                  </a:gs>
                  <a:gs pos="65000">
                    <a:srgbClr val="2576B7"/>
                  </a:gs>
                </a:gsLst>
                <a:lin ang="2700000" scaled="0"/>
              </a:gradFill>
              <a:ln w="66675">
                <a:noFill/>
              </a:ln>
              <a:effectLst/>
            </c:spPr>
            <c:extLst>
              <c:ext xmlns:c16="http://schemas.microsoft.com/office/drawing/2014/chart" uri="{C3380CC4-5D6E-409C-BE32-E72D297353CC}">
                <c16:uniqueId val="{00000001-FD5C-4EE1-8B2B-FD509ADEC27B}"/>
              </c:ext>
            </c:extLst>
          </c:dPt>
          <c:dPt>
            <c:idx val="1"/>
            <c:bubble3D val="0"/>
            <c:spPr>
              <a:gradFill>
                <a:gsLst>
                  <a:gs pos="0">
                    <a:srgbClr val="2576B7">
                      <a:alpha val="3000"/>
                    </a:srgbClr>
                  </a:gs>
                  <a:gs pos="99000">
                    <a:srgbClr val="2576B7">
                      <a:alpha val="26000"/>
                    </a:srgbClr>
                  </a:gs>
                </a:gsLst>
                <a:lin ang="2700000" scaled="0"/>
              </a:gradFill>
              <a:ln w="19050">
                <a:noFill/>
              </a:ln>
              <a:effectLst/>
            </c:spPr>
            <c:extLst>
              <c:ext xmlns:c16="http://schemas.microsoft.com/office/drawing/2014/chart" uri="{C3380CC4-5D6E-409C-BE32-E72D297353CC}">
                <c16:uniqueId val="{00000003-FD5C-4EE1-8B2B-FD509ADEC27B}"/>
              </c:ext>
            </c:extLst>
          </c:dPt>
          <c:cat>
            <c:strRef>
              <c:f>Sheet1!$A$2:$A$3</c:f>
              <c:strCache>
                <c:ptCount val="2"/>
                <c:pt idx="0">
                  <c:v>1st Qtr</c:v>
                </c:pt>
                <c:pt idx="1">
                  <c:v>2nd Qtr</c:v>
                </c:pt>
              </c:strCache>
            </c:strRef>
          </c:cat>
          <c:val>
            <c:numRef>
              <c:f>Sheet1!$B$2:$B$3</c:f>
              <c:numCache>
                <c:formatCode>General</c:formatCode>
                <c:ptCount val="2"/>
                <c:pt idx="0">
                  <c:v>30</c:v>
                </c:pt>
                <c:pt idx="1">
                  <c:v>70</c:v>
                </c:pt>
              </c:numCache>
            </c:numRef>
          </c:val>
          <c:extLst>
            <c:ext xmlns:c16="http://schemas.microsoft.com/office/drawing/2014/chart" uri="{C3380CC4-5D6E-409C-BE32-E72D297353CC}">
              <c16:uniqueId val="{00000004-FD5C-4EE1-8B2B-FD509ADEC27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doughnutChart>
        <c:varyColors val="1"/>
        <c:ser>
          <c:idx val="0"/>
          <c:order val="0"/>
          <c:tx>
            <c:strRef>
              <c:f>Sheet1!$B$1</c:f>
              <c:strCache>
                <c:ptCount val="1"/>
                <c:pt idx="0">
                  <c:v>Sales</c:v>
                </c:pt>
              </c:strCache>
            </c:strRef>
          </c:tx>
          <c:spPr>
            <a:solidFill>
              <a:srgbClr val="2576B7"/>
            </a:solidFill>
            <a:ln>
              <a:noFill/>
            </a:ln>
          </c:spPr>
          <c:dPt>
            <c:idx val="0"/>
            <c:bubble3D val="0"/>
            <c:spPr>
              <a:gradFill>
                <a:gsLst>
                  <a:gs pos="0">
                    <a:schemeClr val="accent1">
                      <a:lumMod val="40000"/>
                      <a:lumOff val="60000"/>
                    </a:schemeClr>
                  </a:gs>
                  <a:gs pos="65000">
                    <a:srgbClr val="2576B7"/>
                  </a:gs>
                </a:gsLst>
                <a:lin ang="2700000" scaled="0"/>
              </a:gradFill>
              <a:ln w="66675">
                <a:noFill/>
              </a:ln>
              <a:effectLst/>
            </c:spPr>
            <c:extLst>
              <c:ext xmlns:c16="http://schemas.microsoft.com/office/drawing/2014/chart" uri="{C3380CC4-5D6E-409C-BE32-E72D297353CC}">
                <c16:uniqueId val="{00000001-A155-47AC-95E9-ED82B5F973DD}"/>
              </c:ext>
            </c:extLst>
          </c:dPt>
          <c:dPt>
            <c:idx val="1"/>
            <c:bubble3D val="0"/>
            <c:spPr>
              <a:gradFill>
                <a:gsLst>
                  <a:gs pos="0">
                    <a:srgbClr val="2576B7">
                      <a:alpha val="3000"/>
                    </a:srgbClr>
                  </a:gs>
                  <a:gs pos="99000">
                    <a:srgbClr val="2576B7">
                      <a:alpha val="26000"/>
                    </a:srgbClr>
                  </a:gs>
                </a:gsLst>
                <a:lin ang="2700000" scaled="0"/>
              </a:gradFill>
              <a:ln w="19050">
                <a:noFill/>
              </a:ln>
              <a:effectLst/>
            </c:spPr>
            <c:extLst>
              <c:ext xmlns:c16="http://schemas.microsoft.com/office/drawing/2014/chart" uri="{C3380CC4-5D6E-409C-BE32-E72D297353CC}">
                <c16:uniqueId val="{00000003-A155-47AC-95E9-ED82B5F973DD}"/>
              </c:ext>
            </c:extLst>
          </c:dPt>
          <c:cat>
            <c:strRef>
              <c:f>Sheet1!$A$2:$A$3</c:f>
              <c:strCache>
                <c:ptCount val="2"/>
                <c:pt idx="0">
                  <c:v>1st Qtr</c:v>
                </c:pt>
                <c:pt idx="1">
                  <c:v>2nd Qtr</c:v>
                </c:pt>
              </c:strCache>
            </c:strRef>
          </c:cat>
          <c:val>
            <c:numRef>
              <c:f>Sheet1!$B$2:$B$3</c:f>
              <c:numCache>
                <c:formatCode>General</c:formatCode>
                <c:ptCount val="2"/>
                <c:pt idx="0">
                  <c:v>54</c:v>
                </c:pt>
                <c:pt idx="1">
                  <c:v>46</c:v>
                </c:pt>
              </c:numCache>
            </c:numRef>
          </c:val>
          <c:extLst>
            <c:ext xmlns:c16="http://schemas.microsoft.com/office/drawing/2014/chart" uri="{C3380CC4-5D6E-409C-BE32-E72D297353CC}">
              <c16:uniqueId val="{00000004-A155-47AC-95E9-ED82B5F973DD}"/>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Credential stuffing detection rate</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Series 1</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78</c:v>
                </c:pt>
                <c:pt idx="1">
                  <c:v>80</c:v>
                </c:pt>
                <c:pt idx="2">
                  <c:v>85</c:v>
                </c:pt>
                <c:pt idx="3">
                  <c:v>90</c:v>
                </c:pt>
              </c:numCache>
            </c:numRef>
          </c:val>
          <c:smooth val="0"/>
          <c:extLst>
            <c:ext xmlns:c16="http://schemas.microsoft.com/office/drawing/2014/chart" uri="{C3380CC4-5D6E-409C-BE32-E72D297353CC}">
              <c16:uniqueId val="{00000000-E8C1-374F-B3E4-6D34F1B10531}"/>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Percentage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Apps with integrated security testing</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Percentage</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24</c:v>
                </c:pt>
                <c:pt idx="1">
                  <c:v>30</c:v>
                </c:pt>
                <c:pt idx="2">
                  <c:v>40</c:v>
                </c:pt>
                <c:pt idx="3">
                  <c:v>50</c:v>
                </c:pt>
              </c:numCache>
            </c:numRef>
          </c:val>
          <c:smooth val="0"/>
          <c:extLst>
            <c:ext xmlns:c16="http://schemas.microsoft.com/office/drawing/2014/chart" uri="{C3380CC4-5D6E-409C-BE32-E72D297353CC}">
              <c16:uniqueId val="{00000000-57B1-4DAD-BBA7-00FF17840F06}"/>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Percentage</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r>
              <a:rPr lang="en-US" sz="1800" b="1" i="0" dirty="0">
                <a:solidFill>
                  <a:srgbClr val="4A4A4A"/>
                </a:solidFill>
                <a:latin typeface="Montserrat SemiBold" pitchFamily="2" charset="77"/>
              </a:rPr>
              <a:t>Cost per vulnerability remediated</a:t>
            </a:r>
          </a:p>
        </c:rich>
      </c:tx>
      <c:overlay val="0"/>
      <c:spPr>
        <a:noFill/>
        <a:ln>
          <a:noFill/>
        </a:ln>
        <a:effectLst/>
      </c:spPr>
      <c:txPr>
        <a:bodyPr rot="0" spcFirstLastPara="1" vertOverflow="ellipsis" vert="horz" wrap="square" anchor="ctr" anchorCtr="1"/>
        <a:lstStyle/>
        <a:p>
          <a:pPr>
            <a:defRPr sz="1800" b="0" i="0" u="none" strike="noStrike" kern="1200" cap="none" spc="0" normalizeH="0" baseline="0">
              <a:solidFill>
                <a:srgbClr val="4A4A4A"/>
              </a:solidFill>
              <a:latin typeface="Exo" panose="02000503000000000000" pitchFamily="2" charset="77"/>
              <a:ea typeface="+mj-ea"/>
              <a:cs typeface="+mj-cs"/>
            </a:defRPr>
          </a:pPr>
          <a:endParaRPr lang="en-US"/>
        </a:p>
      </c:txPr>
    </c:title>
    <c:autoTitleDeleted val="0"/>
    <c:plotArea>
      <c:layout/>
      <c:lineChart>
        <c:grouping val="standard"/>
        <c:varyColors val="0"/>
        <c:ser>
          <c:idx val="0"/>
          <c:order val="0"/>
          <c:tx>
            <c:strRef>
              <c:f>Sheet1!$B$1</c:f>
              <c:strCache>
                <c:ptCount val="1"/>
                <c:pt idx="0">
                  <c:v>Percentage</c:v>
                </c:pt>
              </c:strCache>
            </c:strRef>
          </c:tx>
          <c:spPr>
            <a:ln w="38100" cap="rnd">
              <a:solidFill>
                <a:schemeClr val="accent1"/>
              </a:solidFill>
              <a:round/>
            </a:ln>
            <a:effectLst/>
          </c:spPr>
          <c:marker>
            <c:symbol val="none"/>
          </c:marker>
          <c:cat>
            <c:strRef>
              <c:f>Sheet1!$A$2:$A$5</c:f>
              <c:strCache>
                <c:ptCount val="4"/>
                <c:pt idx="0">
                  <c:v>Current</c:v>
                </c:pt>
                <c:pt idx="1">
                  <c:v>3 Months</c:v>
                </c:pt>
                <c:pt idx="2">
                  <c:v>6 Months</c:v>
                </c:pt>
                <c:pt idx="3">
                  <c:v>12 Months</c:v>
                </c:pt>
              </c:strCache>
            </c:strRef>
          </c:cat>
          <c:val>
            <c:numRef>
              <c:f>Sheet1!$B$2:$B$5</c:f>
              <c:numCache>
                <c:formatCode>General</c:formatCode>
                <c:ptCount val="4"/>
                <c:pt idx="0">
                  <c:v>35</c:v>
                </c:pt>
                <c:pt idx="1">
                  <c:v>30</c:v>
                </c:pt>
                <c:pt idx="2">
                  <c:v>25</c:v>
                </c:pt>
                <c:pt idx="3">
                  <c:v>10</c:v>
                </c:pt>
              </c:numCache>
            </c:numRef>
          </c:val>
          <c:smooth val="0"/>
          <c:extLst>
            <c:ext xmlns:c16="http://schemas.microsoft.com/office/drawing/2014/chart" uri="{C3380CC4-5D6E-409C-BE32-E72D297353CC}">
              <c16:uniqueId val="{00000000-F706-4B4C-8932-CD9336EE8F4F}"/>
            </c:ext>
          </c:extLst>
        </c:ser>
        <c:dLbls>
          <c:showLegendKey val="0"/>
          <c:showVal val="0"/>
          <c:showCatName val="0"/>
          <c:showSerName val="0"/>
          <c:showPercent val="0"/>
          <c:showBubbleSize val="0"/>
        </c:dLbls>
        <c:smooth val="0"/>
        <c:axId val="479368616"/>
        <c:axId val="479371752"/>
      </c:lineChart>
      <c:catAx>
        <c:axId val="4793686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rgbClr val="4A4A4A"/>
                </a:solidFill>
                <a:latin typeface="Exo" panose="02000503000000000000" pitchFamily="2" charset="77"/>
                <a:ea typeface="+mn-ea"/>
                <a:cs typeface="+mn-cs"/>
              </a:defRPr>
            </a:pPr>
            <a:endParaRPr lang="en-US"/>
          </a:p>
        </c:txPr>
        <c:crossAx val="479371752"/>
        <c:crosses val="autoZero"/>
        <c:auto val="1"/>
        <c:lblAlgn val="ctr"/>
        <c:lblOffset val="100"/>
        <c:noMultiLvlLbl val="0"/>
      </c:catAx>
      <c:valAx>
        <c:axId val="479371752"/>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r>
                  <a:rPr lang="en-US" dirty="0"/>
                  <a:t>$100</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Exo" panose="02000503000000000000" pitchFamily="2" charset="77"/>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Exo" panose="02000503000000000000" pitchFamily="2" charset="77"/>
                <a:ea typeface="+mn-ea"/>
                <a:cs typeface="+mn-cs"/>
              </a:defRPr>
            </a:pPr>
            <a:endParaRPr lang="en-US"/>
          </a:p>
        </c:txPr>
        <c:crossAx val="4793686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Exo" panose="02000503000000000000" pitchFamily="2" charset="77"/>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withinLinear" id="16">
  <a:schemeClr val="accent3"/>
</cs:colorStyle>
</file>

<file path=ppt/charts/colors5.xml><?xml version="1.0" encoding="utf-8"?>
<cs:colorStyle xmlns:cs="http://schemas.microsoft.com/office/drawing/2012/chartStyle" xmlns:a="http://schemas.openxmlformats.org/drawingml/2006/main" meth="withinLinear" id="16">
  <a:schemeClr val="accent3"/>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53A58F-395B-E34E-974F-C212E9B9E745}" type="doc">
      <dgm:prSet loTypeId="urn:microsoft.com/office/officeart/2005/8/layout/hChevron3" loCatId="" qsTypeId="urn:microsoft.com/office/officeart/2005/8/quickstyle/simple1" qsCatId="simple" csTypeId="urn:microsoft.com/office/officeart/2005/8/colors/accent1_3" csCatId="accent1" phldr="1"/>
      <dgm:spPr/>
      <dgm:t>
        <a:bodyPr/>
        <a:lstStyle/>
        <a:p>
          <a:endParaRPr lang="en-US"/>
        </a:p>
      </dgm:t>
    </dgm:pt>
    <dgm:pt modelId="{71621DFA-AD3E-CC48-A3D1-088566281118}">
      <dgm:prSet phldrT="[Text]" custT="1"/>
      <dgm:spPr/>
      <dgm:t>
        <a:bodyPr/>
        <a:lstStyle/>
        <a:p>
          <a:r>
            <a:rPr lang="en-US" sz="1400" b="1" dirty="0">
              <a:latin typeface="Montserrat" panose="00000500000000000000" pitchFamily="2" charset="0"/>
            </a:rPr>
            <a:t>Phase 1</a:t>
          </a:r>
        </a:p>
      </dgm:t>
    </dgm:pt>
    <dgm:pt modelId="{CB671421-7FE8-4F41-9B3C-CC2253A545B3}" type="parTrans" cxnId="{00A46D62-97D5-AA4F-9AB8-C84F71CDFFEE}">
      <dgm:prSet/>
      <dgm:spPr/>
      <dgm:t>
        <a:bodyPr/>
        <a:lstStyle/>
        <a:p>
          <a:endParaRPr lang="en-US" sz="1200">
            <a:latin typeface="Montserrat" panose="00000500000000000000" pitchFamily="2" charset="0"/>
          </a:endParaRPr>
        </a:p>
      </dgm:t>
    </dgm:pt>
    <dgm:pt modelId="{864DB94F-04A8-1846-AFB3-43417D234F21}" type="sibTrans" cxnId="{00A46D62-97D5-AA4F-9AB8-C84F71CDFFEE}">
      <dgm:prSet/>
      <dgm:spPr/>
      <dgm:t>
        <a:bodyPr/>
        <a:lstStyle/>
        <a:p>
          <a:endParaRPr lang="en-US" sz="1200">
            <a:latin typeface="Montserrat" panose="00000500000000000000" pitchFamily="2" charset="0"/>
          </a:endParaRPr>
        </a:p>
      </dgm:t>
    </dgm:pt>
    <dgm:pt modelId="{1D29978D-6375-461D-AFDD-E12FF6B400FF}">
      <dgm:prSet custT="1"/>
      <dgm:spPr/>
      <dgm:t>
        <a:bodyPr/>
        <a:lstStyle/>
        <a:p>
          <a:r>
            <a:rPr lang="en-US" sz="1400" b="1" dirty="0">
              <a:latin typeface="Montserrat" panose="00000500000000000000" pitchFamily="2" charset="0"/>
            </a:rPr>
            <a:t>Phase 2</a:t>
          </a:r>
          <a:endParaRPr lang="en-CA" sz="1400" b="1" dirty="0">
            <a:latin typeface="Montserrat" panose="00000500000000000000" pitchFamily="2" charset="0"/>
          </a:endParaRPr>
        </a:p>
      </dgm:t>
    </dgm:pt>
    <dgm:pt modelId="{27AF93DC-62EF-490F-BF95-BE2CE58191FD}" type="parTrans" cxnId="{E29BECCF-4CD0-4C8B-B367-68F288F0752A}">
      <dgm:prSet/>
      <dgm:spPr/>
      <dgm:t>
        <a:bodyPr/>
        <a:lstStyle/>
        <a:p>
          <a:endParaRPr lang="en-CA" sz="1200">
            <a:latin typeface="Montserrat" panose="00000500000000000000" pitchFamily="2" charset="0"/>
          </a:endParaRPr>
        </a:p>
      </dgm:t>
    </dgm:pt>
    <dgm:pt modelId="{343F2AF3-CD6D-43F9-9493-B2C1D0FEDA48}" type="sibTrans" cxnId="{E29BECCF-4CD0-4C8B-B367-68F288F0752A}">
      <dgm:prSet/>
      <dgm:spPr/>
      <dgm:t>
        <a:bodyPr/>
        <a:lstStyle/>
        <a:p>
          <a:endParaRPr lang="en-CA" sz="1200">
            <a:latin typeface="Montserrat" panose="00000500000000000000" pitchFamily="2" charset="0"/>
          </a:endParaRPr>
        </a:p>
      </dgm:t>
    </dgm:pt>
    <dgm:pt modelId="{D3F0A6D6-0FA2-45F8-AF4D-E995798E6A73}">
      <dgm:prSet custT="1"/>
      <dgm:spPr/>
      <dgm:t>
        <a:bodyPr/>
        <a:lstStyle/>
        <a:p>
          <a:r>
            <a:rPr lang="en-US" sz="1400" b="1" dirty="0">
              <a:latin typeface="Montserrat" panose="00000500000000000000" pitchFamily="2" charset="0"/>
            </a:rPr>
            <a:t>Phase 3</a:t>
          </a:r>
          <a:endParaRPr lang="en-CA" sz="1400" b="1" dirty="0">
            <a:latin typeface="Montserrat" panose="00000500000000000000" pitchFamily="2" charset="0"/>
          </a:endParaRPr>
        </a:p>
      </dgm:t>
    </dgm:pt>
    <dgm:pt modelId="{1FF7585F-8592-41B5-8A81-C0360E064060}" type="parTrans" cxnId="{9B56F1FF-DF04-4335-BFFE-EC7653E4EA87}">
      <dgm:prSet/>
      <dgm:spPr/>
      <dgm:t>
        <a:bodyPr/>
        <a:lstStyle/>
        <a:p>
          <a:endParaRPr lang="en-CA" sz="1200">
            <a:latin typeface="Montserrat" panose="00000500000000000000" pitchFamily="2" charset="0"/>
          </a:endParaRPr>
        </a:p>
      </dgm:t>
    </dgm:pt>
    <dgm:pt modelId="{5F0499E6-A836-4741-8AD6-C1E85B597A6F}" type="sibTrans" cxnId="{9B56F1FF-DF04-4335-BFFE-EC7653E4EA87}">
      <dgm:prSet/>
      <dgm:spPr/>
      <dgm:t>
        <a:bodyPr/>
        <a:lstStyle/>
        <a:p>
          <a:endParaRPr lang="en-CA" sz="1200">
            <a:latin typeface="Montserrat" panose="00000500000000000000" pitchFamily="2" charset="0"/>
          </a:endParaRPr>
        </a:p>
      </dgm:t>
    </dgm:pt>
    <dgm:pt modelId="{9F474F36-DA79-054F-BBFD-666192C13D50}" type="pres">
      <dgm:prSet presAssocID="{FC53A58F-395B-E34E-974F-C212E9B9E745}" presName="Name0" presStyleCnt="0">
        <dgm:presLayoutVars>
          <dgm:dir/>
          <dgm:resizeHandles val="exact"/>
        </dgm:presLayoutVars>
      </dgm:prSet>
      <dgm:spPr/>
    </dgm:pt>
    <dgm:pt modelId="{F66021E2-87C1-414D-A414-56A2AAE44F47}" type="pres">
      <dgm:prSet presAssocID="{71621DFA-AD3E-CC48-A3D1-088566281118}" presName="parTxOnly" presStyleLbl="node1" presStyleIdx="0" presStyleCnt="3">
        <dgm:presLayoutVars>
          <dgm:bulletEnabled val="1"/>
        </dgm:presLayoutVars>
      </dgm:prSet>
      <dgm:spPr/>
    </dgm:pt>
    <dgm:pt modelId="{847D648B-91A5-F24B-A7E9-1B0D1BDDB165}" type="pres">
      <dgm:prSet presAssocID="{864DB94F-04A8-1846-AFB3-43417D234F21}" presName="parSpace" presStyleCnt="0"/>
      <dgm:spPr/>
    </dgm:pt>
    <dgm:pt modelId="{BE840A39-1306-4AEF-ADCD-28099CAE7BE1}" type="pres">
      <dgm:prSet presAssocID="{1D29978D-6375-461D-AFDD-E12FF6B400FF}" presName="parTxOnly" presStyleLbl="node1" presStyleIdx="1" presStyleCnt="3">
        <dgm:presLayoutVars>
          <dgm:bulletEnabled val="1"/>
        </dgm:presLayoutVars>
      </dgm:prSet>
      <dgm:spPr/>
    </dgm:pt>
    <dgm:pt modelId="{9ECB9DCA-17FA-42DF-9A2F-9DB82C0EE3D0}" type="pres">
      <dgm:prSet presAssocID="{343F2AF3-CD6D-43F9-9493-B2C1D0FEDA48}" presName="parSpace" presStyleCnt="0"/>
      <dgm:spPr/>
    </dgm:pt>
    <dgm:pt modelId="{A8612D2A-892A-4F89-A395-9A98FAF04D82}" type="pres">
      <dgm:prSet presAssocID="{D3F0A6D6-0FA2-45F8-AF4D-E995798E6A73}" presName="parTxOnly" presStyleLbl="node1" presStyleIdx="2" presStyleCnt="3">
        <dgm:presLayoutVars>
          <dgm:bulletEnabled val="1"/>
        </dgm:presLayoutVars>
      </dgm:prSet>
      <dgm:spPr/>
    </dgm:pt>
  </dgm:ptLst>
  <dgm:cxnLst>
    <dgm:cxn modelId="{14FA4C2A-7E59-41C0-944A-B3F495779FE3}" type="presOf" srcId="{71621DFA-AD3E-CC48-A3D1-088566281118}" destId="{F66021E2-87C1-414D-A414-56A2AAE44F47}" srcOrd="0" destOrd="0" presId="urn:microsoft.com/office/officeart/2005/8/layout/hChevron3"/>
    <dgm:cxn modelId="{00A46D62-97D5-AA4F-9AB8-C84F71CDFFEE}" srcId="{FC53A58F-395B-E34E-974F-C212E9B9E745}" destId="{71621DFA-AD3E-CC48-A3D1-088566281118}" srcOrd="0" destOrd="0" parTransId="{CB671421-7FE8-4F41-9B3C-CC2253A545B3}" sibTransId="{864DB94F-04A8-1846-AFB3-43417D234F21}"/>
    <dgm:cxn modelId="{4C3E2C7F-1D2E-4655-A78A-27F207E64FF6}" type="presOf" srcId="{FC53A58F-395B-E34E-974F-C212E9B9E745}" destId="{9F474F36-DA79-054F-BBFD-666192C13D50}" srcOrd="0" destOrd="0" presId="urn:microsoft.com/office/officeart/2005/8/layout/hChevron3"/>
    <dgm:cxn modelId="{95C4CAC5-B88A-453B-8D70-13CAC2C88719}" type="presOf" srcId="{D3F0A6D6-0FA2-45F8-AF4D-E995798E6A73}" destId="{A8612D2A-892A-4F89-A395-9A98FAF04D82}" srcOrd="0" destOrd="0" presId="urn:microsoft.com/office/officeart/2005/8/layout/hChevron3"/>
    <dgm:cxn modelId="{E29BECCF-4CD0-4C8B-B367-68F288F0752A}" srcId="{FC53A58F-395B-E34E-974F-C212E9B9E745}" destId="{1D29978D-6375-461D-AFDD-E12FF6B400FF}" srcOrd="1" destOrd="0" parTransId="{27AF93DC-62EF-490F-BF95-BE2CE58191FD}" sibTransId="{343F2AF3-CD6D-43F9-9493-B2C1D0FEDA48}"/>
    <dgm:cxn modelId="{4DE26DF6-AF32-4823-85A2-912511404D97}" type="presOf" srcId="{1D29978D-6375-461D-AFDD-E12FF6B400FF}" destId="{BE840A39-1306-4AEF-ADCD-28099CAE7BE1}" srcOrd="0" destOrd="0" presId="urn:microsoft.com/office/officeart/2005/8/layout/hChevron3"/>
    <dgm:cxn modelId="{9B56F1FF-DF04-4335-BFFE-EC7653E4EA87}" srcId="{FC53A58F-395B-E34E-974F-C212E9B9E745}" destId="{D3F0A6D6-0FA2-45F8-AF4D-E995798E6A73}" srcOrd="2" destOrd="0" parTransId="{1FF7585F-8592-41B5-8A81-C0360E064060}" sibTransId="{5F0499E6-A836-4741-8AD6-C1E85B597A6F}"/>
    <dgm:cxn modelId="{1AE3423E-4818-46D4-B01E-377CB3D326C5}" type="presParOf" srcId="{9F474F36-DA79-054F-BBFD-666192C13D50}" destId="{F66021E2-87C1-414D-A414-56A2AAE44F47}" srcOrd="0" destOrd="0" presId="urn:microsoft.com/office/officeart/2005/8/layout/hChevron3"/>
    <dgm:cxn modelId="{CD45549B-2335-4131-8FE7-D21E988D38B2}" type="presParOf" srcId="{9F474F36-DA79-054F-BBFD-666192C13D50}" destId="{847D648B-91A5-F24B-A7E9-1B0D1BDDB165}" srcOrd="1" destOrd="0" presId="urn:microsoft.com/office/officeart/2005/8/layout/hChevron3"/>
    <dgm:cxn modelId="{24118234-8513-478E-A60D-5E0BB83B8B73}" type="presParOf" srcId="{9F474F36-DA79-054F-BBFD-666192C13D50}" destId="{BE840A39-1306-4AEF-ADCD-28099CAE7BE1}" srcOrd="2" destOrd="0" presId="urn:microsoft.com/office/officeart/2005/8/layout/hChevron3"/>
    <dgm:cxn modelId="{0ADC04EB-47DA-4917-8F5F-2660F595DEE6}" type="presParOf" srcId="{9F474F36-DA79-054F-BBFD-666192C13D50}" destId="{9ECB9DCA-17FA-42DF-9A2F-9DB82C0EE3D0}" srcOrd="3" destOrd="0" presId="urn:microsoft.com/office/officeart/2005/8/layout/hChevron3"/>
    <dgm:cxn modelId="{9B24C2AE-E529-474F-A208-4D2CED6A6E57}" type="presParOf" srcId="{9F474F36-DA79-054F-BBFD-666192C13D50}" destId="{A8612D2A-892A-4F89-A395-9A98FAF04D82}" srcOrd="4" destOrd="0" presId="urn:microsoft.com/office/officeart/2005/8/layout/hChevron3"/>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7D100C-4258-4209-94B4-BF5CCA69D081}"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CA"/>
        </a:p>
      </dgm:t>
    </dgm:pt>
    <dgm:pt modelId="{58194A3B-B664-487A-B370-231BE953AA93}">
      <dgm:prSet phldrT="[Text]" custT="1"/>
      <dgm:spPr>
        <a:solidFill>
          <a:schemeClr val="accent1">
            <a:hueOff val="0"/>
            <a:satOff val="0"/>
            <a:lumOff val="0"/>
            <a:alpha val="50000"/>
          </a:schemeClr>
        </a:solidFill>
      </dgm:spPr>
      <dgm:t>
        <a:bodyPr/>
        <a:lstStyle/>
        <a:p>
          <a:r>
            <a:rPr lang="en-US" sz="1400" dirty="0">
              <a:latin typeface="Exo" pitchFamily="2" charset="0"/>
            </a:rPr>
            <a:t>Analyze and design</a:t>
          </a:r>
        </a:p>
      </dgm:t>
    </dgm:pt>
    <dgm:pt modelId="{CECE52A3-64C2-4F6D-A371-6CF9A7343F68}" type="parTrans" cxnId="{6D8AEB14-A55A-4351-824D-384A5FA1EAA9}">
      <dgm:prSet/>
      <dgm:spPr/>
      <dgm:t>
        <a:bodyPr/>
        <a:lstStyle/>
        <a:p>
          <a:endParaRPr lang="en-US" sz="1600">
            <a:solidFill>
              <a:schemeClr val="accent1">
                <a:lumMod val="20000"/>
                <a:lumOff val="80000"/>
              </a:schemeClr>
            </a:solidFill>
            <a:latin typeface="Exo" pitchFamily="2" charset="0"/>
          </a:endParaRPr>
        </a:p>
      </dgm:t>
    </dgm:pt>
    <dgm:pt modelId="{22C36520-29A9-4CEE-ABB6-FBB41D5D830D}" type="sibTrans" cxnId="{6D8AEB14-A55A-4351-824D-384A5FA1EAA9}">
      <dgm:prSet/>
      <dgm:spPr/>
      <dgm:t>
        <a:bodyPr/>
        <a:lstStyle/>
        <a:p>
          <a:endParaRPr lang="en-US" sz="1600">
            <a:solidFill>
              <a:schemeClr val="accent1">
                <a:lumMod val="20000"/>
                <a:lumOff val="80000"/>
              </a:schemeClr>
            </a:solidFill>
            <a:latin typeface="Exo" pitchFamily="2" charset="0"/>
          </a:endParaRPr>
        </a:p>
      </dgm:t>
    </dgm:pt>
    <dgm:pt modelId="{4F8481BD-A34B-4F50-BEEE-D5D88505BFC3}">
      <dgm:prSet phldrT="[Text]" custT="1"/>
      <dgm:spPr>
        <a:solidFill>
          <a:schemeClr val="accent1">
            <a:hueOff val="0"/>
            <a:satOff val="0"/>
            <a:lumOff val="0"/>
            <a:alpha val="50000"/>
          </a:schemeClr>
        </a:solidFill>
      </dgm:spPr>
      <dgm:t>
        <a:bodyPr/>
        <a:lstStyle/>
        <a:p>
          <a:r>
            <a:rPr lang="en-US" sz="1400" dirty="0">
              <a:latin typeface="Exo" pitchFamily="2" charset="0"/>
            </a:rPr>
            <a:t>Build</a:t>
          </a:r>
        </a:p>
      </dgm:t>
    </dgm:pt>
    <dgm:pt modelId="{2F97C68F-8BFA-4174-83C7-A1D4B29F5C08}" type="parTrans" cxnId="{BE489CC7-444A-4BD4-8667-99FBF375003E}">
      <dgm:prSet/>
      <dgm:spPr/>
      <dgm:t>
        <a:bodyPr/>
        <a:lstStyle/>
        <a:p>
          <a:endParaRPr lang="en-US" sz="1600">
            <a:solidFill>
              <a:schemeClr val="accent1">
                <a:lumMod val="20000"/>
                <a:lumOff val="80000"/>
              </a:schemeClr>
            </a:solidFill>
            <a:latin typeface="Exo" pitchFamily="2" charset="0"/>
          </a:endParaRPr>
        </a:p>
      </dgm:t>
    </dgm:pt>
    <dgm:pt modelId="{2996AE2D-FBEB-408C-BCFE-43A5C4CABB85}" type="sibTrans" cxnId="{BE489CC7-444A-4BD4-8667-99FBF375003E}">
      <dgm:prSet/>
      <dgm:spPr/>
      <dgm:t>
        <a:bodyPr/>
        <a:lstStyle/>
        <a:p>
          <a:endParaRPr lang="en-US" sz="1600">
            <a:solidFill>
              <a:schemeClr val="accent1">
                <a:lumMod val="20000"/>
                <a:lumOff val="80000"/>
              </a:schemeClr>
            </a:solidFill>
            <a:latin typeface="Exo" pitchFamily="2" charset="0"/>
          </a:endParaRPr>
        </a:p>
      </dgm:t>
    </dgm:pt>
    <dgm:pt modelId="{B9926015-FEC9-4DD4-8F4E-0D2F2347E994}">
      <dgm:prSet phldrT="[Text]" custT="1"/>
      <dgm:spPr>
        <a:solidFill>
          <a:schemeClr val="accent1">
            <a:hueOff val="0"/>
            <a:satOff val="0"/>
            <a:lumOff val="0"/>
            <a:alpha val="50000"/>
          </a:schemeClr>
        </a:solidFill>
      </dgm:spPr>
      <dgm:t>
        <a:bodyPr/>
        <a:lstStyle/>
        <a:p>
          <a:r>
            <a:rPr lang="en-US" sz="1400" dirty="0">
              <a:latin typeface="Exo" pitchFamily="2" charset="0"/>
            </a:rPr>
            <a:t>Test</a:t>
          </a:r>
        </a:p>
      </dgm:t>
    </dgm:pt>
    <dgm:pt modelId="{63A050AC-C711-4B06-930A-C85CF72F3B78}" type="parTrans" cxnId="{4329CB4C-5248-41B6-8191-021D5DF81320}">
      <dgm:prSet/>
      <dgm:spPr/>
      <dgm:t>
        <a:bodyPr/>
        <a:lstStyle/>
        <a:p>
          <a:endParaRPr lang="en-US" sz="1600">
            <a:solidFill>
              <a:schemeClr val="accent1">
                <a:lumMod val="20000"/>
                <a:lumOff val="80000"/>
              </a:schemeClr>
            </a:solidFill>
            <a:latin typeface="Exo" pitchFamily="2" charset="0"/>
          </a:endParaRPr>
        </a:p>
      </dgm:t>
    </dgm:pt>
    <dgm:pt modelId="{329B9C4C-2907-4FC8-9850-F01FE656E1C4}" type="sibTrans" cxnId="{4329CB4C-5248-41B6-8191-021D5DF81320}">
      <dgm:prSet/>
      <dgm:spPr/>
      <dgm:t>
        <a:bodyPr/>
        <a:lstStyle/>
        <a:p>
          <a:endParaRPr lang="en-US" sz="1600">
            <a:solidFill>
              <a:schemeClr val="accent1">
                <a:lumMod val="20000"/>
                <a:lumOff val="80000"/>
              </a:schemeClr>
            </a:solidFill>
            <a:latin typeface="Exo" pitchFamily="2" charset="0"/>
          </a:endParaRPr>
        </a:p>
      </dgm:t>
    </dgm:pt>
    <dgm:pt modelId="{DFC69436-D230-4019-96FC-050CC4ACBD55}">
      <dgm:prSet phldrT="[Text]" custT="1"/>
      <dgm:spPr>
        <a:solidFill>
          <a:schemeClr val="accent1">
            <a:hueOff val="0"/>
            <a:satOff val="0"/>
            <a:lumOff val="0"/>
            <a:alpha val="50000"/>
          </a:schemeClr>
        </a:solidFill>
      </dgm:spPr>
      <dgm:t>
        <a:bodyPr/>
        <a:lstStyle/>
        <a:p>
          <a:r>
            <a:rPr lang="en-US" sz="1400" dirty="0">
              <a:latin typeface="Exo" pitchFamily="2" charset="0"/>
            </a:rPr>
            <a:t>Deploy</a:t>
          </a:r>
        </a:p>
      </dgm:t>
    </dgm:pt>
    <dgm:pt modelId="{A2431B76-A613-44D7-A89A-EEF1256DDD4B}" type="parTrans" cxnId="{0B3AAF41-16C6-4190-80FB-7C1304E8785D}">
      <dgm:prSet/>
      <dgm:spPr/>
      <dgm:t>
        <a:bodyPr/>
        <a:lstStyle/>
        <a:p>
          <a:endParaRPr lang="en-US" sz="1600">
            <a:solidFill>
              <a:schemeClr val="accent1">
                <a:lumMod val="20000"/>
                <a:lumOff val="80000"/>
              </a:schemeClr>
            </a:solidFill>
            <a:latin typeface="Exo" pitchFamily="2" charset="0"/>
          </a:endParaRPr>
        </a:p>
      </dgm:t>
    </dgm:pt>
    <dgm:pt modelId="{06150CF3-E4F6-4316-A42A-B47B9F5A3DF9}" type="sibTrans" cxnId="{0B3AAF41-16C6-4190-80FB-7C1304E8785D}">
      <dgm:prSet/>
      <dgm:spPr/>
      <dgm:t>
        <a:bodyPr/>
        <a:lstStyle/>
        <a:p>
          <a:endParaRPr lang="en-US" sz="1600">
            <a:solidFill>
              <a:schemeClr val="accent1">
                <a:lumMod val="20000"/>
                <a:lumOff val="80000"/>
              </a:schemeClr>
            </a:solidFill>
            <a:latin typeface="Exo" pitchFamily="2" charset="0"/>
          </a:endParaRPr>
        </a:p>
      </dgm:t>
    </dgm:pt>
    <dgm:pt modelId="{25C05E35-0981-488E-8430-BAF6DC751617}">
      <dgm:prSet phldrT="[Text]" custT="1"/>
      <dgm:spPr>
        <a:solidFill>
          <a:schemeClr val="accent1">
            <a:hueOff val="0"/>
            <a:satOff val="0"/>
            <a:lumOff val="0"/>
            <a:alpha val="50000"/>
          </a:schemeClr>
        </a:solidFill>
      </dgm:spPr>
      <dgm:t>
        <a:bodyPr/>
        <a:lstStyle/>
        <a:p>
          <a:r>
            <a:rPr lang="en-US" sz="1400" dirty="0">
              <a:latin typeface="Exo" pitchFamily="2" charset="0"/>
            </a:rPr>
            <a:t>Operate and maintain</a:t>
          </a:r>
        </a:p>
      </dgm:t>
    </dgm:pt>
    <dgm:pt modelId="{0A046ADB-3EB3-4714-B1D7-7A89B921D3FC}" type="parTrans" cxnId="{BEB85C2B-35E9-4638-8EE3-9E3F9DCCF7F5}">
      <dgm:prSet/>
      <dgm:spPr/>
      <dgm:t>
        <a:bodyPr/>
        <a:lstStyle/>
        <a:p>
          <a:endParaRPr lang="en-US" sz="1600">
            <a:solidFill>
              <a:schemeClr val="accent1">
                <a:lumMod val="20000"/>
                <a:lumOff val="80000"/>
              </a:schemeClr>
            </a:solidFill>
            <a:latin typeface="Exo" pitchFamily="2" charset="0"/>
          </a:endParaRPr>
        </a:p>
      </dgm:t>
    </dgm:pt>
    <dgm:pt modelId="{13FF1DA6-962A-4B46-BBC8-8C7C0C15F471}" type="sibTrans" cxnId="{BEB85C2B-35E9-4638-8EE3-9E3F9DCCF7F5}">
      <dgm:prSet/>
      <dgm:spPr/>
      <dgm:t>
        <a:bodyPr/>
        <a:lstStyle/>
        <a:p>
          <a:endParaRPr lang="en-US" sz="1600">
            <a:solidFill>
              <a:schemeClr val="accent1">
                <a:lumMod val="20000"/>
                <a:lumOff val="80000"/>
              </a:schemeClr>
            </a:solidFill>
            <a:latin typeface="Exo" pitchFamily="2" charset="0"/>
          </a:endParaRPr>
        </a:p>
      </dgm:t>
    </dgm:pt>
    <dgm:pt modelId="{AAFBD7C3-CA39-4054-A26D-4B474F925709}" type="pres">
      <dgm:prSet presAssocID="{6F7D100C-4258-4209-94B4-BF5CCA69D081}" presName="Name0" presStyleCnt="0">
        <dgm:presLayoutVars>
          <dgm:dir/>
          <dgm:animLvl val="lvl"/>
          <dgm:resizeHandles val="exact"/>
        </dgm:presLayoutVars>
      </dgm:prSet>
      <dgm:spPr/>
    </dgm:pt>
    <dgm:pt modelId="{53A99BA8-A13B-4BFA-9492-39C614208B3A}" type="pres">
      <dgm:prSet presAssocID="{58194A3B-B664-487A-B370-231BE953AA93}" presName="parTxOnly" presStyleLbl="node1" presStyleIdx="0" presStyleCnt="5" custScaleY="73602">
        <dgm:presLayoutVars>
          <dgm:chMax val="0"/>
          <dgm:chPref val="0"/>
          <dgm:bulletEnabled val="1"/>
        </dgm:presLayoutVars>
      </dgm:prSet>
      <dgm:spPr/>
    </dgm:pt>
    <dgm:pt modelId="{848AF79D-B7D8-4EA8-AD56-0E4D205B4923}" type="pres">
      <dgm:prSet presAssocID="{22C36520-29A9-4CEE-ABB6-FBB41D5D830D}" presName="parTxOnlySpace" presStyleCnt="0"/>
      <dgm:spPr/>
    </dgm:pt>
    <dgm:pt modelId="{80DDE11C-4469-44F0-8028-EEF971EC7F5B}" type="pres">
      <dgm:prSet presAssocID="{4F8481BD-A34B-4F50-BEEE-D5D88505BFC3}" presName="parTxOnly" presStyleLbl="node1" presStyleIdx="1" presStyleCnt="5" custScaleY="73602">
        <dgm:presLayoutVars>
          <dgm:chMax val="0"/>
          <dgm:chPref val="0"/>
          <dgm:bulletEnabled val="1"/>
        </dgm:presLayoutVars>
      </dgm:prSet>
      <dgm:spPr/>
    </dgm:pt>
    <dgm:pt modelId="{5D1A4C1D-DBEB-46F2-AF50-955549F9288E}" type="pres">
      <dgm:prSet presAssocID="{2996AE2D-FBEB-408C-BCFE-43A5C4CABB85}" presName="parTxOnlySpace" presStyleCnt="0"/>
      <dgm:spPr/>
    </dgm:pt>
    <dgm:pt modelId="{ED8F0F0A-0E90-41E5-8904-C7D547118F20}" type="pres">
      <dgm:prSet presAssocID="{B9926015-FEC9-4DD4-8F4E-0D2F2347E994}" presName="parTxOnly" presStyleLbl="node1" presStyleIdx="2" presStyleCnt="5" custScaleY="73602">
        <dgm:presLayoutVars>
          <dgm:chMax val="0"/>
          <dgm:chPref val="0"/>
          <dgm:bulletEnabled val="1"/>
        </dgm:presLayoutVars>
      </dgm:prSet>
      <dgm:spPr/>
    </dgm:pt>
    <dgm:pt modelId="{FD6F8E66-FCA4-4048-A5B3-861135E634C4}" type="pres">
      <dgm:prSet presAssocID="{329B9C4C-2907-4FC8-9850-F01FE656E1C4}" presName="parTxOnlySpace" presStyleCnt="0"/>
      <dgm:spPr/>
    </dgm:pt>
    <dgm:pt modelId="{3A7BD4C8-E1A6-4015-AD35-8A0883E75025}" type="pres">
      <dgm:prSet presAssocID="{DFC69436-D230-4019-96FC-050CC4ACBD55}" presName="parTxOnly" presStyleLbl="node1" presStyleIdx="3" presStyleCnt="5" custScaleY="73602">
        <dgm:presLayoutVars>
          <dgm:chMax val="0"/>
          <dgm:chPref val="0"/>
          <dgm:bulletEnabled val="1"/>
        </dgm:presLayoutVars>
      </dgm:prSet>
      <dgm:spPr/>
    </dgm:pt>
    <dgm:pt modelId="{2AFF0852-ECBE-4135-B89F-D613DFFFC284}" type="pres">
      <dgm:prSet presAssocID="{06150CF3-E4F6-4316-A42A-B47B9F5A3DF9}" presName="parTxOnlySpace" presStyleCnt="0"/>
      <dgm:spPr/>
    </dgm:pt>
    <dgm:pt modelId="{F3FCFB10-20DE-4EF1-BBA9-D0146B93915F}" type="pres">
      <dgm:prSet presAssocID="{25C05E35-0981-488E-8430-BAF6DC751617}" presName="parTxOnly" presStyleLbl="node1" presStyleIdx="4" presStyleCnt="5" custScaleY="73602">
        <dgm:presLayoutVars>
          <dgm:chMax val="0"/>
          <dgm:chPref val="0"/>
          <dgm:bulletEnabled val="1"/>
        </dgm:presLayoutVars>
      </dgm:prSet>
      <dgm:spPr/>
    </dgm:pt>
  </dgm:ptLst>
  <dgm:cxnLst>
    <dgm:cxn modelId="{6D8AEB14-A55A-4351-824D-384A5FA1EAA9}" srcId="{6F7D100C-4258-4209-94B4-BF5CCA69D081}" destId="{58194A3B-B664-487A-B370-231BE953AA93}" srcOrd="0" destOrd="0" parTransId="{CECE52A3-64C2-4F6D-A371-6CF9A7343F68}" sibTransId="{22C36520-29A9-4CEE-ABB6-FBB41D5D830D}"/>
    <dgm:cxn modelId="{BEB85C2B-35E9-4638-8EE3-9E3F9DCCF7F5}" srcId="{6F7D100C-4258-4209-94B4-BF5CCA69D081}" destId="{25C05E35-0981-488E-8430-BAF6DC751617}" srcOrd="4" destOrd="0" parTransId="{0A046ADB-3EB3-4714-B1D7-7A89B921D3FC}" sibTransId="{13FF1DA6-962A-4B46-BBC8-8C7C0C15F471}"/>
    <dgm:cxn modelId="{98809138-B3ED-44DC-86F9-73F065EA8C21}" type="presOf" srcId="{DFC69436-D230-4019-96FC-050CC4ACBD55}" destId="{3A7BD4C8-E1A6-4015-AD35-8A0883E75025}" srcOrd="0" destOrd="0" presId="urn:microsoft.com/office/officeart/2005/8/layout/chevron1"/>
    <dgm:cxn modelId="{7D08E83D-5AE2-4BB5-9246-839A2FCEA2DB}" type="presOf" srcId="{58194A3B-B664-487A-B370-231BE953AA93}" destId="{53A99BA8-A13B-4BFA-9492-39C614208B3A}" srcOrd="0" destOrd="0" presId="urn:microsoft.com/office/officeart/2005/8/layout/chevron1"/>
    <dgm:cxn modelId="{0B3AAF41-16C6-4190-80FB-7C1304E8785D}" srcId="{6F7D100C-4258-4209-94B4-BF5CCA69D081}" destId="{DFC69436-D230-4019-96FC-050CC4ACBD55}" srcOrd="3" destOrd="0" parTransId="{A2431B76-A613-44D7-A89A-EEF1256DDD4B}" sibTransId="{06150CF3-E4F6-4316-A42A-B47B9F5A3DF9}"/>
    <dgm:cxn modelId="{4329CB4C-5248-41B6-8191-021D5DF81320}" srcId="{6F7D100C-4258-4209-94B4-BF5CCA69D081}" destId="{B9926015-FEC9-4DD4-8F4E-0D2F2347E994}" srcOrd="2" destOrd="0" parTransId="{63A050AC-C711-4B06-930A-C85CF72F3B78}" sibTransId="{329B9C4C-2907-4FC8-9850-F01FE656E1C4}"/>
    <dgm:cxn modelId="{1FCB5E74-518F-4D8C-9ED2-2B8F62DC1EF4}" type="presOf" srcId="{25C05E35-0981-488E-8430-BAF6DC751617}" destId="{F3FCFB10-20DE-4EF1-BBA9-D0146B93915F}" srcOrd="0" destOrd="0" presId="urn:microsoft.com/office/officeart/2005/8/layout/chevron1"/>
    <dgm:cxn modelId="{9B376175-1A42-4186-A2BE-B6AFD61D4110}" type="presOf" srcId="{6F7D100C-4258-4209-94B4-BF5CCA69D081}" destId="{AAFBD7C3-CA39-4054-A26D-4B474F925709}" srcOrd="0" destOrd="0" presId="urn:microsoft.com/office/officeart/2005/8/layout/chevron1"/>
    <dgm:cxn modelId="{63B81078-8A28-4B4F-9DBC-79DB2BE37579}" type="presOf" srcId="{4F8481BD-A34B-4F50-BEEE-D5D88505BFC3}" destId="{80DDE11C-4469-44F0-8028-EEF971EC7F5B}" srcOrd="0" destOrd="0" presId="urn:microsoft.com/office/officeart/2005/8/layout/chevron1"/>
    <dgm:cxn modelId="{BE489CC7-444A-4BD4-8667-99FBF375003E}" srcId="{6F7D100C-4258-4209-94B4-BF5CCA69D081}" destId="{4F8481BD-A34B-4F50-BEEE-D5D88505BFC3}" srcOrd="1" destOrd="0" parTransId="{2F97C68F-8BFA-4174-83C7-A1D4B29F5C08}" sibTransId="{2996AE2D-FBEB-408C-BCFE-43A5C4CABB85}"/>
    <dgm:cxn modelId="{9DEC8EE8-CF07-4D29-8216-F773D26B61DB}" type="presOf" srcId="{B9926015-FEC9-4DD4-8F4E-0D2F2347E994}" destId="{ED8F0F0A-0E90-41E5-8904-C7D547118F20}" srcOrd="0" destOrd="0" presId="urn:microsoft.com/office/officeart/2005/8/layout/chevron1"/>
    <dgm:cxn modelId="{ED0D589A-9766-42B9-84CA-F698AFB14453}" type="presParOf" srcId="{AAFBD7C3-CA39-4054-A26D-4B474F925709}" destId="{53A99BA8-A13B-4BFA-9492-39C614208B3A}" srcOrd="0" destOrd="0" presId="urn:microsoft.com/office/officeart/2005/8/layout/chevron1"/>
    <dgm:cxn modelId="{93047CF2-DED4-4905-A32D-5BD9A94B82D9}" type="presParOf" srcId="{AAFBD7C3-CA39-4054-A26D-4B474F925709}" destId="{848AF79D-B7D8-4EA8-AD56-0E4D205B4923}" srcOrd="1" destOrd="0" presId="urn:microsoft.com/office/officeart/2005/8/layout/chevron1"/>
    <dgm:cxn modelId="{1F64BAD5-3A6D-4BA3-A896-D4FC8C021C4B}" type="presParOf" srcId="{AAFBD7C3-CA39-4054-A26D-4B474F925709}" destId="{80DDE11C-4469-44F0-8028-EEF971EC7F5B}" srcOrd="2" destOrd="0" presId="urn:microsoft.com/office/officeart/2005/8/layout/chevron1"/>
    <dgm:cxn modelId="{81101A91-9AE3-434A-9D5C-8F6B0D136873}" type="presParOf" srcId="{AAFBD7C3-CA39-4054-A26D-4B474F925709}" destId="{5D1A4C1D-DBEB-46F2-AF50-955549F9288E}" srcOrd="3" destOrd="0" presId="urn:microsoft.com/office/officeart/2005/8/layout/chevron1"/>
    <dgm:cxn modelId="{B865A852-4BC4-45B6-ABDA-CA101679F8C7}" type="presParOf" srcId="{AAFBD7C3-CA39-4054-A26D-4B474F925709}" destId="{ED8F0F0A-0E90-41E5-8904-C7D547118F20}" srcOrd="4" destOrd="0" presId="urn:microsoft.com/office/officeart/2005/8/layout/chevron1"/>
    <dgm:cxn modelId="{1848D0A6-91D9-4452-A656-0774A3B046EE}" type="presParOf" srcId="{AAFBD7C3-CA39-4054-A26D-4B474F925709}" destId="{FD6F8E66-FCA4-4048-A5B3-861135E634C4}" srcOrd="5" destOrd="0" presId="urn:microsoft.com/office/officeart/2005/8/layout/chevron1"/>
    <dgm:cxn modelId="{3E27B914-29F7-4129-A2DF-601ADE5C1C48}" type="presParOf" srcId="{AAFBD7C3-CA39-4054-A26D-4B474F925709}" destId="{3A7BD4C8-E1A6-4015-AD35-8A0883E75025}" srcOrd="6" destOrd="0" presId="urn:microsoft.com/office/officeart/2005/8/layout/chevron1"/>
    <dgm:cxn modelId="{00943FAB-4F7C-493F-ADE6-F4E219B4CF6B}" type="presParOf" srcId="{AAFBD7C3-CA39-4054-A26D-4B474F925709}" destId="{2AFF0852-ECBE-4135-B89F-D613DFFFC284}" srcOrd="7" destOrd="0" presId="urn:microsoft.com/office/officeart/2005/8/layout/chevron1"/>
    <dgm:cxn modelId="{6D77D9B2-BD87-4AB5-97CB-0416204142D8}" type="presParOf" srcId="{AAFBD7C3-CA39-4054-A26D-4B474F925709}" destId="{F3FCFB10-20DE-4EF1-BBA9-D0146B93915F}"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021E2-87C1-414D-A414-56A2AAE44F47}">
      <dsp:nvSpPr>
        <dsp:cNvPr id="0" name=""/>
        <dsp:cNvSpPr/>
      </dsp:nvSpPr>
      <dsp:spPr>
        <a:xfrm>
          <a:off x="3799" y="0"/>
          <a:ext cx="3322673" cy="1016192"/>
        </a:xfrm>
        <a:prstGeom prst="homePlate">
          <a:avLst/>
        </a:prstGeom>
        <a:solidFill>
          <a:schemeClr val="accent1">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676"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Phase 1</a:t>
          </a:r>
        </a:p>
      </dsp:txBody>
      <dsp:txXfrm>
        <a:off x="3799" y="0"/>
        <a:ext cx="3068625" cy="1016192"/>
      </dsp:txXfrm>
    </dsp:sp>
    <dsp:sp modelId="{BE840A39-1306-4AEF-ADCD-28099CAE7BE1}">
      <dsp:nvSpPr>
        <dsp:cNvPr id="0" name=""/>
        <dsp:cNvSpPr/>
      </dsp:nvSpPr>
      <dsp:spPr>
        <a:xfrm>
          <a:off x="2661938" y="0"/>
          <a:ext cx="3322673" cy="1016192"/>
        </a:xfrm>
        <a:prstGeom prst="chevron">
          <a:avLst/>
        </a:prstGeom>
        <a:solidFill>
          <a:schemeClr val="accent1">
            <a:shade val="80000"/>
            <a:hueOff val="267459"/>
            <a:satOff val="-14837"/>
            <a:lumOff val="158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Phase 2</a:t>
          </a:r>
          <a:endParaRPr lang="en-CA" sz="1400" b="1" kern="1200" dirty="0">
            <a:latin typeface="Montserrat" panose="00000500000000000000" pitchFamily="2" charset="0"/>
          </a:endParaRPr>
        </a:p>
      </dsp:txBody>
      <dsp:txXfrm>
        <a:off x="3170034" y="0"/>
        <a:ext cx="2306481" cy="1016192"/>
      </dsp:txXfrm>
    </dsp:sp>
    <dsp:sp modelId="{A8612D2A-892A-4F89-A395-9A98FAF04D82}">
      <dsp:nvSpPr>
        <dsp:cNvPr id="0" name=""/>
        <dsp:cNvSpPr/>
      </dsp:nvSpPr>
      <dsp:spPr>
        <a:xfrm>
          <a:off x="5320077" y="0"/>
          <a:ext cx="3322673" cy="1016192"/>
        </a:xfrm>
        <a:prstGeom prst="chevron">
          <a:avLst/>
        </a:prstGeom>
        <a:solidFill>
          <a:schemeClr val="accent1">
            <a:shade val="80000"/>
            <a:hueOff val="534918"/>
            <a:satOff val="-29673"/>
            <a:lumOff val="31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37338" rIns="18669" bIns="37338"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Montserrat" panose="00000500000000000000" pitchFamily="2" charset="0"/>
            </a:rPr>
            <a:t>Phase 3</a:t>
          </a:r>
          <a:endParaRPr lang="en-CA" sz="1400" b="1" kern="1200" dirty="0">
            <a:latin typeface="Montserrat" panose="00000500000000000000" pitchFamily="2" charset="0"/>
          </a:endParaRPr>
        </a:p>
      </dsp:txBody>
      <dsp:txXfrm>
        <a:off x="5828173" y="0"/>
        <a:ext cx="2306481" cy="10161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A99BA8-A13B-4BFA-9492-39C614208B3A}">
      <dsp:nvSpPr>
        <dsp:cNvPr id="0" name=""/>
        <dsp:cNvSpPr/>
      </dsp:nvSpPr>
      <dsp:spPr>
        <a:xfrm>
          <a:off x="2871"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Analyze and design</a:t>
          </a:r>
        </a:p>
      </dsp:txBody>
      <dsp:txXfrm>
        <a:off x="379119" y="1492112"/>
        <a:ext cx="1803464" cy="752495"/>
      </dsp:txXfrm>
    </dsp:sp>
    <dsp:sp modelId="{80DDE11C-4469-44F0-8028-EEF971EC7F5B}">
      <dsp:nvSpPr>
        <dsp:cNvPr id="0" name=""/>
        <dsp:cNvSpPr/>
      </dsp:nvSpPr>
      <dsp:spPr>
        <a:xfrm>
          <a:off x="2303235"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Build</a:t>
          </a:r>
        </a:p>
      </dsp:txBody>
      <dsp:txXfrm>
        <a:off x="2679483" y="1492112"/>
        <a:ext cx="1803464" cy="752495"/>
      </dsp:txXfrm>
    </dsp:sp>
    <dsp:sp modelId="{ED8F0F0A-0E90-41E5-8904-C7D547118F20}">
      <dsp:nvSpPr>
        <dsp:cNvPr id="0" name=""/>
        <dsp:cNvSpPr/>
      </dsp:nvSpPr>
      <dsp:spPr>
        <a:xfrm>
          <a:off x="4603599"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Test</a:t>
          </a:r>
        </a:p>
      </dsp:txBody>
      <dsp:txXfrm>
        <a:off x="4979847" y="1492112"/>
        <a:ext cx="1803464" cy="752495"/>
      </dsp:txXfrm>
    </dsp:sp>
    <dsp:sp modelId="{3A7BD4C8-E1A6-4015-AD35-8A0883E75025}">
      <dsp:nvSpPr>
        <dsp:cNvPr id="0" name=""/>
        <dsp:cNvSpPr/>
      </dsp:nvSpPr>
      <dsp:spPr>
        <a:xfrm>
          <a:off x="6903963"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Deploy</a:t>
          </a:r>
        </a:p>
      </dsp:txBody>
      <dsp:txXfrm>
        <a:off x="7280211" y="1492112"/>
        <a:ext cx="1803464" cy="752495"/>
      </dsp:txXfrm>
    </dsp:sp>
    <dsp:sp modelId="{F3FCFB10-20DE-4EF1-BBA9-D0146B93915F}">
      <dsp:nvSpPr>
        <dsp:cNvPr id="0" name=""/>
        <dsp:cNvSpPr/>
      </dsp:nvSpPr>
      <dsp:spPr>
        <a:xfrm>
          <a:off x="9204327" y="1492112"/>
          <a:ext cx="2555959" cy="752495"/>
        </a:xfrm>
        <a:prstGeom prst="chevron">
          <a:avLst/>
        </a:prstGeom>
        <a:solidFill>
          <a:schemeClr val="accent1">
            <a:hueOff val="0"/>
            <a:satOff val="0"/>
            <a:lumOff val="0"/>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Operate and maintain</a:t>
          </a:r>
        </a:p>
      </dsp:txBody>
      <dsp:txXfrm>
        <a:off x="9580575" y="1492112"/>
        <a:ext cx="1803464" cy="75249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4BFADC-759D-9A4E-9A09-AD89F1BCC0AE}"/>
              </a:ext>
            </a:extLst>
          </p:cNvPr>
          <p:cNvSpPr>
            <a:spLocks noGrp="1"/>
          </p:cNvSpPr>
          <p:nvPr>
            <p:ph type="hdr" sz="quarter"/>
          </p:nvPr>
        </p:nvSpPr>
        <p:spPr>
          <a:xfrm>
            <a:off x="0" y="0"/>
            <a:ext cx="4900956" cy="1007464"/>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D62EC22-1B51-694A-94D5-D4CB2538FD12}"/>
              </a:ext>
            </a:extLst>
          </p:cNvPr>
          <p:cNvSpPr>
            <a:spLocks noGrp="1"/>
          </p:cNvSpPr>
          <p:nvPr>
            <p:ph type="dt" sz="quarter" idx="1"/>
          </p:nvPr>
        </p:nvSpPr>
        <p:spPr>
          <a:xfrm>
            <a:off x="6405715" y="0"/>
            <a:ext cx="4900956" cy="1007464"/>
          </a:xfrm>
          <a:prstGeom prst="rect">
            <a:avLst/>
          </a:prstGeom>
        </p:spPr>
        <p:txBody>
          <a:bodyPr vert="horz" lIns="91440" tIns="45720" rIns="91440" bIns="45720" rtlCol="0"/>
          <a:lstStyle>
            <a:lvl1pPr algn="r">
              <a:defRPr sz="1200"/>
            </a:lvl1pPr>
          </a:lstStyle>
          <a:p>
            <a:fld id="{3421FBE2-D7AF-034E-A3E8-B3AFB8825F2F}" type="datetimeFigureOut">
              <a:rPr lang="en-US" smtClean="0"/>
              <a:t>12/8/2025</a:t>
            </a:fld>
            <a:endParaRPr lang="en-US" dirty="0"/>
          </a:p>
        </p:txBody>
      </p:sp>
      <p:sp>
        <p:nvSpPr>
          <p:cNvPr id="4" name="Footer Placeholder 3">
            <a:extLst>
              <a:ext uri="{FF2B5EF4-FFF2-40B4-BE49-F238E27FC236}">
                <a16:creationId xmlns:a16="http://schemas.microsoft.com/office/drawing/2014/main" id="{2202C9E9-64FF-014C-96CA-5B97C999C1FF}"/>
              </a:ext>
            </a:extLst>
          </p:cNvPr>
          <p:cNvSpPr>
            <a:spLocks noGrp="1"/>
          </p:cNvSpPr>
          <p:nvPr>
            <p:ph type="ftr" sz="quarter" idx="2"/>
          </p:nvPr>
        </p:nvSpPr>
        <p:spPr>
          <a:xfrm>
            <a:off x="0" y="19096639"/>
            <a:ext cx="4900956" cy="1007462"/>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E38FAC2-6080-3440-A5EF-CDB292825895}"/>
              </a:ext>
            </a:extLst>
          </p:cNvPr>
          <p:cNvSpPr>
            <a:spLocks noGrp="1"/>
          </p:cNvSpPr>
          <p:nvPr>
            <p:ph type="sldNum" sz="quarter" idx="3"/>
          </p:nvPr>
        </p:nvSpPr>
        <p:spPr>
          <a:xfrm>
            <a:off x="6405715" y="19096639"/>
            <a:ext cx="4900956" cy="1007462"/>
          </a:xfrm>
          <a:prstGeom prst="rect">
            <a:avLst/>
          </a:prstGeom>
        </p:spPr>
        <p:txBody>
          <a:bodyPr vert="horz" lIns="91440" tIns="45720" rIns="91440" bIns="45720" rtlCol="0" anchor="b"/>
          <a:lstStyle>
            <a:lvl1pPr algn="r">
              <a:defRPr sz="1200"/>
            </a:lvl1pPr>
          </a:lstStyle>
          <a:p>
            <a:fld id="{A0D59A62-6DDC-664C-B490-E4412C3B9B65}" type="slidenum">
              <a:rPr lang="en-US" smtClean="0"/>
              <a:t>‹#›</a:t>
            </a:fld>
            <a:endParaRPr lang="en-US" dirty="0"/>
          </a:p>
        </p:txBody>
      </p:sp>
    </p:spTree>
    <p:extLst>
      <p:ext uri="{BB962C8B-B14F-4D97-AF65-F5344CB8AC3E}">
        <p14:creationId xmlns:p14="http://schemas.microsoft.com/office/powerpoint/2010/main" val="12334922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900956" cy="1007464"/>
          </a:xfrm>
          <a:prstGeom prst="rect">
            <a:avLst/>
          </a:prstGeom>
        </p:spPr>
        <p:txBody>
          <a:bodyPr vert="horz" lIns="91440" tIns="45720" rIns="91440" bIns="45720" rtlCol="0"/>
          <a:lstStyle>
            <a:lvl1pPr algn="l">
              <a:defRPr sz="1200" b="0" i="0">
                <a:latin typeface="Roboto Condensed Light" panose="02000000000000000000" pitchFamily="2" charset="0"/>
              </a:defRPr>
            </a:lvl1pPr>
          </a:lstStyle>
          <a:p>
            <a:endParaRPr lang="en-US" dirty="0"/>
          </a:p>
        </p:txBody>
      </p:sp>
      <p:sp>
        <p:nvSpPr>
          <p:cNvPr id="3" name="Date Placeholder 2"/>
          <p:cNvSpPr>
            <a:spLocks noGrp="1"/>
          </p:cNvSpPr>
          <p:nvPr>
            <p:ph type="dt" idx="1"/>
          </p:nvPr>
        </p:nvSpPr>
        <p:spPr>
          <a:xfrm>
            <a:off x="6405715" y="0"/>
            <a:ext cx="4900956" cy="1007464"/>
          </a:xfrm>
          <a:prstGeom prst="rect">
            <a:avLst/>
          </a:prstGeom>
        </p:spPr>
        <p:txBody>
          <a:bodyPr vert="horz" lIns="91440" tIns="45720" rIns="91440" bIns="45720" rtlCol="0"/>
          <a:lstStyle>
            <a:lvl1pPr algn="r">
              <a:defRPr sz="1200" b="0" i="0">
                <a:latin typeface="Roboto Condensed Light" panose="02000000000000000000" pitchFamily="2" charset="0"/>
              </a:defRPr>
            </a:lvl1pPr>
          </a:lstStyle>
          <a:p>
            <a:fld id="{F0A9609A-B772-C646-9832-EF91D164CC90}" type="datetimeFigureOut">
              <a:rPr lang="en-US" smtClean="0"/>
              <a:pPr/>
              <a:t>12/8/2025</a:t>
            </a:fld>
            <a:endParaRPr lang="en-US" dirty="0"/>
          </a:p>
        </p:txBody>
      </p:sp>
      <p:sp>
        <p:nvSpPr>
          <p:cNvPr id="4" name="Slide Image Placeholder 3"/>
          <p:cNvSpPr>
            <a:spLocks noGrp="1" noRot="1" noChangeAspect="1"/>
          </p:cNvSpPr>
          <p:nvPr>
            <p:ph type="sldImg" idx="2"/>
          </p:nvPr>
        </p:nvSpPr>
        <p:spPr>
          <a:xfrm>
            <a:off x="-374650" y="2514600"/>
            <a:ext cx="12058650" cy="6783388"/>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130578" y="9673900"/>
            <a:ext cx="9048194" cy="7918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9096639"/>
            <a:ext cx="4900956" cy="1007462"/>
          </a:xfrm>
          <a:prstGeom prst="rect">
            <a:avLst/>
          </a:prstGeom>
        </p:spPr>
        <p:txBody>
          <a:bodyPr vert="horz" lIns="91440" tIns="45720" rIns="91440" bIns="45720" rtlCol="0" anchor="b"/>
          <a:lstStyle>
            <a:lvl1pPr algn="l">
              <a:defRPr sz="1200" b="0" i="0">
                <a:latin typeface="Roboto Condensed Light" panose="02000000000000000000" pitchFamily="2" charset="0"/>
              </a:defRPr>
            </a:lvl1pPr>
          </a:lstStyle>
          <a:p>
            <a:endParaRPr lang="en-US" dirty="0"/>
          </a:p>
        </p:txBody>
      </p:sp>
      <p:sp>
        <p:nvSpPr>
          <p:cNvPr id="7" name="Slide Number Placeholder 6"/>
          <p:cNvSpPr>
            <a:spLocks noGrp="1"/>
          </p:cNvSpPr>
          <p:nvPr>
            <p:ph type="sldNum" sz="quarter" idx="5"/>
          </p:nvPr>
        </p:nvSpPr>
        <p:spPr>
          <a:xfrm>
            <a:off x="6405715" y="19096639"/>
            <a:ext cx="4900956" cy="1007462"/>
          </a:xfrm>
          <a:prstGeom prst="rect">
            <a:avLst/>
          </a:prstGeom>
        </p:spPr>
        <p:txBody>
          <a:bodyPr vert="horz" lIns="91440" tIns="45720" rIns="91440" bIns="45720" rtlCol="0" anchor="b"/>
          <a:lstStyle>
            <a:lvl1pPr algn="r">
              <a:defRPr sz="1200" b="0" i="0">
                <a:latin typeface="Roboto Condensed Light" panose="02000000000000000000" pitchFamily="2" charset="0"/>
              </a:defRPr>
            </a:lvl1pPr>
          </a:lstStyle>
          <a:p>
            <a:fld id="{06B0FC7D-8687-9A40-9CA8-0B2F00AB98E3}" type="slidenum">
              <a:rPr lang="en-US" smtClean="0"/>
              <a:pPr/>
              <a:t>‹#›</a:t>
            </a:fld>
            <a:endParaRPr lang="en-US" dirty="0"/>
          </a:p>
        </p:txBody>
      </p:sp>
    </p:spTree>
    <p:extLst>
      <p:ext uri="{BB962C8B-B14F-4D97-AF65-F5344CB8AC3E}">
        <p14:creationId xmlns:p14="http://schemas.microsoft.com/office/powerpoint/2010/main" val="2316559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Roboto Condensed Light" panose="02000000000000000000" pitchFamily="2" charset="0"/>
        <a:ea typeface="+mn-ea"/>
        <a:cs typeface="+mn-cs"/>
      </a:defRPr>
    </a:lvl1pPr>
    <a:lvl2pPr marL="457200" algn="l" defTabSz="914400" rtl="0" eaLnBrk="1" latinLnBrk="0" hangingPunct="1">
      <a:defRPr sz="1200" b="0" i="0" kern="1200">
        <a:solidFill>
          <a:schemeClr val="tx1"/>
        </a:solidFill>
        <a:latin typeface="Roboto Condensed Light" panose="02000000000000000000" pitchFamily="2" charset="0"/>
        <a:ea typeface="+mn-ea"/>
        <a:cs typeface="+mn-cs"/>
      </a:defRPr>
    </a:lvl2pPr>
    <a:lvl3pPr marL="914400" algn="l" defTabSz="914400" rtl="0" eaLnBrk="1" latinLnBrk="0" hangingPunct="1">
      <a:defRPr sz="1200" b="0" i="0" kern="1200">
        <a:solidFill>
          <a:schemeClr val="tx1"/>
        </a:solidFill>
        <a:latin typeface="Roboto Condensed Light" panose="02000000000000000000" pitchFamily="2" charset="0"/>
        <a:ea typeface="+mn-ea"/>
        <a:cs typeface="+mn-cs"/>
      </a:defRPr>
    </a:lvl3pPr>
    <a:lvl4pPr marL="1371600" algn="l" defTabSz="914400" rtl="0" eaLnBrk="1" latinLnBrk="0" hangingPunct="1">
      <a:defRPr sz="1200" b="0" i="0" kern="1200">
        <a:solidFill>
          <a:schemeClr val="tx1"/>
        </a:solidFill>
        <a:latin typeface="Roboto Condensed Light" panose="02000000000000000000" pitchFamily="2" charset="0"/>
        <a:ea typeface="+mn-ea"/>
        <a:cs typeface="+mn-cs"/>
      </a:defRPr>
    </a:lvl4pPr>
    <a:lvl5pPr marL="1828800" algn="l" defTabSz="914400" rtl="0" eaLnBrk="1" latinLnBrk="0" hangingPunct="1">
      <a:defRPr sz="1200" b="0" i="0" kern="1200">
        <a:solidFill>
          <a:schemeClr val="tx1"/>
        </a:solidFill>
        <a:latin typeface="Roboto Condensed Light"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a:t>
            </a:fld>
            <a:endParaRPr lang="en-US" dirty="0"/>
          </a:p>
        </p:txBody>
      </p:sp>
    </p:spTree>
    <p:extLst>
      <p:ext uri="{BB962C8B-B14F-4D97-AF65-F5344CB8AC3E}">
        <p14:creationId xmlns:p14="http://schemas.microsoft.com/office/powerpoint/2010/main" val="2968715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Roboto" panose="02000000000000000000" pitchFamily="2" charset="0"/>
              <a:ea typeface="Roboto" panose="02000000000000000000" pitchFamily="2" charset="0"/>
            </a:endParaRPr>
          </a:p>
        </p:txBody>
      </p:sp>
      <p:sp>
        <p:nvSpPr>
          <p:cNvPr id="4" name="Slide Number Placeholder 3"/>
          <p:cNvSpPr>
            <a:spLocks noGrp="1"/>
          </p:cNvSpPr>
          <p:nvPr>
            <p:ph type="sldNum" sz="quarter" idx="5"/>
          </p:nvPr>
        </p:nvSpPr>
        <p:spPr/>
        <p:txBody>
          <a:bodyPr/>
          <a:lstStyle/>
          <a:p>
            <a:fld id="{06B0FC7D-8687-9A40-9CA8-0B2F00AB98E3}" type="slidenum">
              <a:rPr lang="en-US" smtClean="0"/>
              <a:pPr/>
              <a:t>2</a:t>
            </a:fld>
            <a:endParaRPr lang="en-US" dirty="0"/>
          </a:p>
        </p:txBody>
      </p:sp>
    </p:spTree>
    <p:extLst>
      <p:ext uri="{BB962C8B-B14F-4D97-AF65-F5344CB8AC3E}">
        <p14:creationId xmlns:p14="http://schemas.microsoft.com/office/powerpoint/2010/main" val="3776771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solidFill>
                <a:prstClr val="black"/>
              </a:solidFill>
            </a:endParaRPr>
          </a:p>
        </p:txBody>
      </p:sp>
      <p:sp>
        <p:nvSpPr>
          <p:cNvPr id="4" name="Slide Number Placeholder 3"/>
          <p:cNvSpPr>
            <a:spLocks noGrp="1"/>
          </p:cNvSpPr>
          <p:nvPr>
            <p:ph type="sldNum" sz="quarter" idx="5"/>
          </p:nvPr>
        </p:nvSpPr>
        <p:spPr/>
        <p:txBody>
          <a:bodyPr/>
          <a:lstStyle/>
          <a:p>
            <a:fld id="{06B0FC7D-8687-9A40-9CA8-0B2F00AB98E3}" type="slidenum">
              <a:rPr lang="en-US" smtClean="0"/>
              <a:pPr/>
              <a:t>3</a:t>
            </a:fld>
            <a:endParaRPr lang="en-US" dirty="0"/>
          </a:p>
        </p:txBody>
      </p:sp>
    </p:spTree>
    <p:extLst>
      <p:ext uri="{BB962C8B-B14F-4D97-AF65-F5344CB8AC3E}">
        <p14:creationId xmlns:p14="http://schemas.microsoft.com/office/powerpoint/2010/main" val="170224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4</a:t>
            </a:fld>
            <a:endParaRPr lang="en-US" dirty="0"/>
          </a:p>
        </p:txBody>
      </p:sp>
    </p:spTree>
    <p:extLst>
      <p:ext uri="{BB962C8B-B14F-4D97-AF65-F5344CB8AC3E}">
        <p14:creationId xmlns:p14="http://schemas.microsoft.com/office/powerpoint/2010/main" val="1659858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5</a:t>
            </a:fld>
            <a:endParaRPr lang="en-US" dirty="0"/>
          </a:p>
        </p:txBody>
      </p:sp>
    </p:spTree>
    <p:extLst>
      <p:ext uri="{BB962C8B-B14F-4D97-AF65-F5344CB8AC3E}">
        <p14:creationId xmlns:p14="http://schemas.microsoft.com/office/powerpoint/2010/main" val="2579870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E6E1C0A-2694-4534-912A-1FCECFF645A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9719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a:pPr>
            <a:endParaRPr kumimoji="0" lang="en-US" sz="14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95065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907799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2968226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12</a:t>
            </a:fld>
            <a:endParaRPr lang="en-US" dirty="0"/>
          </a:p>
        </p:txBody>
      </p:sp>
    </p:spTree>
    <p:extLst>
      <p:ext uri="{BB962C8B-B14F-4D97-AF65-F5344CB8AC3E}">
        <p14:creationId xmlns:p14="http://schemas.microsoft.com/office/powerpoint/2010/main" val="961974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13</a:t>
            </a:fld>
            <a:endParaRPr lang="en-US" dirty="0"/>
          </a:p>
        </p:txBody>
      </p:sp>
    </p:spTree>
    <p:extLst>
      <p:ext uri="{BB962C8B-B14F-4D97-AF65-F5344CB8AC3E}">
        <p14:creationId xmlns:p14="http://schemas.microsoft.com/office/powerpoint/2010/main" val="7643315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FA6FA-73AE-CD59-3F6E-BDB42FD9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C525D-312D-D292-5161-5496D7942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9B7AE-001C-95EB-DBC8-30BC1ED00C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E5D027-B183-9A9D-81BD-1ACD4C34FDAC}"/>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666344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576031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514877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AEDD8-EFFA-0EE6-6D00-AEE515A57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A8935-0713-29E6-4B98-2C734FC8C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8BCDB-2FD6-503D-EF0F-89CF4388543F}"/>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CDF5C587-719F-A068-CBA4-BF06A621BD2F}"/>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52643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D78D-D4A2-57AB-58D0-79651FFE8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1244E-45FD-988B-B488-68D2C46791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D12A2-C082-1A77-8481-1EBD818297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A6D927-AE98-387A-A0A4-907A128F91D3}"/>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4075147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730512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20</a:t>
            </a:fld>
            <a:endParaRPr lang="en-US" dirty="0"/>
          </a:p>
        </p:txBody>
      </p:sp>
    </p:spTree>
    <p:extLst>
      <p:ext uri="{BB962C8B-B14F-4D97-AF65-F5344CB8AC3E}">
        <p14:creationId xmlns:p14="http://schemas.microsoft.com/office/powerpoint/2010/main" val="618760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5B4A9-321E-3441-81B7-7C1CA3C43D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FA79A-3A96-C402-0C11-F7331A2A8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A5C21F-3C21-3BAD-E15E-C222232323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F622A4-2B05-14D5-F059-FDE22B53F1A2}"/>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214960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CF460-46A6-15C0-AA9C-421EA44700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97BD1-7ED0-8A45-86D7-4041EC087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5C9BC-21BA-8801-1BC8-5B5BEF258E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68D3FB-401A-BC8B-8BCA-481288C5BDF1}"/>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3156925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C8DEE-0BA9-7A79-D800-C99C6A55DC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EAD09-9C91-E5F4-3CBB-B24D5DDA38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A7191-9746-5DF5-1787-E2F6D11B5F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E3505D-4E2E-9922-C3C1-11EAF82942B3}"/>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4701365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001A6-620A-3778-712F-DADDFF6A0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9DAB6-ACEB-267C-663B-687B8CCA0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02504-DB12-4631-EA7D-F83EFE3020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AE420-332E-6050-93F1-CF342FA18E18}"/>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148021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6FA36-F28F-A318-6C49-F01DB7B18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431EC5-1BB2-08A1-A5AE-50DFB5018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7ABFA-6611-58D8-3AFC-BC63B09E62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9A8F28-943A-53E5-622D-40238F64B857}"/>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462058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315C7-D104-6141-10CA-4C9E5E5417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667EC-388B-E889-4655-56D812E67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70F58-DBF1-BBB3-FB93-856D64982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410AD4-C033-AA44-7AA5-C1BB89281689}"/>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8244407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102B8-F5F1-1B3C-CBE4-11F76E1EE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A2CDB-68D6-1E2F-3ECC-F446060E7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DAC39-8087-316B-84F2-76A0A1157E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9E263F-062E-0448-F282-E5216705ED12}"/>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7597102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9DD4E-34E4-B599-4AE7-891CD3D7E5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5084B-320A-E4BA-2380-5A56DC66F6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38A80-17AD-EF77-CD10-A3F1D423C4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594E44-7D81-A9D2-212F-DB990B25CE50}"/>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948983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F8EA2-29A2-B7AE-738B-F0BACAF2F4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921519-E551-6E47-102D-FEEFCC396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04DE6-9A01-B99D-B75F-3031C5A9F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C698B-B116-39BE-AACE-244CE3474086}"/>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6862764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65C21-859D-B34B-A420-D8037163B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6C003-FBBC-B02F-EEC3-17FE40A9A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9F29B-9A4F-B0B7-FB30-9880267F2B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4CA0E4-E92E-1D6C-B9F1-3D7662F5058D}"/>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6371352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E4DEF-7B68-CBA1-33CD-566BBC08B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11233-E4EE-6B5B-06C9-DA1015C41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84D9C-54EF-7141-6991-C710327879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6E9F18-923A-674C-E4DA-0F6918FB7C09}"/>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331976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D5CC-E660-F719-F09F-E6AB476D4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F337C-2BD4-8D6E-75E1-902C61BDB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D0867-E909-7A6E-ABAB-F5C2EB778C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BBBFB-1BA4-5B82-D7A4-3AEEF37AD3D1}"/>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35785373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738293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5DA70-4541-C3FF-F946-1EB08FAE1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8A452A-B81C-8E4F-CB46-18FE421B2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9F151-1FAF-7015-B99D-A3D4B9FBDD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ACAB54-97D6-A72F-78A6-3C8ACA850191}"/>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32235030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39306420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AC65-B933-3FC7-AB56-FDC6B8246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62FD2-5422-E05E-1611-6BF668E9C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25CD7-461A-3C21-75F2-912CF652F2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D3324E-7EAB-D5A4-59DA-473E58874463}"/>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3187861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83C0-7EA0-E6B8-8CFA-4252C5826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6DDB8-BFC2-B73C-5A39-E9748F2E9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9801F-4F98-EB37-F5D0-E26E866C35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1DF39A-6629-FB81-EFFF-77D414F325F7}"/>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38997801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66ACB-A434-A766-6F83-B6C90FB66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F0DB3-8475-05A0-6F79-C428BCB82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BA90D-05D0-1F8B-1132-CA67C7924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59A914-48CC-9EE6-577F-B528A10A5DB4}"/>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7138420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3F8D-380D-FC17-B421-0DC69427D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C8ACF-FEB3-A743-34D4-22C380DCA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76AE4-B0A2-8BD5-CFF9-F70AA5BAD6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091BAF-3261-430D-D4F2-9DF06807567F}"/>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9725129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8F071-3E08-A6C6-DE7F-B249F1E9D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B2D53-9FAC-2720-D936-AE4612853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96D958-D295-C6D1-EF92-2B031D20BE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05FA55-AD8E-CFF7-7864-38DC683971BA}"/>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6721896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185E5-AF32-5F96-60F8-80B563D6B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D098E-A0DE-1A14-6DBA-3C58952AF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78538-2B36-4AC4-0B3F-F87B32244F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1DAE9C-4C0F-B3DA-4D0E-6BB3EBA3A7ED}"/>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31156476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CB75-230C-C370-34DE-C1C3E2885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58C58-A94F-6D55-F12E-E4A1A3ABB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7882-3A5B-9CB8-F1D6-6637C5D023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8A7D66-B357-36F6-690E-54FD0032FF8C}"/>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832969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4373F-51C2-57E3-5523-96B9D5EFF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A1A6B-BCAB-1CCA-20F4-515C95AC3A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BA7D1-DDAC-335D-23F0-B6A330956F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BBABDE-B034-C0F5-C43C-9F662DDB4330}"/>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7289687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DEAF-D73A-360E-2C48-DAB502D311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97D08-356D-B44A-65B3-E5935D3B2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45FE47-6B35-9CD4-32AE-B2284BAE49E1}"/>
              </a:ext>
            </a:extLst>
          </p:cNvPr>
          <p:cNvSpPr>
            <a:spLocks noGrp="1"/>
          </p:cNvSpPr>
          <p:nvPr>
            <p:ph type="body"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5ED5A460-1F83-1EFE-DE38-1C4B17272B21}"/>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8837319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2717063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FAB08-A440-0BCE-4DB6-8789CE46AB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AE97F-DBB0-8B9A-A8DB-E43A566C1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E0C293-75FB-5DA9-12B3-7D9E8DDA26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608BF6-656B-3A37-1913-3F7942893550}"/>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39036490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C054F-4EBC-C83E-F40C-7A8D129A2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70E11-D5DD-3A5C-9255-F97ED2EF9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8B5F66-A717-A198-C200-391F8DF1B1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833F27-A2F1-8411-5235-02217EFF0F92}"/>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8934514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15D9-1F89-133D-5A66-5D26032FB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9009A-13B7-D988-D0EC-D1EA9A740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29405-725F-5919-6AEB-45A33C02BD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FED524-BC7E-43B1-51AB-000431838649}"/>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5210872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C9244-891F-907D-ED99-325204198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34B70-2EE6-9897-5037-973A291C2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D80D7A-AFF5-F051-7C89-2958BA43CA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A36D4-7366-A4A2-CD10-BCE1F2C2F430}"/>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989757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9C9F3-2959-938A-751D-0343B3AE3F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74FAB-D68C-F244-1E72-5E3B618914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956B5-E5AE-8081-A8BC-FD75664BA6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0C8C65-0189-78FF-BE88-830957E9E7F1}"/>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9637258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4A19B-476A-C8FF-BF4B-843290BB1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1EFD7-43B4-49AB-840E-55A95BD87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29FAB-07A9-B389-D1C8-B36F62A0B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09EC66-4093-D4E9-6CEA-B6066569066B}"/>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4093959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53</a:t>
            </a:fld>
            <a:endParaRPr lang="en-US" dirty="0"/>
          </a:p>
        </p:txBody>
      </p:sp>
    </p:spTree>
    <p:extLst>
      <p:ext uri="{BB962C8B-B14F-4D97-AF65-F5344CB8AC3E}">
        <p14:creationId xmlns:p14="http://schemas.microsoft.com/office/powerpoint/2010/main" val="38316104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2064-455E-1B3D-3BA5-D7384210D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52022-42C9-7642-B26B-794DAFE3A4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B52B2-942D-A97A-A535-BABDA42DD3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2C4D74-0DDD-9E59-BAC9-89FF684C058E}"/>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3157738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6FF2A-44EF-2214-B700-1AA0AE8F1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87FDB-A0EB-7928-15AB-6605B0B550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B22051-E393-FB06-5C9C-6023C9CC2A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D051F1-FDAE-5D8D-F996-DC075EC8C839}"/>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17285749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DFA46-1797-84C4-E60E-68186CB90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50EAF7-C48E-894E-EC99-77C1C39407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56EB9-DD54-E1B3-4F51-705D0A185D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EC846A-CCCE-AD63-36C7-24AD131D77F4}"/>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4772707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F835E-8C20-6D63-C50D-F7445C625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EECF7-F548-FC65-8C57-50031433D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0E2792-AB6B-F4A5-0288-0AEA18FD87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6B567D-A9B7-84C6-46DA-945B1752B1DE}"/>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5896760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7773-72FA-499F-5241-980E0D2495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A21C7-1C0C-DA37-3665-DDF02A48E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DA9CE1-3D5B-445F-B84B-C3FA04426D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C75BDA-9D63-0F6F-3759-0EB686A9142F}"/>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7963272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AA065-7363-E31F-BF23-9FCE173A4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984E91-F353-29D9-8ADD-67CFFBC51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7E8BC-88AB-55D8-31BE-0D0B7E0D8F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588F1B-601D-B0B4-89CF-CE00EBD4D87D}"/>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88780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E8576-53A8-4503-8485-ADB816FF8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254B0-2C53-0141-1BCD-F36C4EA6B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D33EF-BABA-4F6D-1FB7-679A79848C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7AC008-208D-F3E0-6469-712BF01136D4}"/>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7679619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67453-1A92-4959-2EDE-A9F44D652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C96C1-75B3-A0D1-1B5C-7988B9A0E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31B8A-3BDF-8008-8477-DED117D631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36098C-16DA-07AF-C0DD-F4B4DD6F42D8}"/>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53270271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618F2-8DB2-9EB6-FEF6-DD220C95D8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85CE2-32B6-8779-8B9D-80C683CCE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F91159-8FF1-8E0F-EDB6-53DC8BB04A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EBF808-98F5-E147-596F-52DDE4F1041E}"/>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21361271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F4420-D7E2-051D-33D4-D760B3BAC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3F96B-EE6D-30C4-86CE-5F3165949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ADEF2-B3C5-A3F3-2FCE-AD8592ECB8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04029D-6709-3A8E-1BC1-B0F6694C22CF}"/>
              </a:ext>
            </a:extLst>
          </p:cNvPr>
          <p:cNvSpPr>
            <a:spLocks noGrp="1"/>
          </p:cNvSpPr>
          <p:nvPr>
            <p:ph type="sldNum" sz="quarter" idx="5"/>
          </p:nvPr>
        </p:nvSpPr>
        <p:spPr/>
        <p:txBody>
          <a:bodyPr/>
          <a:lstStyle/>
          <a:p>
            <a:pPr marL="0" marR="0" lvl="0" indent="0" algn="r" defTabSz="554492" rtl="0" eaLnBrk="1" fontAlgn="auto" latinLnBrk="0" hangingPunct="1">
              <a:lnSpc>
                <a:spcPct val="100000"/>
              </a:lnSpc>
              <a:spcBef>
                <a:spcPts val="0"/>
              </a:spcBef>
              <a:spcAft>
                <a:spcPts val="0"/>
              </a:spcAft>
              <a:buClrTx/>
              <a:buSzTx/>
              <a:buFontTx/>
              <a:buNone/>
              <a:tabLst/>
              <a:defRPr/>
            </a:pPr>
            <a:fld id="{06B0FC7D-8687-9A40-9CA8-0B2F00AB98E3}" type="slidenum">
              <a:rPr kumimoji="0" lang="en-US" sz="1200" b="0" i="0" u="none" strike="noStrike" kern="1200" cap="none" spc="0" normalizeH="0" baseline="0" noProof="0" smtClean="0">
                <a:ln>
                  <a:noFill/>
                </a:ln>
                <a:solidFill>
                  <a:prstClr val="black"/>
                </a:solidFill>
                <a:effectLst/>
                <a:uLnTx/>
                <a:uFillTx/>
                <a:latin typeface="Roboto Condensed Light" panose="02000000000000000000" pitchFamily="2" charset="0"/>
                <a:ea typeface="+mn-ea"/>
                <a:cs typeface="+mn-cs"/>
              </a:rPr>
              <a:pPr marL="0" marR="0" lvl="0" indent="0" algn="r" defTabSz="554492"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Roboto Condensed Light" panose="02000000000000000000" pitchFamily="2" charset="0"/>
              <a:ea typeface="+mn-ea"/>
              <a:cs typeface="+mn-cs"/>
            </a:endParaRPr>
          </a:p>
        </p:txBody>
      </p:sp>
    </p:spTree>
    <p:extLst>
      <p:ext uri="{BB962C8B-B14F-4D97-AF65-F5344CB8AC3E}">
        <p14:creationId xmlns:p14="http://schemas.microsoft.com/office/powerpoint/2010/main" val="406512614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65</a:t>
            </a:fld>
            <a:endParaRPr lang="en-US" dirty="0"/>
          </a:p>
        </p:txBody>
      </p:sp>
    </p:spTree>
    <p:extLst>
      <p:ext uri="{BB962C8B-B14F-4D97-AF65-F5344CB8AC3E}">
        <p14:creationId xmlns:p14="http://schemas.microsoft.com/office/powerpoint/2010/main" val="3743062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66</a:t>
            </a:fld>
            <a:endParaRPr lang="en-US" dirty="0"/>
          </a:p>
        </p:txBody>
      </p:sp>
    </p:spTree>
    <p:extLst>
      <p:ext uri="{BB962C8B-B14F-4D97-AF65-F5344CB8AC3E}">
        <p14:creationId xmlns:p14="http://schemas.microsoft.com/office/powerpoint/2010/main" val="295172545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500"/>
              </a:lnSpc>
              <a:buNone/>
            </a:pPr>
            <a:endParaRPr lang="en-CA" dirty="0"/>
          </a:p>
        </p:txBody>
      </p:sp>
      <p:sp>
        <p:nvSpPr>
          <p:cNvPr id="4" name="Slide Number Placeholder 3"/>
          <p:cNvSpPr>
            <a:spLocks noGrp="1"/>
          </p:cNvSpPr>
          <p:nvPr>
            <p:ph type="sldNum" sz="quarter" idx="5"/>
          </p:nvPr>
        </p:nvSpPr>
        <p:spPr/>
        <p:txBody>
          <a:bodyPr/>
          <a:lstStyle/>
          <a:p>
            <a:fld id="{06B0FC7D-8687-9A40-9CA8-0B2F00AB98E3}" type="slidenum">
              <a:rPr lang="en-US" smtClean="0"/>
              <a:pPr/>
              <a:t>68</a:t>
            </a:fld>
            <a:endParaRPr lang="en-US" dirty="0"/>
          </a:p>
        </p:txBody>
      </p:sp>
    </p:spTree>
    <p:extLst>
      <p:ext uri="{BB962C8B-B14F-4D97-AF65-F5344CB8AC3E}">
        <p14:creationId xmlns:p14="http://schemas.microsoft.com/office/powerpoint/2010/main" val="37275571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F1983-804F-0395-8E1C-186FF8C3A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D9FA6-6E0D-683E-FCFA-5F7B72783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CA743-189E-00B7-D8A9-37F7D8398A54}"/>
              </a:ext>
            </a:extLst>
          </p:cNvPr>
          <p:cNvSpPr>
            <a:spLocks noGrp="1"/>
          </p:cNvSpPr>
          <p:nvPr>
            <p:ph type="body" idx="1"/>
          </p:nvPr>
        </p:nvSpPr>
        <p:spPr/>
        <p:txBody>
          <a:bodyPr/>
          <a:lstStyle/>
          <a:p>
            <a:pPr algn="l">
              <a:lnSpc>
                <a:spcPts val="1500"/>
              </a:lnSpc>
              <a:buNone/>
            </a:pPr>
            <a:endParaRPr lang="en-CA" dirty="0"/>
          </a:p>
        </p:txBody>
      </p:sp>
      <p:sp>
        <p:nvSpPr>
          <p:cNvPr id="4" name="Slide Number Placeholder 3">
            <a:extLst>
              <a:ext uri="{FF2B5EF4-FFF2-40B4-BE49-F238E27FC236}">
                <a16:creationId xmlns:a16="http://schemas.microsoft.com/office/drawing/2014/main" id="{D2937583-7A8A-0A59-4423-566A5F5616A5}"/>
              </a:ext>
            </a:extLst>
          </p:cNvPr>
          <p:cNvSpPr>
            <a:spLocks noGrp="1"/>
          </p:cNvSpPr>
          <p:nvPr>
            <p:ph type="sldNum" sz="quarter" idx="5"/>
          </p:nvPr>
        </p:nvSpPr>
        <p:spPr/>
        <p:txBody>
          <a:bodyPr/>
          <a:lstStyle/>
          <a:p>
            <a:fld id="{06B0FC7D-8687-9A40-9CA8-0B2F00AB98E3}" type="slidenum">
              <a:rPr lang="en-US" smtClean="0"/>
              <a:pPr/>
              <a:t>69</a:t>
            </a:fld>
            <a:endParaRPr lang="en-US" dirty="0"/>
          </a:p>
        </p:txBody>
      </p:sp>
    </p:spTree>
    <p:extLst>
      <p:ext uri="{BB962C8B-B14F-4D97-AF65-F5344CB8AC3E}">
        <p14:creationId xmlns:p14="http://schemas.microsoft.com/office/powerpoint/2010/main" val="28693848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www.accenture.com/SiteCollectionDocuments/PDF/OutlookPDF_AgileOrganization_02" TargetMode="External"/><Relationship Id="rId2" Type="http://schemas.openxmlformats.org/officeDocument/2006/relationships/hyperlink" Target="http://www.forbes.com/sites/joshbersin/2013/05/06/time-to-scrap-performance-" TargetMode="External"/><Relationship Id="rId1" Type="http://schemas.openxmlformats.org/officeDocument/2006/relationships/slideMaster" Target="../slideMasters/slideMaster3.xml"/><Relationship Id="rId6" Type="http://schemas.openxmlformats.org/officeDocument/2006/relationships/hyperlink" Target="http://ryanestis.com/adobe-interview/" TargetMode="External"/><Relationship Id="rId5" Type="http://schemas.openxmlformats.org/officeDocument/2006/relationships/hyperlink" Target="http://www.forbes.com/sites/stevedenning/2012/04/17/" TargetMode="External"/><Relationship Id="rId4" Type="http://schemas.openxmlformats.org/officeDocument/2006/relationships/hyperlink" Target="http://www.huffingtonpost.com/samuel-culbert/performance-" TargetMode="Externa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Dark-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6CED198-04B0-1D4B-9CF9-27BE895D0690}"/>
              </a:ext>
            </a:extLst>
          </p:cNvPr>
          <p:cNvSpPr>
            <a:spLocks noGrp="1"/>
          </p:cNvSpPr>
          <p:nvPr>
            <p:ph type="body" sz="quarter" idx="10" hasCustomPrompt="1"/>
          </p:nvPr>
        </p:nvSpPr>
        <p:spPr>
          <a:xfrm>
            <a:off x="650874" y="1079498"/>
            <a:ext cx="7385845" cy="1306512"/>
          </a:xfrm>
          <a:prstGeom prst="rect">
            <a:avLst/>
          </a:prstGeom>
        </p:spPr>
        <p:txBody>
          <a:bodyPr/>
          <a:lstStyle>
            <a:lvl1pPr>
              <a:lnSpc>
                <a:spcPct val="90000"/>
              </a:lnSpc>
              <a:defRPr sz="4400" b="1" i="0">
                <a:solidFill>
                  <a:schemeClr val="bg1"/>
                </a:solidFill>
                <a:latin typeface="Montserrat SemiBold" pitchFamily="2" charset="77"/>
              </a:defRPr>
            </a:lvl1pPr>
            <a:lvl2pPr>
              <a:defRPr sz="4400" b="1" i="0">
                <a:solidFill>
                  <a:schemeClr val="bg1"/>
                </a:solidFill>
                <a:latin typeface="Montserrat SemiBold" pitchFamily="2" charset="77"/>
              </a:defRPr>
            </a:lvl2pPr>
            <a:lvl3pPr>
              <a:defRPr sz="4400" b="1" i="0">
                <a:solidFill>
                  <a:schemeClr val="bg1"/>
                </a:solidFill>
                <a:latin typeface="Montserrat SemiBold" pitchFamily="2" charset="77"/>
              </a:defRPr>
            </a:lvl3pPr>
            <a:lvl4pPr>
              <a:defRPr sz="4400" b="1" i="0">
                <a:solidFill>
                  <a:schemeClr val="bg1"/>
                </a:solidFill>
                <a:latin typeface="Montserrat SemiBold" pitchFamily="2" charset="77"/>
              </a:defRPr>
            </a:lvl4pPr>
            <a:lvl5pPr>
              <a:defRPr sz="4400" b="1" i="0">
                <a:solidFill>
                  <a:schemeClr val="bg1"/>
                </a:solidFill>
                <a:latin typeface="Montserrat SemiBold" pitchFamily="2" charset="77"/>
              </a:defRPr>
            </a:lvl5pPr>
          </a:lstStyle>
          <a:p>
            <a:pPr lvl="0"/>
            <a:r>
              <a:rPr lang="en-US"/>
              <a:t>Observe the Evolution of Quantum Capacity</a:t>
            </a:r>
          </a:p>
        </p:txBody>
      </p:sp>
      <p:sp>
        <p:nvSpPr>
          <p:cNvPr id="6" name="Text Placeholder 12">
            <a:extLst>
              <a:ext uri="{FF2B5EF4-FFF2-40B4-BE49-F238E27FC236}">
                <a16:creationId xmlns:a16="http://schemas.microsoft.com/office/drawing/2014/main" id="{EACDCC9E-4FFE-3440-9239-AC0300ACAB44}"/>
              </a:ext>
            </a:extLst>
          </p:cNvPr>
          <p:cNvSpPr>
            <a:spLocks noGrp="1"/>
          </p:cNvSpPr>
          <p:nvPr>
            <p:ph type="body" sz="quarter" idx="11" hasCustomPrompt="1"/>
          </p:nvPr>
        </p:nvSpPr>
        <p:spPr>
          <a:xfrm>
            <a:off x="650875" y="2482056"/>
            <a:ext cx="5703626" cy="1893887"/>
          </a:xfrm>
          <a:prstGeom prst="rect">
            <a:avLst/>
          </a:prstGeom>
        </p:spPr>
        <p:txBody>
          <a:bodyPr/>
          <a:lstStyle>
            <a:lvl1pPr>
              <a:lnSpc>
                <a:spcPct val="100000"/>
              </a:lnSpc>
              <a:defRPr sz="2400" b="0" i="0">
                <a:solidFill>
                  <a:schemeClr val="bg1"/>
                </a:solidFill>
                <a:latin typeface="Exo" panose="02000503000000000000" pitchFamily="2" charset="77"/>
              </a:defRPr>
            </a:lvl1pPr>
            <a:lvl2pPr>
              <a:defRPr sz="3000" b="0" i="0">
                <a:solidFill>
                  <a:schemeClr val="bg1"/>
                </a:solidFill>
                <a:latin typeface="Exo Light" pitchFamily="2" charset="77"/>
              </a:defRPr>
            </a:lvl2pPr>
            <a:lvl3pPr>
              <a:defRPr sz="3000" b="0" i="0">
                <a:solidFill>
                  <a:schemeClr val="bg1"/>
                </a:solidFill>
                <a:latin typeface="Exo Light" pitchFamily="2" charset="77"/>
              </a:defRPr>
            </a:lvl3pPr>
            <a:lvl4pPr>
              <a:defRPr sz="3000" b="0" i="0">
                <a:solidFill>
                  <a:schemeClr val="bg1"/>
                </a:solidFill>
                <a:latin typeface="Exo Light" pitchFamily="2" charset="77"/>
              </a:defRPr>
            </a:lvl4pPr>
            <a:lvl5pPr>
              <a:defRPr sz="3000" b="0" i="0">
                <a:solidFill>
                  <a:schemeClr val="bg1"/>
                </a:solidFill>
                <a:latin typeface="Exo Light" pitchFamily="2" charset="77"/>
              </a:defRPr>
            </a:lvl5pPr>
          </a:lstStyle>
          <a:p>
            <a:pPr lvl="0"/>
            <a:r>
              <a:rPr lang="en-US"/>
              <a:t>Keep track of a transformational technology as it evolves.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nalysts Perspec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DDE57-4E30-2343-9DAE-39F3DBBD9B61}"/>
              </a:ext>
            </a:extLst>
          </p:cNvPr>
          <p:cNvSpPr>
            <a:spLocks noGrp="1"/>
          </p:cNvSpPr>
          <p:nvPr>
            <p:ph type="title"/>
          </p:nvPr>
        </p:nvSpPr>
        <p:spPr>
          <a:xfrm>
            <a:off x="354106" y="530021"/>
            <a:ext cx="9739219" cy="1130188"/>
          </a:xfrm>
        </p:spPr>
        <p:txBody>
          <a:bodyPr>
            <a:noAutofit/>
          </a:bodyPr>
          <a:lstStyle>
            <a:lvl1pPr>
              <a:defRPr b="0" i="0">
                <a:solidFill>
                  <a:srgbClr val="4A4A4A"/>
                </a:solidFill>
              </a:defRPr>
            </a:lvl1pPr>
          </a:lstStyle>
          <a:p>
            <a:r>
              <a:rPr lang="en-US"/>
              <a:t>Click to edit Master title style</a:t>
            </a:r>
          </a:p>
        </p:txBody>
      </p:sp>
      <p:sp>
        <p:nvSpPr>
          <p:cNvPr id="4" name="Text Placeholder 11">
            <a:extLst>
              <a:ext uri="{FF2B5EF4-FFF2-40B4-BE49-F238E27FC236}">
                <a16:creationId xmlns:a16="http://schemas.microsoft.com/office/drawing/2014/main" id="{04E9795F-CBFB-B94E-B0A4-612B5868B666}"/>
              </a:ext>
            </a:extLst>
          </p:cNvPr>
          <p:cNvSpPr>
            <a:spLocks noGrp="1"/>
          </p:cNvSpPr>
          <p:nvPr>
            <p:ph type="body" sz="quarter" idx="11"/>
          </p:nvPr>
        </p:nvSpPr>
        <p:spPr>
          <a:xfrm>
            <a:off x="367657" y="1667939"/>
            <a:ext cx="4547243" cy="770461"/>
          </a:xfrm>
          <a:prstGeom prst="rect">
            <a:avLst/>
          </a:prstGeom>
        </p:spPr>
        <p:txBody>
          <a:bodyPr lIns="0" tIns="0" rIns="0" bIns="0">
            <a:noAutofit/>
          </a:bodyPr>
          <a:lstStyle>
            <a:lvl1pPr marL="0" indent="0">
              <a:lnSpc>
                <a:spcPct val="110000"/>
              </a:lnSpc>
              <a:buNone/>
              <a:defRPr sz="2000" b="0" i="0" spc="0">
                <a:solidFill>
                  <a:srgbClr val="4A4A4A"/>
                </a:solidFill>
                <a:latin typeface="Montserrat Medium"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6" name="Text Placeholder 17">
            <a:extLst>
              <a:ext uri="{FF2B5EF4-FFF2-40B4-BE49-F238E27FC236}">
                <a16:creationId xmlns:a16="http://schemas.microsoft.com/office/drawing/2014/main" id="{191A5D26-F935-C243-B55A-263E1DDC326D}"/>
              </a:ext>
            </a:extLst>
          </p:cNvPr>
          <p:cNvSpPr>
            <a:spLocks noGrp="1"/>
          </p:cNvSpPr>
          <p:nvPr>
            <p:ph type="body" sz="quarter" idx="13"/>
          </p:nvPr>
        </p:nvSpPr>
        <p:spPr>
          <a:xfrm>
            <a:off x="5238246" y="5120360"/>
            <a:ext cx="2840037" cy="1269682"/>
          </a:xfrm>
          <a:prstGeom prst="rect">
            <a:avLst/>
          </a:prstGeom>
        </p:spPr>
        <p:txBody>
          <a:bodyPr lIns="0" tIns="0" rIns="0" bIns="0">
            <a:noAutofit/>
          </a:bodyPr>
          <a:lstStyle>
            <a:lvl1pPr marL="0" indent="0">
              <a:lnSpc>
                <a:spcPct val="110000"/>
              </a:lnSpc>
              <a:spcBef>
                <a:spcPts val="0"/>
              </a:spcBef>
              <a:buNone/>
              <a:defRPr sz="1200" b="0" i="0">
                <a:solidFill>
                  <a:srgbClr val="2576B7"/>
                </a:solidFill>
                <a:latin typeface="Montserrat SemiBold" pitchFamily="2" charset="77"/>
                <a:cs typeface="Arial" panose="020B0604020202020204" pitchFamily="34" charset="0"/>
              </a:defRPr>
            </a:lvl1pPr>
            <a:lvl2pPr marL="457200" indent="0">
              <a:lnSpc>
                <a:spcPct val="110000"/>
              </a:lnSpc>
              <a:spcBef>
                <a:spcPts val="0"/>
              </a:spcBef>
              <a:buNone/>
              <a:defRPr sz="1200" b="0" i="0">
                <a:solidFill>
                  <a:srgbClr val="2576B7"/>
                </a:solidFill>
                <a:latin typeface="Montserrat Medium" pitchFamily="2" charset="77"/>
                <a:cs typeface="Arial" panose="020B0604020202020204" pitchFamily="34" charset="0"/>
              </a:defRPr>
            </a:lvl2pPr>
            <a:lvl3pPr marL="914400" indent="0">
              <a:lnSpc>
                <a:spcPct val="110000"/>
              </a:lnSpc>
              <a:spcBef>
                <a:spcPts val="0"/>
              </a:spcBef>
              <a:buNone/>
              <a:defRPr sz="1200" b="0" i="0">
                <a:solidFill>
                  <a:srgbClr val="2576B7"/>
                </a:solidFill>
                <a:latin typeface="Montserrat Medium" pitchFamily="2" charset="77"/>
                <a:cs typeface="Arial" panose="020B0604020202020204" pitchFamily="34" charset="0"/>
              </a:defRPr>
            </a:lvl3pPr>
            <a:lvl4pPr marL="1371600" indent="0">
              <a:lnSpc>
                <a:spcPct val="110000"/>
              </a:lnSpc>
              <a:spcBef>
                <a:spcPts val="0"/>
              </a:spcBef>
              <a:buNone/>
              <a:defRPr sz="1200" b="0" i="0">
                <a:solidFill>
                  <a:srgbClr val="2576B7"/>
                </a:solidFill>
                <a:latin typeface="Montserrat Medium" pitchFamily="2" charset="77"/>
                <a:cs typeface="Arial" panose="020B0604020202020204" pitchFamily="34" charset="0"/>
              </a:defRPr>
            </a:lvl4pPr>
            <a:lvl5pPr marL="1828800" indent="0">
              <a:lnSpc>
                <a:spcPct val="110000"/>
              </a:lnSpc>
              <a:spcBef>
                <a:spcPts val="0"/>
              </a:spcBef>
              <a:buNone/>
              <a:defRPr sz="1200" b="0" i="0">
                <a:solidFill>
                  <a:srgbClr val="2576B7"/>
                </a:solidFill>
                <a:latin typeface="Montserrat Medium" pitchFamily="2" charset="77"/>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127F9FF2-D4F4-2F42-9C38-CF0156BDA8A6}"/>
              </a:ext>
            </a:extLst>
          </p:cNvPr>
          <p:cNvSpPr>
            <a:spLocks noGrp="1"/>
          </p:cNvSpPr>
          <p:nvPr>
            <p:ph type="body" sz="quarter" idx="14"/>
          </p:nvPr>
        </p:nvSpPr>
        <p:spPr>
          <a:xfrm>
            <a:off x="5243286" y="1753404"/>
            <a:ext cx="6661150" cy="4218417"/>
          </a:xfrm>
          <a:prstGeom prst="rect">
            <a:avLst/>
          </a:prstGeom>
        </p:spPr>
        <p:txBody>
          <a:bodyPr lIns="0" tIns="0" rIns="0" bIns="0"/>
          <a:lstStyle>
            <a:lvl1pPr marL="179388" indent="-179388">
              <a:lnSpc>
                <a:spcPct val="110000"/>
              </a:lnSpc>
              <a:spcBef>
                <a:spcPts val="0"/>
              </a:spcBef>
              <a:spcAft>
                <a:spcPts val="800"/>
              </a:spcAft>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spcBef>
                <a:spcPts val="0"/>
              </a:spcBef>
              <a:spcAft>
                <a:spcPts val="800"/>
              </a:spcAft>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spcBef>
                <a:spcPts val="0"/>
              </a:spcBef>
              <a:spcAft>
                <a:spcPts val="800"/>
              </a:spcAft>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spcBef>
                <a:spcPts val="0"/>
              </a:spcBef>
              <a:spcAft>
                <a:spcPts val="800"/>
              </a:spcAft>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spcBef>
                <a:spcPts val="0"/>
              </a:spcBef>
              <a:spcAft>
                <a:spcPts val="800"/>
              </a:spcAft>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7646507"/>
      </p:ext>
    </p:extLst>
  </p:cSld>
  <p:clrMapOvr>
    <a:masterClrMapping/>
  </p:clrMapOvr>
  <p:extLst>
    <p:ext uri="{DCECCB84-F9BA-43D5-87BE-67443E8EF086}">
      <p15:sldGuideLst xmlns:p15="http://schemas.microsoft.com/office/powerpoint/2012/main">
        <p15:guide id="1" orient="horz" pos="138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ecSummary-Summary">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09F5F89-FF8D-5F49-8452-D4CC10E288E8}"/>
              </a:ext>
            </a:extLst>
          </p:cNvPr>
          <p:cNvPicPr>
            <a:picLocks noChangeAspect="1"/>
          </p:cNvPicPr>
          <p:nvPr userDrawn="1"/>
        </p:nvPicPr>
        <p:blipFill>
          <a:blip r:embed="rId2" cstate="screen">
            <a:alphaModFix amt="50000"/>
            <a:extLst>
              <a:ext uri="{28A0092B-C50C-407E-A947-70E740481C1C}">
                <a14:useLocalDpi xmlns:a14="http://schemas.microsoft.com/office/drawing/2010/main"/>
              </a:ext>
            </a:extLst>
          </a:blip>
          <a:stretch>
            <a:fillRect/>
          </a:stretch>
        </p:blipFill>
        <p:spPr>
          <a:xfrm>
            <a:off x="-853710" y="1843701"/>
            <a:ext cx="5994371" cy="3373199"/>
          </a:xfrm>
          <a:prstGeom prst="rect">
            <a:avLst/>
          </a:prstGeom>
        </p:spPr>
      </p:pic>
      <p:pic>
        <p:nvPicPr>
          <p:cNvPr id="11" name="Picture 10">
            <a:extLst>
              <a:ext uri="{FF2B5EF4-FFF2-40B4-BE49-F238E27FC236}">
                <a16:creationId xmlns:a16="http://schemas.microsoft.com/office/drawing/2014/main" id="{C05D3A47-8F5D-9647-A863-1DE56A91E3A4}"/>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3086894" y="1742101"/>
            <a:ext cx="5994372" cy="3373199"/>
          </a:xfrm>
          <a:prstGeom prst="rect">
            <a:avLst/>
          </a:prstGeom>
        </p:spPr>
      </p:pic>
      <p:pic>
        <p:nvPicPr>
          <p:cNvPr id="12" name="Picture 11">
            <a:extLst>
              <a:ext uri="{FF2B5EF4-FFF2-40B4-BE49-F238E27FC236}">
                <a16:creationId xmlns:a16="http://schemas.microsoft.com/office/drawing/2014/main" id="{05757B9C-9790-5541-AD21-63015BF19168}"/>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6934995" y="1742101"/>
            <a:ext cx="5994637" cy="3373349"/>
          </a:xfrm>
          <a:prstGeom prst="rect">
            <a:avLst/>
          </a:prstGeom>
        </p:spPr>
      </p:pic>
      <p:sp>
        <p:nvSpPr>
          <p:cNvPr id="2" name="Title 1">
            <a:extLst>
              <a:ext uri="{FF2B5EF4-FFF2-40B4-BE49-F238E27FC236}">
                <a16:creationId xmlns:a16="http://schemas.microsoft.com/office/drawing/2014/main" id="{F4ADDE57-4E30-2343-9DAE-39F3DBBD9B61}"/>
              </a:ext>
            </a:extLst>
          </p:cNvPr>
          <p:cNvSpPr>
            <a:spLocks noGrp="1"/>
          </p:cNvSpPr>
          <p:nvPr>
            <p:ph type="title"/>
          </p:nvPr>
        </p:nvSpPr>
        <p:spPr>
          <a:xfrm>
            <a:off x="354106" y="530021"/>
            <a:ext cx="11220578" cy="1163598"/>
          </a:xfrm>
        </p:spPr>
        <p:txBody>
          <a:bodyPr>
            <a:noAutofit/>
          </a:bodyPr>
          <a:lstStyle>
            <a:lvl1pPr>
              <a:lnSpc>
                <a:spcPct val="90000"/>
              </a:lnSpc>
              <a:defRPr b="0" i="0">
                <a:solidFill>
                  <a:srgbClr val="4A4A4A"/>
                </a:solidFill>
              </a:defRPr>
            </a:lvl1pPr>
          </a:lstStyle>
          <a:p>
            <a:r>
              <a:rPr lang="en-US"/>
              <a:t>Click to edit Master title style</a:t>
            </a:r>
          </a:p>
        </p:txBody>
      </p:sp>
      <p:sp>
        <p:nvSpPr>
          <p:cNvPr id="13" name="Text Placeholder 12">
            <a:extLst>
              <a:ext uri="{FF2B5EF4-FFF2-40B4-BE49-F238E27FC236}">
                <a16:creationId xmlns:a16="http://schemas.microsoft.com/office/drawing/2014/main" id="{A5895281-F05F-284A-93B8-DF31D5A43342}"/>
              </a:ext>
            </a:extLst>
          </p:cNvPr>
          <p:cNvSpPr>
            <a:spLocks noGrp="1"/>
          </p:cNvSpPr>
          <p:nvPr>
            <p:ph type="body" sz="quarter" idx="13"/>
          </p:nvPr>
        </p:nvSpPr>
        <p:spPr>
          <a:xfrm>
            <a:off x="368194" y="1597967"/>
            <a:ext cx="3542400" cy="297314"/>
          </a:xfrm>
          <a:prstGeom prst="rect">
            <a:avLst/>
          </a:prstGeom>
        </p:spPr>
        <p:txBody>
          <a:bodyPr lIns="0" tIns="0" rIns="0" bIns="0">
            <a:noAutofit/>
          </a:bodyPr>
          <a:lstStyle>
            <a:lvl1pPr marL="0" indent="0" algn="l">
              <a:lnSpc>
                <a:spcPct val="90000"/>
              </a:lnSpc>
              <a:buNone/>
              <a:defRPr sz="1800" b="0" i="0">
                <a:solidFill>
                  <a:srgbClr val="B3252E"/>
                </a:solidFill>
                <a:latin typeface="Exo" panose="02000503000000000000"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6" name="Text Placeholder 12">
            <a:extLst>
              <a:ext uri="{FF2B5EF4-FFF2-40B4-BE49-F238E27FC236}">
                <a16:creationId xmlns:a16="http://schemas.microsoft.com/office/drawing/2014/main" id="{9BDD2CC1-5E1E-A249-A7A5-AE4A1333D147}"/>
              </a:ext>
            </a:extLst>
          </p:cNvPr>
          <p:cNvSpPr>
            <a:spLocks noGrp="1"/>
          </p:cNvSpPr>
          <p:nvPr>
            <p:ph type="body" sz="quarter" idx="15"/>
          </p:nvPr>
        </p:nvSpPr>
        <p:spPr>
          <a:xfrm>
            <a:off x="4267994" y="1597967"/>
            <a:ext cx="3542400" cy="297314"/>
          </a:xfrm>
          <a:prstGeom prst="rect">
            <a:avLst/>
          </a:prstGeom>
        </p:spPr>
        <p:txBody>
          <a:bodyPr lIns="0" tIns="0" rIns="0" bIns="0">
            <a:noAutofit/>
          </a:bodyPr>
          <a:lstStyle>
            <a:lvl1pPr marL="0" indent="0" algn="l">
              <a:lnSpc>
                <a:spcPct val="90000"/>
              </a:lnSpc>
              <a:buNone/>
              <a:defRPr sz="1800" b="0" i="0">
                <a:solidFill>
                  <a:srgbClr val="F17A26"/>
                </a:solidFill>
                <a:latin typeface="Exo" panose="02000503000000000000"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8" name="Text Placeholder 12">
            <a:extLst>
              <a:ext uri="{FF2B5EF4-FFF2-40B4-BE49-F238E27FC236}">
                <a16:creationId xmlns:a16="http://schemas.microsoft.com/office/drawing/2014/main" id="{DE52E9E9-EF0F-F148-B77C-A1985515528A}"/>
              </a:ext>
            </a:extLst>
          </p:cNvPr>
          <p:cNvSpPr>
            <a:spLocks noGrp="1"/>
          </p:cNvSpPr>
          <p:nvPr>
            <p:ph type="body" sz="quarter" idx="17"/>
          </p:nvPr>
        </p:nvSpPr>
        <p:spPr>
          <a:xfrm>
            <a:off x="8130748" y="1597967"/>
            <a:ext cx="3542400" cy="297314"/>
          </a:xfrm>
          <a:prstGeom prst="rect">
            <a:avLst/>
          </a:prstGeom>
        </p:spPr>
        <p:txBody>
          <a:bodyPr lIns="0" tIns="0" rIns="0" bIns="0">
            <a:noAutofit/>
          </a:bodyPr>
          <a:lstStyle>
            <a:lvl1pPr marL="0" indent="0" algn="l">
              <a:lnSpc>
                <a:spcPct val="90000"/>
              </a:lnSpc>
              <a:buNone/>
              <a:defRPr sz="1800" b="0" i="0">
                <a:solidFill>
                  <a:srgbClr val="2B9E48"/>
                </a:solidFill>
                <a:latin typeface="Exo" panose="02000503000000000000"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7" name="Text Placeholder 4">
            <a:extLst>
              <a:ext uri="{FF2B5EF4-FFF2-40B4-BE49-F238E27FC236}">
                <a16:creationId xmlns:a16="http://schemas.microsoft.com/office/drawing/2014/main" id="{FA4AA16A-AF07-4A4A-AA0D-C83BCCC518CB}"/>
              </a:ext>
            </a:extLst>
          </p:cNvPr>
          <p:cNvSpPr>
            <a:spLocks noGrp="1"/>
          </p:cNvSpPr>
          <p:nvPr>
            <p:ph type="body" sz="quarter" idx="18"/>
          </p:nvPr>
        </p:nvSpPr>
        <p:spPr>
          <a:xfrm>
            <a:off x="371475" y="1991757"/>
            <a:ext cx="3658265" cy="3190736"/>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478D611E-AB20-6F4F-AAF0-75575E9D6DB6}"/>
              </a:ext>
            </a:extLst>
          </p:cNvPr>
          <p:cNvSpPr>
            <a:spLocks noGrp="1"/>
          </p:cNvSpPr>
          <p:nvPr>
            <p:ph type="body" sz="quarter" idx="19"/>
          </p:nvPr>
        </p:nvSpPr>
        <p:spPr>
          <a:xfrm>
            <a:off x="4267994" y="1991757"/>
            <a:ext cx="3658265" cy="3190736"/>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37BEB711-C86D-6A42-AF2D-7578AE11B32E}"/>
              </a:ext>
            </a:extLst>
          </p:cNvPr>
          <p:cNvSpPr>
            <a:spLocks noGrp="1"/>
          </p:cNvSpPr>
          <p:nvPr>
            <p:ph type="body" sz="quarter" idx="20"/>
          </p:nvPr>
        </p:nvSpPr>
        <p:spPr>
          <a:xfrm>
            <a:off x="8154194" y="1991757"/>
            <a:ext cx="3658265" cy="3190736"/>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5014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ic-slide-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47F413-7CC3-9041-B985-1939336F2C65}"/>
              </a:ext>
            </a:extLst>
          </p:cNvPr>
          <p:cNvSpPr>
            <a:spLocks noGrp="1"/>
          </p:cNvSpPr>
          <p:nvPr>
            <p:ph type="title"/>
          </p:nvPr>
        </p:nvSpPr>
        <p:spPr>
          <a:xfrm>
            <a:off x="354106" y="544769"/>
            <a:ext cx="4967041" cy="1130188"/>
          </a:xfrm>
        </p:spPr>
        <p:txBody>
          <a:bodyPr>
            <a:noAutofit/>
          </a:bodyPr>
          <a:lstStyle>
            <a:lvl1pPr>
              <a:lnSpc>
                <a:spcPct val="90000"/>
              </a:lnSpc>
              <a:defRPr b="0" i="0"/>
            </a:lvl1pPr>
          </a:lstStyle>
          <a:p>
            <a:r>
              <a:rPr lang="en-US"/>
              <a:t>Click to edit Master title style</a:t>
            </a:r>
          </a:p>
        </p:txBody>
      </p:sp>
      <p:sp>
        <p:nvSpPr>
          <p:cNvPr id="4" name="Text Placeholder 11">
            <a:extLst>
              <a:ext uri="{FF2B5EF4-FFF2-40B4-BE49-F238E27FC236}">
                <a16:creationId xmlns:a16="http://schemas.microsoft.com/office/drawing/2014/main" id="{DDF1013D-24FA-B04E-AE09-DB6F11760046}"/>
              </a:ext>
            </a:extLst>
          </p:cNvPr>
          <p:cNvSpPr>
            <a:spLocks noGrp="1"/>
          </p:cNvSpPr>
          <p:nvPr>
            <p:ph type="body" sz="quarter" idx="11"/>
          </p:nvPr>
        </p:nvSpPr>
        <p:spPr>
          <a:xfrm>
            <a:off x="367658" y="1643564"/>
            <a:ext cx="4116208" cy="669978"/>
          </a:xfrm>
          <a:prstGeom prst="rect">
            <a:avLst/>
          </a:prstGeom>
        </p:spPr>
        <p:txBody>
          <a:bodyPr lIns="0" tIns="0" rIns="0" bIns="0">
            <a:noAutofit/>
          </a:bodyPr>
          <a:lstStyle>
            <a:lvl1pPr marL="0" indent="0">
              <a:lnSpc>
                <a:spcPct val="110000"/>
              </a:lnSpc>
              <a:buNone/>
              <a:defRPr sz="2000" b="0" i="0" spc="0">
                <a:solidFill>
                  <a:srgbClr val="2576B7"/>
                </a:solidFill>
                <a:latin typeface="Montserrat Medium"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5" name="Text Placeholder 4">
            <a:extLst>
              <a:ext uri="{FF2B5EF4-FFF2-40B4-BE49-F238E27FC236}">
                <a16:creationId xmlns:a16="http://schemas.microsoft.com/office/drawing/2014/main" id="{9881DA12-3A02-104C-8DA9-67C6D34506B4}"/>
              </a:ext>
            </a:extLst>
          </p:cNvPr>
          <p:cNvSpPr>
            <a:spLocks noGrp="1"/>
          </p:cNvSpPr>
          <p:nvPr>
            <p:ph type="body" sz="quarter" idx="33"/>
          </p:nvPr>
        </p:nvSpPr>
        <p:spPr>
          <a:xfrm>
            <a:off x="371476" y="2710334"/>
            <a:ext cx="5689599" cy="2999350"/>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8480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88" y="1648758"/>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58" y="203525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106" y="530021"/>
            <a:ext cx="4967041" cy="1130188"/>
          </a:xfrm>
        </p:spPr>
        <p:txBody>
          <a:bodyPr>
            <a:noAutofit/>
          </a:bodyPr>
          <a:lstStyle>
            <a:lvl1pPr>
              <a:lnSpc>
                <a:spcPct val="90000"/>
              </a:lnSpc>
              <a:defRPr b="0" i="0"/>
            </a:lvl1pPr>
          </a:lstStyle>
          <a:p>
            <a:r>
              <a:rPr lang="en-US"/>
              <a:t>Click to edit Master title style</a:t>
            </a:r>
          </a:p>
        </p:txBody>
      </p:sp>
      <p:sp>
        <p:nvSpPr>
          <p:cNvPr id="8" name="Text Placeholder 4">
            <a:extLst>
              <a:ext uri="{FF2B5EF4-FFF2-40B4-BE49-F238E27FC236}">
                <a16:creationId xmlns:a16="http://schemas.microsoft.com/office/drawing/2014/main" id="{2721BB38-35D8-6041-AE06-91C7C44D942C}"/>
              </a:ext>
            </a:extLst>
          </p:cNvPr>
          <p:cNvSpPr>
            <a:spLocks noGrp="1"/>
          </p:cNvSpPr>
          <p:nvPr>
            <p:ph type="body" sz="quarter" idx="33"/>
          </p:nvPr>
        </p:nvSpPr>
        <p:spPr>
          <a:xfrm>
            <a:off x="371475" y="3125003"/>
            <a:ext cx="6678613" cy="2637843"/>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39C547E-7388-DC4A-B7BE-F29EBC5287ED}"/>
              </a:ext>
            </a:extLst>
          </p:cNvPr>
          <p:cNvSpPr txBox="1"/>
          <p:nvPr userDrawn="1"/>
        </p:nvSpPr>
        <p:spPr>
          <a:xfrm>
            <a:off x="11409680" y="6471920"/>
            <a:ext cx="0" cy="0"/>
          </a:xfrm>
          <a:prstGeom prst="rect">
            <a:avLst/>
          </a:prstGeom>
        </p:spPr>
        <p:txBody>
          <a:bodyPr wrap="non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324673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lours">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8360272"/>
      </p:ext>
    </p:extLst>
  </p:cSld>
  <p:clrMapOvr>
    <a:masterClrMapping/>
  </p:clrMapOvr>
  <p:extLst>
    <p:ext uri="{DCECCB84-F9BA-43D5-87BE-67443E8EF086}">
      <p15:sldGuideLst xmlns:p15="http://schemas.microsoft.com/office/powerpoint/2012/main">
        <p15:guide id="1" orient="horz" pos="57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xecSummary-Ins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337839D-3E87-9946-9EF1-9F4ECADABFBD}"/>
              </a:ext>
            </a:extLst>
          </p:cNvPr>
          <p:cNvSpPr/>
          <p:nvPr userDrawn="1"/>
        </p:nvSpPr>
        <p:spPr>
          <a:xfrm>
            <a:off x="1" y="0"/>
            <a:ext cx="3293806" cy="6858000"/>
          </a:xfrm>
          <a:prstGeom prst="rect">
            <a:avLst/>
          </a:prstGeom>
          <a:gradFill>
            <a:gsLst>
              <a:gs pos="21000">
                <a:srgbClr val="2576B7"/>
              </a:gs>
              <a:gs pos="87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Roboto Condensed Light" panose="02000000000000000000" pitchFamily="2" charset="0"/>
            </a:endParaRPr>
          </a:p>
        </p:txBody>
      </p:sp>
      <p:sp>
        <p:nvSpPr>
          <p:cNvPr id="2" name="Title 1">
            <a:extLst>
              <a:ext uri="{FF2B5EF4-FFF2-40B4-BE49-F238E27FC236}">
                <a16:creationId xmlns:a16="http://schemas.microsoft.com/office/drawing/2014/main" id="{F4ADDE57-4E30-2343-9DAE-39F3DBBD9B61}"/>
              </a:ext>
            </a:extLst>
          </p:cNvPr>
          <p:cNvSpPr>
            <a:spLocks noGrp="1"/>
          </p:cNvSpPr>
          <p:nvPr>
            <p:ph type="title"/>
          </p:nvPr>
        </p:nvSpPr>
        <p:spPr>
          <a:xfrm>
            <a:off x="354106" y="530021"/>
            <a:ext cx="2644071" cy="1163598"/>
          </a:xfrm>
        </p:spPr>
        <p:txBody>
          <a:bodyPr>
            <a:noAutofit/>
          </a:bodyPr>
          <a:lstStyle>
            <a:lvl1pPr>
              <a:lnSpc>
                <a:spcPct val="90000"/>
              </a:lnSpc>
              <a:defRPr b="0" i="0">
                <a:solidFill>
                  <a:schemeClr val="bg1"/>
                </a:solidFill>
              </a:defRPr>
            </a:lvl1pPr>
          </a:lstStyle>
          <a:p>
            <a:r>
              <a:rPr lang="en-US"/>
              <a:t>Click to edit Master title style</a:t>
            </a:r>
          </a:p>
        </p:txBody>
      </p:sp>
      <p:pic>
        <p:nvPicPr>
          <p:cNvPr id="10" name="Picture 9" descr="A close up of a logo&#10;&#10;Description automatically generated">
            <a:extLst>
              <a:ext uri="{FF2B5EF4-FFF2-40B4-BE49-F238E27FC236}">
                <a16:creationId xmlns:a16="http://schemas.microsoft.com/office/drawing/2014/main" id="{E5D50CBB-3A71-9340-95F5-5C848CF4D07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2094271"/>
            <a:ext cx="3259394" cy="4763729"/>
          </a:xfrm>
          <a:prstGeom prst="rect">
            <a:avLst/>
          </a:prstGeom>
        </p:spPr>
      </p:pic>
      <p:sp>
        <p:nvSpPr>
          <p:cNvPr id="13" name="Text Placeholder 12">
            <a:extLst>
              <a:ext uri="{FF2B5EF4-FFF2-40B4-BE49-F238E27FC236}">
                <a16:creationId xmlns:a16="http://schemas.microsoft.com/office/drawing/2014/main" id="{A5895281-F05F-284A-93B8-DF31D5A43342}"/>
              </a:ext>
            </a:extLst>
          </p:cNvPr>
          <p:cNvSpPr>
            <a:spLocks noGrp="1"/>
          </p:cNvSpPr>
          <p:nvPr>
            <p:ph type="body" sz="quarter" idx="13"/>
          </p:nvPr>
        </p:nvSpPr>
        <p:spPr>
          <a:xfrm>
            <a:off x="3646192" y="1710797"/>
            <a:ext cx="1363689" cy="1456894"/>
          </a:xfrm>
          <a:prstGeom prst="rect">
            <a:avLst/>
          </a:prstGeom>
        </p:spPr>
        <p:txBody>
          <a:bodyPr lIns="0" tIns="0" rIns="0" bIns="0">
            <a:noAutofit/>
          </a:bodyPr>
          <a:lstStyle>
            <a:lvl1pPr marL="0" indent="0" algn="r">
              <a:lnSpc>
                <a:spcPct val="90000"/>
              </a:lnSpc>
              <a:buNone/>
              <a:defRPr sz="1800" b="0" i="0">
                <a:solidFill>
                  <a:srgbClr val="2576B7"/>
                </a:solidFill>
                <a:latin typeface="Exo" panose="02000503000000000000"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Text Placeholder 12">
            <a:extLst>
              <a:ext uri="{FF2B5EF4-FFF2-40B4-BE49-F238E27FC236}">
                <a16:creationId xmlns:a16="http://schemas.microsoft.com/office/drawing/2014/main" id="{51E67745-F8B6-7742-9C85-BF94D59B17E3}"/>
              </a:ext>
            </a:extLst>
          </p:cNvPr>
          <p:cNvSpPr>
            <a:spLocks noGrp="1"/>
          </p:cNvSpPr>
          <p:nvPr>
            <p:ph type="body" sz="quarter" idx="15"/>
          </p:nvPr>
        </p:nvSpPr>
        <p:spPr>
          <a:xfrm>
            <a:off x="3646192" y="3288813"/>
            <a:ext cx="1363689" cy="1456894"/>
          </a:xfrm>
          <a:prstGeom prst="rect">
            <a:avLst/>
          </a:prstGeom>
        </p:spPr>
        <p:txBody>
          <a:bodyPr lIns="0" tIns="0" rIns="0" bIns="0">
            <a:noAutofit/>
          </a:bodyPr>
          <a:lstStyle>
            <a:lvl1pPr marL="0" indent="0" algn="r">
              <a:lnSpc>
                <a:spcPct val="90000"/>
              </a:lnSpc>
              <a:buNone/>
              <a:defRPr sz="1800" b="0" i="0">
                <a:solidFill>
                  <a:srgbClr val="2576B7"/>
                </a:solidFill>
                <a:latin typeface="Exo" panose="02000503000000000000"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7" name="Text Placeholder 12">
            <a:extLst>
              <a:ext uri="{FF2B5EF4-FFF2-40B4-BE49-F238E27FC236}">
                <a16:creationId xmlns:a16="http://schemas.microsoft.com/office/drawing/2014/main" id="{FD5BBA39-4C80-D648-B340-F00E0C6C3B2C}"/>
              </a:ext>
            </a:extLst>
          </p:cNvPr>
          <p:cNvSpPr>
            <a:spLocks noGrp="1"/>
          </p:cNvSpPr>
          <p:nvPr>
            <p:ph type="body" sz="quarter" idx="17"/>
          </p:nvPr>
        </p:nvSpPr>
        <p:spPr>
          <a:xfrm>
            <a:off x="3646192" y="4890932"/>
            <a:ext cx="1363689" cy="1456894"/>
          </a:xfrm>
          <a:prstGeom prst="rect">
            <a:avLst/>
          </a:prstGeom>
        </p:spPr>
        <p:txBody>
          <a:bodyPr lIns="0" tIns="0" rIns="0" bIns="0">
            <a:noAutofit/>
          </a:bodyPr>
          <a:lstStyle>
            <a:lvl1pPr marL="0" indent="0" algn="r">
              <a:lnSpc>
                <a:spcPct val="90000"/>
              </a:lnSpc>
              <a:buNone/>
              <a:defRPr sz="1800" b="0" i="0">
                <a:solidFill>
                  <a:srgbClr val="2576B7"/>
                </a:solidFill>
                <a:latin typeface="Exo" panose="02000503000000000000"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4" name="Text Placeholder 11">
            <a:extLst>
              <a:ext uri="{FF2B5EF4-FFF2-40B4-BE49-F238E27FC236}">
                <a16:creationId xmlns:a16="http://schemas.microsoft.com/office/drawing/2014/main" id="{D313ADEA-A1F4-A542-85A5-487F1DAC52A4}"/>
              </a:ext>
            </a:extLst>
          </p:cNvPr>
          <p:cNvSpPr>
            <a:spLocks noGrp="1"/>
          </p:cNvSpPr>
          <p:nvPr>
            <p:ph type="body" sz="quarter" idx="11"/>
          </p:nvPr>
        </p:nvSpPr>
        <p:spPr>
          <a:xfrm>
            <a:off x="367657" y="1643564"/>
            <a:ext cx="1938567" cy="1689100"/>
          </a:xfrm>
          <a:prstGeom prst="rect">
            <a:avLst/>
          </a:prstGeom>
        </p:spPr>
        <p:txBody>
          <a:bodyPr lIns="0" tIns="0" rIns="0" bIns="0">
            <a:noAutofit/>
          </a:bodyPr>
          <a:lstStyle>
            <a:lvl1pPr marL="0" indent="0">
              <a:lnSpc>
                <a:spcPct val="90000"/>
              </a:lnSpc>
              <a:buNone/>
              <a:defRPr sz="2000" b="0" i="0" spc="0">
                <a:solidFill>
                  <a:schemeClr val="bg1"/>
                </a:solidFill>
                <a:latin typeface="Montserrat Medium"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ext Placeholder 4">
            <a:extLst>
              <a:ext uri="{FF2B5EF4-FFF2-40B4-BE49-F238E27FC236}">
                <a16:creationId xmlns:a16="http://schemas.microsoft.com/office/drawing/2014/main" id="{2502EE92-7C7A-FA4E-AE72-3E591F5B1581}"/>
              </a:ext>
            </a:extLst>
          </p:cNvPr>
          <p:cNvSpPr>
            <a:spLocks noGrp="1"/>
          </p:cNvSpPr>
          <p:nvPr>
            <p:ph type="body" sz="quarter" idx="18"/>
          </p:nvPr>
        </p:nvSpPr>
        <p:spPr>
          <a:xfrm>
            <a:off x="5232400" y="1710872"/>
            <a:ext cx="6261395" cy="1393834"/>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4">
            <a:extLst>
              <a:ext uri="{FF2B5EF4-FFF2-40B4-BE49-F238E27FC236}">
                <a16:creationId xmlns:a16="http://schemas.microsoft.com/office/drawing/2014/main" id="{98706D75-EAF6-024B-B02C-354058500E9C}"/>
              </a:ext>
            </a:extLst>
          </p:cNvPr>
          <p:cNvSpPr>
            <a:spLocks noGrp="1"/>
          </p:cNvSpPr>
          <p:nvPr>
            <p:ph type="body" sz="quarter" idx="19"/>
          </p:nvPr>
        </p:nvSpPr>
        <p:spPr>
          <a:xfrm>
            <a:off x="5232400" y="3276600"/>
            <a:ext cx="6261395" cy="1393834"/>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4">
            <a:extLst>
              <a:ext uri="{FF2B5EF4-FFF2-40B4-BE49-F238E27FC236}">
                <a16:creationId xmlns:a16="http://schemas.microsoft.com/office/drawing/2014/main" id="{8021F9AD-DC72-2E4A-948D-1084BB950A0D}"/>
              </a:ext>
            </a:extLst>
          </p:cNvPr>
          <p:cNvSpPr>
            <a:spLocks noGrp="1"/>
          </p:cNvSpPr>
          <p:nvPr>
            <p:ph type="body" sz="quarter" idx="20"/>
          </p:nvPr>
        </p:nvSpPr>
        <p:spPr>
          <a:xfrm>
            <a:off x="5232400" y="4876800"/>
            <a:ext cx="6261395" cy="1393834"/>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562078"/>
      </p:ext>
    </p:extLst>
  </p:cSld>
  <p:clrMapOvr>
    <a:masterClrMapping/>
  </p:clrMapOvr>
  <p:extLst>
    <p:ext uri="{DCECCB84-F9BA-43D5-87BE-67443E8EF086}">
      <p15:sldGuideLst xmlns:p15="http://schemas.microsoft.com/office/powerpoint/2012/main">
        <p15:guide id="1" orient="horz" pos="11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print Overview">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47F413-7CC3-9041-B985-1939336F2C65}"/>
              </a:ext>
            </a:extLst>
          </p:cNvPr>
          <p:cNvSpPr>
            <a:spLocks noGrp="1"/>
          </p:cNvSpPr>
          <p:nvPr>
            <p:ph type="title"/>
          </p:nvPr>
        </p:nvSpPr>
        <p:spPr>
          <a:xfrm>
            <a:off x="354106" y="530021"/>
            <a:ext cx="5410086" cy="1130188"/>
          </a:xfrm>
        </p:spPr>
        <p:txBody>
          <a:bodyPr>
            <a:noAutofit/>
          </a:bodyPr>
          <a:lstStyle>
            <a:lvl1pPr>
              <a:defRPr b="0" i="0">
                <a:solidFill>
                  <a:srgbClr val="4A4A4A"/>
                </a:solidFill>
              </a:defRPr>
            </a:lvl1pPr>
          </a:lstStyle>
          <a:p>
            <a:r>
              <a:rPr lang="en-US"/>
              <a:t>Click to edit Master title style</a:t>
            </a:r>
          </a:p>
        </p:txBody>
      </p:sp>
      <p:sp>
        <p:nvSpPr>
          <p:cNvPr id="15" name="Text Placeholder 13">
            <a:extLst>
              <a:ext uri="{FF2B5EF4-FFF2-40B4-BE49-F238E27FC236}">
                <a16:creationId xmlns:a16="http://schemas.microsoft.com/office/drawing/2014/main" id="{74424E38-EBD1-9942-88D3-BFBB97FDAA1A}"/>
              </a:ext>
            </a:extLst>
          </p:cNvPr>
          <p:cNvSpPr>
            <a:spLocks noGrp="1"/>
          </p:cNvSpPr>
          <p:nvPr>
            <p:ph type="body" sz="quarter" idx="10"/>
          </p:nvPr>
        </p:nvSpPr>
        <p:spPr>
          <a:xfrm>
            <a:off x="7177088" y="1085064"/>
            <a:ext cx="4656325" cy="726888"/>
          </a:xfrm>
          <a:prstGeom prst="rect">
            <a:avLst/>
          </a:prstGeom>
        </p:spPr>
        <p:txBody>
          <a:bodyPr lIns="0" tIns="0" rIns="0" bIns="0">
            <a:noAutofit/>
          </a:bodyPr>
          <a:lstStyle>
            <a:lvl1pPr marL="0" indent="0">
              <a:lnSpc>
                <a:spcPct val="100000"/>
              </a:lnSpc>
              <a:buNone/>
              <a:defRPr sz="1200" b="0" i="0">
                <a:solidFill>
                  <a:srgbClr val="2576B7"/>
                </a:solidFill>
                <a:latin typeface="Montserrat SemiBold" pitchFamily="2" charset="77"/>
                <a:cs typeface="Arial" panose="020B0604020202020204" pitchFamily="34" charset="0"/>
              </a:defRPr>
            </a:lvl1pPr>
          </a:lstStyle>
          <a:p>
            <a:pPr lvl="0"/>
            <a:r>
              <a:rPr lang="en-US"/>
              <a:t>Click to edit Master text styles</a:t>
            </a:r>
          </a:p>
        </p:txBody>
      </p:sp>
    </p:spTree>
    <p:extLst>
      <p:ext uri="{BB962C8B-B14F-4D97-AF65-F5344CB8AC3E}">
        <p14:creationId xmlns:p14="http://schemas.microsoft.com/office/powerpoint/2010/main" val="70497977"/>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Phases - 1">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94A49C4-26C6-F747-A948-6F248247D1D3}"/>
              </a:ext>
            </a:extLst>
          </p:cNvPr>
          <p:cNvSpPr/>
          <p:nvPr userDrawn="1"/>
        </p:nvSpPr>
        <p:spPr>
          <a:xfrm>
            <a:off x="9105899" y="0"/>
            <a:ext cx="3087687" cy="6858000"/>
          </a:xfrm>
          <a:prstGeom prst="rect">
            <a:avLst/>
          </a:prstGeom>
          <a:gradFill>
            <a:gsLst>
              <a:gs pos="1900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pic>
        <p:nvPicPr>
          <p:cNvPr id="21" name="Picture 20">
            <a:extLst>
              <a:ext uri="{FF2B5EF4-FFF2-40B4-BE49-F238E27FC236}">
                <a16:creationId xmlns:a16="http://schemas.microsoft.com/office/drawing/2014/main" id="{F47C9913-5718-874D-9BAB-81EE03C551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5089" y="1697742"/>
            <a:ext cx="10581006" cy="3971320"/>
          </a:xfrm>
          <a:prstGeom prst="rect">
            <a:avLst/>
          </a:prstGeom>
        </p:spPr>
      </p:pic>
      <p:sp>
        <p:nvSpPr>
          <p:cNvPr id="8" name="Text Placeholder 17">
            <a:extLst>
              <a:ext uri="{FF2B5EF4-FFF2-40B4-BE49-F238E27FC236}">
                <a16:creationId xmlns:a16="http://schemas.microsoft.com/office/drawing/2014/main" id="{0B9E58A6-0F71-2B44-BF10-C6A65531FE7E}"/>
              </a:ext>
            </a:extLst>
          </p:cNvPr>
          <p:cNvSpPr>
            <a:spLocks noGrp="1"/>
          </p:cNvSpPr>
          <p:nvPr>
            <p:ph type="body" sz="quarter" idx="14"/>
          </p:nvPr>
        </p:nvSpPr>
        <p:spPr>
          <a:xfrm>
            <a:off x="383858" y="571500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3" name="Text Placeholder 17">
            <a:extLst>
              <a:ext uri="{FF2B5EF4-FFF2-40B4-BE49-F238E27FC236}">
                <a16:creationId xmlns:a16="http://schemas.microsoft.com/office/drawing/2014/main" id="{C88F8756-2789-9C44-8E94-B8F2D55E69A4}"/>
              </a:ext>
            </a:extLst>
          </p:cNvPr>
          <p:cNvSpPr>
            <a:spLocks noGrp="1"/>
          </p:cNvSpPr>
          <p:nvPr>
            <p:ph type="body" sz="quarter" idx="16"/>
          </p:nvPr>
        </p:nvSpPr>
        <p:spPr>
          <a:xfrm>
            <a:off x="84591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4" name="Text Placeholder 17">
            <a:extLst>
              <a:ext uri="{FF2B5EF4-FFF2-40B4-BE49-F238E27FC236}">
                <a16:creationId xmlns:a16="http://schemas.microsoft.com/office/drawing/2014/main" id="{2562FEB0-7A4E-064A-9714-05D7FEABEEE0}"/>
              </a:ext>
            </a:extLst>
          </p:cNvPr>
          <p:cNvSpPr>
            <a:spLocks noGrp="1"/>
          </p:cNvSpPr>
          <p:nvPr>
            <p:ph type="body" sz="quarter" idx="17"/>
          </p:nvPr>
        </p:nvSpPr>
        <p:spPr>
          <a:xfrm>
            <a:off x="97497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17">
            <a:extLst>
              <a:ext uri="{FF2B5EF4-FFF2-40B4-BE49-F238E27FC236}">
                <a16:creationId xmlns:a16="http://schemas.microsoft.com/office/drawing/2014/main" id="{95180202-FB5D-F94C-BB6D-AEA8675BF86A}"/>
              </a:ext>
            </a:extLst>
          </p:cNvPr>
          <p:cNvSpPr>
            <a:spLocks noGrp="1"/>
          </p:cNvSpPr>
          <p:nvPr>
            <p:ph type="body" sz="quarter" idx="18"/>
          </p:nvPr>
        </p:nvSpPr>
        <p:spPr>
          <a:xfrm>
            <a:off x="345703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8" name="Text Placeholder 17">
            <a:extLst>
              <a:ext uri="{FF2B5EF4-FFF2-40B4-BE49-F238E27FC236}">
                <a16:creationId xmlns:a16="http://schemas.microsoft.com/office/drawing/2014/main" id="{58E8B607-4E77-764D-9F28-AFB22E9A0527}"/>
              </a:ext>
            </a:extLst>
          </p:cNvPr>
          <p:cNvSpPr>
            <a:spLocks noGrp="1"/>
          </p:cNvSpPr>
          <p:nvPr>
            <p:ph type="body" sz="quarter" idx="19"/>
          </p:nvPr>
        </p:nvSpPr>
        <p:spPr>
          <a:xfrm>
            <a:off x="358609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17">
            <a:extLst>
              <a:ext uri="{FF2B5EF4-FFF2-40B4-BE49-F238E27FC236}">
                <a16:creationId xmlns:a16="http://schemas.microsoft.com/office/drawing/2014/main" id="{EA10E58D-5C00-A54A-812B-4083B4CDAEF8}"/>
              </a:ext>
            </a:extLst>
          </p:cNvPr>
          <p:cNvSpPr>
            <a:spLocks noGrp="1"/>
          </p:cNvSpPr>
          <p:nvPr>
            <p:ph type="body" sz="quarter" idx="20"/>
          </p:nvPr>
        </p:nvSpPr>
        <p:spPr>
          <a:xfrm>
            <a:off x="606815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17">
            <a:extLst>
              <a:ext uri="{FF2B5EF4-FFF2-40B4-BE49-F238E27FC236}">
                <a16:creationId xmlns:a16="http://schemas.microsoft.com/office/drawing/2014/main" id="{4E732226-B0CE-4141-BA0A-B0610C10DF1A}"/>
              </a:ext>
            </a:extLst>
          </p:cNvPr>
          <p:cNvSpPr>
            <a:spLocks noGrp="1"/>
          </p:cNvSpPr>
          <p:nvPr>
            <p:ph type="body" sz="quarter" idx="21"/>
          </p:nvPr>
        </p:nvSpPr>
        <p:spPr>
          <a:xfrm>
            <a:off x="619721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3" name="Text Placeholder 14">
            <a:extLst>
              <a:ext uri="{FF2B5EF4-FFF2-40B4-BE49-F238E27FC236}">
                <a16:creationId xmlns:a16="http://schemas.microsoft.com/office/drawing/2014/main" id="{CD080FB1-EBFC-8046-8481-0C6839CE648F}"/>
              </a:ext>
            </a:extLst>
          </p:cNvPr>
          <p:cNvSpPr>
            <a:spLocks noGrp="1"/>
          </p:cNvSpPr>
          <p:nvPr>
            <p:ph type="body" sz="quarter" idx="12"/>
          </p:nvPr>
        </p:nvSpPr>
        <p:spPr>
          <a:xfrm>
            <a:off x="9362364" y="662318"/>
            <a:ext cx="2531187" cy="5397288"/>
          </a:xfrm>
          <a:prstGeom prst="rect">
            <a:avLst/>
          </a:prstGeom>
        </p:spPr>
        <p:txBody>
          <a:bodyPr lIns="0" tIns="0" rIns="0" bIns="0" numCol="1" spcCol="360000">
            <a:noAutofit/>
          </a:bodyPr>
          <a:lstStyle>
            <a:lvl1pPr marL="0" indent="0">
              <a:lnSpc>
                <a:spcPct val="110000"/>
              </a:lnSpc>
              <a:buNone/>
              <a:defRPr sz="1200" b="0" i="0">
                <a:solidFill>
                  <a:schemeClr val="bg1"/>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Box 24">
            <a:extLst>
              <a:ext uri="{FF2B5EF4-FFF2-40B4-BE49-F238E27FC236}">
                <a16:creationId xmlns:a16="http://schemas.microsoft.com/office/drawing/2014/main" id="{9FAD2C74-B2C9-3C42-A9A3-29E2877B57E6}"/>
              </a:ext>
            </a:extLst>
          </p:cNvPr>
          <p:cNvSpPr txBox="1"/>
          <p:nvPr userDrawn="1"/>
        </p:nvSpPr>
        <p:spPr>
          <a:xfrm>
            <a:off x="8804021" y="6449568"/>
            <a:ext cx="3438335" cy="13183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10000"/>
              </a:lnSpc>
              <a:spcBef>
                <a:spcPts val="55"/>
              </a:spcBef>
              <a:spcAft>
                <a:spcPts val="0"/>
              </a:spcAft>
              <a:buClrTx/>
              <a:buSzTx/>
              <a:buFontTx/>
              <a:buNone/>
              <a:tabLst/>
              <a:defRPr/>
            </a:pPr>
            <a:r>
              <a:rPr lang="en-CA" sz="800" spc="-18" dirty="0">
                <a:solidFill>
                  <a:schemeClr val="bg1"/>
                </a:solidFill>
                <a:latin typeface="Exo" panose="02000503000000000000" pitchFamily="2" charset="77"/>
              </a:rPr>
              <a:t>Info-</a:t>
            </a:r>
            <a:r>
              <a:rPr lang="en-CA" sz="800" spc="-103" dirty="0">
                <a:solidFill>
                  <a:schemeClr val="bg1"/>
                </a:solidFill>
                <a:latin typeface="Exo" panose="02000503000000000000" pitchFamily="2" charset="77"/>
              </a:rPr>
              <a:t>T</a:t>
            </a:r>
            <a:r>
              <a:rPr lang="en-CA" sz="800" spc="-15" dirty="0">
                <a:solidFill>
                  <a:schemeClr val="bg1"/>
                </a:solidFill>
                <a:latin typeface="Exo" panose="02000503000000000000" pitchFamily="2" charset="77"/>
              </a:rPr>
              <a:t>ec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Researc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Grou</a:t>
            </a:r>
            <a:r>
              <a:rPr lang="en-CA" sz="800" spc="6" dirty="0">
                <a:solidFill>
                  <a:schemeClr val="bg1"/>
                </a:solidFill>
                <a:latin typeface="Exo" panose="02000503000000000000" pitchFamily="2" charset="77"/>
              </a:rPr>
              <a:t>p   |   </a:t>
            </a:r>
            <a:fld id="{81D60167-4931-47E6-BA6A-407CBD079E47}" type="slidenum">
              <a:rPr lang="en-CA" sz="800" spc="6" smtClean="0">
                <a:solidFill>
                  <a:schemeClr val="bg1"/>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10000"/>
                </a:lnSpc>
                <a:spcBef>
                  <a:spcPts val="55"/>
                </a:spcBef>
                <a:spcAft>
                  <a:spcPts val="0"/>
                </a:spcAft>
                <a:buClrTx/>
                <a:buSzTx/>
                <a:buFontTx/>
                <a:buNone/>
                <a:tabLst/>
                <a:defRPr/>
              </a:pPr>
              <a:t>‹#›</a:t>
            </a:fld>
            <a:endParaRPr sz="800" spc="6" dirty="0">
              <a:solidFill>
                <a:schemeClr val="bg1"/>
              </a:solidFill>
              <a:latin typeface="Exo" panose="02000503000000000000" pitchFamily="2" charset="77"/>
              <a:cs typeface="Arial" panose="020B0604020202020204" pitchFamily="34" charset="0"/>
            </a:endParaRPr>
          </a:p>
        </p:txBody>
      </p:sp>
      <p:sp>
        <p:nvSpPr>
          <p:cNvPr id="15" name="Title 9">
            <a:extLst>
              <a:ext uri="{FF2B5EF4-FFF2-40B4-BE49-F238E27FC236}">
                <a16:creationId xmlns:a16="http://schemas.microsoft.com/office/drawing/2014/main" id="{A239B8F6-3AE0-4D93-A3DA-A8577D884267}"/>
              </a:ext>
            </a:extLst>
          </p:cNvPr>
          <p:cNvSpPr>
            <a:spLocks noGrp="1"/>
          </p:cNvSpPr>
          <p:nvPr>
            <p:ph type="title"/>
          </p:nvPr>
        </p:nvSpPr>
        <p:spPr>
          <a:xfrm>
            <a:off x="354106" y="530021"/>
            <a:ext cx="8480612" cy="519691"/>
          </a:xfrm>
        </p:spPr>
        <p:txBody>
          <a:bodyPr>
            <a:noAutofit/>
          </a:bodyPr>
          <a:lstStyle>
            <a:lvl1pPr>
              <a:lnSpc>
                <a:spcPct val="90000"/>
              </a:lnSpc>
              <a:defRPr b="0" i="0">
                <a:solidFill>
                  <a:srgbClr val="4A4A4A"/>
                </a:solidFill>
              </a:defRPr>
            </a:lvl1pPr>
          </a:lstStyle>
          <a:p>
            <a:r>
              <a:rPr lang="en-US"/>
              <a:t>Click to edit Master title style</a:t>
            </a:r>
          </a:p>
        </p:txBody>
      </p:sp>
      <p:sp>
        <p:nvSpPr>
          <p:cNvPr id="16" name="Text Placeholder 11">
            <a:extLst>
              <a:ext uri="{FF2B5EF4-FFF2-40B4-BE49-F238E27FC236}">
                <a16:creationId xmlns:a16="http://schemas.microsoft.com/office/drawing/2014/main" id="{30C801AE-00D6-4820-A793-C41E238CF846}"/>
              </a:ext>
            </a:extLst>
          </p:cNvPr>
          <p:cNvSpPr>
            <a:spLocks noGrp="1"/>
          </p:cNvSpPr>
          <p:nvPr>
            <p:ph type="body" sz="quarter" idx="11"/>
          </p:nvPr>
        </p:nvSpPr>
        <p:spPr>
          <a:xfrm>
            <a:off x="374088" y="1177271"/>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842229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Phases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F527A54-705D-3546-96E2-BEB5EFD3F2C0}"/>
              </a:ext>
            </a:extLst>
          </p:cNvPr>
          <p:cNvSpPr/>
          <p:nvPr userDrawn="1"/>
        </p:nvSpPr>
        <p:spPr>
          <a:xfrm>
            <a:off x="9105899" y="0"/>
            <a:ext cx="3087687" cy="6858000"/>
          </a:xfrm>
          <a:prstGeom prst="rect">
            <a:avLst/>
          </a:prstGeom>
          <a:gradFill>
            <a:gsLst>
              <a:gs pos="1900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pic>
        <p:nvPicPr>
          <p:cNvPr id="21" name="Picture 20">
            <a:extLst>
              <a:ext uri="{FF2B5EF4-FFF2-40B4-BE49-F238E27FC236}">
                <a16:creationId xmlns:a16="http://schemas.microsoft.com/office/drawing/2014/main" id="{F47C9913-5718-874D-9BAB-81EE03C551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5089" y="1697742"/>
            <a:ext cx="10581006" cy="3971319"/>
          </a:xfrm>
          <a:prstGeom prst="rect">
            <a:avLst/>
          </a:prstGeom>
        </p:spPr>
      </p:pic>
      <p:sp>
        <p:nvSpPr>
          <p:cNvPr id="8" name="Text Placeholder 17">
            <a:extLst>
              <a:ext uri="{FF2B5EF4-FFF2-40B4-BE49-F238E27FC236}">
                <a16:creationId xmlns:a16="http://schemas.microsoft.com/office/drawing/2014/main" id="{0B9E58A6-0F71-2B44-BF10-C6A65531FE7E}"/>
              </a:ext>
            </a:extLst>
          </p:cNvPr>
          <p:cNvSpPr>
            <a:spLocks noGrp="1"/>
          </p:cNvSpPr>
          <p:nvPr>
            <p:ph type="body" sz="quarter" idx="14"/>
          </p:nvPr>
        </p:nvSpPr>
        <p:spPr>
          <a:xfrm>
            <a:off x="383858" y="571500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3" name="Text Placeholder 17">
            <a:extLst>
              <a:ext uri="{FF2B5EF4-FFF2-40B4-BE49-F238E27FC236}">
                <a16:creationId xmlns:a16="http://schemas.microsoft.com/office/drawing/2014/main" id="{C88F8756-2789-9C44-8E94-B8F2D55E69A4}"/>
              </a:ext>
            </a:extLst>
          </p:cNvPr>
          <p:cNvSpPr>
            <a:spLocks noGrp="1"/>
          </p:cNvSpPr>
          <p:nvPr>
            <p:ph type="body" sz="quarter" idx="16"/>
          </p:nvPr>
        </p:nvSpPr>
        <p:spPr>
          <a:xfrm>
            <a:off x="84591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4" name="Text Placeholder 17">
            <a:extLst>
              <a:ext uri="{FF2B5EF4-FFF2-40B4-BE49-F238E27FC236}">
                <a16:creationId xmlns:a16="http://schemas.microsoft.com/office/drawing/2014/main" id="{2562FEB0-7A4E-064A-9714-05D7FEABEEE0}"/>
              </a:ext>
            </a:extLst>
          </p:cNvPr>
          <p:cNvSpPr>
            <a:spLocks noGrp="1"/>
          </p:cNvSpPr>
          <p:nvPr>
            <p:ph type="body" sz="quarter" idx="17"/>
          </p:nvPr>
        </p:nvSpPr>
        <p:spPr>
          <a:xfrm>
            <a:off x="97497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17">
            <a:extLst>
              <a:ext uri="{FF2B5EF4-FFF2-40B4-BE49-F238E27FC236}">
                <a16:creationId xmlns:a16="http://schemas.microsoft.com/office/drawing/2014/main" id="{95180202-FB5D-F94C-BB6D-AEA8675BF86A}"/>
              </a:ext>
            </a:extLst>
          </p:cNvPr>
          <p:cNvSpPr>
            <a:spLocks noGrp="1"/>
          </p:cNvSpPr>
          <p:nvPr>
            <p:ph type="body" sz="quarter" idx="18"/>
          </p:nvPr>
        </p:nvSpPr>
        <p:spPr>
          <a:xfrm>
            <a:off x="345703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8" name="Text Placeholder 17">
            <a:extLst>
              <a:ext uri="{FF2B5EF4-FFF2-40B4-BE49-F238E27FC236}">
                <a16:creationId xmlns:a16="http://schemas.microsoft.com/office/drawing/2014/main" id="{58E8B607-4E77-764D-9F28-AFB22E9A0527}"/>
              </a:ext>
            </a:extLst>
          </p:cNvPr>
          <p:cNvSpPr>
            <a:spLocks noGrp="1"/>
          </p:cNvSpPr>
          <p:nvPr>
            <p:ph type="body" sz="quarter" idx="19"/>
          </p:nvPr>
        </p:nvSpPr>
        <p:spPr>
          <a:xfrm>
            <a:off x="358609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17">
            <a:extLst>
              <a:ext uri="{FF2B5EF4-FFF2-40B4-BE49-F238E27FC236}">
                <a16:creationId xmlns:a16="http://schemas.microsoft.com/office/drawing/2014/main" id="{EA10E58D-5C00-A54A-812B-4083B4CDAEF8}"/>
              </a:ext>
            </a:extLst>
          </p:cNvPr>
          <p:cNvSpPr>
            <a:spLocks noGrp="1"/>
          </p:cNvSpPr>
          <p:nvPr>
            <p:ph type="body" sz="quarter" idx="20"/>
          </p:nvPr>
        </p:nvSpPr>
        <p:spPr>
          <a:xfrm>
            <a:off x="606815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17">
            <a:extLst>
              <a:ext uri="{FF2B5EF4-FFF2-40B4-BE49-F238E27FC236}">
                <a16:creationId xmlns:a16="http://schemas.microsoft.com/office/drawing/2014/main" id="{4E732226-B0CE-4141-BA0A-B0610C10DF1A}"/>
              </a:ext>
            </a:extLst>
          </p:cNvPr>
          <p:cNvSpPr>
            <a:spLocks noGrp="1"/>
          </p:cNvSpPr>
          <p:nvPr>
            <p:ph type="body" sz="quarter" idx="21"/>
          </p:nvPr>
        </p:nvSpPr>
        <p:spPr>
          <a:xfrm>
            <a:off x="619721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3" name="Text Placeholder 14">
            <a:extLst>
              <a:ext uri="{FF2B5EF4-FFF2-40B4-BE49-F238E27FC236}">
                <a16:creationId xmlns:a16="http://schemas.microsoft.com/office/drawing/2014/main" id="{411517B8-6A3E-EA46-B44F-5257BEE2FF8B}"/>
              </a:ext>
            </a:extLst>
          </p:cNvPr>
          <p:cNvSpPr>
            <a:spLocks noGrp="1"/>
          </p:cNvSpPr>
          <p:nvPr>
            <p:ph type="body" sz="quarter" idx="12"/>
          </p:nvPr>
        </p:nvSpPr>
        <p:spPr>
          <a:xfrm>
            <a:off x="9362364" y="662318"/>
            <a:ext cx="2531187" cy="5397288"/>
          </a:xfrm>
          <a:prstGeom prst="rect">
            <a:avLst/>
          </a:prstGeom>
        </p:spPr>
        <p:txBody>
          <a:bodyPr lIns="0" tIns="0" rIns="0" bIns="0" numCol="1" spcCol="360000">
            <a:noAutofit/>
          </a:bodyPr>
          <a:lstStyle>
            <a:lvl1pPr marL="0" indent="0">
              <a:lnSpc>
                <a:spcPct val="110000"/>
              </a:lnSpc>
              <a:buNone/>
              <a:defRPr sz="1200" b="0" i="0">
                <a:solidFill>
                  <a:schemeClr val="bg1"/>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Box 24">
            <a:extLst>
              <a:ext uri="{FF2B5EF4-FFF2-40B4-BE49-F238E27FC236}">
                <a16:creationId xmlns:a16="http://schemas.microsoft.com/office/drawing/2014/main" id="{EAB38534-59C8-AB42-8101-EB37B1EC4E88}"/>
              </a:ext>
            </a:extLst>
          </p:cNvPr>
          <p:cNvSpPr txBox="1"/>
          <p:nvPr userDrawn="1"/>
        </p:nvSpPr>
        <p:spPr>
          <a:xfrm>
            <a:off x="8804021" y="6449568"/>
            <a:ext cx="3438335" cy="13183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10000"/>
              </a:lnSpc>
              <a:spcBef>
                <a:spcPts val="55"/>
              </a:spcBef>
              <a:spcAft>
                <a:spcPts val="0"/>
              </a:spcAft>
              <a:buClrTx/>
              <a:buSzTx/>
              <a:buFontTx/>
              <a:buNone/>
              <a:tabLst/>
              <a:defRPr/>
            </a:pPr>
            <a:r>
              <a:rPr lang="en-CA" sz="800" spc="-18" dirty="0">
                <a:solidFill>
                  <a:schemeClr val="bg1"/>
                </a:solidFill>
                <a:latin typeface="Exo" panose="02000503000000000000" pitchFamily="2" charset="77"/>
              </a:rPr>
              <a:t>Info-</a:t>
            </a:r>
            <a:r>
              <a:rPr lang="en-CA" sz="800" spc="-103" dirty="0">
                <a:solidFill>
                  <a:schemeClr val="bg1"/>
                </a:solidFill>
                <a:latin typeface="Exo" panose="02000503000000000000" pitchFamily="2" charset="77"/>
              </a:rPr>
              <a:t>T</a:t>
            </a:r>
            <a:r>
              <a:rPr lang="en-CA" sz="800" spc="-15" dirty="0">
                <a:solidFill>
                  <a:schemeClr val="bg1"/>
                </a:solidFill>
                <a:latin typeface="Exo" panose="02000503000000000000" pitchFamily="2" charset="77"/>
              </a:rPr>
              <a:t>ec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Researc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Grou</a:t>
            </a:r>
            <a:r>
              <a:rPr lang="en-CA" sz="800" spc="6" dirty="0">
                <a:solidFill>
                  <a:schemeClr val="bg1"/>
                </a:solidFill>
                <a:latin typeface="Exo" panose="02000503000000000000" pitchFamily="2" charset="77"/>
              </a:rPr>
              <a:t>p   |   </a:t>
            </a:r>
            <a:fld id="{81D60167-4931-47E6-BA6A-407CBD079E47}" type="slidenum">
              <a:rPr lang="en-CA" sz="800" spc="6" smtClean="0">
                <a:solidFill>
                  <a:schemeClr val="bg1"/>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10000"/>
                </a:lnSpc>
                <a:spcBef>
                  <a:spcPts val="55"/>
                </a:spcBef>
                <a:spcAft>
                  <a:spcPts val="0"/>
                </a:spcAft>
                <a:buClrTx/>
                <a:buSzTx/>
                <a:buFontTx/>
                <a:buNone/>
                <a:tabLst/>
                <a:defRPr/>
              </a:pPr>
              <a:t>‹#›</a:t>
            </a:fld>
            <a:endParaRPr sz="800" spc="6" dirty="0">
              <a:solidFill>
                <a:schemeClr val="bg1"/>
              </a:solidFill>
              <a:latin typeface="Exo" panose="02000503000000000000" pitchFamily="2" charset="77"/>
              <a:cs typeface="Arial" panose="020B0604020202020204" pitchFamily="34" charset="0"/>
            </a:endParaRPr>
          </a:p>
        </p:txBody>
      </p:sp>
      <p:sp>
        <p:nvSpPr>
          <p:cNvPr id="15" name="Title 9">
            <a:extLst>
              <a:ext uri="{FF2B5EF4-FFF2-40B4-BE49-F238E27FC236}">
                <a16:creationId xmlns:a16="http://schemas.microsoft.com/office/drawing/2014/main" id="{364B2857-0349-4295-A09F-BC1F3F187279}"/>
              </a:ext>
            </a:extLst>
          </p:cNvPr>
          <p:cNvSpPr>
            <a:spLocks noGrp="1"/>
          </p:cNvSpPr>
          <p:nvPr>
            <p:ph type="title"/>
          </p:nvPr>
        </p:nvSpPr>
        <p:spPr>
          <a:xfrm>
            <a:off x="354106" y="530021"/>
            <a:ext cx="8480612" cy="519691"/>
          </a:xfrm>
        </p:spPr>
        <p:txBody>
          <a:bodyPr>
            <a:noAutofit/>
          </a:bodyPr>
          <a:lstStyle>
            <a:lvl1pPr>
              <a:lnSpc>
                <a:spcPct val="90000"/>
              </a:lnSpc>
              <a:defRPr b="0" i="0">
                <a:solidFill>
                  <a:srgbClr val="4A4A4A"/>
                </a:solidFill>
              </a:defRPr>
            </a:lvl1pPr>
          </a:lstStyle>
          <a:p>
            <a:r>
              <a:rPr lang="en-US"/>
              <a:t>Click to edit Master title style</a:t>
            </a:r>
          </a:p>
        </p:txBody>
      </p:sp>
      <p:sp>
        <p:nvSpPr>
          <p:cNvPr id="16" name="Text Placeholder 11">
            <a:extLst>
              <a:ext uri="{FF2B5EF4-FFF2-40B4-BE49-F238E27FC236}">
                <a16:creationId xmlns:a16="http://schemas.microsoft.com/office/drawing/2014/main" id="{E17E7439-B4AF-49B8-ACA3-5699AC95DD30}"/>
              </a:ext>
            </a:extLst>
          </p:cNvPr>
          <p:cNvSpPr>
            <a:spLocks noGrp="1"/>
          </p:cNvSpPr>
          <p:nvPr>
            <p:ph type="body" sz="quarter" idx="11"/>
          </p:nvPr>
        </p:nvSpPr>
        <p:spPr>
          <a:xfrm>
            <a:off x="374088" y="1177271"/>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1635999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Phases - 3">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AB425FD-3D89-C248-A85B-4B68C01FA877}"/>
              </a:ext>
            </a:extLst>
          </p:cNvPr>
          <p:cNvSpPr/>
          <p:nvPr userDrawn="1"/>
        </p:nvSpPr>
        <p:spPr>
          <a:xfrm>
            <a:off x="9105899" y="0"/>
            <a:ext cx="3087687" cy="6858000"/>
          </a:xfrm>
          <a:prstGeom prst="rect">
            <a:avLst/>
          </a:prstGeom>
          <a:gradFill>
            <a:gsLst>
              <a:gs pos="1900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pic>
        <p:nvPicPr>
          <p:cNvPr id="21" name="Picture 20">
            <a:extLst>
              <a:ext uri="{FF2B5EF4-FFF2-40B4-BE49-F238E27FC236}">
                <a16:creationId xmlns:a16="http://schemas.microsoft.com/office/drawing/2014/main" id="{F47C9913-5718-874D-9BAB-81EE03C551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95089" y="1700496"/>
            <a:ext cx="10581006" cy="3965811"/>
          </a:xfrm>
          <a:prstGeom prst="rect">
            <a:avLst/>
          </a:prstGeom>
        </p:spPr>
      </p:pic>
      <p:sp>
        <p:nvSpPr>
          <p:cNvPr id="6" name="Text Placeholder 14">
            <a:extLst>
              <a:ext uri="{FF2B5EF4-FFF2-40B4-BE49-F238E27FC236}">
                <a16:creationId xmlns:a16="http://schemas.microsoft.com/office/drawing/2014/main" id="{74E863AB-F0D1-E945-8334-6F5A93C81567}"/>
              </a:ext>
            </a:extLst>
          </p:cNvPr>
          <p:cNvSpPr>
            <a:spLocks noGrp="1"/>
          </p:cNvSpPr>
          <p:nvPr>
            <p:ph type="body" sz="quarter" idx="12"/>
          </p:nvPr>
        </p:nvSpPr>
        <p:spPr>
          <a:xfrm>
            <a:off x="9362364" y="662318"/>
            <a:ext cx="2531187" cy="5397288"/>
          </a:xfrm>
          <a:prstGeom prst="rect">
            <a:avLst/>
          </a:prstGeom>
        </p:spPr>
        <p:txBody>
          <a:bodyPr lIns="0" tIns="0" rIns="0" bIns="0" numCol="1" spcCol="360000">
            <a:noAutofit/>
          </a:bodyPr>
          <a:lstStyle>
            <a:lvl1pPr marL="0" indent="0">
              <a:lnSpc>
                <a:spcPct val="110000"/>
              </a:lnSpc>
              <a:buNone/>
              <a:defRPr sz="1200" b="0" i="0">
                <a:solidFill>
                  <a:schemeClr val="bg1"/>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17">
            <a:extLst>
              <a:ext uri="{FF2B5EF4-FFF2-40B4-BE49-F238E27FC236}">
                <a16:creationId xmlns:a16="http://schemas.microsoft.com/office/drawing/2014/main" id="{0B9E58A6-0F71-2B44-BF10-C6A65531FE7E}"/>
              </a:ext>
            </a:extLst>
          </p:cNvPr>
          <p:cNvSpPr>
            <a:spLocks noGrp="1"/>
          </p:cNvSpPr>
          <p:nvPr>
            <p:ph type="body" sz="quarter" idx="14"/>
          </p:nvPr>
        </p:nvSpPr>
        <p:spPr>
          <a:xfrm>
            <a:off x="383858" y="571500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3" name="Text Placeholder 17">
            <a:extLst>
              <a:ext uri="{FF2B5EF4-FFF2-40B4-BE49-F238E27FC236}">
                <a16:creationId xmlns:a16="http://schemas.microsoft.com/office/drawing/2014/main" id="{C88F8756-2789-9C44-8E94-B8F2D55E69A4}"/>
              </a:ext>
            </a:extLst>
          </p:cNvPr>
          <p:cNvSpPr>
            <a:spLocks noGrp="1"/>
          </p:cNvSpPr>
          <p:nvPr>
            <p:ph type="body" sz="quarter" idx="16"/>
          </p:nvPr>
        </p:nvSpPr>
        <p:spPr>
          <a:xfrm>
            <a:off x="84591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4" name="Text Placeholder 17">
            <a:extLst>
              <a:ext uri="{FF2B5EF4-FFF2-40B4-BE49-F238E27FC236}">
                <a16:creationId xmlns:a16="http://schemas.microsoft.com/office/drawing/2014/main" id="{2562FEB0-7A4E-064A-9714-05D7FEABEEE0}"/>
              </a:ext>
            </a:extLst>
          </p:cNvPr>
          <p:cNvSpPr>
            <a:spLocks noGrp="1"/>
          </p:cNvSpPr>
          <p:nvPr>
            <p:ph type="body" sz="quarter" idx="17"/>
          </p:nvPr>
        </p:nvSpPr>
        <p:spPr>
          <a:xfrm>
            <a:off x="97497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17">
            <a:extLst>
              <a:ext uri="{FF2B5EF4-FFF2-40B4-BE49-F238E27FC236}">
                <a16:creationId xmlns:a16="http://schemas.microsoft.com/office/drawing/2014/main" id="{95180202-FB5D-F94C-BB6D-AEA8675BF86A}"/>
              </a:ext>
            </a:extLst>
          </p:cNvPr>
          <p:cNvSpPr>
            <a:spLocks noGrp="1"/>
          </p:cNvSpPr>
          <p:nvPr>
            <p:ph type="body" sz="quarter" idx="18"/>
          </p:nvPr>
        </p:nvSpPr>
        <p:spPr>
          <a:xfrm>
            <a:off x="345703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8" name="Text Placeholder 17">
            <a:extLst>
              <a:ext uri="{FF2B5EF4-FFF2-40B4-BE49-F238E27FC236}">
                <a16:creationId xmlns:a16="http://schemas.microsoft.com/office/drawing/2014/main" id="{58E8B607-4E77-764D-9F28-AFB22E9A0527}"/>
              </a:ext>
            </a:extLst>
          </p:cNvPr>
          <p:cNvSpPr>
            <a:spLocks noGrp="1"/>
          </p:cNvSpPr>
          <p:nvPr>
            <p:ph type="body" sz="quarter" idx="19"/>
          </p:nvPr>
        </p:nvSpPr>
        <p:spPr>
          <a:xfrm>
            <a:off x="358609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17">
            <a:extLst>
              <a:ext uri="{FF2B5EF4-FFF2-40B4-BE49-F238E27FC236}">
                <a16:creationId xmlns:a16="http://schemas.microsoft.com/office/drawing/2014/main" id="{EA10E58D-5C00-A54A-812B-4083B4CDAEF8}"/>
              </a:ext>
            </a:extLst>
          </p:cNvPr>
          <p:cNvSpPr>
            <a:spLocks noGrp="1"/>
          </p:cNvSpPr>
          <p:nvPr>
            <p:ph type="body" sz="quarter" idx="20"/>
          </p:nvPr>
        </p:nvSpPr>
        <p:spPr>
          <a:xfrm>
            <a:off x="6068150" y="3024465"/>
            <a:ext cx="2076769" cy="371902"/>
          </a:xfrm>
          <a:prstGeom prst="rect">
            <a:avLst/>
          </a:prstGeom>
        </p:spPr>
        <p:txBody>
          <a:bodyPr lIns="0" tIns="0" rIns="0" bIns="0">
            <a:noAutofit/>
          </a:bodyPr>
          <a:lstStyle>
            <a:lvl1pPr marL="0" indent="0" algn="ctr">
              <a:lnSpc>
                <a:spcPct val="110000"/>
              </a:lnSpc>
              <a:buNone/>
              <a:defRPr sz="2000" b="0" i="0">
                <a:solidFill>
                  <a:srgbClr val="2576B7"/>
                </a:solidFill>
                <a:latin typeface="Montserrat SemiBold"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17">
            <a:extLst>
              <a:ext uri="{FF2B5EF4-FFF2-40B4-BE49-F238E27FC236}">
                <a16:creationId xmlns:a16="http://schemas.microsoft.com/office/drawing/2014/main" id="{4E732226-B0CE-4141-BA0A-B0610C10DF1A}"/>
              </a:ext>
            </a:extLst>
          </p:cNvPr>
          <p:cNvSpPr>
            <a:spLocks noGrp="1"/>
          </p:cNvSpPr>
          <p:nvPr>
            <p:ph type="body" sz="quarter" idx="21"/>
          </p:nvPr>
        </p:nvSpPr>
        <p:spPr>
          <a:xfrm>
            <a:off x="6197214" y="3368040"/>
            <a:ext cx="1818640" cy="1048604"/>
          </a:xfrm>
          <a:prstGeom prst="rect">
            <a:avLst/>
          </a:prstGeom>
        </p:spPr>
        <p:txBody>
          <a:bodyPr lIns="0" tIns="0" rIns="0" bIns="0">
            <a:noAutofit/>
          </a:bodyPr>
          <a:lstStyle>
            <a:lvl1pPr marL="0" indent="0" algn="ctr">
              <a:lnSpc>
                <a:spcPct val="110000"/>
              </a:lnSpc>
              <a:spcBef>
                <a:spcPts val="0"/>
              </a:spcBef>
              <a:buNone/>
              <a:defRPr sz="1200" b="0" i="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3" name="TextBox 22">
            <a:extLst>
              <a:ext uri="{FF2B5EF4-FFF2-40B4-BE49-F238E27FC236}">
                <a16:creationId xmlns:a16="http://schemas.microsoft.com/office/drawing/2014/main" id="{16075586-BA0A-1847-A4BF-C2DDA49655C4}"/>
              </a:ext>
            </a:extLst>
          </p:cNvPr>
          <p:cNvSpPr txBox="1"/>
          <p:nvPr userDrawn="1"/>
        </p:nvSpPr>
        <p:spPr>
          <a:xfrm>
            <a:off x="8804021" y="6449568"/>
            <a:ext cx="3438335" cy="13183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10000"/>
              </a:lnSpc>
              <a:spcBef>
                <a:spcPts val="55"/>
              </a:spcBef>
              <a:spcAft>
                <a:spcPts val="0"/>
              </a:spcAft>
              <a:buClrTx/>
              <a:buSzTx/>
              <a:buFontTx/>
              <a:buNone/>
              <a:tabLst/>
              <a:defRPr/>
            </a:pPr>
            <a:r>
              <a:rPr lang="en-CA" sz="800" spc="-18" dirty="0">
                <a:solidFill>
                  <a:schemeClr val="bg1"/>
                </a:solidFill>
                <a:latin typeface="Exo" panose="02000503000000000000" pitchFamily="2" charset="77"/>
              </a:rPr>
              <a:t>Info-</a:t>
            </a:r>
            <a:r>
              <a:rPr lang="en-CA" sz="800" spc="-103" dirty="0">
                <a:solidFill>
                  <a:schemeClr val="bg1"/>
                </a:solidFill>
                <a:latin typeface="Exo" panose="02000503000000000000" pitchFamily="2" charset="77"/>
              </a:rPr>
              <a:t>T</a:t>
            </a:r>
            <a:r>
              <a:rPr lang="en-CA" sz="800" spc="-15" dirty="0">
                <a:solidFill>
                  <a:schemeClr val="bg1"/>
                </a:solidFill>
                <a:latin typeface="Exo" panose="02000503000000000000" pitchFamily="2" charset="77"/>
              </a:rPr>
              <a:t>ec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Researc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Grou</a:t>
            </a:r>
            <a:r>
              <a:rPr lang="en-CA" sz="800" spc="6" dirty="0">
                <a:solidFill>
                  <a:schemeClr val="bg1"/>
                </a:solidFill>
                <a:latin typeface="Exo" panose="02000503000000000000" pitchFamily="2" charset="77"/>
              </a:rPr>
              <a:t>p   |   </a:t>
            </a:r>
            <a:fld id="{81D60167-4931-47E6-BA6A-407CBD079E47}" type="slidenum">
              <a:rPr lang="en-CA" sz="800" spc="6" smtClean="0">
                <a:solidFill>
                  <a:schemeClr val="bg1"/>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10000"/>
                </a:lnSpc>
                <a:spcBef>
                  <a:spcPts val="55"/>
                </a:spcBef>
                <a:spcAft>
                  <a:spcPts val="0"/>
                </a:spcAft>
                <a:buClrTx/>
                <a:buSzTx/>
                <a:buFontTx/>
                <a:buNone/>
                <a:tabLst/>
                <a:defRPr/>
              </a:pPr>
              <a:t>‹#›</a:t>
            </a:fld>
            <a:endParaRPr sz="800" spc="6" dirty="0">
              <a:solidFill>
                <a:schemeClr val="bg1"/>
              </a:solidFill>
              <a:latin typeface="Exo" panose="02000503000000000000" pitchFamily="2" charset="77"/>
              <a:cs typeface="Arial" panose="020B0604020202020204" pitchFamily="34" charset="0"/>
            </a:endParaRPr>
          </a:p>
        </p:txBody>
      </p:sp>
      <p:sp>
        <p:nvSpPr>
          <p:cNvPr id="15" name="Title 9">
            <a:extLst>
              <a:ext uri="{FF2B5EF4-FFF2-40B4-BE49-F238E27FC236}">
                <a16:creationId xmlns:a16="http://schemas.microsoft.com/office/drawing/2014/main" id="{C35D8806-3285-4BE5-B0AE-3463590F7BBA}"/>
              </a:ext>
            </a:extLst>
          </p:cNvPr>
          <p:cNvSpPr>
            <a:spLocks noGrp="1"/>
          </p:cNvSpPr>
          <p:nvPr>
            <p:ph type="title"/>
          </p:nvPr>
        </p:nvSpPr>
        <p:spPr>
          <a:xfrm>
            <a:off x="354106" y="530021"/>
            <a:ext cx="8480612" cy="519691"/>
          </a:xfrm>
        </p:spPr>
        <p:txBody>
          <a:bodyPr>
            <a:noAutofit/>
          </a:bodyPr>
          <a:lstStyle>
            <a:lvl1pPr>
              <a:lnSpc>
                <a:spcPct val="90000"/>
              </a:lnSpc>
              <a:defRPr b="0" i="0">
                <a:solidFill>
                  <a:srgbClr val="4A4A4A"/>
                </a:solidFill>
              </a:defRPr>
            </a:lvl1pPr>
          </a:lstStyle>
          <a:p>
            <a:r>
              <a:rPr lang="en-US"/>
              <a:t>Click to edit Master title style</a:t>
            </a:r>
          </a:p>
        </p:txBody>
      </p:sp>
      <p:sp>
        <p:nvSpPr>
          <p:cNvPr id="16" name="Text Placeholder 11">
            <a:extLst>
              <a:ext uri="{FF2B5EF4-FFF2-40B4-BE49-F238E27FC236}">
                <a16:creationId xmlns:a16="http://schemas.microsoft.com/office/drawing/2014/main" id="{E5B3A946-1D9F-49EB-B505-DC02CC241C9D}"/>
              </a:ext>
            </a:extLst>
          </p:cNvPr>
          <p:cNvSpPr>
            <a:spLocks noGrp="1"/>
          </p:cNvSpPr>
          <p:nvPr>
            <p:ph type="body" sz="quarter" idx="11"/>
          </p:nvPr>
        </p:nvSpPr>
        <p:spPr>
          <a:xfrm>
            <a:off x="374088" y="1177271"/>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Tree>
    <p:extLst>
      <p:ext uri="{BB962C8B-B14F-4D97-AF65-F5344CB8AC3E}">
        <p14:creationId xmlns:p14="http://schemas.microsoft.com/office/powerpoint/2010/main" val="14868537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seStudy-Overview">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933AFED-7F68-D14D-8FF8-7CF369A24AA9}"/>
              </a:ext>
            </a:extLst>
          </p:cNvPr>
          <p:cNvSpPr/>
          <p:nvPr userDrawn="1"/>
        </p:nvSpPr>
        <p:spPr>
          <a:xfrm>
            <a:off x="467837" y="2211573"/>
            <a:ext cx="3678865" cy="3891517"/>
          </a:xfrm>
          <a:prstGeom prst="rect">
            <a:avLst/>
          </a:prstGeom>
          <a:gradFill>
            <a:gsLst>
              <a:gs pos="0">
                <a:srgbClr val="F17A26">
                  <a:alpha val="19000"/>
                </a:srgbClr>
              </a:gs>
              <a:gs pos="55000">
                <a:srgbClr val="F17A26">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sp>
        <p:nvSpPr>
          <p:cNvPr id="26" name="Rectangle 25">
            <a:extLst>
              <a:ext uri="{FF2B5EF4-FFF2-40B4-BE49-F238E27FC236}">
                <a16:creationId xmlns:a16="http://schemas.microsoft.com/office/drawing/2014/main" id="{B38A9B09-49D1-CE44-A049-6DA802C9A72D}"/>
              </a:ext>
            </a:extLst>
          </p:cNvPr>
          <p:cNvSpPr/>
          <p:nvPr userDrawn="1"/>
        </p:nvSpPr>
        <p:spPr>
          <a:xfrm>
            <a:off x="4354834" y="2200941"/>
            <a:ext cx="3678865" cy="3891517"/>
          </a:xfrm>
          <a:prstGeom prst="rect">
            <a:avLst/>
          </a:prstGeom>
          <a:gradFill>
            <a:gsLst>
              <a:gs pos="0">
                <a:srgbClr val="299D48">
                  <a:alpha val="17000"/>
                </a:srgbClr>
              </a:gs>
              <a:gs pos="55000">
                <a:srgbClr val="299D48">
                  <a:alpha val="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sp>
        <p:nvSpPr>
          <p:cNvPr id="2" name="Title 1">
            <a:extLst>
              <a:ext uri="{FF2B5EF4-FFF2-40B4-BE49-F238E27FC236}">
                <a16:creationId xmlns:a16="http://schemas.microsoft.com/office/drawing/2014/main" id="{0ED9F603-5D1D-774A-BC2E-2BB19F77B19A}"/>
              </a:ext>
            </a:extLst>
          </p:cNvPr>
          <p:cNvSpPr>
            <a:spLocks noGrp="1"/>
          </p:cNvSpPr>
          <p:nvPr>
            <p:ph type="title"/>
          </p:nvPr>
        </p:nvSpPr>
        <p:spPr>
          <a:xfrm>
            <a:off x="354106" y="547913"/>
            <a:ext cx="4983207" cy="1130188"/>
          </a:xfrm>
        </p:spPr>
        <p:txBody>
          <a:bodyPr>
            <a:noAutofit/>
          </a:bodyPr>
          <a:lstStyle>
            <a:lvl1pPr>
              <a:lnSpc>
                <a:spcPct val="90000"/>
              </a:lnSpc>
              <a:defRPr b="0" i="0"/>
            </a:lvl1pPr>
          </a:lstStyle>
          <a:p>
            <a:r>
              <a:rPr lang="en-US"/>
              <a:t>Click to edit Master title style</a:t>
            </a:r>
          </a:p>
        </p:txBody>
      </p:sp>
      <p:sp>
        <p:nvSpPr>
          <p:cNvPr id="49" name="Text Placeholder 12">
            <a:extLst>
              <a:ext uri="{FF2B5EF4-FFF2-40B4-BE49-F238E27FC236}">
                <a16:creationId xmlns:a16="http://schemas.microsoft.com/office/drawing/2014/main" id="{83E3CE5B-BC3A-9749-A3C9-0981EBB0D25F}"/>
              </a:ext>
            </a:extLst>
          </p:cNvPr>
          <p:cNvSpPr>
            <a:spLocks noGrp="1"/>
          </p:cNvSpPr>
          <p:nvPr>
            <p:ph type="body" sz="quarter" idx="15"/>
          </p:nvPr>
        </p:nvSpPr>
        <p:spPr>
          <a:xfrm>
            <a:off x="7995991" y="1227458"/>
            <a:ext cx="1411479" cy="381201"/>
          </a:xfrm>
          <a:prstGeom prst="rect">
            <a:avLst/>
          </a:prstGeom>
        </p:spPr>
        <p:txBody>
          <a:bodyPr lIns="0" tIns="0" rIns="0" bIns="0">
            <a:noAutofit/>
          </a:bodyPr>
          <a:lstStyle>
            <a:lvl1pPr marL="0" indent="0" algn="l">
              <a:lnSpc>
                <a:spcPct val="110000"/>
              </a:lnSpc>
              <a:buNone/>
              <a:defRPr sz="1200" b="0" i="0">
                <a:solidFill>
                  <a:srgbClr val="2576B7"/>
                </a:solidFill>
                <a:latin typeface="Montserrat SemiBold"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0" name="Text Placeholder 12">
            <a:extLst>
              <a:ext uri="{FF2B5EF4-FFF2-40B4-BE49-F238E27FC236}">
                <a16:creationId xmlns:a16="http://schemas.microsoft.com/office/drawing/2014/main" id="{94D26957-23BC-244C-9C15-BD8319838C87}"/>
              </a:ext>
            </a:extLst>
          </p:cNvPr>
          <p:cNvSpPr>
            <a:spLocks noGrp="1"/>
          </p:cNvSpPr>
          <p:nvPr>
            <p:ph type="body" sz="quarter" idx="16" hasCustomPrompt="1"/>
          </p:nvPr>
        </p:nvSpPr>
        <p:spPr>
          <a:xfrm>
            <a:off x="7995993" y="1081050"/>
            <a:ext cx="1364984" cy="138064"/>
          </a:xfrm>
          <a:prstGeom prst="rect">
            <a:avLst/>
          </a:prstGeom>
        </p:spPr>
        <p:txBody>
          <a:bodyPr lIns="0" tIns="0" rIns="0" bIns="0">
            <a:noAutofit/>
          </a:bodyPr>
          <a:lstStyle>
            <a:lvl1pPr marL="0" indent="0" algn="l">
              <a:lnSpc>
                <a:spcPct val="110000"/>
              </a:lnSpc>
              <a:buNone/>
              <a:defRPr sz="800" b="0" i="0">
                <a:solidFill>
                  <a:srgbClr val="2576B7"/>
                </a:solidFill>
                <a:latin typeface="Montserrat SemiBold"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INDUSTRY</a:t>
            </a:r>
          </a:p>
        </p:txBody>
      </p:sp>
      <p:sp>
        <p:nvSpPr>
          <p:cNvPr id="51" name="Text Placeholder 12">
            <a:extLst>
              <a:ext uri="{FF2B5EF4-FFF2-40B4-BE49-F238E27FC236}">
                <a16:creationId xmlns:a16="http://schemas.microsoft.com/office/drawing/2014/main" id="{1AEFA7E8-5374-634A-90A1-FBA969346214}"/>
              </a:ext>
            </a:extLst>
          </p:cNvPr>
          <p:cNvSpPr>
            <a:spLocks noGrp="1"/>
          </p:cNvSpPr>
          <p:nvPr>
            <p:ph type="body" sz="quarter" idx="17"/>
          </p:nvPr>
        </p:nvSpPr>
        <p:spPr>
          <a:xfrm>
            <a:off x="9443419" y="1227458"/>
            <a:ext cx="2450131" cy="381201"/>
          </a:xfrm>
          <a:prstGeom prst="rect">
            <a:avLst/>
          </a:prstGeom>
        </p:spPr>
        <p:txBody>
          <a:bodyPr lIns="0" tIns="0" rIns="0" bIns="0">
            <a:noAutofit/>
          </a:bodyPr>
          <a:lstStyle>
            <a:lvl1pPr marL="0" indent="0" algn="l">
              <a:lnSpc>
                <a:spcPct val="110000"/>
              </a:lnSpc>
              <a:buNone/>
              <a:defRPr sz="1200" b="0" i="0">
                <a:solidFill>
                  <a:srgbClr val="2576B7"/>
                </a:solidFill>
                <a:latin typeface="Montserrat SemiBold"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52" name="Text Placeholder 12">
            <a:extLst>
              <a:ext uri="{FF2B5EF4-FFF2-40B4-BE49-F238E27FC236}">
                <a16:creationId xmlns:a16="http://schemas.microsoft.com/office/drawing/2014/main" id="{D8566A2D-58FD-544A-9993-5A75E8DE7954}"/>
              </a:ext>
            </a:extLst>
          </p:cNvPr>
          <p:cNvSpPr>
            <a:spLocks noGrp="1"/>
          </p:cNvSpPr>
          <p:nvPr>
            <p:ph type="body" sz="quarter" idx="18" hasCustomPrompt="1"/>
          </p:nvPr>
        </p:nvSpPr>
        <p:spPr>
          <a:xfrm>
            <a:off x="9446820" y="1081050"/>
            <a:ext cx="2433555" cy="148752"/>
          </a:xfrm>
          <a:prstGeom prst="rect">
            <a:avLst/>
          </a:prstGeom>
        </p:spPr>
        <p:txBody>
          <a:bodyPr lIns="0" tIns="0" rIns="0" bIns="0">
            <a:noAutofit/>
          </a:bodyPr>
          <a:lstStyle>
            <a:lvl1pPr marL="0" indent="0" algn="l">
              <a:lnSpc>
                <a:spcPct val="110000"/>
              </a:lnSpc>
              <a:buNone/>
              <a:defRPr sz="800" b="0" i="0">
                <a:solidFill>
                  <a:srgbClr val="2576B7"/>
                </a:solidFill>
                <a:latin typeface="Montserrat SemiBold"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SOURCE</a:t>
            </a:r>
          </a:p>
        </p:txBody>
      </p:sp>
      <p:sp>
        <p:nvSpPr>
          <p:cNvPr id="81" name="Text Placeholder 14">
            <a:extLst>
              <a:ext uri="{FF2B5EF4-FFF2-40B4-BE49-F238E27FC236}">
                <a16:creationId xmlns:a16="http://schemas.microsoft.com/office/drawing/2014/main" id="{632DA5D6-4B5D-374C-8DA0-06C05A352A7F}"/>
              </a:ext>
            </a:extLst>
          </p:cNvPr>
          <p:cNvSpPr>
            <a:spLocks noGrp="1"/>
          </p:cNvSpPr>
          <p:nvPr>
            <p:ph type="body" sz="quarter" idx="31" hasCustomPrompt="1"/>
          </p:nvPr>
        </p:nvSpPr>
        <p:spPr>
          <a:xfrm>
            <a:off x="381794" y="1351869"/>
            <a:ext cx="3764382" cy="466166"/>
          </a:xfrm>
          <a:prstGeom prst="rect">
            <a:avLst/>
          </a:prstGeom>
        </p:spPr>
        <p:txBody>
          <a:bodyPr lIns="0" tIns="0" rIns="0" bIns="0">
            <a:noAutofit/>
          </a:bodyPr>
          <a:lstStyle>
            <a:lvl1pPr marL="0" indent="0" algn="l">
              <a:lnSpc>
                <a:spcPct val="110000"/>
              </a:lnSpc>
              <a:buNone/>
              <a:defRPr sz="1600" b="0" i="0">
                <a:solidFill>
                  <a:srgbClr val="000000"/>
                </a:solidFill>
                <a:latin typeface="Exo" panose="02000503000000000000" pitchFamily="2" charset="77"/>
                <a:cs typeface="Arial"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Results</a:t>
            </a:r>
          </a:p>
        </p:txBody>
      </p:sp>
      <p:sp>
        <p:nvSpPr>
          <p:cNvPr id="22" name="Text Placeholder 11">
            <a:extLst>
              <a:ext uri="{FF2B5EF4-FFF2-40B4-BE49-F238E27FC236}">
                <a16:creationId xmlns:a16="http://schemas.microsoft.com/office/drawing/2014/main" id="{D99FFE4F-9691-A64B-AC9F-F3ECB412E67D}"/>
              </a:ext>
            </a:extLst>
          </p:cNvPr>
          <p:cNvSpPr>
            <a:spLocks noGrp="1"/>
          </p:cNvSpPr>
          <p:nvPr>
            <p:ph type="body" sz="quarter" idx="11"/>
          </p:nvPr>
        </p:nvSpPr>
        <p:spPr>
          <a:xfrm>
            <a:off x="882007" y="2478199"/>
            <a:ext cx="2777181" cy="939371"/>
          </a:xfrm>
          <a:prstGeom prst="rect">
            <a:avLst/>
          </a:prstGeom>
        </p:spPr>
        <p:txBody>
          <a:bodyPr lIns="0" tIns="0" rIns="0" bIns="0">
            <a:noAutofit/>
          </a:bodyPr>
          <a:lstStyle>
            <a:lvl1pPr marL="0" indent="0">
              <a:lnSpc>
                <a:spcPct val="110000"/>
              </a:lnSpc>
              <a:buNone/>
              <a:defRPr sz="2000" b="1" i="0" spc="0">
                <a:solidFill>
                  <a:srgbClr val="F17A26"/>
                </a:solidFill>
                <a:latin typeface="Montserrat SemiBold" panose="020B0604020202020204" charset="0"/>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11">
            <a:extLst>
              <a:ext uri="{FF2B5EF4-FFF2-40B4-BE49-F238E27FC236}">
                <a16:creationId xmlns:a16="http://schemas.microsoft.com/office/drawing/2014/main" id="{12597800-6F28-C54E-B9B2-4BE07EA00286}"/>
              </a:ext>
            </a:extLst>
          </p:cNvPr>
          <p:cNvSpPr>
            <a:spLocks noGrp="1"/>
          </p:cNvSpPr>
          <p:nvPr>
            <p:ph type="body" sz="quarter" idx="33"/>
          </p:nvPr>
        </p:nvSpPr>
        <p:spPr>
          <a:xfrm>
            <a:off x="4782344" y="2478199"/>
            <a:ext cx="2777181" cy="939371"/>
          </a:xfrm>
          <a:prstGeom prst="rect">
            <a:avLst/>
          </a:prstGeom>
        </p:spPr>
        <p:txBody>
          <a:bodyPr lIns="0" tIns="0" rIns="0" bIns="0">
            <a:noAutofit/>
          </a:bodyPr>
          <a:lstStyle>
            <a:lvl1pPr marL="0" indent="0">
              <a:lnSpc>
                <a:spcPct val="110000"/>
              </a:lnSpc>
              <a:buNone/>
              <a:defRPr sz="2000" b="1" i="0" spc="0">
                <a:solidFill>
                  <a:srgbClr val="299D48"/>
                </a:solidFill>
                <a:latin typeface="Montserrat SemiBold" panose="020B0604020202020204" charset="0"/>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Rectangle 19">
            <a:extLst>
              <a:ext uri="{FF2B5EF4-FFF2-40B4-BE49-F238E27FC236}">
                <a16:creationId xmlns:a16="http://schemas.microsoft.com/office/drawing/2014/main" id="{19BB4306-6F73-514A-8275-451C49DE6376}"/>
              </a:ext>
            </a:extLst>
          </p:cNvPr>
          <p:cNvSpPr/>
          <p:nvPr userDrawn="1"/>
        </p:nvSpPr>
        <p:spPr>
          <a:xfrm>
            <a:off x="4274820" y="2124635"/>
            <a:ext cx="7612380" cy="4087906"/>
          </a:xfrm>
          <a:prstGeom prst="rect">
            <a:avLst/>
          </a:prstGeom>
          <a:noFill/>
          <a:ln w="3175">
            <a:solidFill>
              <a:srgbClr val="C9C9C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b="0" i="0" dirty="0">
              <a:latin typeface="Roboto Condensed Light" panose="02000000000000000000" pitchFamily="2" charset="0"/>
            </a:endParaRPr>
          </a:p>
        </p:txBody>
      </p:sp>
      <p:sp>
        <p:nvSpPr>
          <p:cNvPr id="23" name="Rectangle 22">
            <a:extLst>
              <a:ext uri="{FF2B5EF4-FFF2-40B4-BE49-F238E27FC236}">
                <a16:creationId xmlns:a16="http://schemas.microsoft.com/office/drawing/2014/main" id="{06CD7AF2-1439-1042-84B1-9FA17C1579F2}"/>
              </a:ext>
            </a:extLst>
          </p:cNvPr>
          <p:cNvSpPr/>
          <p:nvPr userDrawn="1"/>
        </p:nvSpPr>
        <p:spPr>
          <a:xfrm>
            <a:off x="381794" y="2124635"/>
            <a:ext cx="3887787" cy="4087906"/>
          </a:xfrm>
          <a:prstGeom prst="rect">
            <a:avLst/>
          </a:prstGeom>
          <a:noFill/>
          <a:ln w="3175">
            <a:solidFill>
              <a:srgbClr val="C9C9C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b="0" i="0" dirty="0">
              <a:latin typeface="Roboto Condensed Light" panose="02000000000000000000" pitchFamily="2" charset="0"/>
            </a:endParaRPr>
          </a:p>
        </p:txBody>
      </p:sp>
      <p:sp>
        <p:nvSpPr>
          <p:cNvPr id="32" name="Rectangle 31">
            <a:extLst>
              <a:ext uri="{FF2B5EF4-FFF2-40B4-BE49-F238E27FC236}">
                <a16:creationId xmlns:a16="http://schemas.microsoft.com/office/drawing/2014/main" id="{2ACB767A-45FC-9F48-B418-D7EC7355E710}"/>
              </a:ext>
            </a:extLst>
          </p:cNvPr>
          <p:cNvSpPr/>
          <p:nvPr userDrawn="1"/>
        </p:nvSpPr>
        <p:spPr>
          <a:xfrm>
            <a:off x="8002111" y="2124635"/>
            <a:ext cx="3888000" cy="4087906"/>
          </a:xfrm>
          <a:prstGeom prst="rect">
            <a:avLst/>
          </a:prstGeom>
          <a:solidFill>
            <a:schemeClr val="bg1"/>
          </a:solidFill>
          <a:ln>
            <a:noFill/>
          </a:ln>
          <a:effectLst>
            <a:outerShdw blurRad="266700" sx="105000" sy="105000" algn="ctr" rotWithShape="0">
              <a:prstClr val="black">
                <a:alpha val="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b="0" i="0" dirty="0">
              <a:latin typeface="Roboto Condensed Light" panose="02000000000000000000" pitchFamily="2" charset="0"/>
            </a:endParaRPr>
          </a:p>
        </p:txBody>
      </p:sp>
      <p:sp>
        <p:nvSpPr>
          <p:cNvPr id="19" name="Text Placeholder 11">
            <a:extLst>
              <a:ext uri="{FF2B5EF4-FFF2-40B4-BE49-F238E27FC236}">
                <a16:creationId xmlns:a16="http://schemas.microsoft.com/office/drawing/2014/main" id="{85DDFA7D-F891-5541-AA0E-D25B89A7FB95}"/>
              </a:ext>
            </a:extLst>
          </p:cNvPr>
          <p:cNvSpPr>
            <a:spLocks noGrp="1"/>
          </p:cNvSpPr>
          <p:nvPr>
            <p:ph type="body" sz="quarter" idx="35"/>
          </p:nvPr>
        </p:nvSpPr>
        <p:spPr>
          <a:xfrm>
            <a:off x="8497094" y="2478199"/>
            <a:ext cx="2777181" cy="939371"/>
          </a:xfrm>
          <a:prstGeom prst="rect">
            <a:avLst/>
          </a:prstGeom>
        </p:spPr>
        <p:txBody>
          <a:bodyPr lIns="0" tIns="0" rIns="0" bIns="0">
            <a:noAutofit/>
          </a:bodyPr>
          <a:lstStyle>
            <a:lvl1pPr marL="0" indent="0">
              <a:lnSpc>
                <a:spcPct val="110000"/>
              </a:lnSpc>
              <a:buNone/>
              <a:defRPr sz="2000" b="1" i="0" spc="0">
                <a:solidFill>
                  <a:srgbClr val="2576B7"/>
                </a:solidFill>
                <a:latin typeface="Montserrat SemiBold" panose="020B0604020202020204" charset="0"/>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9" name="Rectangle 28">
            <a:extLst>
              <a:ext uri="{FF2B5EF4-FFF2-40B4-BE49-F238E27FC236}">
                <a16:creationId xmlns:a16="http://schemas.microsoft.com/office/drawing/2014/main" id="{D84F50E7-9C84-0041-B92B-5909E8001F65}"/>
              </a:ext>
            </a:extLst>
          </p:cNvPr>
          <p:cNvSpPr/>
          <p:nvPr userDrawn="1"/>
        </p:nvSpPr>
        <p:spPr>
          <a:xfrm>
            <a:off x="8001845" y="2119122"/>
            <a:ext cx="3888000" cy="54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sp>
        <p:nvSpPr>
          <p:cNvPr id="21" name="Text Placeholder 4">
            <a:extLst>
              <a:ext uri="{FF2B5EF4-FFF2-40B4-BE49-F238E27FC236}">
                <a16:creationId xmlns:a16="http://schemas.microsoft.com/office/drawing/2014/main" id="{D66884E8-D3EE-4E4C-B7CB-7A9079FAB012}"/>
              </a:ext>
            </a:extLst>
          </p:cNvPr>
          <p:cNvSpPr>
            <a:spLocks noGrp="1"/>
          </p:cNvSpPr>
          <p:nvPr>
            <p:ph type="body" sz="quarter" idx="36"/>
          </p:nvPr>
        </p:nvSpPr>
        <p:spPr>
          <a:xfrm>
            <a:off x="881838" y="2816659"/>
            <a:ext cx="2924618" cy="3084411"/>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4">
            <a:extLst>
              <a:ext uri="{FF2B5EF4-FFF2-40B4-BE49-F238E27FC236}">
                <a16:creationId xmlns:a16="http://schemas.microsoft.com/office/drawing/2014/main" id="{39AD2FE5-1A1C-8F4A-8981-1B6428087B4F}"/>
              </a:ext>
            </a:extLst>
          </p:cNvPr>
          <p:cNvSpPr>
            <a:spLocks noGrp="1"/>
          </p:cNvSpPr>
          <p:nvPr>
            <p:ph type="body" sz="quarter" idx="37"/>
          </p:nvPr>
        </p:nvSpPr>
        <p:spPr>
          <a:xfrm>
            <a:off x="4788992" y="2816659"/>
            <a:ext cx="2924618" cy="3084411"/>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4">
            <a:extLst>
              <a:ext uri="{FF2B5EF4-FFF2-40B4-BE49-F238E27FC236}">
                <a16:creationId xmlns:a16="http://schemas.microsoft.com/office/drawing/2014/main" id="{9B48A8C3-06D8-B942-939C-E150561466EB}"/>
              </a:ext>
            </a:extLst>
          </p:cNvPr>
          <p:cNvSpPr>
            <a:spLocks noGrp="1"/>
          </p:cNvSpPr>
          <p:nvPr>
            <p:ph type="body" sz="quarter" idx="38"/>
          </p:nvPr>
        </p:nvSpPr>
        <p:spPr>
          <a:xfrm>
            <a:off x="8501526" y="2816659"/>
            <a:ext cx="2924618" cy="3084411"/>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1205088"/>
      </p:ext>
    </p:extLst>
  </p:cSld>
  <p:clrMapOvr>
    <a:masterClrMapping/>
  </p:clrMapOvr>
  <p:extLst>
    <p:ext uri="{DCECCB84-F9BA-43D5-87BE-67443E8EF086}">
      <p15:sldGuideLst xmlns:p15="http://schemas.microsoft.com/office/powerpoint/2012/main">
        <p15:guide id="1" orient="horz" pos="89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slide-1">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8047F413-7CC3-9041-B985-1939336F2C65}"/>
              </a:ext>
            </a:extLst>
          </p:cNvPr>
          <p:cNvSpPr>
            <a:spLocks noGrp="1"/>
          </p:cNvSpPr>
          <p:nvPr>
            <p:ph type="title"/>
          </p:nvPr>
        </p:nvSpPr>
        <p:spPr>
          <a:xfrm>
            <a:off x="354106" y="544769"/>
            <a:ext cx="4967041" cy="1130188"/>
          </a:xfrm>
        </p:spPr>
        <p:txBody>
          <a:bodyPr>
            <a:noAutofit/>
          </a:bodyPr>
          <a:lstStyle>
            <a:lvl1pPr>
              <a:lnSpc>
                <a:spcPct val="90000"/>
              </a:lnSpc>
              <a:defRPr b="0" i="0"/>
            </a:lvl1pPr>
          </a:lstStyle>
          <a:p>
            <a:r>
              <a:rPr lang="en-US"/>
              <a:t>Click to edit Master title style</a:t>
            </a:r>
          </a:p>
        </p:txBody>
      </p:sp>
      <p:sp>
        <p:nvSpPr>
          <p:cNvPr id="4" name="Text Placeholder 11">
            <a:extLst>
              <a:ext uri="{FF2B5EF4-FFF2-40B4-BE49-F238E27FC236}">
                <a16:creationId xmlns:a16="http://schemas.microsoft.com/office/drawing/2014/main" id="{DDF1013D-24FA-B04E-AE09-DB6F11760046}"/>
              </a:ext>
            </a:extLst>
          </p:cNvPr>
          <p:cNvSpPr>
            <a:spLocks noGrp="1"/>
          </p:cNvSpPr>
          <p:nvPr>
            <p:ph type="body" sz="quarter" idx="11"/>
          </p:nvPr>
        </p:nvSpPr>
        <p:spPr>
          <a:xfrm>
            <a:off x="367658" y="1643564"/>
            <a:ext cx="4116208" cy="669978"/>
          </a:xfrm>
          <a:prstGeom prst="rect">
            <a:avLst/>
          </a:prstGeom>
        </p:spPr>
        <p:txBody>
          <a:bodyPr lIns="0" tIns="0" rIns="0" bIns="0">
            <a:noAutofit/>
          </a:bodyPr>
          <a:lstStyle>
            <a:lvl1pPr marL="0" indent="0">
              <a:lnSpc>
                <a:spcPct val="110000"/>
              </a:lnSpc>
              <a:buNone/>
              <a:defRPr sz="2000" b="0" i="0" spc="0">
                <a:solidFill>
                  <a:srgbClr val="2576B7"/>
                </a:solidFill>
                <a:latin typeface="Montserrat Medium"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5" name="Text Placeholder 4">
            <a:extLst>
              <a:ext uri="{FF2B5EF4-FFF2-40B4-BE49-F238E27FC236}">
                <a16:creationId xmlns:a16="http://schemas.microsoft.com/office/drawing/2014/main" id="{9881DA12-3A02-104C-8DA9-67C6D34506B4}"/>
              </a:ext>
            </a:extLst>
          </p:cNvPr>
          <p:cNvSpPr>
            <a:spLocks noGrp="1"/>
          </p:cNvSpPr>
          <p:nvPr>
            <p:ph type="body" sz="quarter" idx="33"/>
          </p:nvPr>
        </p:nvSpPr>
        <p:spPr>
          <a:xfrm>
            <a:off x="371476" y="2710334"/>
            <a:ext cx="5689599" cy="2999350"/>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9167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of Accomplishm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2B14535-AFB4-DB4C-ADB9-BBB42A2A64ED}"/>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79000"/>
                    </a14:imgEffect>
                  </a14:imgLayer>
                </a14:imgProps>
              </a:ext>
              <a:ext uri="{28A0092B-C50C-407E-A947-70E740481C1C}">
                <a14:useLocalDpi xmlns:a14="http://schemas.microsoft.com/office/drawing/2010/main"/>
              </a:ext>
            </a:extLst>
          </a:blip>
          <a:srcRect/>
          <a:stretch/>
        </p:blipFill>
        <p:spPr>
          <a:xfrm>
            <a:off x="8148638" y="-1"/>
            <a:ext cx="4044950" cy="6873276"/>
          </a:xfrm>
          <a:prstGeom prst="rect">
            <a:avLst/>
          </a:prstGeom>
        </p:spPr>
      </p:pic>
      <p:sp>
        <p:nvSpPr>
          <p:cNvPr id="18" name="Rectangle 17">
            <a:extLst>
              <a:ext uri="{FF2B5EF4-FFF2-40B4-BE49-F238E27FC236}">
                <a16:creationId xmlns:a16="http://schemas.microsoft.com/office/drawing/2014/main" id="{75343A8B-D3CE-D643-83E5-369C20113AA8}"/>
              </a:ext>
            </a:extLst>
          </p:cNvPr>
          <p:cNvSpPr/>
          <p:nvPr userDrawn="1"/>
        </p:nvSpPr>
        <p:spPr>
          <a:xfrm>
            <a:off x="8148638" y="0"/>
            <a:ext cx="4044949" cy="6858000"/>
          </a:xfrm>
          <a:prstGeom prst="rect">
            <a:avLst/>
          </a:prstGeom>
          <a:gradFill>
            <a:gsLst>
              <a:gs pos="19000">
                <a:srgbClr val="2576B7">
                  <a:alpha val="29000"/>
                </a:srgbClr>
              </a:gs>
              <a:gs pos="99000">
                <a:schemeClr val="accent1">
                  <a:lumMod val="60000"/>
                  <a:lumOff val="40000"/>
                  <a:alpha val="98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latin typeface="Roboto Condensed Light" panose="02000000000000000000" pitchFamily="2" charset="0"/>
            </a:endParaRPr>
          </a:p>
        </p:txBody>
      </p:sp>
      <p:sp>
        <p:nvSpPr>
          <p:cNvPr id="14" name="Text Placeholder 13">
            <a:extLst>
              <a:ext uri="{FF2B5EF4-FFF2-40B4-BE49-F238E27FC236}">
                <a16:creationId xmlns:a16="http://schemas.microsoft.com/office/drawing/2014/main" id="{B3A129CD-E31F-6C4B-AE63-A4E96E7F66D2}"/>
              </a:ext>
            </a:extLst>
          </p:cNvPr>
          <p:cNvSpPr>
            <a:spLocks noGrp="1"/>
          </p:cNvSpPr>
          <p:nvPr>
            <p:ph type="body" sz="quarter" idx="10" hasCustomPrompt="1"/>
          </p:nvPr>
        </p:nvSpPr>
        <p:spPr>
          <a:xfrm>
            <a:off x="374493" y="1827340"/>
            <a:ext cx="5319668" cy="377825"/>
          </a:xfrm>
          <a:prstGeom prst="rect">
            <a:avLst/>
          </a:prstGeom>
        </p:spPr>
        <p:txBody>
          <a:bodyPr lIns="0">
            <a:noAutofit/>
          </a:bodyPr>
          <a:lstStyle>
            <a:lvl1pPr marL="0" indent="0">
              <a:lnSpc>
                <a:spcPct val="110000"/>
              </a:lnSpc>
              <a:buNone/>
              <a:defRPr sz="2000" b="1" i="0" u="none">
                <a:solidFill>
                  <a:schemeClr val="accent1"/>
                </a:solidFill>
                <a:latin typeface="Montserrat SemiBold" pitchFamily="2" charset="77"/>
              </a:defRPr>
            </a:lvl1pPr>
            <a:lvl2pPr>
              <a:defRPr sz="2000" b="1" i="0">
                <a:solidFill>
                  <a:schemeClr val="accent1"/>
                </a:solidFill>
                <a:latin typeface="Montserrat SemiBold" pitchFamily="2" charset="77"/>
              </a:defRPr>
            </a:lvl2pPr>
            <a:lvl3pPr>
              <a:defRPr sz="2000" b="1" i="0">
                <a:solidFill>
                  <a:schemeClr val="accent1"/>
                </a:solidFill>
                <a:latin typeface="Montserrat SemiBold" pitchFamily="2" charset="77"/>
              </a:defRPr>
            </a:lvl3pPr>
            <a:lvl4pPr>
              <a:defRPr sz="2000" b="1" i="0">
                <a:solidFill>
                  <a:schemeClr val="accent1"/>
                </a:solidFill>
                <a:latin typeface="Montserrat SemiBold" pitchFamily="2" charset="77"/>
              </a:defRPr>
            </a:lvl4pPr>
            <a:lvl5pPr>
              <a:defRPr sz="2000" b="1" i="0">
                <a:solidFill>
                  <a:schemeClr val="accent1"/>
                </a:solidFill>
                <a:latin typeface="Montserrat SemiBold" pitchFamily="2" charset="77"/>
              </a:defRPr>
            </a:lvl5pPr>
          </a:lstStyle>
          <a:p>
            <a:pPr lvl="0"/>
            <a:r>
              <a:rPr lang="en-US"/>
              <a:t>Problem Solved</a:t>
            </a:r>
          </a:p>
        </p:txBody>
      </p:sp>
      <p:sp>
        <p:nvSpPr>
          <p:cNvPr id="11" name="TextBox 10">
            <a:extLst>
              <a:ext uri="{FF2B5EF4-FFF2-40B4-BE49-F238E27FC236}">
                <a16:creationId xmlns:a16="http://schemas.microsoft.com/office/drawing/2014/main" id="{1FAADCBA-255E-B849-A84F-D25B3C02195D}"/>
              </a:ext>
            </a:extLst>
          </p:cNvPr>
          <p:cNvSpPr txBox="1"/>
          <p:nvPr userDrawn="1"/>
        </p:nvSpPr>
        <p:spPr>
          <a:xfrm>
            <a:off x="8460606" y="739094"/>
            <a:ext cx="3128212" cy="1668992"/>
          </a:xfrm>
          <a:prstGeom prst="rect">
            <a:avLst/>
          </a:prstGeom>
        </p:spPr>
        <p:txBody>
          <a:bodyPr vert="horz" wrap="square" lIns="0" tIns="6931" rIns="0" bIns="0" rtlCol="0">
            <a:noAutofit/>
          </a:bodyPr>
          <a:lstStyle/>
          <a:p>
            <a:pPr rtl="0">
              <a:lnSpc>
                <a:spcPct val="110000"/>
              </a:lnSpc>
              <a:buSzPts val="2800"/>
              <a:buFont typeface="Arial" panose="020B0604020202020204" pitchFamily="34" charset="0"/>
              <a:buNone/>
            </a:pPr>
            <a:r>
              <a:rPr lang="en-US" sz="2000" b="1" i="0" u="none" strike="noStrike" kern="1200" baseline="0" dirty="0">
                <a:solidFill>
                  <a:schemeClr val="bg1"/>
                </a:solidFill>
                <a:latin typeface="Montserrat SemiBold" pitchFamily="2" charset="77"/>
              </a:rPr>
              <a:t>If you would like additional support, have our analysts guide you through other phases as part of an Info-Tech workshop.</a:t>
            </a:r>
          </a:p>
        </p:txBody>
      </p:sp>
      <p:sp>
        <p:nvSpPr>
          <p:cNvPr id="15" name="TextBox 14">
            <a:extLst>
              <a:ext uri="{FF2B5EF4-FFF2-40B4-BE49-F238E27FC236}">
                <a16:creationId xmlns:a16="http://schemas.microsoft.com/office/drawing/2014/main" id="{845C2704-E323-6E41-84B8-A3709A2F6FB3}"/>
              </a:ext>
            </a:extLst>
          </p:cNvPr>
          <p:cNvSpPr txBox="1"/>
          <p:nvPr userDrawn="1"/>
        </p:nvSpPr>
        <p:spPr>
          <a:xfrm>
            <a:off x="8441356" y="2914403"/>
            <a:ext cx="3628724" cy="1481761"/>
          </a:xfrm>
          <a:prstGeom prst="rect">
            <a:avLst/>
          </a:prstGeom>
        </p:spPr>
        <p:txBody>
          <a:bodyPr vert="horz" wrap="square" lIns="0" tIns="6931" rIns="0" bIns="0" rtlCol="0">
            <a:noAutofit/>
          </a:bodyPr>
          <a:lstStyle/>
          <a:p>
            <a:pPr marL="7701" marR="242975" lvl="0" indent="0" algn="l" defTabSz="554492" rtl="0" eaLnBrk="1" fontAlgn="auto" latinLnBrk="0" hangingPunct="1">
              <a:lnSpc>
                <a:spcPct val="110000"/>
              </a:lnSpc>
              <a:spcBef>
                <a:spcPts val="1000"/>
              </a:spcBef>
              <a:spcAft>
                <a:spcPts val="0"/>
              </a:spcAft>
              <a:buClrTx/>
              <a:buSzTx/>
              <a:buFontTx/>
              <a:buNone/>
              <a:tabLst/>
              <a:defRPr/>
            </a:pPr>
            <a:r>
              <a:rPr lang="en-US" sz="1600" dirty="0">
                <a:solidFill>
                  <a:schemeClr val="bg1"/>
                </a:solidFill>
                <a:latin typeface="Exo" panose="02000503000000000000" pitchFamily="2" charset="77"/>
              </a:rPr>
              <a:t>Contact your account representative for more information.</a:t>
            </a:r>
          </a:p>
          <a:p>
            <a:pPr marL="7701" marR="242975" lvl="0" indent="0" algn="l" defTabSz="554492" rtl="0" eaLnBrk="1" fontAlgn="auto" latinLnBrk="0" hangingPunct="1">
              <a:lnSpc>
                <a:spcPct val="110000"/>
              </a:lnSpc>
              <a:spcBef>
                <a:spcPts val="1000"/>
              </a:spcBef>
              <a:spcAft>
                <a:spcPts val="0"/>
              </a:spcAft>
              <a:buClrTx/>
              <a:buSzTx/>
              <a:buFontTx/>
              <a:buNone/>
              <a:tabLst/>
              <a:defRPr/>
            </a:pPr>
            <a:r>
              <a:rPr lang="en-US" sz="1600" dirty="0">
                <a:solidFill>
                  <a:schemeClr val="bg1"/>
                </a:solidFill>
                <a:latin typeface="Exo" panose="02000503000000000000" pitchFamily="2" charset="77"/>
              </a:rPr>
              <a:t>workshops@infotech.com  </a:t>
            </a:r>
            <a:br>
              <a:rPr lang="en-US" sz="1600" dirty="0">
                <a:solidFill>
                  <a:schemeClr val="bg1"/>
                </a:solidFill>
                <a:latin typeface="Exo" panose="02000503000000000000" pitchFamily="2" charset="77"/>
              </a:rPr>
            </a:br>
            <a:r>
              <a:rPr lang="en-US" sz="1600" dirty="0">
                <a:solidFill>
                  <a:schemeClr val="bg1"/>
                </a:solidFill>
                <a:latin typeface="Exo" panose="02000503000000000000" pitchFamily="2" charset="77"/>
              </a:rPr>
              <a:t>1-888-670-8889</a:t>
            </a: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chemeClr val="bg1"/>
              </a:solidFill>
              <a:latin typeface="Exo" panose="02000503000000000000" pitchFamily="2" charset="77"/>
            </a:endParaRPr>
          </a:p>
        </p:txBody>
      </p:sp>
      <p:sp>
        <p:nvSpPr>
          <p:cNvPr id="19" name="TextBox 18">
            <a:extLst>
              <a:ext uri="{FF2B5EF4-FFF2-40B4-BE49-F238E27FC236}">
                <a16:creationId xmlns:a16="http://schemas.microsoft.com/office/drawing/2014/main" id="{E6640ACC-131C-E349-9AAB-91F1BC775CA0}"/>
              </a:ext>
            </a:extLst>
          </p:cNvPr>
          <p:cNvSpPr txBox="1"/>
          <p:nvPr userDrawn="1"/>
        </p:nvSpPr>
        <p:spPr>
          <a:xfrm>
            <a:off x="336885" y="544781"/>
            <a:ext cx="5698155" cy="1032921"/>
          </a:xfrm>
          <a:prstGeom prst="rect">
            <a:avLst/>
          </a:prstGeom>
        </p:spPr>
        <p:txBody>
          <a:bodyPr vert="horz" wrap="square" lIns="0" tIns="6931" rIns="0" bIns="0" rtlCol="0">
            <a:noAutofit/>
          </a:bodyPr>
          <a:lstStyle/>
          <a:p>
            <a:pPr marL="7701" marR="242975" algn="l">
              <a:lnSpc>
                <a:spcPct val="90000"/>
              </a:lnSpc>
              <a:spcBef>
                <a:spcPts val="55"/>
              </a:spcBef>
            </a:pPr>
            <a:r>
              <a:rPr lang="en-US" sz="4000" b="1" i="0" dirty="0">
                <a:solidFill>
                  <a:srgbClr val="4A4A4A"/>
                </a:solidFill>
                <a:latin typeface="Montserrat SemiBold" pitchFamily="2" charset="77"/>
              </a:rPr>
              <a:t>Summary of Accomplishment</a:t>
            </a:r>
            <a:endParaRPr lang="en-US" sz="4000" b="1" i="0" spc="-30" dirty="0">
              <a:solidFill>
                <a:srgbClr val="4A4A4A"/>
              </a:solidFill>
              <a:latin typeface="Montserrat SemiBold" pitchFamily="2" charset="77"/>
              <a:cs typeface="Arial Narrow"/>
            </a:endParaRPr>
          </a:p>
        </p:txBody>
      </p:sp>
      <p:sp>
        <p:nvSpPr>
          <p:cNvPr id="10" name="TextBox 9">
            <a:extLst>
              <a:ext uri="{FF2B5EF4-FFF2-40B4-BE49-F238E27FC236}">
                <a16:creationId xmlns:a16="http://schemas.microsoft.com/office/drawing/2014/main" id="{79D91D97-00C2-684C-8E8B-1CA8A8AB29F2}"/>
              </a:ext>
            </a:extLst>
          </p:cNvPr>
          <p:cNvSpPr txBox="1"/>
          <p:nvPr userDrawn="1"/>
        </p:nvSpPr>
        <p:spPr>
          <a:xfrm>
            <a:off x="8804021" y="6449568"/>
            <a:ext cx="3438335" cy="13183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10000"/>
              </a:lnSpc>
              <a:spcBef>
                <a:spcPts val="55"/>
              </a:spcBef>
              <a:spcAft>
                <a:spcPts val="0"/>
              </a:spcAft>
              <a:buClrTx/>
              <a:buSzTx/>
              <a:buFontTx/>
              <a:buNone/>
              <a:tabLst/>
              <a:defRPr/>
            </a:pPr>
            <a:r>
              <a:rPr lang="en-CA" sz="800" spc="-18" dirty="0">
                <a:solidFill>
                  <a:schemeClr val="bg1"/>
                </a:solidFill>
                <a:latin typeface="Exo" panose="02000503000000000000" pitchFamily="2" charset="77"/>
              </a:rPr>
              <a:t>Info-</a:t>
            </a:r>
            <a:r>
              <a:rPr lang="en-CA" sz="800" spc="-103" dirty="0">
                <a:solidFill>
                  <a:schemeClr val="bg1"/>
                </a:solidFill>
                <a:latin typeface="Exo" panose="02000503000000000000" pitchFamily="2" charset="77"/>
              </a:rPr>
              <a:t>T</a:t>
            </a:r>
            <a:r>
              <a:rPr lang="en-CA" sz="800" spc="-15" dirty="0">
                <a:solidFill>
                  <a:schemeClr val="bg1"/>
                </a:solidFill>
                <a:latin typeface="Exo" panose="02000503000000000000" pitchFamily="2" charset="77"/>
              </a:rPr>
              <a:t>ec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Researc</a:t>
            </a:r>
            <a:r>
              <a:rPr lang="en-CA" sz="800" spc="6" dirty="0">
                <a:solidFill>
                  <a:schemeClr val="bg1"/>
                </a:solidFill>
                <a:latin typeface="Exo" panose="02000503000000000000" pitchFamily="2" charset="77"/>
              </a:rPr>
              <a:t>h</a:t>
            </a:r>
            <a:r>
              <a:rPr lang="en-CA" sz="800" spc="-39" dirty="0">
                <a:solidFill>
                  <a:schemeClr val="bg1"/>
                </a:solidFill>
                <a:latin typeface="Exo" panose="02000503000000000000" pitchFamily="2" charset="77"/>
              </a:rPr>
              <a:t> </a:t>
            </a:r>
            <a:r>
              <a:rPr lang="en-CA" sz="800" spc="-15" dirty="0">
                <a:solidFill>
                  <a:schemeClr val="bg1"/>
                </a:solidFill>
                <a:latin typeface="Exo" panose="02000503000000000000" pitchFamily="2" charset="77"/>
              </a:rPr>
              <a:t>Grou</a:t>
            </a:r>
            <a:r>
              <a:rPr lang="en-CA" sz="800" spc="6" dirty="0">
                <a:solidFill>
                  <a:schemeClr val="bg1"/>
                </a:solidFill>
                <a:latin typeface="Exo" panose="02000503000000000000" pitchFamily="2" charset="77"/>
              </a:rPr>
              <a:t>p   |   </a:t>
            </a:r>
            <a:fld id="{81D60167-4931-47E6-BA6A-407CBD079E47}" type="slidenum">
              <a:rPr lang="en-CA" sz="800" spc="6" smtClean="0">
                <a:solidFill>
                  <a:schemeClr val="bg1"/>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10000"/>
                </a:lnSpc>
                <a:spcBef>
                  <a:spcPts val="55"/>
                </a:spcBef>
                <a:spcAft>
                  <a:spcPts val="0"/>
                </a:spcAft>
                <a:buClrTx/>
                <a:buSzTx/>
                <a:buFontTx/>
                <a:buNone/>
                <a:tabLst/>
                <a:defRPr/>
              </a:pPr>
              <a:t>‹#›</a:t>
            </a:fld>
            <a:endParaRPr sz="800" spc="6" dirty="0">
              <a:solidFill>
                <a:schemeClr val="bg1"/>
              </a:solidFill>
              <a:latin typeface="Exo" panose="02000503000000000000" pitchFamily="2" charset="77"/>
              <a:cs typeface="Arial" panose="020B0604020202020204" pitchFamily="34" charset="0"/>
            </a:endParaRPr>
          </a:p>
        </p:txBody>
      </p:sp>
      <p:sp>
        <p:nvSpPr>
          <p:cNvPr id="13" name="Text Placeholder 4">
            <a:extLst>
              <a:ext uri="{FF2B5EF4-FFF2-40B4-BE49-F238E27FC236}">
                <a16:creationId xmlns:a16="http://schemas.microsoft.com/office/drawing/2014/main" id="{3A86E219-348B-4147-B8CE-5C090235D034}"/>
              </a:ext>
            </a:extLst>
          </p:cNvPr>
          <p:cNvSpPr>
            <a:spLocks noGrp="1"/>
          </p:cNvSpPr>
          <p:nvPr>
            <p:ph type="body" sz="quarter" idx="33"/>
          </p:nvPr>
        </p:nvSpPr>
        <p:spPr>
          <a:xfrm>
            <a:off x="371476" y="2306297"/>
            <a:ext cx="5689600" cy="3839322"/>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21582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arious Levels of Support">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04D20383-3FCC-7C4F-B1C5-B9D644F808E1}"/>
              </a:ext>
            </a:extLst>
          </p:cNvPr>
          <p:cNvSpPr txBox="1"/>
          <p:nvPr userDrawn="1"/>
        </p:nvSpPr>
        <p:spPr>
          <a:xfrm>
            <a:off x="351314" y="5561419"/>
            <a:ext cx="11572240" cy="283998"/>
          </a:xfrm>
          <a:prstGeom prst="rect">
            <a:avLst/>
          </a:prstGeom>
        </p:spPr>
        <p:txBody>
          <a:bodyPr vert="horz" wrap="square" lIns="0" tIns="6931" rIns="0" bIns="0" rtlCol="0">
            <a:spAutoFit/>
          </a:bodyPr>
          <a:lstStyle/>
          <a:p>
            <a:pPr marL="7701" marR="242975" lvl="0" indent="0" algn="ctr" defTabSz="554492" rtl="0" eaLnBrk="1" fontAlgn="auto" latinLnBrk="0" hangingPunct="1">
              <a:lnSpc>
                <a:spcPct val="90000"/>
              </a:lnSpc>
              <a:spcBef>
                <a:spcPts val="1000"/>
              </a:spcBef>
              <a:spcAft>
                <a:spcPts val="0"/>
              </a:spcAft>
              <a:buClrTx/>
              <a:buSzTx/>
              <a:buFontTx/>
              <a:buNone/>
              <a:tabLst/>
              <a:defRPr/>
            </a:pPr>
            <a:r>
              <a:rPr lang="en-US" sz="2000" b="1" i="0" dirty="0">
                <a:solidFill>
                  <a:srgbClr val="2576B7"/>
                </a:solidFill>
                <a:latin typeface="Montserrat SemiBold" pitchFamily="2" charset="77"/>
              </a:rPr>
              <a:t>Diagnostics and consistent frameworks are used throughout all four options.</a:t>
            </a:r>
          </a:p>
        </p:txBody>
      </p:sp>
      <p:sp>
        <p:nvSpPr>
          <p:cNvPr id="26" name="Oval 25">
            <a:extLst>
              <a:ext uri="{FF2B5EF4-FFF2-40B4-BE49-F238E27FC236}">
                <a16:creationId xmlns:a16="http://schemas.microsoft.com/office/drawing/2014/main" id="{9E98C6B9-9801-2049-89AF-F94E0519AED1}"/>
              </a:ext>
            </a:extLst>
          </p:cNvPr>
          <p:cNvSpPr/>
          <p:nvPr userDrawn="1"/>
        </p:nvSpPr>
        <p:spPr>
          <a:xfrm>
            <a:off x="640080" y="2235200"/>
            <a:ext cx="2834640" cy="2834640"/>
          </a:xfrm>
          <a:prstGeom prst="ellipse">
            <a:avLst/>
          </a:prstGeom>
          <a:solidFill>
            <a:srgbClr val="2576B7">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Roboto Condensed Light" panose="02000000000000000000" pitchFamily="2" charset="0"/>
            </a:endParaRPr>
          </a:p>
        </p:txBody>
      </p:sp>
      <p:sp>
        <p:nvSpPr>
          <p:cNvPr id="27" name="TextBox 26">
            <a:extLst>
              <a:ext uri="{FF2B5EF4-FFF2-40B4-BE49-F238E27FC236}">
                <a16:creationId xmlns:a16="http://schemas.microsoft.com/office/drawing/2014/main" id="{48C5C57C-EF5C-A14F-8C7D-2C892950EE5D}"/>
              </a:ext>
            </a:extLst>
          </p:cNvPr>
          <p:cNvSpPr txBox="1"/>
          <p:nvPr userDrawn="1"/>
        </p:nvSpPr>
        <p:spPr>
          <a:xfrm>
            <a:off x="746493" y="3021264"/>
            <a:ext cx="2621815" cy="283998"/>
          </a:xfrm>
          <a:prstGeom prst="rect">
            <a:avLst/>
          </a:prstGeom>
        </p:spPr>
        <p:txBody>
          <a:bodyPr vert="horz" wrap="square" lIns="0" tIns="6931" rIns="0" bIns="0" rtlCol="0">
            <a:spAutoFit/>
          </a:bodyPr>
          <a:lstStyle/>
          <a:p>
            <a:pPr algn="ctr" rtl="0">
              <a:lnSpc>
                <a:spcPct val="90000"/>
              </a:lnSpc>
              <a:buSzPts val="2800"/>
              <a:buFont typeface="Arial" panose="020B0604020202020204" pitchFamily="34" charset="0"/>
              <a:buNone/>
            </a:pPr>
            <a:r>
              <a:rPr lang="en-US" sz="2000" b="1" i="0" u="none" strike="noStrike" kern="1200" baseline="0" dirty="0">
                <a:solidFill>
                  <a:schemeClr val="bg1"/>
                </a:solidFill>
                <a:latin typeface="Montserrat SemiBold" pitchFamily="2" charset="77"/>
              </a:rPr>
              <a:t>DIY Toolkit</a:t>
            </a:r>
          </a:p>
        </p:txBody>
      </p:sp>
      <p:sp>
        <p:nvSpPr>
          <p:cNvPr id="28" name="TextBox 27">
            <a:extLst>
              <a:ext uri="{FF2B5EF4-FFF2-40B4-BE49-F238E27FC236}">
                <a16:creationId xmlns:a16="http://schemas.microsoft.com/office/drawing/2014/main" id="{822836B6-57C7-3145-A73C-5DECF33CF9CF}"/>
              </a:ext>
            </a:extLst>
          </p:cNvPr>
          <p:cNvSpPr txBox="1"/>
          <p:nvPr userDrawn="1"/>
        </p:nvSpPr>
        <p:spPr>
          <a:xfrm>
            <a:off x="1031240" y="3439160"/>
            <a:ext cx="2052320" cy="1009837"/>
          </a:xfrm>
          <a:prstGeom prst="rect">
            <a:avLst/>
          </a:prstGeom>
        </p:spPr>
        <p:txBody>
          <a:bodyPr vert="horz" wrap="square" lIns="0" tIns="6931" rIns="0" bIns="0" rtlCol="0">
            <a:spAutoFit/>
          </a:bodyPr>
          <a:lstStyle/>
          <a:p>
            <a:pPr algn="ctr">
              <a:lnSpc>
                <a:spcPct val="110000"/>
              </a:lnSpc>
            </a:pPr>
            <a:r>
              <a:rPr lang="en-CA" sz="1200" b="0" i="0" kern="1200" dirty="0">
                <a:solidFill>
                  <a:schemeClr val="bg1"/>
                </a:solidFill>
                <a:effectLst/>
                <a:latin typeface="Roboto Condensed Light" panose="02000000000000000000" pitchFamily="2" charset="0"/>
                <a:ea typeface="Roboto Condensed Light" panose="02000000000000000000" pitchFamily="2" charset="0"/>
                <a:cs typeface="+mn-cs"/>
              </a:rPr>
              <a:t>“Our team has already made this critical project a priority, and we have the time and capability, but some guidance along the way would be helpful.” </a:t>
            </a:r>
          </a:p>
        </p:txBody>
      </p:sp>
      <p:sp>
        <p:nvSpPr>
          <p:cNvPr id="29" name="Oval 28">
            <a:extLst>
              <a:ext uri="{FF2B5EF4-FFF2-40B4-BE49-F238E27FC236}">
                <a16:creationId xmlns:a16="http://schemas.microsoft.com/office/drawing/2014/main" id="{5F7934EF-7D77-8E47-B92E-DB566035F413}"/>
              </a:ext>
            </a:extLst>
          </p:cNvPr>
          <p:cNvSpPr/>
          <p:nvPr userDrawn="1"/>
        </p:nvSpPr>
        <p:spPr>
          <a:xfrm>
            <a:off x="3312425" y="2235200"/>
            <a:ext cx="2834640" cy="2834640"/>
          </a:xfrm>
          <a:prstGeom prst="ellipse">
            <a:avLst/>
          </a:prstGeom>
          <a:solidFill>
            <a:srgbClr val="2576B7">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Roboto Condensed Light" panose="02000000000000000000" pitchFamily="2" charset="0"/>
            </a:endParaRPr>
          </a:p>
        </p:txBody>
      </p:sp>
      <p:sp>
        <p:nvSpPr>
          <p:cNvPr id="30" name="TextBox 29">
            <a:extLst>
              <a:ext uri="{FF2B5EF4-FFF2-40B4-BE49-F238E27FC236}">
                <a16:creationId xmlns:a16="http://schemas.microsoft.com/office/drawing/2014/main" id="{2687958E-F387-1B47-A1A1-7456666D95C1}"/>
              </a:ext>
            </a:extLst>
          </p:cNvPr>
          <p:cNvSpPr txBox="1"/>
          <p:nvPr userDrawn="1"/>
        </p:nvSpPr>
        <p:spPr>
          <a:xfrm>
            <a:off x="3409207" y="2746944"/>
            <a:ext cx="2621815" cy="560996"/>
          </a:xfrm>
          <a:prstGeom prst="rect">
            <a:avLst/>
          </a:prstGeom>
        </p:spPr>
        <p:txBody>
          <a:bodyPr vert="horz" wrap="square" lIns="0" tIns="6931" rIns="0" bIns="0" rtlCol="0">
            <a:spAutoFit/>
          </a:bodyPr>
          <a:lstStyle/>
          <a:p>
            <a:pPr algn="ctr" rtl="0">
              <a:lnSpc>
                <a:spcPct val="90000"/>
              </a:lnSpc>
              <a:buSzPts val="2800"/>
              <a:buFont typeface="Arial" panose="020B0604020202020204" pitchFamily="34" charset="0"/>
              <a:buNone/>
            </a:pPr>
            <a:r>
              <a:rPr lang="en-US" sz="2000" b="1" i="0" u="none" strike="noStrike" kern="1200" baseline="0" dirty="0">
                <a:solidFill>
                  <a:schemeClr val="bg1"/>
                </a:solidFill>
                <a:latin typeface="Montserrat SemiBold" pitchFamily="2" charset="77"/>
              </a:rPr>
              <a:t>Guided Implementation</a:t>
            </a:r>
          </a:p>
        </p:txBody>
      </p:sp>
      <p:sp>
        <p:nvSpPr>
          <p:cNvPr id="31" name="TextBox 30">
            <a:extLst>
              <a:ext uri="{FF2B5EF4-FFF2-40B4-BE49-F238E27FC236}">
                <a16:creationId xmlns:a16="http://schemas.microsoft.com/office/drawing/2014/main" id="{39C0FAF0-D25D-C846-9AB6-57D70838B891}"/>
              </a:ext>
            </a:extLst>
          </p:cNvPr>
          <p:cNvSpPr txBox="1"/>
          <p:nvPr userDrawn="1"/>
        </p:nvSpPr>
        <p:spPr>
          <a:xfrm>
            <a:off x="3693954" y="3439160"/>
            <a:ext cx="2052320" cy="1212970"/>
          </a:xfrm>
          <a:prstGeom prst="rect">
            <a:avLst/>
          </a:prstGeom>
        </p:spPr>
        <p:txBody>
          <a:bodyPr vert="horz" wrap="square" lIns="0" tIns="6931" rIns="0" bIns="0" rtlCol="0">
            <a:spAutoFit/>
          </a:bodyPr>
          <a:lstStyle/>
          <a:p>
            <a:pPr algn="ctr">
              <a:lnSpc>
                <a:spcPct val="110000"/>
              </a:lnSpc>
            </a:pPr>
            <a:r>
              <a:rPr lang="en-CA" sz="1200" b="0" i="0" kern="1200" dirty="0">
                <a:solidFill>
                  <a:schemeClr val="bg1"/>
                </a:solidFill>
                <a:effectLst/>
                <a:latin typeface="Roboto Condensed Light" panose="02000000000000000000" pitchFamily="2" charset="0"/>
                <a:ea typeface="Roboto Condensed Light" panose="02000000000000000000" pitchFamily="2" charset="0"/>
                <a:cs typeface="+mn-cs"/>
              </a:rPr>
              <a:t>“Our team knows that we need to fix a process, but we need assistance to determine where to focus. Some check-ins along the way would help keep us on track.”</a:t>
            </a:r>
          </a:p>
          <a:p>
            <a:pPr algn="ctr">
              <a:lnSpc>
                <a:spcPct val="110000"/>
              </a:lnSpc>
            </a:pPr>
            <a:endParaRPr lang="en-CA" sz="1200" b="0" i="0" kern="1200" dirty="0">
              <a:solidFill>
                <a:schemeClr val="bg1"/>
              </a:solidFill>
              <a:effectLst/>
              <a:latin typeface="Roboto Condensed Light" panose="02000000000000000000" pitchFamily="2" charset="0"/>
              <a:ea typeface="Roboto Condensed Light" panose="02000000000000000000" pitchFamily="2" charset="0"/>
              <a:cs typeface="+mn-cs"/>
            </a:endParaRPr>
          </a:p>
        </p:txBody>
      </p:sp>
      <p:sp>
        <p:nvSpPr>
          <p:cNvPr id="32" name="Oval 31">
            <a:extLst>
              <a:ext uri="{FF2B5EF4-FFF2-40B4-BE49-F238E27FC236}">
                <a16:creationId xmlns:a16="http://schemas.microsoft.com/office/drawing/2014/main" id="{2ACC858F-1D39-2B41-949E-070EB0C0418C}"/>
              </a:ext>
            </a:extLst>
          </p:cNvPr>
          <p:cNvSpPr/>
          <p:nvPr userDrawn="1"/>
        </p:nvSpPr>
        <p:spPr>
          <a:xfrm>
            <a:off x="5984770" y="2235200"/>
            <a:ext cx="2834640" cy="2834640"/>
          </a:xfrm>
          <a:prstGeom prst="ellipse">
            <a:avLst/>
          </a:prstGeom>
          <a:solidFill>
            <a:srgbClr val="2576B7">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Roboto Condensed Light" panose="02000000000000000000" pitchFamily="2" charset="0"/>
            </a:endParaRPr>
          </a:p>
        </p:txBody>
      </p:sp>
      <p:sp>
        <p:nvSpPr>
          <p:cNvPr id="33" name="TextBox 32">
            <a:extLst>
              <a:ext uri="{FF2B5EF4-FFF2-40B4-BE49-F238E27FC236}">
                <a16:creationId xmlns:a16="http://schemas.microsoft.com/office/drawing/2014/main" id="{7248CF82-0839-1B42-90C6-2565B8E19DAA}"/>
              </a:ext>
            </a:extLst>
          </p:cNvPr>
          <p:cNvSpPr txBox="1"/>
          <p:nvPr userDrawn="1"/>
        </p:nvSpPr>
        <p:spPr>
          <a:xfrm>
            <a:off x="6111767" y="3021264"/>
            <a:ext cx="2621815" cy="283998"/>
          </a:xfrm>
          <a:prstGeom prst="rect">
            <a:avLst/>
          </a:prstGeom>
        </p:spPr>
        <p:txBody>
          <a:bodyPr vert="horz" wrap="square" lIns="0" tIns="6931" rIns="0" bIns="0" rtlCol="0">
            <a:spAutoFit/>
          </a:bodyPr>
          <a:lstStyle/>
          <a:p>
            <a:pPr algn="ctr" rtl="0">
              <a:lnSpc>
                <a:spcPct val="90000"/>
              </a:lnSpc>
              <a:buSzPts val="2800"/>
              <a:buFont typeface="Arial" panose="020B0604020202020204" pitchFamily="34" charset="0"/>
              <a:buNone/>
            </a:pPr>
            <a:r>
              <a:rPr lang="en-US" sz="2000" b="1" i="0" u="none" strike="noStrike" kern="1200" baseline="0" dirty="0">
                <a:solidFill>
                  <a:schemeClr val="bg1"/>
                </a:solidFill>
                <a:latin typeface="Montserrat SemiBold" pitchFamily="2" charset="77"/>
              </a:rPr>
              <a:t>Workshop</a:t>
            </a:r>
          </a:p>
        </p:txBody>
      </p:sp>
      <p:sp>
        <p:nvSpPr>
          <p:cNvPr id="34" name="TextBox 33">
            <a:extLst>
              <a:ext uri="{FF2B5EF4-FFF2-40B4-BE49-F238E27FC236}">
                <a16:creationId xmlns:a16="http://schemas.microsoft.com/office/drawing/2014/main" id="{FFE019FE-4785-EB46-B01D-CB07AB2C430F}"/>
              </a:ext>
            </a:extLst>
          </p:cNvPr>
          <p:cNvSpPr txBox="1"/>
          <p:nvPr userDrawn="1"/>
        </p:nvSpPr>
        <p:spPr>
          <a:xfrm>
            <a:off x="6416834" y="3439160"/>
            <a:ext cx="1944846" cy="1212970"/>
          </a:xfrm>
          <a:prstGeom prst="rect">
            <a:avLst/>
          </a:prstGeom>
        </p:spPr>
        <p:txBody>
          <a:bodyPr vert="horz" wrap="square" lIns="0" tIns="6931" rIns="0" bIns="0" rtlCol="0">
            <a:spAutoFit/>
          </a:bodyPr>
          <a:lstStyle/>
          <a:p>
            <a:pPr algn="ctr">
              <a:lnSpc>
                <a:spcPct val="110000"/>
              </a:lnSpc>
            </a:pPr>
            <a:r>
              <a:rPr lang="en-CA" sz="1200" b="0" i="0" kern="1200" dirty="0">
                <a:solidFill>
                  <a:schemeClr val="bg1"/>
                </a:solidFill>
                <a:effectLst/>
                <a:latin typeface="Roboto Condensed Light" panose="02000000000000000000" pitchFamily="2" charset="0"/>
                <a:ea typeface="Roboto Condensed Light" panose="02000000000000000000" pitchFamily="2" charset="0"/>
                <a:cs typeface="+mn-cs"/>
              </a:rPr>
              <a:t>“We need to hit the ground running and get this project kicked off immediately. Our team has the ability to take this over once we get a framework and strategy in place.”</a:t>
            </a:r>
          </a:p>
        </p:txBody>
      </p:sp>
      <p:sp>
        <p:nvSpPr>
          <p:cNvPr id="36" name="Oval 35">
            <a:extLst>
              <a:ext uri="{FF2B5EF4-FFF2-40B4-BE49-F238E27FC236}">
                <a16:creationId xmlns:a16="http://schemas.microsoft.com/office/drawing/2014/main" id="{4613E971-548E-644E-AC62-5E7A3EB2413E}"/>
              </a:ext>
            </a:extLst>
          </p:cNvPr>
          <p:cNvSpPr/>
          <p:nvPr userDrawn="1"/>
        </p:nvSpPr>
        <p:spPr>
          <a:xfrm>
            <a:off x="8657114" y="2235200"/>
            <a:ext cx="2834640" cy="2834640"/>
          </a:xfrm>
          <a:prstGeom prst="ellipse">
            <a:avLst/>
          </a:prstGeom>
          <a:solidFill>
            <a:srgbClr val="2576B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Roboto Condensed Light" panose="02000000000000000000" pitchFamily="2" charset="0"/>
            </a:endParaRPr>
          </a:p>
        </p:txBody>
      </p:sp>
      <p:sp>
        <p:nvSpPr>
          <p:cNvPr id="37" name="TextBox 36">
            <a:extLst>
              <a:ext uri="{FF2B5EF4-FFF2-40B4-BE49-F238E27FC236}">
                <a16:creationId xmlns:a16="http://schemas.microsoft.com/office/drawing/2014/main" id="{4CDDF159-01E9-D844-865D-6938B43C7FC3}"/>
              </a:ext>
            </a:extLst>
          </p:cNvPr>
          <p:cNvSpPr txBox="1"/>
          <p:nvPr userDrawn="1"/>
        </p:nvSpPr>
        <p:spPr>
          <a:xfrm>
            <a:off x="8773687" y="3021264"/>
            <a:ext cx="2621815" cy="283998"/>
          </a:xfrm>
          <a:prstGeom prst="rect">
            <a:avLst/>
          </a:prstGeom>
        </p:spPr>
        <p:txBody>
          <a:bodyPr vert="horz" wrap="square" lIns="0" tIns="6931" rIns="0" bIns="0" rtlCol="0">
            <a:spAutoFit/>
          </a:bodyPr>
          <a:lstStyle/>
          <a:p>
            <a:pPr algn="ctr" rtl="0">
              <a:lnSpc>
                <a:spcPct val="90000"/>
              </a:lnSpc>
              <a:buSzPts val="2800"/>
              <a:buFont typeface="Arial" panose="020B0604020202020204" pitchFamily="34" charset="0"/>
              <a:buNone/>
            </a:pPr>
            <a:r>
              <a:rPr lang="en-US" sz="2000" b="1" i="0" u="none" strike="noStrike" kern="1200" baseline="0" dirty="0">
                <a:solidFill>
                  <a:schemeClr val="bg1"/>
                </a:solidFill>
                <a:latin typeface="Montserrat SemiBold" pitchFamily="2" charset="77"/>
              </a:rPr>
              <a:t>Consulting</a:t>
            </a:r>
          </a:p>
        </p:txBody>
      </p:sp>
      <p:sp>
        <p:nvSpPr>
          <p:cNvPr id="38" name="TextBox 37">
            <a:extLst>
              <a:ext uri="{FF2B5EF4-FFF2-40B4-BE49-F238E27FC236}">
                <a16:creationId xmlns:a16="http://schemas.microsoft.com/office/drawing/2014/main" id="{2A598409-5DD3-E046-B8A2-B2ECEB9E82DB}"/>
              </a:ext>
            </a:extLst>
          </p:cNvPr>
          <p:cNvSpPr txBox="1"/>
          <p:nvPr userDrawn="1"/>
        </p:nvSpPr>
        <p:spPr>
          <a:xfrm>
            <a:off x="9058434" y="3439160"/>
            <a:ext cx="2052320" cy="1009837"/>
          </a:xfrm>
          <a:prstGeom prst="rect">
            <a:avLst/>
          </a:prstGeom>
        </p:spPr>
        <p:txBody>
          <a:bodyPr vert="horz" wrap="square" lIns="0" tIns="6931" rIns="0" bIns="0" rtlCol="0">
            <a:spAutoFit/>
          </a:bodyPr>
          <a:lstStyle/>
          <a:p>
            <a:pPr algn="ctr">
              <a:lnSpc>
                <a:spcPct val="110000"/>
              </a:lnSpc>
            </a:pPr>
            <a:r>
              <a:rPr lang="en-CA" sz="1200" b="0" i="0" kern="1200" dirty="0">
                <a:solidFill>
                  <a:schemeClr val="bg1"/>
                </a:solidFill>
                <a:effectLst/>
                <a:latin typeface="Roboto Condensed Light" panose="02000000000000000000" pitchFamily="2" charset="0"/>
                <a:ea typeface="Roboto Condensed Light" panose="02000000000000000000" pitchFamily="2" charset="0"/>
                <a:cs typeface="+mn-cs"/>
              </a:rPr>
              <a:t>“Our team does not have the time or the knowledge to take this project on. We need assistance through the entirety of this project.”</a:t>
            </a:r>
          </a:p>
          <a:p>
            <a:pPr algn="ctr">
              <a:lnSpc>
                <a:spcPct val="110000"/>
              </a:lnSpc>
            </a:pPr>
            <a:endParaRPr lang="en-CA" sz="1200" b="0" i="0" kern="1200" dirty="0">
              <a:solidFill>
                <a:schemeClr val="bg1"/>
              </a:solidFill>
              <a:effectLst/>
              <a:latin typeface="Roboto Condensed Light" panose="02000000000000000000" pitchFamily="2" charset="0"/>
              <a:ea typeface="Roboto Condensed Light" panose="02000000000000000000" pitchFamily="2" charset="0"/>
              <a:cs typeface="+mn-cs"/>
            </a:endParaRPr>
          </a:p>
        </p:txBody>
      </p:sp>
      <p:sp>
        <p:nvSpPr>
          <p:cNvPr id="39" name="TextBox 38">
            <a:extLst>
              <a:ext uri="{FF2B5EF4-FFF2-40B4-BE49-F238E27FC236}">
                <a16:creationId xmlns:a16="http://schemas.microsoft.com/office/drawing/2014/main" id="{B7A24B53-8F5A-EF4B-A9C9-8343BC4F4E5B}"/>
              </a:ext>
            </a:extLst>
          </p:cNvPr>
          <p:cNvSpPr txBox="1"/>
          <p:nvPr userDrawn="1"/>
        </p:nvSpPr>
        <p:spPr>
          <a:xfrm>
            <a:off x="336885" y="514801"/>
            <a:ext cx="8705515" cy="1032921"/>
          </a:xfrm>
          <a:prstGeom prst="rect">
            <a:avLst/>
          </a:prstGeom>
        </p:spPr>
        <p:txBody>
          <a:bodyPr vert="horz" wrap="square" lIns="0" tIns="6931" rIns="0" bIns="0" rtlCol="0">
            <a:noAutofit/>
          </a:bodyPr>
          <a:lstStyle/>
          <a:p>
            <a:pPr marL="7701" marR="242975" algn="l">
              <a:lnSpc>
                <a:spcPct val="90000"/>
              </a:lnSpc>
              <a:spcBef>
                <a:spcPts val="55"/>
              </a:spcBef>
            </a:pPr>
            <a:r>
              <a:rPr lang="en-US" sz="4000" b="1" i="0" dirty="0">
                <a:solidFill>
                  <a:srgbClr val="4A4A4A"/>
                </a:solidFill>
                <a:latin typeface="Montserrat SemiBold" pitchFamily="2" charset="77"/>
              </a:rPr>
              <a:t>Info-Tech offers various levels of support to best suit your needs</a:t>
            </a:r>
            <a:endParaRPr lang="en-US" sz="4000" b="1" i="0" spc="-30" dirty="0">
              <a:solidFill>
                <a:srgbClr val="4A4A4A"/>
              </a:solidFill>
              <a:latin typeface="Montserrat SemiBold" pitchFamily="2" charset="77"/>
              <a:cs typeface="Arial Narrow"/>
            </a:endParaRPr>
          </a:p>
        </p:txBody>
      </p:sp>
    </p:spTree>
    <p:extLst>
      <p:ext uri="{BB962C8B-B14F-4D97-AF65-F5344CB8AC3E}">
        <p14:creationId xmlns:p14="http://schemas.microsoft.com/office/powerpoint/2010/main" val="3211806984"/>
      </p:ext>
    </p:extLst>
  </p:cSld>
  <p:clrMapOvr>
    <a:masterClrMapping/>
  </p:clrMapOvr>
  <p:extLst>
    <p:ext uri="{DCECCB84-F9BA-43D5-87BE-67443E8EF086}">
      <p15:sldGuideLst xmlns:p15="http://schemas.microsoft.com/office/powerpoint/2012/main">
        <p15:guide id="1" orient="horz" pos="1865">
          <p15:clr>
            <a:srgbClr val="FBAE40"/>
          </p15:clr>
        </p15:guide>
        <p15:guide id="2" orient="horz" pos="197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dditional Support">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AFDF7C4F-1942-A845-B557-F88B7A27320F}"/>
              </a:ext>
            </a:extLst>
          </p:cNvPr>
          <p:cNvSpPr>
            <a:spLocks noGrp="1"/>
          </p:cNvSpPr>
          <p:nvPr>
            <p:ph type="pic" sz="quarter" idx="11"/>
          </p:nvPr>
        </p:nvSpPr>
        <p:spPr>
          <a:xfrm>
            <a:off x="6061075" y="3282771"/>
            <a:ext cx="2660650" cy="1039813"/>
          </a:xfrm>
          <a:prstGeom prst="rect">
            <a:avLst/>
          </a:prstGeom>
        </p:spPr>
        <p:txBody>
          <a:bodyPr>
            <a:noAutofit/>
          </a:bodyPr>
          <a:lstStyle>
            <a:lvl1pPr>
              <a:lnSpc>
                <a:spcPct val="110000"/>
              </a:lnSpc>
              <a:defRPr sz="1800" b="1" i="0">
                <a:latin typeface="Montserrat SemiBold" pitchFamily="2" charset="77"/>
              </a:defRPr>
            </a:lvl1pPr>
          </a:lstStyle>
          <a:p>
            <a:endParaRPr lang="en-US" dirty="0"/>
          </a:p>
        </p:txBody>
      </p:sp>
      <p:sp>
        <p:nvSpPr>
          <p:cNvPr id="9" name="object 7">
            <a:extLst>
              <a:ext uri="{FF2B5EF4-FFF2-40B4-BE49-F238E27FC236}">
                <a16:creationId xmlns:a16="http://schemas.microsoft.com/office/drawing/2014/main" id="{84D0A54C-032B-734B-AB0B-44B5BEA685CC}"/>
              </a:ext>
            </a:extLst>
          </p:cNvPr>
          <p:cNvSpPr/>
          <p:nvPr userDrawn="1"/>
        </p:nvSpPr>
        <p:spPr>
          <a:xfrm>
            <a:off x="-8709" y="3310826"/>
            <a:ext cx="54000" cy="1224000"/>
          </a:xfrm>
          <a:custGeom>
            <a:avLst/>
            <a:gdLst/>
            <a:ahLst/>
            <a:cxnLst/>
            <a:rect l="l" t="t" r="r" b="b"/>
            <a:pathLst>
              <a:path w="104775" h="2171065">
                <a:moveTo>
                  <a:pt x="0" y="2170782"/>
                </a:moveTo>
                <a:lnTo>
                  <a:pt x="104708" y="2170782"/>
                </a:lnTo>
                <a:lnTo>
                  <a:pt x="104708" y="0"/>
                </a:lnTo>
                <a:lnTo>
                  <a:pt x="0" y="0"/>
                </a:lnTo>
                <a:lnTo>
                  <a:pt x="0" y="2170782"/>
                </a:lnTo>
                <a:close/>
              </a:path>
            </a:pathLst>
          </a:custGeom>
          <a:solidFill>
            <a:srgbClr val="0076B7"/>
          </a:solidFill>
        </p:spPr>
        <p:txBody>
          <a:bodyPr wrap="square" lIns="0" tIns="0" rIns="0" bIns="0" rtlCol="0">
            <a:noAutofit/>
          </a:bodyPr>
          <a:lstStyle/>
          <a:p>
            <a:pPr>
              <a:lnSpc>
                <a:spcPct val="110000"/>
              </a:lnSpc>
            </a:pPr>
            <a:endParaRPr sz="662" dirty="0">
              <a:latin typeface="Roboto Condensed Light" panose="02000000000000000000" pitchFamily="2" charset="0"/>
            </a:endParaRPr>
          </a:p>
        </p:txBody>
      </p:sp>
      <p:sp>
        <p:nvSpPr>
          <p:cNvPr id="18" name="Picture Placeholder 16">
            <a:extLst>
              <a:ext uri="{FF2B5EF4-FFF2-40B4-BE49-F238E27FC236}">
                <a16:creationId xmlns:a16="http://schemas.microsoft.com/office/drawing/2014/main" id="{5DB72151-D5F9-F64A-A051-C8EBC82549B2}"/>
              </a:ext>
            </a:extLst>
          </p:cNvPr>
          <p:cNvSpPr>
            <a:spLocks noGrp="1"/>
          </p:cNvSpPr>
          <p:nvPr>
            <p:ph type="pic" sz="quarter" idx="12"/>
          </p:nvPr>
        </p:nvSpPr>
        <p:spPr>
          <a:xfrm>
            <a:off x="9131227" y="3282771"/>
            <a:ext cx="2660650" cy="1039813"/>
          </a:xfrm>
          <a:prstGeom prst="rect">
            <a:avLst/>
          </a:prstGeom>
        </p:spPr>
        <p:txBody>
          <a:bodyPr>
            <a:noAutofit/>
          </a:bodyPr>
          <a:lstStyle>
            <a:lvl1pPr>
              <a:lnSpc>
                <a:spcPct val="110000"/>
              </a:lnSpc>
              <a:defRPr sz="1800" b="1" i="0">
                <a:latin typeface="Montserrat SemiBold" pitchFamily="2" charset="77"/>
              </a:defRPr>
            </a:lvl1pPr>
          </a:lstStyle>
          <a:p>
            <a:endParaRPr lang="en-US" dirty="0"/>
          </a:p>
        </p:txBody>
      </p:sp>
      <p:sp>
        <p:nvSpPr>
          <p:cNvPr id="20" name="Picture Placeholder 19">
            <a:extLst>
              <a:ext uri="{FF2B5EF4-FFF2-40B4-BE49-F238E27FC236}">
                <a16:creationId xmlns:a16="http://schemas.microsoft.com/office/drawing/2014/main" id="{077EFE0D-4219-394E-9FD0-38C929E33BA2}"/>
              </a:ext>
            </a:extLst>
          </p:cNvPr>
          <p:cNvSpPr>
            <a:spLocks noGrp="1"/>
          </p:cNvSpPr>
          <p:nvPr>
            <p:ph type="pic" sz="quarter" idx="13"/>
          </p:nvPr>
        </p:nvSpPr>
        <p:spPr>
          <a:xfrm>
            <a:off x="6066872" y="541857"/>
            <a:ext cx="1026078" cy="984147"/>
          </a:xfrm>
          <a:prstGeom prst="rect">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a:lnSpc>
                <a:spcPct val="110000"/>
              </a:lnSpc>
              <a:defRPr sz="1200" b="1" i="0">
                <a:latin typeface="Montserrat SemiBold" pitchFamily="2" charset="77"/>
              </a:defRPr>
            </a:lvl1pPr>
          </a:lstStyle>
          <a:p>
            <a:endParaRPr lang="en-US" dirty="0"/>
          </a:p>
        </p:txBody>
      </p:sp>
      <p:sp>
        <p:nvSpPr>
          <p:cNvPr id="27" name="Text Placeholder 26">
            <a:extLst>
              <a:ext uri="{FF2B5EF4-FFF2-40B4-BE49-F238E27FC236}">
                <a16:creationId xmlns:a16="http://schemas.microsoft.com/office/drawing/2014/main" id="{5EBCF6F3-8C74-8448-B393-09691B01DD72}"/>
              </a:ext>
            </a:extLst>
          </p:cNvPr>
          <p:cNvSpPr>
            <a:spLocks noGrp="1"/>
          </p:cNvSpPr>
          <p:nvPr>
            <p:ph type="body" sz="quarter" idx="14" hasCustomPrompt="1"/>
          </p:nvPr>
        </p:nvSpPr>
        <p:spPr>
          <a:xfrm>
            <a:off x="6052596" y="4561399"/>
            <a:ext cx="2669129" cy="292307"/>
          </a:xfrm>
          <a:prstGeom prst="rect">
            <a:avLst/>
          </a:prstGeom>
        </p:spPr>
        <p:txBody>
          <a:bodyPr lIns="0" tIns="0" rIns="0" bIns="0">
            <a:noAutofit/>
          </a:bodyPr>
          <a:lstStyle>
            <a:lvl1pPr marL="0" indent="0">
              <a:lnSpc>
                <a:spcPct val="110000"/>
              </a:lnSpc>
              <a:buNone/>
              <a:defRPr sz="1600" b="1" i="0">
                <a:solidFill>
                  <a:srgbClr val="2576B7"/>
                </a:solidFill>
                <a:latin typeface="Montserrat SemiBold" panose="020B0604020202020204" charset="0"/>
              </a:defRPr>
            </a:lvl1pPr>
            <a:lvl2pPr>
              <a:defRPr sz="1600" b="1" i="0">
                <a:latin typeface="Montserrat SemiBold" pitchFamily="2" charset="77"/>
              </a:defRPr>
            </a:lvl2pPr>
            <a:lvl3pPr>
              <a:defRPr sz="1600" b="1" i="0">
                <a:latin typeface="Montserrat SemiBold" pitchFamily="2" charset="77"/>
              </a:defRPr>
            </a:lvl3pPr>
            <a:lvl4pPr>
              <a:defRPr sz="1600" b="1" i="0">
                <a:latin typeface="Montserrat SemiBold" pitchFamily="2" charset="77"/>
              </a:defRPr>
            </a:lvl4pPr>
            <a:lvl5pPr>
              <a:defRPr sz="1600" b="1" i="0">
                <a:latin typeface="Montserrat SemiBold" pitchFamily="2" charset="77"/>
              </a:defRPr>
            </a:lvl5pPr>
          </a:lstStyle>
          <a:p>
            <a:pPr lvl="0"/>
            <a:r>
              <a:rPr lang="en-US"/>
              <a:t>Name of Activity</a:t>
            </a:r>
          </a:p>
        </p:txBody>
      </p:sp>
      <p:sp>
        <p:nvSpPr>
          <p:cNvPr id="29" name="Text Placeholder 26">
            <a:extLst>
              <a:ext uri="{FF2B5EF4-FFF2-40B4-BE49-F238E27FC236}">
                <a16:creationId xmlns:a16="http://schemas.microsoft.com/office/drawing/2014/main" id="{2AB9A0CE-721B-C049-A1F0-90286778FBFA}"/>
              </a:ext>
            </a:extLst>
          </p:cNvPr>
          <p:cNvSpPr>
            <a:spLocks noGrp="1"/>
          </p:cNvSpPr>
          <p:nvPr>
            <p:ph type="body" sz="quarter" idx="16" hasCustomPrompt="1"/>
          </p:nvPr>
        </p:nvSpPr>
        <p:spPr>
          <a:xfrm>
            <a:off x="9121775" y="4561399"/>
            <a:ext cx="2669129" cy="292307"/>
          </a:xfrm>
          <a:prstGeom prst="rect">
            <a:avLst/>
          </a:prstGeom>
        </p:spPr>
        <p:txBody>
          <a:bodyPr lIns="0" tIns="0" rIns="0" bIns="0">
            <a:noAutofit/>
          </a:bodyPr>
          <a:lstStyle>
            <a:lvl1pPr marL="0" indent="0">
              <a:lnSpc>
                <a:spcPct val="110000"/>
              </a:lnSpc>
              <a:buNone/>
              <a:defRPr sz="1600" b="1" i="0">
                <a:solidFill>
                  <a:srgbClr val="2576B7"/>
                </a:solidFill>
                <a:latin typeface="Montserrat SemiBold" panose="020B0604020202020204" charset="0"/>
              </a:defRPr>
            </a:lvl1pPr>
            <a:lvl2pPr>
              <a:defRPr sz="1600" b="1" i="0">
                <a:latin typeface="Montserrat SemiBold" pitchFamily="2" charset="77"/>
              </a:defRPr>
            </a:lvl2pPr>
            <a:lvl3pPr>
              <a:defRPr sz="1600" b="1" i="0">
                <a:latin typeface="Montserrat SemiBold" pitchFamily="2" charset="77"/>
              </a:defRPr>
            </a:lvl3pPr>
            <a:lvl4pPr>
              <a:defRPr sz="1600" b="1" i="0">
                <a:latin typeface="Montserrat SemiBold" pitchFamily="2" charset="77"/>
              </a:defRPr>
            </a:lvl4pPr>
            <a:lvl5pPr>
              <a:defRPr sz="1600" b="1" i="0">
                <a:latin typeface="Montserrat SemiBold" pitchFamily="2" charset="77"/>
              </a:defRPr>
            </a:lvl5pPr>
          </a:lstStyle>
          <a:p>
            <a:pPr lvl="0"/>
            <a:r>
              <a:rPr lang="en-US"/>
              <a:t>Name of Activity</a:t>
            </a:r>
          </a:p>
        </p:txBody>
      </p:sp>
      <p:sp>
        <p:nvSpPr>
          <p:cNvPr id="24" name="Text Placeholder 11">
            <a:extLst>
              <a:ext uri="{FF2B5EF4-FFF2-40B4-BE49-F238E27FC236}">
                <a16:creationId xmlns:a16="http://schemas.microsoft.com/office/drawing/2014/main" id="{85DDFA7D-F891-5541-AA0E-D25B89A7FB95}"/>
              </a:ext>
            </a:extLst>
          </p:cNvPr>
          <p:cNvSpPr>
            <a:spLocks noGrp="1"/>
          </p:cNvSpPr>
          <p:nvPr>
            <p:ph type="body" sz="quarter" idx="35"/>
          </p:nvPr>
        </p:nvSpPr>
        <p:spPr>
          <a:xfrm>
            <a:off x="6061075" y="2497122"/>
            <a:ext cx="5832475" cy="661714"/>
          </a:xfrm>
          <a:prstGeom prst="rect">
            <a:avLst/>
          </a:prstGeom>
        </p:spPr>
        <p:txBody>
          <a:bodyPr lIns="0" tIns="0" rIns="0" bIns="0">
            <a:noAutofit/>
          </a:bodyPr>
          <a:lstStyle>
            <a:lvl1pPr marL="0" indent="0">
              <a:lnSpc>
                <a:spcPct val="110000"/>
              </a:lnSpc>
              <a:buNone/>
              <a:defRPr sz="1600" b="0" i="0" spc="0">
                <a:solidFill>
                  <a:srgbClr val="2576B7"/>
                </a:solidFill>
                <a:latin typeface="Exo" panose="020B0604020202020204" charset="0"/>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11">
            <a:extLst>
              <a:ext uri="{FF2B5EF4-FFF2-40B4-BE49-F238E27FC236}">
                <a16:creationId xmlns:a16="http://schemas.microsoft.com/office/drawing/2014/main" id="{85DDFA7D-F891-5541-AA0E-D25B89A7FB95}"/>
              </a:ext>
            </a:extLst>
          </p:cNvPr>
          <p:cNvSpPr>
            <a:spLocks noGrp="1"/>
          </p:cNvSpPr>
          <p:nvPr>
            <p:ph type="body" sz="quarter" idx="36" hasCustomPrompt="1"/>
          </p:nvPr>
        </p:nvSpPr>
        <p:spPr>
          <a:xfrm>
            <a:off x="7336972" y="778330"/>
            <a:ext cx="2960914" cy="1028700"/>
          </a:xfrm>
          <a:prstGeom prst="rect">
            <a:avLst/>
          </a:prstGeom>
        </p:spPr>
        <p:txBody>
          <a:bodyPr lIns="0" tIns="0" rIns="0" bIns="0">
            <a:noAutofit/>
          </a:bodyPr>
          <a:lstStyle>
            <a:lvl1pPr marL="0" indent="0">
              <a:lnSpc>
                <a:spcPct val="110000"/>
              </a:lnSpc>
              <a:spcBef>
                <a:spcPts val="0"/>
              </a:spcBef>
              <a:buNone/>
              <a:defRPr sz="1200" b="0" i="0" spc="0">
                <a:solidFill>
                  <a:srgbClr val="2576B7"/>
                </a:solidFill>
                <a:latin typeface="Montserrat" panose="020B0604020202020204" charset="0"/>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Contact your account representative for more information.</a:t>
            </a:r>
            <a:br>
              <a:rPr lang="en-US"/>
            </a:br>
            <a:r>
              <a:rPr lang="en-US"/>
              <a:t>workshops@infotech.com   </a:t>
            </a:r>
            <a:br>
              <a:rPr lang="en-US"/>
            </a:br>
            <a:r>
              <a:rPr lang="en-US"/>
              <a:t>1-888-670-8889</a:t>
            </a:r>
          </a:p>
          <a:p>
            <a:pPr lvl="0"/>
            <a:endParaRPr lang="en-US"/>
          </a:p>
        </p:txBody>
      </p:sp>
      <p:sp>
        <p:nvSpPr>
          <p:cNvPr id="31" name="Text Placeholder 14">
            <a:extLst>
              <a:ext uri="{FF2B5EF4-FFF2-40B4-BE49-F238E27FC236}">
                <a16:creationId xmlns:a16="http://schemas.microsoft.com/office/drawing/2014/main" id="{D7149EE9-D7CB-2245-A969-E3DC476D8DF6}"/>
              </a:ext>
            </a:extLst>
          </p:cNvPr>
          <p:cNvSpPr>
            <a:spLocks noGrp="1"/>
          </p:cNvSpPr>
          <p:nvPr>
            <p:ph type="body" sz="quarter" idx="38"/>
          </p:nvPr>
        </p:nvSpPr>
        <p:spPr>
          <a:xfrm>
            <a:off x="6061075" y="4884772"/>
            <a:ext cx="2916238" cy="1371497"/>
          </a:xfrm>
          <a:prstGeom prst="rect">
            <a:avLst/>
          </a:prstGeom>
        </p:spPr>
        <p:txBody>
          <a:bodyPr lIns="0" tIns="0" rIns="0" bIns="0" numCol="1" spcCol="360000">
            <a:noAutofit/>
          </a:bodyPr>
          <a:lstStyle>
            <a:lvl1pPr marL="0" indent="0">
              <a:lnSpc>
                <a:spcPct val="110000"/>
              </a:lnSpc>
              <a:buNone/>
              <a:defRPr sz="1400" b="0" i="0">
                <a:solidFill>
                  <a:srgbClr val="000000"/>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14">
            <a:extLst>
              <a:ext uri="{FF2B5EF4-FFF2-40B4-BE49-F238E27FC236}">
                <a16:creationId xmlns:a16="http://schemas.microsoft.com/office/drawing/2014/main" id="{D7149EE9-D7CB-2245-A969-E3DC476D8DF6}"/>
              </a:ext>
            </a:extLst>
          </p:cNvPr>
          <p:cNvSpPr>
            <a:spLocks noGrp="1"/>
          </p:cNvSpPr>
          <p:nvPr>
            <p:ph type="body" sz="quarter" idx="39"/>
          </p:nvPr>
        </p:nvSpPr>
        <p:spPr>
          <a:xfrm>
            <a:off x="9131227" y="4884772"/>
            <a:ext cx="2762323" cy="1371497"/>
          </a:xfrm>
          <a:prstGeom prst="rect">
            <a:avLst/>
          </a:prstGeom>
        </p:spPr>
        <p:txBody>
          <a:bodyPr lIns="0" tIns="0" rIns="0" bIns="0" numCol="1" spcCol="360000">
            <a:noAutofit/>
          </a:bodyPr>
          <a:lstStyle>
            <a:lvl1pPr marL="0" indent="0">
              <a:lnSpc>
                <a:spcPct val="110000"/>
              </a:lnSpc>
              <a:buNone/>
              <a:defRPr sz="1400" b="0" i="0">
                <a:solidFill>
                  <a:srgbClr val="000000"/>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14">
            <a:extLst>
              <a:ext uri="{FF2B5EF4-FFF2-40B4-BE49-F238E27FC236}">
                <a16:creationId xmlns:a16="http://schemas.microsoft.com/office/drawing/2014/main" id="{D7149EE9-D7CB-2245-A969-E3DC476D8DF6}"/>
              </a:ext>
            </a:extLst>
          </p:cNvPr>
          <p:cNvSpPr>
            <a:spLocks noGrp="1"/>
          </p:cNvSpPr>
          <p:nvPr>
            <p:ph type="body" sz="quarter" idx="40"/>
          </p:nvPr>
        </p:nvSpPr>
        <p:spPr>
          <a:xfrm>
            <a:off x="354106" y="3310826"/>
            <a:ext cx="4733832" cy="1801477"/>
          </a:xfrm>
          <a:prstGeom prst="rect">
            <a:avLst/>
          </a:prstGeom>
        </p:spPr>
        <p:txBody>
          <a:bodyPr lIns="0" tIns="0" rIns="0" bIns="0" numCol="1" spcCol="360000">
            <a:noAutofit/>
          </a:bodyPr>
          <a:lstStyle>
            <a:lvl1pPr marL="0" indent="0">
              <a:lnSpc>
                <a:spcPct val="110000"/>
              </a:lnSpc>
              <a:buNone/>
              <a:defRPr sz="1400" b="0" i="0">
                <a:solidFill>
                  <a:srgbClr val="000000"/>
                </a:solidFill>
                <a:latin typeface="Roboto Condensed Light" panose="02000000000000000000" pitchFamily="2" charset="0"/>
                <a:cs typeface="Arial Narrow" panose="020B0604020202020204" pitchFamily="34" charset="0"/>
              </a:defRPr>
            </a:lvl1pPr>
            <a:lvl2pPr marL="457200" indent="0">
              <a:lnSpc>
                <a:spcPts val="1700"/>
              </a:lnSpc>
              <a:buNone/>
              <a:defRPr sz="1400">
                <a:solidFill>
                  <a:srgbClr val="4B4B4B"/>
                </a:solidFill>
                <a:latin typeface="Arial" panose="020B0604020202020204" pitchFamily="34" charset="0"/>
                <a:cs typeface="Arial" panose="020B0604020202020204" pitchFamily="34" charset="0"/>
              </a:defRPr>
            </a:lvl2pPr>
            <a:lvl3pPr marL="914400" indent="0">
              <a:lnSpc>
                <a:spcPts val="1700"/>
              </a:lnSpc>
              <a:buNone/>
              <a:defRPr sz="1400">
                <a:solidFill>
                  <a:srgbClr val="4B4B4B"/>
                </a:solidFill>
                <a:latin typeface="Arial" panose="020B0604020202020204" pitchFamily="34" charset="0"/>
                <a:cs typeface="Arial" panose="020B0604020202020204" pitchFamily="34" charset="0"/>
              </a:defRPr>
            </a:lvl3pPr>
            <a:lvl4pPr marL="1371600" indent="0">
              <a:lnSpc>
                <a:spcPts val="1700"/>
              </a:lnSpc>
              <a:buNone/>
              <a:defRPr sz="1400">
                <a:solidFill>
                  <a:srgbClr val="4B4B4B"/>
                </a:solidFill>
                <a:latin typeface="Arial" panose="020B0604020202020204" pitchFamily="34" charset="0"/>
                <a:cs typeface="Arial" panose="020B0604020202020204" pitchFamily="34" charset="0"/>
              </a:defRPr>
            </a:lvl4pPr>
            <a:lvl5pPr marL="1828800" indent="0">
              <a:lnSpc>
                <a:spcPts val="1700"/>
              </a:lnSpc>
              <a:buNone/>
              <a:defRPr sz="1400">
                <a:solidFill>
                  <a:srgbClr val="4B4B4B"/>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Box 18">
            <a:extLst>
              <a:ext uri="{FF2B5EF4-FFF2-40B4-BE49-F238E27FC236}">
                <a16:creationId xmlns:a16="http://schemas.microsoft.com/office/drawing/2014/main" id="{1A52D467-0F26-DA4A-97AF-2CD0DAFEB6E1}"/>
              </a:ext>
            </a:extLst>
          </p:cNvPr>
          <p:cNvSpPr txBox="1"/>
          <p:nvPr userDrawn="1"/>
        </p:nvSpPr>
        <p:spPr>
          <a:xfrm>
            <a:off x="336885" y="514801"/>
            <a:ext cx="7580199" cy="541209"/>
          </a:xfrm>
          <a:prstGeom prst="rect">
            <a:avLst/>
          </a:prstGeom>
        </p:spPr>
        <p:txBody>
          <a:bodyPr vert="horz" wrap="square" lIns="0" tIns="6931" rIns="0" bIns="0" rtlCol="0">
            <a:noAutofit/>
          </a:bodyPr>
          <a:lstStyle/>
          <a:p>
            <a:pPr marL="7701" marR="242975" algn="l">
              <a:lnSpc>
                <a:spcPct val="90000"/>
              </a:lnSpc>
              <a:spcBef>
                <a:spcPts val="55"/>
              </a:spcBef>
            </a:pPr>
            <a:r>
              <a:rPr lang="en-US" sz="4000" b="1" i="0" dirty="0">
                <a:solidFill>
                  <a:srgbClr val="4A4A4A"/>
                </a:solidFill>
                <a:latin typeface="Montserrat SemiBold" pitchFamily="2" charset="77"/>
              </a:rPr>
              <a:t>Additional Support</a:t>
            </a:r>
            <a:endParaRPr lang="en-US" sz="4000" b="1" i="0" spc="-30" dirty="0">
              <a:solidFill>
                <a:srgbClr val="4A4A4A"/>
              </a:solidFill>
              <a:latin typeface="Montserrat SemiBold" pitchFamily="2" charset="77"/>
              <a:cs typeface="Arial Narrow"/>
            </a:endParaRPr>
          </a:p>
        </p:txBody>
      </p:sp>
      <p:sp>
        <p:nvSpPr>
          <p:cNvPr id="21" name="TextBox 20">
            <a:extLst>
              <a:ext uri="{FF2B5EF4-FFF2-40B4-BE49-F238E27FC236}">
                <a16:creationId xmlns:a16="http://schemas.microsoft.com/office/drawing/2014/main" id="{A36A0B17-8F6F-A645-8BB5-4B6254632B2D}"/>
              </a:ext>
            </a:extLst>
          </p:cNvPr>
          <p:cNvSpPr txBox="1"/>
          <p:nvPr userDrawn="1"/>
        </p:nvSpPr>
        <p:spPr>
          <a:xfrm>
            <a:off x="362227" y="1163682"/>
            <a:ext cx="4059302" cy="1481761"/>
          </a:xfrm>
          <a:prstGeom prst="rect">
            <a:avLst/>
          </a:prstGeom>
        </p:spPr>
        <p:txBody>
          <a:bodyPr vert="horz" wrap="square" lIns="0" tIns="6931" rIns="0" bIns="0" rtlCol="0">
            <a:noAutofit/>
          </a:bodyPr>
          <a:lstStyle/>
          <a:p>
            <a:pPr marL="7701" marR="242975" lvl="0" indent="0" algn="l" defTabSz="554492" rtl="0" eaLnBrk="1" fontAlgn="auto" latinLnBrk="0" hangingPunct="1">
              <a:lnSpc>
                <a:spcPct val="110000"/>
              </a:lnSpc>
              <a:spcBef>
                <a:spcPts val="1000"/>
              </a:spcBef>
              <a:spcAft>
                <a:spcPts val="0"/>
              </a:spcAft>
              <a:buClrTx/>
              <a:buSzTx/>
              <a:buFontTx/>
              <a:buNone/>
              <a:tabLst/>
              <a:defRPr/>
            </a:pPr>
            <a:r>
              <a:rPr lang="en-US" sz="1600" dirty="0">
                <a:solidFill>
                  <a:srgbClr val="000000"/>
                </a:solidFill>
                <a:latin typeface="Exo" panose="02000503000000000000" pitchFamily="2" charset="77"/>
              </a:rPr>
              <a:t>If you would like additional support, have our analysts guide you through other phases as part of an Info-Tech Workshop.</a:t>
            </a: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rgbClr val="000000"/>
              </a:solidFill>
              <a:latin typeface="Exo" panose="02000503000000000000" pitchFamily="2" charset="77"/>
            </a:endParaRP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rgbClr val="000000"/>
              </a:solidFill>
              <a:latin typeface="Exo" panose="02000503000000000000" pitchFamily="2" charset="77"/>
            </a:endParaRP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rgbClr val="000000"/>
              </a:solidFill>
              <a:latin typeface="Exo" panose="02000503000000000000" pitchFamily="2" charset="77"/>
            </a:endParaRPr>
          </a:p>
        </p:txBody>
      </p:sp>
    </p:spTree>
    <p:extLst>
      <p:ext uri="{BB962C8B-B14F-4D97-AF65-F5344CB8AC3E}">
        <p14:creationId xmlns:p14="http://schemas.microsoft.com/office/powerpoint/2010/main" val="60333741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bliograph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64A327A-EE11-AC48-BC31-DE279A6E652A}"/>
              </a:ext>
            </a:extLst>
          </p:cNvPr>
          <p:cNvSpPr>
            <a:spLocks noGrp="1"/>
          </p:cNvSpPr>
          <p:nvPr>
            <p:ph type="title" hasCustomPrompt="1"/>
          </p:nvPr>
        </p:nvSpPr>
        <p:spPr>
          <a:xfrm>
            <a:off x="354106" y="530021"/>
            <a:ext cx="6713321" cy="1130188"/>
          </a:xfrm>
        </p:spPr>
        <p:txBody>
          <a:bodyPr>
            <a:noAutofit/>
          </a:bodyPr>
          <a:lstStyle>
            <a:lvl1pPr>
              <a:defRPr>
                <a:solidFill>
                  <a:srgbClr val="2576B7"/>
                </a:solidFill>
              </a:defRPr>
            </a:lvl1pPr>
          </a:lstStyle>
          <a:p>
            <a:r>
              <a:rPr lang="en-US"/>
              <a:t>Bibliography</a:t>
            </a:r>
          </a:p>
        </p:txBody>
      </p:sp>
      <p:sp>
        <p:nvSpPr>
          <p:cNvPr id="7" name="Text Placeholder 10">
            <a:extLst>
              <a:ext uri="{FF2B5EF4-FFF2-40B4-BE49-F238E27FC236}">
                <a16:creationId xmlns:a16="http://schemas.microsoft.com/office/drawing/2014/main" id="{F31CD5B0-F94C-7D4D-97FF-D8D98F6F0C8E}"/>
              </a:ext>
            </a:extLst>
          </p:cNvPr>
          <p:cNvSpPr>
            <a:spLocks noGrp="1"/>
          </p:cNvSpPr>
          <p:nvPr>
            <p:ph type="body" sz="quarter" idx="13" hasCustomPrompt="1"/>
          </p:nvPr>
        </p:nvSpPr>
        <p:spPr>
          <a:xfrm>
            <a:off x="381794" y="1552498"/>
            <a:ext cx="5477732" cy="4503847"/>
          </a:xfrm>
          <a:prstGeom prst="rect">
            <a:avLst/>
          </a:prstGeom>
        </p:spPr>
        <p:txBody>
          <a:bodyPr lIns="0" tIns="0" rIns="0" bIns="0">
            <a:noAutofit/>
          </a:bodyPr>
          <a:lstStyle>
            <a:lvl1pPr marL="179388" marR="182520" indent="-179388" algn="l">
              <a:lnSpc>
                <a:spcPct val="110000"/>
              </a:lnSpc>
              <a:spcBef>
                <a:spcPts val="3"/>
              </a:spcBef>
              <a:spcAft>
                <a:spcPts val="1200"/>
              </a:spcAft>
              <a:buFont typeface="Arial" panose="020B0604020202020204" pitchFamily="34" charset="0"/>
              <a:buChar char="•"/>
              <a:tabLst/>
              <a:defRPr sz="1600" baseline="0">
                <a:solidFill>
                  <a:srgbClr val="2576B7"/>
                </a:solidFill>
                <a:latin typeface="Roboto Condensed Light" panose="02000000000000000000" pitchFamily="2" charset="0"/>
              </a:defRPr>
            </a:lvl1pPr>
          </a:lstStyle>
          <a:p>
            <a:pPr marL="7701" marR="242975" indent="0" algn="l">
              <a:lnSpc>
                <a:spcPct val="110000"/>
              </a:lnSpc>
              <a:spcBef>
                <a:spcPts val="55"/>
              </a:spcBef>
              <a:spcAft>
                <a:spcPts val="1200"/>
              </a:spcAft>
              <a:buFont typeface="Arial" panose="020B0604020202020204" pitchFamily="34" charset="0"/>
              <a:buNone/>
            </a:pPr>
            <a:r>
              <a:rPr lang="en-CA" sz="1200" spc="-30" err="1">
                <a:solidFill>
                  <a:srgbClr val="000000"/>
                </a:solidFill>
                <a:latin typeface="Roboto Condensed Light" panose="02000000000000000000" pitchFamily="2" charset="0"/>
                <a:cs typeface="Arial Narrow"/>
              </a:rPr>
              <a:t>Bersin</a:t>
            </a:r>
            <a:r>
              <a:rPr lang="en-CA" sz="1200" spc="-30">
                <a:solidFill>
                  <a:srgbClr val="000000"/>
                </a:solidFill>
                <a:latin typeface="Roboto Condensed Light" panose="02000000000000000000" pitchFamily="2" charset="0"/>
                <a:cs typeface="Arial Narrow"/>
              </a:rPr>
              <a:t>,</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Josh.</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“Time</a:t>
            </a:r>
            <a:r>
              <a:rPr lang="en-CA" sz="1200" spc="-64">
                <a:solidFill>
                  <a:srgbClr val="000000"/>
                </a:solidFill>
                <a:latin typeface="Roboto Condensed Light" panose="02000000000000000000" pitchFamily="2" charset="0"/>
                <a:cs typeface="Arial Narrow"/>
              </a:rPr>
              <a:t> </a:t>
            </a:r>
            <a:r>
              <a:rPr lang="en-CA" sz="1200" spc="-18">
                <a:solidFill>
                  <a:srgbClr val="000000"/>
                </a:solidFill>
                <a:latin typeface="Roboto Condensed Light" panose="02000000000000000000" pitchFamily="2" charset="0"/>
                <a:cs typeface="Arial Narrow"/>
              </a:rPr>
              <a:t>to</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Scrap</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Performance</a:t>
            </a:r>
            <a:r>
              <a:rPr lang="en-CA" sz="1200" spc="-12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Appraisals?”</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Forbes</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Magazine.</a:t>
            </a:r>
            <a:r>
              <a:rPr lang="en-CA" sz="1200" spc="-64">
                <a:solidFill>
                  <a:srgbClr val="000000"/>
                </a:solidFill>
                <a:latin typeface="Roboto Condensed Light" panose="02000000000000000000" pitchFamily="2" charset="0"/>
                <a:cs typeface="Arial Narrow"/>
              </a:rPr>
              <a:t> </a:t>
            </a:r>
            <a:r>
              <a:rPr lang="en-CA" sz="1200" spc="-3">
                <a:solidFill>
                  <a:srgbClr val="000000"/>
                </a:solidFill>
                <a:latin typeface="Roboto Condensed Light" panose="02000000000000000000" pitchFamily="2" charset="0"/>
                <a:cs typeface="Arial Narrow"/>
              </a:rPr>
              <a:t>5</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June</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64">
                <a:solidFill>
                  <a:srgbClr val="000000"/>
                </a:solidFill>
                <a:latin typeface="Roboto Condensed Light" panose="02000000000000000000" pitchFamily="2" charset="0"/>
                <a:cs typeface="Arial Narrow"/>
              </a:rPr>
              <a:t> </a:t>
            </a:r>
            <a:r>
              <a:rPr lang="en-CA" sz="1200" spc="-42">
                <a:solidFill>
                  <a:srgbClr val="000000"/>
                </a:solidFill>
                <a:latin typeface="Roboto Condensed Light" panose="02000000000000000000" pitchFamily="2" charset="0"/>
                <a:cs typeface="Arial Narrow"/>
              </a:rPr>
              <a:t>Web.  </a:t>
            </a:r>
            <a:r>
              <a:rPr lang="en-CA" sz="1200" spc="-21">
                <a:solidFill>
                  <a:srgbClr val="000000"/>
                </a:solidFill>
                <a:latin typeface="Roboto Condensed Light" panose="02000000000000000000" pitchFamily="2" charset="0"/>
                <a:cs typeface="Arial Narrow"/>
              </a:rPr>
              <a:t>30 </a:t>
            </a:r>
            <a:r>
              <a:rPr lang="en-CA" sz="1200" spc="-24">
                <a:solidFill>
                  <a:srgbClr val="000000"/>
                </a:solidFill>
                <a:latin typeface="Roboto Condensed Light" panose="02000000000000000000" pitchFamily="2" charset="0"/>
                <a:cs typeface="Arial Narrow"/>
              </a:rPr>
              <a:t>Oct </a:t>
            </a:r>
            <a:r>
              <a:rPr lang="en-CA" sz="1200" spc="-30">
                <a:solidFill>
                  <a:srgbClr val="000000"/>
                </a:solidFill>
                <a:latin typeface="Roboto Condensed Light" panose="02000000000000000000" pitchFamily="2" charset="0"/>
                <a:cs typeface="Arial Narrow"/>
              </a:rPr>
              <a:t>2013. </a:t>
            </a:r>
            <a:r>
              <a:rPr lang="en-CA" sz="1200" spc="-36">
                <a:solidFill>
                  <a:srgbClr val="2576B7"/>
                </a:solidFill>
                <a:latin typeface="Roboto Condensed Light" panose="02000000000000000000" pitchFamily="2" charset="0"/>
                <a:cs typeface="Arial Narrow"/>
                <a:hlinkClick r:id="rId2">
                  <a:extLst>
                    <a:ext uri="{A12FA001-AC4F-418D-AE19-62706E023703}">
                      <ahyp:hlinkClr xmlns:ahyp="http://schemas.microsoft.com/office/drawing/2018/hyperlinkcolor" val="tx"/>
                    </a:ext>
                  </a:extLst>
                </a:hlinkClick>
              </a:rPr>
              <a:t>&lt;http://www.forbes.com/sites/joshbersin/2013/05/06/time-to-scrap-performance- </a:t>
            </a:r>
            <a:r>
              <a:rPr lang="en-CA" sz="1200" spc="-36">
                <a:solidFill>
                  <a:srgbClr val="2576B7"/>
                </a:solidFill>
                <a:latin typeface="Roboto Condensed Light" panose="02000000000000000000" pitchFamily="2" charset="0"/>
                <a:cs typeface="Arial Narrow"/>
              </a:rPr>
              <a:t> </a:t>
            </a:r>
            <a:r>
              <a:rPr lang="en-CA" sz="1200" spc="-33">
                <a:solidFill>
                  <a:srgbClr val="2576B7"/>
                </a:solidFill>
                <a:latin typeface="Roboto Condensed Light" panose="02000000000000000000" pitchFamily="2" charset="0"/>
                <a:cs typeface="Arial Narrow"/>
              </a:rPr>
              <a:t>appraisals/&gt;.</a:t>
            </a:r>
            <a:endParaRPr lang="en-CA" sz="1200" spc="0">
              <a:solidFill>
                <a:srgbClr val="2576B7"/>
              </a:solidFill>
              <a:latin typeface="Roboto Condensed Light" panose="02000000000000000000" pitchFamily="2" charset="0"/>
              <a:cs typeface="Times New Roman"/>
            </a:endParaRPr>
          </a:p>
          <a:p>
            <a:pPr marL="7701" marR="242975" indent="0" algn="l">
              <a:lnSpc>
                <a:spcPct val="110000"/>
              </a:lnSpc>
              <a:spcBef>
                <a:spcPts val="55"/>
              </a:spcBef>
              <a:spcAft>
                <a:spcPts val="1200"/>
              </a:spcAft>
              <a:buFont typeface="Arial" panose="020B0604020202020204" pitchFamily="34" charset="0"/>
              <a:buNone/>
            </a:pPr>
            <a:r>
              <a:rPr lang="en-CA" sz="1200" spc="-30">
                <a:solidFill>
                  <a:srgbClr val="000000"/>
                </a:solidFill>
                <a:latin typeface="Roboto Condensed Light" panose="02000000000000000000" pitchFamily="2" charset="0"/>
                <a:cs typeface="Arial Narrow"/>
              </a:rPr>
              <a:t>Cheese,</a:t>
            </a:r>
            <a:r>
              <a:rPr lang="en-CA" sz="1200" spc="-67">
                <a:solidFill>
                  <a:srgbClr val="000000"/>
                </a:solidFill>
                <a:latin typeface="Roboto Condensed Light" panose="02000000000000000000" pitchFamily="2" charset="0"/>
                <a:cs typeface="Arial Narrow"/>
              </a:rPr>
              <a:t> </a:t>
            </a:r>
            <a:r>
              <a:rPr lang="en-CA" sz="1200" spc="-39">
                <a:solidFill>
                  <a:srgbClr val="000000"/>
                </a:solidFill>
                <a:latin typeface="Roboto Condensed Light" panose="02000000000000000000" pitchFamily="2" charset="0"/>
                <a:cs typeface="Arial Narrow"/>
              </a:rPr>
              <a:t>Peter,</a:t>
            </a:r>
            <a:r>
              <a:rPr lang="en-CA" sz="1200" spc="-64">
                <a:solidFill>
                  <a:srgbClr val="000000"/>
                </a:solidFill>
                <a:latin typeface="Roboto Condensed Light" panose="02000000000000000000" pitchFamily="2" charset="0"/>
                <a:cs typeface="Arial Narrow"/>
              </a:rPr>
              <a:t> </a:t>
            </a:r>
            <a:r>
              <a:rPr lang="en-CA" sz="1200" spc="-18">
                <a:solidFill>
                  <a:srgbClr val="000000"/>
                </a:solidFill>
                <a:latin typeface="Roboto Condensed Light" panose="02000000000000000000" pitchFamily="2" charset="0"/>
                <a:cs typeface="Arial Narrow"/>
              </a:rPr>
              <a:t>et</a:t>
            </a:r>
            <a:r>
              <a:rPr lang="en-CA" sz="1200" spc="-64">
                <a:solidFill>
                  <a:srgbClr val="000000"/>
                </a:solidFill>
                <a:latin typeface="Roboto Condensed Light" panose="02000000000000000000" pitchFamily="2" charset="0"/>
                <a:cs typeface="Arial Narrow"/>
              </a:rPr>
              <a:t> </a:t>
            </a:r>
            <a:r>
              <a:rPr lang="en-CA" sz="1200" spc="-24">
                <a:solidFill>
                  <a:srgbClr val="000000"/>
                </a:solidFill>
                <a:latin typeface="Roboto Condensed Light" panose="02000000000000000000" pitchFamily="2" charset="0"/>
                <a:cs typeface="Arial Narrow"/>
              </a:rPr>
              <a:t>al.</a:t>
            </a:r>
            <a:r>
              <a:rPr lang="en-CA" sz="1200" spc="-64">
                <a:solidFill>
                  <a:srgbClr val="000000"/>
                </a:solidFill>
                <a:latin typeface="Roboto Condensed Light" panose="02000000000000000000" pitchFamily="2" charset="0"/>
                <a:cs typeface="Arial Narrow"/>
              </a:rPr>
              <a:t> </a:t>
            </a:r>
            <a:r>
              <a:rPr lang="en-CA" sz="1200" spc="-3">
                <a:solidFill>
                  <a:srgbClr val="000000"/>
                </a:solidFill>
                <a:latin typeface="Roboto Condensed Light" panose="02000000000000000000" pitchFamily="2" charset="0"/>
                <a:cs typeface="Arial Narrow"/>
              </a:rPr>
              <a:t>“</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Creating</a:t>
            </a:r>
            <a:r>
              <a:rPr lang="en-CA" sz="1200" spc="-64">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an</a:t>
            </a:r>
            <a:r>
              <a:rPr lang="en-CA" sz="1200" spc="-12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Agile</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Organization.”</a:t>
            </a:r>
            <a:r>
              <a:rPr lang="en-CA" sz="1200" spc="-12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Accenture.</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Oct.</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2009.</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4">
                <a:solidFill>
                  <a:srgbClr val="000000"/>
                </a:solidFill>
                <a:latin typeface="Roboto Condensed Light" panose="02000000000000000000" pitchFamily="2" charset="0"/>
                <a:cs typeface="Arial Narrow"/>
              </a:rPr>
              <a:t> </a:t>
            </a:r>
            <a:r>
              <a:rPr lang="en-CA" sz="1200" spc="-49">
                <a:solidFill>
                  <a:srgbClr val="000000"/>
                </a:solidFill>
                <a:latin typeface="Roboto Condensed Light" panose="02000000000000000000" pitchFamily="2" charset="0"/>
                <a:cs typeface="Arial Narrow"/>
              </a:rPr>
              <a:t>Nov.</a:t>
            </a:r>
            <a:r>
              <a:rPr lang="en-CA" sz="1200" spc="-64">
                <a:solidFill>
                  <a:srgbClr val="000000"/>
                </a:solidFill>
                <a:latin typeface="Roboto Condensed Light" panose="02000000000000000000" pitchFamily="2" charset="0"/>
                <a:cs typeface="Arial Narrow"/>
              </a:rPr>
              <a:t> </a:t>
            </a:r>
            <a:r>
              <a:rPr lang="en-CA" sz="1200" spc="-36">
                <a:solidFill>
                  <a:srgbClr val="000000"/>
                </a:solidFill>
                <a:latin typeface="Roboto Condensed Light" panose="02000000000000000000" pitchFamily="2" charset="0"/>
                <a:cs typeface="Arial Narrow"/>
              </a:rPr>
              <a:t>2013.</a:t>
            </a:r>
            <a:br>
              <a:rPr lang="en-CA" sz="1200" spc="0">
                <a:solidFill>
                  <a:srgbClr val="000000"/>
                </a:solidFill>
                <a:latin typeface="Roboto Condensed Light" panose="02000000000000000000" pitchFamily="2" charset="0"/>
                <a:cs typeface="Arial Narrow"/>
              </a:rPr>
            </a:br>
            <a:r>
              <a:rPr lang="en-CA" sz="1200" spc="-36">
                <a:solidFill>
                  <a:srgbClr val="2576B7"/>
                </a:solidFill>
                <a:latin typeface="Roboto Condensed Light" panose="02000000000000000000" pitchFamily="2" charset="0"/>
                <a:cs typeface="Arial Narrow"/>
                <a:hlinkClick r:id="rId3">
                  <a:extLst>
                    <a:ext uri="{A12FA001-AC4F-418D-AE19-62706E023703}">
                      <ahyp:hlinkClr xmlns:ahyp="http://schemas.microsoft.com/office/drawing/2018/hyperlinkcolor" val="tx"/>
                    </a:ext>
                  </a:extLst>
                </a:hlinkClick>
              </a:rPr>
              <a:t>&lt;http://www.accenture.com/SiteCollectionDocuments/PDF/OutlookPDF_AgileOrganization_02. </a:t>
            </a:r>
            <a:r>
              <a:rPr lang="en-CA" sz="1200" spc="-36">
                <a:solidFill>
                  <a:srgbClr val="2576B7"/>
                </a:solidFill>
                <a:latin typeface="Roboto Condensed Light" panose="02000000000000000000" pitchFamily="2" charset="0"/>
                <a:cs typeface="Arial Narrow"/>
              </a:rPr>
              <a:t> </a:t>
            </a:r>
            <a:r>
              <a:rPr lang="en-CA" sz="1200" spc="-30">
                <a:solidFill>
                  <a:srgbClr val="2576B7"/>
                </a:solidFill>
                <a:latin typeface="Roboto Condensed Light" panose="02000000000000000000" pitchFamily="2" charset="0"/>
                <a:cs typeface="Arial Narrow"/>
              </a:rPr>
              <a:t>pdf&gt;.</a:t>
            </a:r>
            <a:endParaRPr lang="en-CA" sz="1200" spc="0">
              <a:solidFill>
                <a:srgbClr val="2576B7"/>
              </a:solidFill>
              <a:latin typeface="Roboto Condensed Light" panose="02000000000000000000" pitchFamily="2" charset="0"/>
              <a:cs typeface="Times New Roman"/>
            </a:endParaRPr>
          </a:p>
          <a:p>
            <a:pPr marL="7701" marR="242975" indent="0" algn="l">
              <a:lnSpc>
                <a:spcPct val="110000"/>
              </a:lnSpc>
              <a:spcBef>
                <a:spcPts val="55"/>
              </a:spcBef>
              <a:spcAft>
                <a:spcPts val="1200"/>
              </a:spcAft>
              <a:buFont typeface="Arial" panose="020B0604020202020204" pitchFamily="34" charset="0"/>
              <a:buNone/>
            </a:pPr>
            <a:r>
              <a:rPr lang="en-CA" sz="1200" spc="-30" err="1">
                <a:solidFill>
                  <a:srgbClr val="000000"/>
                </a:solidFill>
                <a:latin typeface="Roboto Condensed Light" panose="02000000000000000000" pitchFamily="2" charset="0"/>
                <a:cs typeface="Arial Narrow"/>
              </a:rPr>
              <a:t>Croxon</a:t>
            </a:r>
            <a:r>
              <a:rPr lang="en-CA" sz="1200" spc="-30">
                <a:solidFill>
                  <a:srgbClr val="000000"/>
                </a:solidFill>
                <a:latin typeface="Roboto Condensed Light" panose="02000000000000000000" pitchFamily="2" charset="0"/>
                <a:cs typeface="Arial Narrow"/>
              </a:rPr>
              <a:t>,</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Bruce</a:t>
            </a:r>
            <a:r>
              <a:rPr lang="en-CA" sz="1200" spc="-67">
                <a:solidFill>
                  <a:srgbClr val="000000"/>
                </a:solidFill>
                <a:latin typeface="Roboto Condensed Light" panose="02000000000000000000" pitchFamily="2" charset="0"/>
                <a:cs typeface="Arial Narrow"/>
              </a:rPr>
              <a:t> </a:t>
            </a:r>
            <a:r>
              <a:rPr lang="en-CA" sz="1200" spc="-18">
                <a:solidFill>
                  <a:srgbClr val="000000"/>
                </a:solidFill>
                <a:latin typeface="Roboto Condensed Light" panose="02000000000000000000" pitchFamily="2" charset="0"/>
                <a:cs typeface="Arial Narrow"/>
              </a:rPr>
              <a:t>et</a:t>
            </a:r>
            <a:r>
              <a:rPr lang="en-CA" sz="1200" spc="-64">
                <a:solidFill>
                  <a:srgbClr val="000000"/>
                </a:solidFill>
                <a:latin typeface="Roboto Condensed Light" panose="02000000000000000000" pitchFamily="2" charset="0"/>
                <a:cs typeface="Arial Narrow"/>
              </a:rPr>
              <a:t> </a:t>
            </a:r>
            <a:r>
              <a:rPr lang="en-CA" sz="1200" spc="-24">
                <a:solidFill>
                  <a:srgbClr val="000000"/>
                </a:solidFill>
                <a:latin typeface="Roboto Condensed Light" panose="02000000000000000000" pitchFamily="2" charset="0"/>
                <a:cs typeface="Arial Narrow"/>
              </a:rPr>
              <a:t>al.</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“Dinner</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Series:</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Performance</a:t>
            </a:r>
            <a:r>
              <a:rPr lang="en-CA" sz="1200" spc="-67">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Management</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with</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Bruce</a:t>
            </a:r>
            <a:r>
              <a:rPr lang="en-CA" sz="1200" spc="-67">
                <a:solidFill>
                  <a:srgbClr val="000000"/>
                </a:solidFill>
                <a:latin typeface="Roboto Condensed Light" panose="02000000000000000000" pitchFamily="2" charset="0"/>
                <a:cs typeface="Arial Narrow"/>
              </a:rPr>
              <a:t> </a:t>
            </a:r>
            <a:r>
              <a:rPr lang="en-CA" sz="1200" spc="-30" err="1">
                <a:solidFill>
                  <a:srgbClr val="000000"/>
                </a:solidFill>
                <a:latin typeface="Roboto Condensed Light" panose="02000000000000000000" pitchFamily="2" charset="0"/>
                <a:cs typeface="Arial Narrow"/>
              </a:rPr>
              <a:t>Croxon</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from</a:t>
            </a:r>
            <a:r>
              <a:rPr lang="en-CA" sz="1200" spc="-67">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CBC’s  ‘Dragon’s </a:t>
            </a:r>
            <a:r>
              <a:rPr lang="en-CA" sz="1200" spc="-30">
                <a:solidFill>
                  <a:srgbClr val="000000"/>
                </a:solidFill>
                <a:latin typeface="Roboto Condensed Light" panose="02000000000000000000" pitchFamily="2" charset="0"/>
                <a:cs typeface="Arial Narrow"/>
              </a:rPr>
              <a:t>Den’” </a:t>
            </a:r>
            <a:r>
              <a:rPr lang="en-CA" sz="1200" spc="-49">
                <a:solidFill>
                  <a:srgbClr val="000000"/>
                </a:solidFill>
                <a:latin typeface="Roboto Condensed Light" panose="02000000000000000000" pitchFamily="2" charset="0"/>
                <a:cs typeface="Arial Narrow"/>
              </a:rPr>
              <a:t>HRPA Toronto </a:t>
            </a:r>
            <a:r>
              <a:rPr lang="en-CA" sz="1200" spc="-39">
                <a:solidFill>
                  <a:srgbClr val="000000"/>
                </a:solidFill>
                <a:latin typeface="Roboto Condensed Light" panose="02000000000000000000" pitchFamily="2" charset="0"/>
                <a:cs typeface="Arial Narrow"/>
              </a:rPr>
              <a:t>Chapter. </a:t>
            </a:r>
            <a:r>
              <a:rPr lang="en-CA" sz="1200" spc="-33">
                <a:solidFill>
                  <a:srgbClr val="000000"/>
                </a:solidFill>
                <a:latin typeface="Roboto Condensed Light" panose="02000000000000000000" pitchFamily="2" charset="0"/>
                <a:cs typeface="Arial Narrow"/>
              </a:rPr>
              <a:t>Sheraton </a:t>
            </a:r>
            <a:r>
              <a:rPr lang="en-CA" sz="1200" spc="-30">
                <a:solidFill>
                  <a:srgbClr val="000000"/>
                </a:solidFill>
                <a:latin typeface="Roboto Condensed Light" panose="02000000000000000000" pitchFamily="2" charset="0"/>
                <a:cs typeface="Arial Narrow"/>
              </a:rPr>
              <a:t>Hotel, </a:t>
            </a:r>
            <a:r>
              <a:rPr lang="en-CA" sz="1200" spc="-45">
                <a:solidFill>
                  <a:srgbClr val="000000"/>
                </a:solidFill>
                <a:latin typeface="Roboto Condensed Light" panose="02000000000000000000" pitchFamily="2" charset="0"/>
                <a:cs typeface="Arial Narrow"/>
              </a:rPr>
              <a:t>Toronto, </a:t>
            </a:r>
            <a:r>
              <a:rPr lang="en-CA" sz="1200" spc="-24">
                <a:solidFill>
                  <a:srgbClr val="000000"/>
                </a:solidFill>
                <a:latin typeface="Roboto Condensed Light" panose="02000000000000000000" pitchFamily="2" charset="0"/>
                <a:cs typeface="Arial Narrow"/>
              </a:rPr>
              <a:t>ON. </a:t>
            </a:r>
            <a:r>
              <a:rPr lang="en-CA" sz="1200" spc="-21">
                <a:solidFill>
                  <a:srgbClr val="000000"/>
                </a:solidFill>
                <a:latin typeface="Roboto Condensed Light" panose="02000000000000000000" pitchFamily="2" charset="0"/>
                <a:cs typeface="Arial Narrow"/>
              </a:rPr>
              <a:t>12 </a:t>
            </a:r>
            <a:r>
              <a:rPr lang="en-CA" sz="1200" spc="-49">
                <a:solidFill>
                  <a:srgbClr val="000000"/>
                </a:solidFill>
                <a:latin typeface="Roboto Condensed Light" panose="02000000000000000000" pitchFamily="2" charset="0"/>
                <a:cs typeface="Arial Narrow"/>
              </a:rPr>
              <a:t>Nov. </a:t>
            </a:r>
            <a:r>
              <a:rPr lang="en-CA" sz="1200" spc="-30">
                <a:solidFill>
                  <a:srgbClr val="000000"/>
                </a:solidFill>
                <a:latin typeface="Roboto Condensed Light" panose="02000000000000000000" pitchFamily="2" charset="0"/>
                <a:cs typeface="Arial Narrow"/>
              </a:rPr>
              <a:t>2013. </a:t>
            </a:r>
            <a:r>
              <a:rPr lang="en-CA" sz="1200" spc="-36">
                <a:solidFill>
                  <a:srgbClr val="000000"/>
                </a:solidFill>
                <a:latin typeface="Roboto Condensed Light" panose="02000000000000000000" pitchFamily="2" charset="0"/>
                <a:cs typeface="Arial Narrow"/>
              </a:rPr>
              <a:t>Panel  discussion.</a:t>
            </a:r>
            <a:endParaRPr lang="en-CA" sz="1200" spc="0">
              <a:solidFill>
                <a:srgbClr val="000000"/>
              </a:solidFill>
              <a:latin typeface="Roboto Condensed Light" panose="02000000000000000000" pitchFamily="2" charset="0"/>
              <a:cs typeface="Times New Roman"/>
            </a:endParaRPr>
          </a:p>
          <a:p>
            <a:pPr marL="7701" marR="182520" indent="0" algn="l">
              <a:lnSpc>
                <a:spcPct val="110000"/>
              </a:lnSpc>
              <a:spcBef>
                <a:spcPts val="3"/>
              </a:spcBef>
              <a:spcAft>
                <a:spcPts val="1200"/>
              </a:spcAft>
              <a:buFont typeface="Arial" panose="020B0604020202020204" pitchFamily="34" charset="0"/>
              <a:buNone/>
            </a:pPr>
            <a:r>
              <a:rPr lang="en-CA" sz="1200" spc="-33" err="1">
                <a:solidFill>
                  <a:srgbClr val="000000"/>
                </a:solidFill>
                <a:latin typeface="Roboto Condensed Light" panose="02000000000000000000" pitchFamily="2" charset="0"/>
                <a:cs typeface="Arial Narrow"/>
              </a:rPr>
              <a:t>Culbert</a:t>
            </a:r>
            <a:r>
              <a:rPr lang="en-CA" sz="1200" spc="-33">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Samuel. </a:t>
            </a:r>
            <a:r>
              <a:rPr lang="en-CA" sz="1200" spc="-24">
                <a:solidFill>
                  <a:srgbClr val="000000"/>
                </a:solidFill>
                <a:latin typeface="Roboto Condensed Light" panose="02000000000000000000" pitchFamily="2" charset="0"/>
                <a:cs typeface="Arial Narrow"/>
              </a:rPr>
              <a:t>“10 </a:t>
            </a:r>
            <a:r>
              <a:rPr lang="en-CA" sz="1200" spc="-33">
                <a:solidFill>
                  <a:srgbClr val="000000"/>
                </a:solidFill>
                <a:latin typeface="Roboto Condensed Light" panose="02000000000000000000" pitchFamily="2" charset="0"/>
                <a:cs typeface="Arial Narrow"/>
              </a:rPr>
              <a:t>Reasons </a:t>
            </a:r>
            <a:r>
              <a:rPr lang="en-CA" sz="1200" spc="-18">
                <a:solidFill>
                  <a:srgbClr val="000000"/>
                </a:solidFill>
                <a:latin typeface="Roboto Condensed Light" panose="02000000000000000000" pitchFamily="2" charset="0"/>
                <a:cs typeface="Arial Narrow"/>
              </a:rPr>
              <a:t>to </a:t>
            </a:r>
            <a:r>
              <a:rPr lang="en-CA" sz="1200" spc="-24">
                <a:solidFill>
                  <a:srgbClr val="000000"/>
                </a:solidFill>
                <a:latin typeface="Roboto Condensed Light" panose="02000000000000000000" pitchFamily="2" charset="0"/>
                <a:cs typeface="Arial Narrow"/>
              </a:rPr>
              <a:t>Get Rid </a:t>
            </a:r>
            <a:r>
              <a:rPr lang="en-CA" sz="1200" spc="-18">
                <a:solidFill>
                  <a:srgbClr val="000000"/>
                </a:solidFill>
                <a:latin typeface="Roboto Condensed Light" panose="02000000000000000000" pitchFamily="2" charset="0"/>
                <a:cs typeface="Arial Narrow"/>
              </a:rPr>
              <a:t>of </a:t>
            </a:r>
            <a:r>
              <a:rPr lang="en-CA" sz="1200" spc="-33">
                <a:solidFill>
                  <a:srgbClr val="000000"/>
                </a:solidFill>
                <a:latin typeface="Roboto Condensed Light" panose="02000000000000000000" pitchFamily="2" charset="0"/>
                <a:cs typeface="Arial Narrow"/>
              </a:rPr>
              <a:t>Performance Reviews.” </a:t>
            </a:r>
            <a:r>
              <a:rPr lang="en-CA" sz="1200" spc="-30">
                <a:solidFill>
                  <a:srgbClr val="000000"/>
                </a:solidFill>
                <a:latin typeface="Roboto Condensed Light" panose="02000000000000000000" pitchFamily="2" charset="0"/>
                <a:cs typeface="Arial Narrow"/>
              </a:rPr>
              <a:t>Huffington </a:t>
            </a:r>
            <a:r>
              <a:rPr lang="en-CA" sz="1200" spc="-27">
                <a:solidFill>
                  <a:srgbClr val="000000"/>
                </a:solidFill>
                <a:latin typeface="Roboto Condensed Light" panose="02000000000000000000" pitchFamily="2" charset="0"/>
                <a:cs typeface="Arial Narrow"/>
              </a:rPr>
              <a:t>Post </a:t>
            </a:r>
            <a:r>
              <a:rPr lang="en-CA" sz="1200" spc="-36">
                <a:solidFill>
                  <a:srgbClr val="000000"/>
                </a:solidFill>
                <a:latin typeface="Roboto Condensed Light" panose="02000000000000000000" pitchFamily="2" charset="0"/>
                <a:cs typeface="Arial Narrow"/>
              </a:rPr>
              <a:t>Business.  </a:t>
            </a:r>
            <a:r>
              <a:rPr lang="en-CA" sz="1200" spc="-21">
                <a:solidFill>
                  <a:srgbClr val="000000"/>
                </a:solidFill>
                <a:latin typeface="Roboto Condensed Light" panose="02000000000000000000" pitchFamily="2" charset="0"/>
                <a:cs typeface="Arial Narrow"/>
              </a:rPr>
              <a:t>18</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Dec.</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2012.</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1">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28</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Oct.</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30">
                <a:solidFill>
                  <a:srgbClr val="2576B7"/>
                </a:solidFill>
                <a:latin typeface="Roboto Condensed Light" panose="02000000000000000000" pitchFamily="2" charset="0"/>
                <a:cs typeface="Arial Narrow"/>
              </a:rPr>
              <a:t>.</a:t>
            </a:r>
            <a:r>
              <a:rPr lang="en-CA" sz="1200" spc="-58">
                <a:solidFill>
                  <a:srgbClr val="2576B7"/>
                </a:solidFill>
                <a:latin typeface="Roboto Condensed Light" panose="02000000000000000000" pitchFamily="2" charset="0"/>
                <a:cs typeface="Arial Narrow"/>
              </a:rPr>
              <a:t> </a:t>
            </a:r>
            <a:r>
              <a:rPr lang="en-CA" sz="1200" spc="-36">
                <a:solidFill>
                  <a:srgbClr val="2576B7"/>
                </a:solidFill>
                <a:latin typeface="Roboto Condensed Light" panose="02000000000000000000" pitchFamily="2" charset="0"/>
                <a:cs typeface="Arial Narrow"/>
                <a:hlinkClick r:id="rId4">
                  <a:extLst>
                    <a:ext uri="{A12FA001-AC4F-418D-AE19-62706E023703}">
                      <ahyp:hlinkClr xmlns:ahyp="http://schemas.microsoft.com/office/drawing/2018/hyperlinkcolor" val="tx"/>
                    </a:ext>
                  </a:extLst>
                </a:hlinkClick>
              </a:rPr>
              <a:t>&lt;http://www.huffingtonpost.com/samuel-culbert/performance- </a:t>
            </a:r>
            <a:r>
              <a:rPr lang="en-CA" sz="1200" spc="-36">
                <a:solidFill>
                  <a:srgbClr val="2576B7"/>
                </a:solidFill>
                <a:latin typeface="Roboto Condensed Light" panose="02000000000000000000" pitchFamily="2" charset="0"/>
                <a:cs typeface="Arial Narrow"/>
              </a:rPr>
              <a:t> reviews_b_2325104.html&gt;.</a:t>
            </a:r>
            <a:endParaRPr lang="en-CA" sz="1200" spc="0">
              <a:solidFill>
                <a:srgbClr val="2576B7"/>
              </a:solidFill>
              <a:latin typeface="Roboto Condensed Light" panose="02000000000000000000" pitchFamily="2" charset="0"/>
              <a:cs typeface="Times New Roman"/>
            </a:endParaRPr>
          </a:p>
          <a:p>
            <a:pPr marL="7701" marR="182520" indent="0" algn="l">
              <a:lnSpc>
                <a:spcPct val="110000"/>
              </a:lnSpc>
              <a:spcBef>
                <a:spcPts val="3"/>
              </a:spcBef>
              <a:spcAft>
                <a:spcPts val="1200"/>
              </a:spcAft>
              <a:buFont typeface="Arial" panose="020B0604020202020204" pitchFamily="34" charset="0"/>
              <a:buNone/>
            </a:pPr>
            <a:r>
              <a:rPr lang="en-CA" sz="1200" spc="-33">
                <a:solidFill>
                  <a:srgbClr val="000000"/>
                </a:solidFill>
                <a:latin typeface="Roboto Condensed Light" panose="02000000000000000000" pitchFamily="2" charset="0"/>
                <a:cs typeface="Arial Narrow"/>
              </a:rPr>
              <a:t>Denning, </a:t>
            </a:r>
            <a:r>
              <a:rPr lang="en-CA" sz="1200" spc="-30">
                <a:solidFill>
                  <a:srgbClr val="000000"/>
                </a:solidFill>
                <a:latin typeface="Roboto Condensed Light" panose="02000000000000000000" pitchFamily="2" charset="0"/>
                <a:cs typeface="Arial Narrow"/>
              </a:rPr>
              <a:t>Steve. </a:t>
            </a:r>
            <a:r>
              <a:rPr lang="en-CA" sz="1200" spc="-27">
                <a:solidFill>
                  <a:srgbClr val="000000"/>
                </a:solidFill>
                <a:latin typeface="Roboto Condensed Light" panose="02000000000000000000" pitchFamily="2" charset="0"/>
                <a:cs typeface="Arial Narrow"/>
              </a:rPr>
              <a:t>“The Case </a:t>
            </a:r>
            <a:r>
              <a:rPr lang="en-CA" sz="1200" spc="-30">
                <a:solidFill>
                  <a:srgbClr val="000000"/>
                </a:solidFill>
                <a:latin typeface="Roboto Condensed Light" panose="02000000000000000000" pitchFamily="2" charset="0"/>
                <a:cs typeface="Arial Narrow"/>
              </a:rPr>
              <a:t>Against Agile: </a:t>
            </a:r>
            <a:r>
              <a:rPr lang="en-CA" sz="1200" spc="-64">
                <a:solidFill>
                  <a:srgbClr val="000000"/>
                </a:solidFill>
                <a:latin typeface="Roboto Condensed Light" panose="02000000000000000000" pitchFamily="2" charset="0"/>
                <a:cs typeface="Arial Narrow"/>
              </a:rPr>
              <a:t>Ten </a:t>
            </a:r>
            <a:r>
              <a:rPr lang="en-CA" sz="1200" spc="-33">
                <a:solidFill>
                  <a:srgbClr val="000000"/>
                </a:solidFill>
                <a:latin typeface="Roboto Condensed Light" panose="02000000000000000000" pitchFamily="2" charset="0"/>
                <a:cs typeface="Arial Narrow"/>
              </a:rPr>
              <a:t>Perennial Management Objections.” </a:t>
            </a:r>
            <a:r>
              <a:rPr lang="en-CA" sz="1200" spc="-36">
                <a:solidFill>
                  <a:srgbClr val="000000"/>
                </a:solidFill>
                <a:latin typeface="Roboto Condensed Light" panose="02000000000000000000" pitchFamily="2" charset="0"/>
                <a:cs typeface="Arial Narrow"/>
              </a:rPr>
              <a:t>Forbes  </a:t>
            </a:r>
            <a:r>
              <a:rPr lang="en-CA" sz="1200" spc="-33">
                <a:solidFill>
                  <a:srgbClr val="000000"/>
                </a:solidFill>
                <a:latin typeface="Roboto Condensed Light" panose="02000000000000000000" pitchFamily="2" charset="0"/>
                <a:cs typeface="Arial Narrow"/>
              </a:rPr>
              <a:t>Magazine.</a:t>
            </a:r>
            <a:r>
              <a:rPr lang="en-CA" sz="1200" spc="-64">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17</a:t>
            </a:r>
            <a:r>
              <a:rPr lang="en-CA" sz="1200" spc="-124">
                <a:solidFill>
                  <a:srgbClr val="000000"/>
                </a:solidFill>
                <a:latin typeface="Roboto Condensed Light" panose="02000000000000000000" pitchFamily="2" charset="0"/>
                <a:cs typeface="Arial Narrow"/>
              </a:rPr>
              <a:t> </a:t>
            </a:r>
            <a:r>
              <a:rPr lang="en-CA" sz="1200" spc="-42">
                <a:solidFill>
                  <a:srgbClr val="000000"/>
                </a:solidFill>
                <a:latin typeface="Roboto Condensed Light" panose="02000000000000000000" pitchFamily="2" charset="0"/>
                <a:cs typeface="Arial Narrow"/>
              </a:rPr>
              <a:t>Apr.</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2012.</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4">
                <a:solidFill>
                  <a:srgbClr val="000000"/>
                </a:solidFill>
                <a:latin typeface="Roboto Condensed Light" panose="02000000000000000000" pitchFamily="2" charset="0"/>
                <a:cs typeface="Arial Narrow"/>
              </a:rPr>
              <a:t> </a:t>
            </a:r>
            <a:r>
              <a:rPr lang="en-CA" sz="1200" spc="-49">
                <a:solidFill>
                  <a:srgbClr val="000000"/>
                </a:solidFill>
                <a:latin typeface="Roboto Condensed Light" panose="02000000000000000000" pitchFamily="2" charset="0"/>
                <a:cs typeface="Arial Narrow"/>
              </a:rPr>
              <a:t>Nov.</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58">
                <a:solidFill>
                  <a:srgbClr val="000000"/>
                </a:solidFill>
                <a:latin typeface="Roboto Condensed Light" panose="02000000000000000000" pitchFamily="2" charset="0"/>
                <a:cs typeface="Arial Narrow"/>
              </a:rPr>
              <a:t> </a:t>
            </a:r>
            <a:r>
              <a:rPr lang="en-CA" sz="1200" spc="-36">
                <a:solidFill>
                  <a:srgbClr val="2576B7"/>
                </a:solidFill>
                <a:latin typeface="Roboto Condensed Light" panose="02000000000000000000" pitchFamily="2" charset="0"/>
                <a:cs typeface="Arial Narrow"/>
                <a:hlinkClick r:id="rId5">
                  <a:extLst>
                    <a:ext uri="{A12FA001-AC4F-418D-AE19-62706E023703}">
                      <ahyp:hlinkClr xmlns:ahyp="http://schemas.microsoft.com/office/drawing/2018/hyperlinkcolor" val="tx"/>
                    </a:ext>
                  </a:extLst>
                </a:hlinkClick>
              </a:rPr>
              <a:t>&lt;http://www.forbes.com/sites/stevedenning/2012/04/17/ </a:t>
            </a:r>
            <a:r>
              <a:rPr lang="en-CA" sz="1200" spc="-36">
                <a:solidFill>
                  <a:srgbClr val="2576B7"/>
                </a:solidFill>
                <a:latin typeface="Roboto Condensed Light" panose="02000000000000000000" pitchFamily="2" charset="0"/>
                <a:cs typeface="Arial Narrow"/>
              </a:rPr>
              <a:t> </a:t>
            </a:r>
            <a:r>
              <a:rPr lang="en-CA" sz="1200" spc="-36">
                <a:solidFill>
                  <a:srgbClr val="000000"/>
                </a:solidFill>
                <a:latin typeface="Roboto Condensed Light" panose="02000000000000000000" pitchFamily="2" charset="0"/>
                <a:cs typeface="Arial Narrow"/>
              </a:rPr>
              <a:t>the-case-against-agile-ten-perennial-management-objections/&gt;.</a:t>
            </a:r>
            <a:endParaRPr lang="en-CA" sz="1200" spc="0">
              <a:solidFill>
                <a:srgbClr val="000000"/>
              </a:solidFill>
              <a:latin typeface="Roboto Condensed Light" panose="02000000000000000000" pitchFamily="2" charset="0"/>
              <a:cs typeface="Times New Roman"/>
            </a:endParaRPr>
          </a:p>
          <a:p>
            <a:pPr marL="7701" marR="182520" indent="0" algn="l">
              <a:lnSpc>
                <a:spcPct val="110000"/>
              </a:lnSpc>
              <a:spcBef>
                <a:spcPts val="3"/>
              </a:spcBef>
              <a:spcAft>
                <a:spcPts val="1200"/>
              </a:spcAft>
              <a:buFont typeface="Arial" panose="020B0604020202020204" pitchFamily="34" charset="0"/>
              <a:buNone/>
            </a:pPr>
            <a:r>
              <a:rPr lang="en-CA" sz="1200" spc="-30" err="1">
                <a:solidFill>
                  <a:srgbClr val="000000"/>
                </a:solidFill>
                <a:latin typeface="Roboto Condensed Light" panose="02000000000000000000" pitchFamily="2" charset="0"/>
                <a:cs typeface="Arial Narrow"/>
              </a:rPr>
              <a:t>Estis</a:t>
            </a:r>
            <a:r>
              <a:rPr lang="en-CA" sz="1200" spc="-30">
                <a:solidFill>
                  <a:srgbClr val="000000"/>
                </a:solidFill>
                <a:latin typeface="Roboto Condensed Light" panose="02000000000000000000" pitchFamily="2" charset="0"/>
                <a:cs typeface="Arial Narrow"/>
              </a:rPr>
              <a:t>,</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Ryan.</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“Blowing</a:t>
            </a:r>
            <a:r>
              <a:rPr lang="en-CA" sz="1200" spc="-61">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up</a:t>
            </a:r>
            <a:r>
              <a:rPr lang="en-CA" sz="1200" spc="-61">
                <a:solidFill>
                  <a:srgbClr val="000000"/>
                </a:solidFill>
                <a:latin typeface="Roboto Condensed Light" panose="02000000000000000000" pitchFamily="2" charset="0"/>
                <a:cs typeface="Arial Narrow"/>
              </a:rPr>
              <a:t> </a:t>
            </a:r>
            <a:r>
              <a:rPr lang="en-CA" sz="1200" spc="-24">
                <a:solidFill>
                  <a:srgbClr val="000000"/>
                </a:solidFill>
                <a:latin typeface="Roboto Condensed Light" panose="02000000000000000000" pitchFamily="2" charset="0"/>
                <a:cs typeface="Arial Narrow"/>
              </a:rPr>
              <a:t>the</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Performance</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Review:</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Interview</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with</a:t>
            </a:r>
            <a:r>
              <a:rPr lang="en-CA" sz="1200" spc="-12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Adobe’s</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Donna</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Morris.”</a:t>
            </a:r>
            <a:r>
              <a:rPr lang="en-CA" sz="1200" spc="-64">
                <a:solidFill>
                  <a:srgbClr val="000000"/>
                </a:solidFill>
                <a:latin typeface="Roboto Condensed Light" panose="02000000000000000000" pitchFamily="2" charset="0"/>
                <a:cs typeface="Arial Narrow"/>
              </a:rPr>
              <a:t> </a:t>
            </a:r>
            <a:r>
              <a:rPr lang="en-CA" sz="1200" spc="-36">
                <a:solidFill>
                  <a:srgbClr val="000000"/>
                </a:solidFill>
                <a:latin typeface="Roboto Condensed Light" panose="02000000000000000000" pitchFamily="2" charset="0"/>
                <a:cs typeface="Arial Narrow"/>
              </a:rPr>
              <a:t>Ryan  </a:t>
            </a:r>
            <a:r>
              <a:rPr lang="en-CA" sz="1200" spc="-30" err="1">
                <a:solidFill>
                  <a:srgbClr val="000000"/>
                </a:solidFill>
                <a:latin typeface="Roboto Condensed Light" panose="02000000000000000000" pitchFamily="2" charset="0"/>
                <a:cs typeface="Arial Narrow"/>
              </a:rPr>
              <a:t>Estis</a:t>
            </a:r>
            <a:r>
              <a:rPr lang="en-CA" sz="1200" spc="-61">
                <a:solidFill>
                  <a:srgbClr val="000000"/>
                </a:solidFill>
                <a:latin typeface="Roboto Condensed Light" panose="02000000000000000000" pitchFamily="2" charset="0"/>
                <a:cs typeface="Arial Narrow"/>
              </a:rPr>
              <a:t> </a:t>
            </a:r>
            <a:r>
              <a:rPr lang="en-CA" sz="1200" spc="-3">
                <a:solidFill>
                  <a:srgbClr val="000000"/>
                </a:solidFill>
                <a:latin typeface="Roboto Condensed Light" panose="02000000000000000000" pitchFamily="2" charset="0"/>
                <a:cs typeface="Arial Narrow"/>
              </a:rPr>
              <a:t>&amp;</a:t>
            </a:r>
            <a:r>
              <a:rPr lang="en-CA" sz="1200" spc="-118">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Associates.</a:t>
            </a:r>
            <a:r>
              <a:rPr lang="en-CA" sz="1200" spc="-61">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17</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June</a:t>
            </a:r>
            <a:r>
              <a:rPr lang="en-CA" sz="1200" spc="-58">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Oct.</a:t>
            </a:r>
            <a:r>
              <a:rPr lang="en-CA" sz="1200" spc="-58">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30">
                <a:solidFill>
                  <a:srgbClr val="2576B7"/>
                </a:solidFill>
                <a:latin typeface="Roboto Condensed Light" panose="02000000000000000000" pitchFamily="2" charset="0"/>
                <a:cs typeface="Arial Narrow"/>
              </a:rPr>
              <a:t>.</a:t>
            </a:r>
            <a:r>
              <a:rPr lang="en-CA" sz="1200" spc="-61">
                <a:solidFill>
                  <a:srgbClr val="2576B7"/>
                </a:solidFill>
                <a:latin typeface="Roboto Condensed Light" panose="02000000000000000000" pitchFamily="2" charset="0"/>
                <a:cs typeface="Arial Narrow"/>
              </a:rPr>
              <a:t> </a:t>
            </a:r>
            <a:r>
              <a:rPr lang="en-CA" sz="1200" spc="-36">
                <a:solidFill>
                  <a:srgbClr val="2576B7"/>
                </a:solidFill>
                <a:latin typeface="Roboto Condensed Light" panose="02000000000000000000" pitchFamily="2" charset="0"/>
                <a:cs typeface="Arial Narrow"/>
              </a:rPr>
              <a:t>&lt;</a:t>
            </a:r>
            <a:r>
              <a:rPr lang="en-CA" sz="1200" spc="-36">
                <a:solidFill>
                  <a:srgbClr val="2576B7"/>
                </a:solidFill>
                <a:latin typeface="Roboto Condensed Light" panose="02000000000000000000" pitchFamily="2" charset="0"/>
                <a:cs typeface="Arial Narrow"/>
                <a:hlinkClick r:id="rId6">
                  <a:extLst>
                    <a:ext uri="{A12FA001-AC4F-418D-AE19-62706E023703}">
                      <ahyp:hlinkClr xmlns:ahyp="http://schemas.microsoft.com/office/drawing/2018/hyperlinkcolor" val="tx"/>
                    </a:ext>
                  </a:extLst>
                </a:hlinkClick>
              </a:rPr>
              <a:t>http://ryanestis.com/adobe-interview/&gt;</a:t>
            </a:r>
            <a:r>
              <a:rPr lang="en-CA" sz="1200" spc="-36">
                <a:solidFill>
                  <a:srgbClr val="2576B7"/>
                </a:solidFill>
                <a:latin typeface="Roboto Condensed Light" panose="02000000000000000000" pitchFamily="2" charset="0"/>
                <a:cs typeface="Arial Narrow"/>
              </a:rPr>
              <a:t>.</a:t>
            </a:r>
            <a:endParaRPr lang="en-CA" sz="1200">
              <a:solidFill>
                <a:srgbClr val="2576B7"/>
              </a:solidFill>
              <a:latin typeface="Roboto Condensed Light" panose="02000000000000000000" pitchFamily="2" charset="0"/>
              <a:cs typeface="Arial Narrow"/>
            </a:endParaRPr>
          </a:p>
          <a:p>
            <a:pPr marL="0" lvl="0" indent="0" algn="l">
              <a:lnSpc>
                <a:spcPct val="110000"/>
              </a:lnSpc>
              <a:spcAft>
                <a:spcPts val="1200"/>
              </a:spcAft>
              <a:buFont typeface="Arial" panose="020B0604020202020204" pitchFamily="34" charset="0"/>
              <a:buNone/>
            </a:pPr>
            <a:endParaRPr lang="en-US" sz="1200">
              <a:solidFill>
                <a:srgbClr val="000000"/>
              </a:solidFill>
            </a:endParaRPr>
          </a:p>
          <a:p>
            <a:pPr marL="0" indent="0" algn="l">
              <a:lnSpc>
                <a:spcPct val="110000"/>
              </a:lnSpc>
              <a:spcAft>
                <a:spcPts val="1200"/>
              </a:spcAft>
              <a:buFont typeface="Arial" panose="020B0604020202020204" pitchFamily="34" charset="0"/>
              <a:buNone/>
              <a:tabLst/>
            </a:pPr>
            <a:endParaRPr lang="en-US" sz="1200">
              <a:solidFill>
                <a:srgbClr val="000000"/>
              </a:solidFill>
              <a:latin typeface="Roboto Condensed Light" panose="02000000000000000000" pitchFamily="2" charset="0"/>
              <a:ea typeface="Roboto Condensed Light" panose="02000000000000000000" pitchFamily="2" charset="0"/>
            </a:endParaRPr>
          </a:p>
          <a:p>
            <a:pPr marL="179388" indent="-179388" algn="l">
              <a:lnSpc>
                <a:spcPct val="110000"/>
              </a:lnSpc>
              <a:spcAft>
                <a:spcPts val="1200"/>
              </a:spcAft>
              <a:buFont typeface="Arial" panose="020B0604020202020204" pitchFamily="34" charset="0"/>
              <a:buChar char="•"/>
              <a:tabLst/>
            </a:pPr>
            <a:endParaRPr lang="en-US" sz="1200" err="1">
              <a:solidFill>
                <a:srgbClr val="000000"/>
              </a:solidFill>
              <a:latin typeface="Roboto Condensed Light" panose="02000000000000000000" pitchFamily="2" charset="0"/>
              <a:ea typeface="Roboto Condensed Light" panose="02000000000000000000" pitchFamily="2" charset="0"/>
            </a:endParaRPr>
          </a:p>
        </p:txBody>
      </p:sp>
      <p:sp>
        <p:nvSpPr>
          <p:cNvPr id="8" name="Text Placeholder 10">
            <a:extLst>
              <a:ext uri="{FF2B5EF4-FFF2-40B4-BE49-F238E27FC236}">
                <a16:creationId xmlns:a16="http://schemas.microsoft.com/office/drawing/2014/main" id="{1EAEE0FF-8280-464B-BE45-2710E99284E9}"/>
              </a:ext>
            </a:extLst>
          </p:cNvPr>
          <p:cNvSpPr>
            <a:spLocks noGrp="1"/>
          </p:cNvSpPr>
          <p:nvPr>
            <p:ph type="body" sz="quarter" idx="14" hasCustomPrompt="1"/>
          </p:nvPr>
        </p:nvSpPr>
        <p:spPr>
          <a:xfrm>
            <a:off x="6205538" y="1552498"/>
            <a:ext cx="5477732" cy="4503847"/>
          </a:xfrm>
          <a:prstGeom prst="rect">
            <a:avLst/>
          </a:prstGeom>
        </p:spPr>
        <p:txBody>
          <a:bodyPr lIns="0" tIns="0" rIns="0" bIns="0">
            <a:noAutofit/>
          </a:bodyPr>
          <a:lstStyle>
            <a:lvl1pPr marL="179388" marR="182520" indent="-179388" algn="l">
              <a:lnSpc>
                <a:spcPct val="110000"/>
              </a:lnSpc>
              <a:spcBef>
                <a:spcPts val="3"/>
              </a:spcBef>
              <a:spcAft>
                <a:spcPts val="1200"/>
              </a:spcAft>
              <a:buFont typeface="Arial" panose="020B0604020202020204" pitchFamily="34" charset="0"/>
              <a:buChar char="•"/>
              <a:tabLst/>
              <a:defRPr sz="1600" baseline="0">
                <a:solidFill>
                  <a:srgbClr val="2576B7"/>
                </a:solidFill>
                <a:latin typeface="Roboto Condensed Light" panose="02000000000000000000" pitchFamily="2" charset="0"/>
              </a:defRPr>
            </a:lvl1pPr>
          </a:lstStyle>
          <a:p>
            <a:pPr marL="7701" marR="242975" indent="0" algn="l">
              <a:lnSpc>
                <a:spcPct val="110000"/>
              </a:lnSpc>
              <a:spcBef>
                <a:spcPts val="55"/>
              </a:spcBef>
              <a:spcAft>
                <a:spcPts val="1200"/>
              </a:spcAft>
              <a:buFont typeface="Arial" panose="020B0604020202020204" pitchFamily="34" charset="0"/>
              <a:buNone/>
            </a:pPr>
            <a:r>
              <a:rPr lang="en-CA" sz="1200" spc="-30" err="1">
                <a:solidFill>
                  <a:srgbClr val="000000"/>
                </a:solidFill>
                <a:latin typeface="Roboto Condensed Light" panose="02000000000000000000" pitchFamily="2" charset="0"/>
                <a:cs typeface="Arial Narrow"/>
              </a:rPr>
              <a:t>Bersin</a:t>
            </a:r>
            <a:r>
              <a:rPr lang="en-CA" sz="1200" spc="-30">
                <a:solidFill>
                  <a:srgbClr val="000000"/>
                </a:solidFill>
                <a:latin typeface="Roboto Condensed Light" panose="02000000000000000000" pitchFamily="2" charset="0"/>
                <a:cs typeface="Arial Narrow"/>
              </a:rPr>
              <a:t>,</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Josh.</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“Time</a:t>
            </a:r>
            <a:r>
              <a:rPr lang="en-CA" sz="1200" spc="-64">
                <a:solidFill>
                  <a:srgbClr val="000000"/>
                </a:solidFill>
                <a:latin typeface="Roboto Condensed Light" panose="02000000000000000000" pitchFamily="2" charset="0"/>
                <a:cs typeface="Arial Narrow"/>
              </a:rPr>
              <a:t> </a:t>
            </a:r>
            <a:r>
              <a:rPr lang="en-CA" sz="1200" spc="-18">
                <a:solidFill>
                  <a:srgbClr val="000000"/>
                </a:solidFill>
                <a:latin typeface="Roboto Condensed Light" panose="02000000000000000000" pitchFamily="2" charset="0"/>
                <a:cs typeface="Arial Narrow"/>
              </a:rPr>
              <a:t>to</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Scrap</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Performance</a:t>
            </a:r>
            <a:r>
              <a:rPr lang="en-CA" sz="1200" spc="-12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Appraisals?”</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Forbes</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Magazine.</a:t>
            </a:r>
            <a:r>
              <a:rPr lang="en-CA" sz="1200" spc="-64">
                <a:solidFill>
                  <a:srgbClr val="000000"/>
                </a:solidFill>
                <a:latin typeface="Roboto Condensed Light" panose="02000000000000000000" pitchFamily="2" charset="0"/>
                <a:cs typeface="Arial Narrow"/>
              </a:rPr>
              <a:t> </a:t>
            </a:r>
            <a:r>
              <a:rPr lang="en-CA" sz="1200" spc="-3">
                <a:solidFill>
                  <a:srgbClr val="000000"/>
                </a:solidFill>
                <a:latin typeface="Roboto Condensed Light" panose="02000000000000000000" pitchFamily="2" charset="0"/>
                <a:cs typeface="Arial Narrow"/>
              </a:rPr>
              <a:t>5</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June</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64">
                <a:solidFill>
                  <a:srgbClr val="000000"/>
                </a:solidFill>
                <a:latin typeface="Roboto Condensed Light" panose="02000000000000000000" pitchFamily="2" charset="0"/>
                <a:cs typeface="Arial Narrow"/>
              </a:rPr>
              <a:t> </a:t>
            </a:r>
            <a:r>
              <a:rPr lang="en-CA" sz="1200" spc="-42">
                <a:solidFill>
                  <a:srgbClr val="000000"/>
                </a:solidFill>
                <a:latin typeface="Roboto Condensed Light" panose="02000000000000000000" pitchFamily="2" charset="0"/>
                <a:cs typeface="Arial Narrow"/>
              </a:rPr>
              <a:t>Web.  </a:t>
            </a:r>
            <a:r>
              <a:rPr lang="en-CA" sz="1200" spc="-21">
                <a:solidFill>
                  <a:srgbClr val="000000"/>
                </a:solidFill>
                <a:latin typeface="Roboto Condensed Light" panose="02000000000000000000" pitchFamily="2" charset="0"/>
                <a:cs typeface="Arial Narrow"/>
              </a:rPr>
              <a:t>30 </a:t>
            </a:r>
            <a:r>
              <a:rPr lang="en-CA" sz="1200" spc="-24">
                <a:solidFill>
                  <a:srgbClr val="000000"/>
                </a:solidFill>
                <a:latin typeface="Roboto Condensed Light" panose="02000000000000000000" pitchFamily="2" charset="0"/>
                <a:cs typeface="Arial Narrow"/>
              </a:rPr>
              <a:t>Oct </a:t>
            </a:r>
            <a:r>
              <a:rPr lang="en-CA" sz="1200" spc="-30">
                <a:solidFill>
                  <a:srgbClr val="000000"/>
                </a:solidFill>
                <a:latin typeface="Roboto Condensed Light" panose="02000000000000000000" pitchFamily="2" charset="0"/>
                <a:cs typeface="Arial Narrow"/>
              </a:rPr>
              <a:t>2013. </a:t>
            </a:r>
            <a:r>
              <a:rPr lang="en-CA" sz="1200" spc="-36">
                <a:solidFill>
                  <a:srgbClr val="2576B7"/>
                </a:solidFill>
                <a:latin typeface="Roboto Condensed Light" panose="02000000000000000000" pitchFamily="2" charset="0"/>
                <a:cs typeface="Arial Narrow"/>
                <a:hlinkClick r:id="rId2">
                  <a:extLst>
                    <a:ext uri="{A12FA001-AC4F-418D-AE19-62706E023703}">
                      <ahyp:hlinkClr xmlns:ahyp="http://schemas.microsoft.com/office/drawing/2018/hyperlinkcolor" val="tx"/>
                    </a:ext>
                  </a:extLst>
                </a:hlinkClick>
              </a:rPr>
              <a:t>&lt;http://www.forbes.com/sites/joshbersin/2013/05/06/time-to-scrap-performance- </a:t>
            </a:r>
            <a:r>
              <a:rPr lang="en-CA" sz="1200" spc="-36">
                <a:solidFill>
                  <a:srgbClr val="2576B7"/>
                </a:solidFill>
                <a:latin typeface="Roboto Condensed Light" panose="02000000000000000000" pitchFamily="2" charset="0"/>
                <a:cs typeface="Arial Narrow"/>
              </a:rPr>
              <a:t> </a:t>
            </a:r>
            <a:r>
              <a:rPr lang="en-CA" sz="1200" spc="-33">
                <a:solidFill>
                  <a:srgbClr val="2576B7"/>
                </a:solidFill>
                <a:latin typeface="Roboto Condensed Light" panose="02000000000000000000" pitchFamily="2" charset="0"/>
                <a:cs typeface="Arial Narrow"/>
              </a:rPr>
              <a:t>appraisals/&gt;.</a:t>
            </a:r>
            <a:endParaRPr lang="en-CA" sz="1200" spc="0">
              <a:solidFill>
                <a:srgbClr val="2576B7"/>
              </a:solidFill>
              <a:latin typeface="Roboto Condensed Light" panose="02000000000000000000" pitchFamily="2" charset="0"/>
              <a:cs typeface="Times New Roman"/>
            </a:endParaRPr>
          </a:p>
          <a:p>
            <a:pPr marL="7701" marR="242975" indent="0" algn="l">
              <a:lnSpc>
                <a:spcPct val="110000"/>
              </a:lnSpc>
              <a:spcBef>
                <a:spcPts val="55"/>
              </a:spcBef>
              <a:spcAft>
                <a:spcPts val="1200"/>
              </a:spcAft>
              <a:buFont typeface="Arial" panose="020B0604020202020204" pitchFamily="34" charset="0"/>
              <a:buNone/>
            </a:pPr>
            <a:r>
              <a:rPr lang="en-CA" sz="1200" spc="-30">
                <a:solidFill>
                  <a:srgbClr val="000000"/>
                </a:solidFill>
                <a:latin typeface="Roboto Condensed Light" panose="02000000000000000000" pitchFamily="2" charset="0"/>
                <a:cs typeface="Arial Narrow"/>
              </a:rPr>
              <a:t>Cheese,</a:t>
            </a:r>
            <a:r>
              <a:rPr lang="en-CA" sz="1200" spc="-67">
                <a:solidFill>
                  <a:srgbClr val="000000"/>
                </a:solidFill>
                <a:latin typeface="Roboto Condensed Light" panose="02000000000000000000" pitchFamily="2" charset="0"/>
                <a:cs typeface="Arial Narrow"/>
              </a:rPr>
              <a:t> </a:t>
            </a:r>
            <a:r>
              <a:rPr lang="en-CA" sz="1200" spc="-39">
                <a:solidFill>
                  <a:srgbClr val="000000"/>
                </a:solidFill>
                <a:latin typeface="Roboto Condensed Light" panose="02000000000000000000" pitchFamily="2" charset="0"/>
                <a:cs typeface="Arial Narrow"/>
              </a:rPr>
              <a:t>Peter,</a:t>
            </a:r>
            <a:r>
              <a:rPr lang="en-CA" sz="1200" spc="-64">
                <a:solidFill>
                  <a:srgbClr val="000000"/>
                </a:solidFill>
                <a:latin typeface="Roboto Condensed Light" panose="02000000000000000000" pitchFamily="2" charset="0"/>
                <a:cs typeface="Arial Narrow"/>
              </a:rPr>
              <a:t> </a:t>
            </a:r>
            <a:r>
              <a:rPr lang="en-CA" sz="1200" spc="-18">
                <a:solidFill>
                  <a:srgbClr val="000000"/>
                </a:solidFill>
                <a:latin typeface="Roboto Condensed Light" panose="02000000000000000000" pitchFamily="2" charset="0"/>
                <a:cs typeface="Arial Narrow"/>
              </a:rPr>
              <a:t>et</a:t>
            </a:r>
            <a:r>
              <a:rPr lang="en-CA" sz="1200" spc="-64">
                <a:solidFill>
                  <a:srgbClr val="000000"/>
                </a:solidFill>
                <a:latin typeface="Roboto Condensed Light" panose="02000000000000000000" pitchFamily="2" charset="0"/>
                <a:cs typeface="Arial Narrow"/>
              </a:rPr>
              <a:t> </a:t>
            </a:r>
            <a:r>
              <a:rPr lang="en-CA" sz="1200" spc="-24">
                <a:solidFill>
                  <a:srgbClr val="000000"/>
                </a:solidFill>
                <a:latin typeface="Roboto Condensed Light" panose="02000000000000000000" pitchFamily="2" charset="0"/>
                <a:cs typeface="Arial Narrow"/>
              </a:rPr>
              <a:t>al.</a:t>
            </a:r>
            <a:r>
              <a:rPr lang="en-CA" sz="1200" spc="-64">
                <a:solidFill>
                  <a:srgbClr val="000000"/>
                </a:solidFill>
                <a:latin typeface="Roboto Condensed Light" panose="02000000000000000000" pitchFamily="2" charset="0"/>
                <a:cs typeface="Arial Narrow"/>
              </a:rPr>
              <a:t> </a:t>
            </a:r>
            <a:r>
              <a:rPr lang="en-CA" sz="1200" spc="-3">
                <a:solidFill>
                  <a:srgbClr val="000000"/>
                </a:solidFill>
                <a:latin typeface="Roboto Condensed Light" panose="02000000000000000000" pitchFamily="2" charset="0"/>
                <a:cs typeface="Arial Narrow"/>
              </a:rPr>
              <a:t>“</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Creating</a:t>
            </a:r>
            <a:r>
              <a:rPr lang="en-CA" sz="1200" spc="-64">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an</a:t>
            </a:r>
            <a:r>
              <a:rPr lang="en-CA" sz="1200" spc="-12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Agile</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Organization.”</a:t>
            </a:r>
            <a:r>
              <a:rPr lang="en-CA" sz="1200" spc="-12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Accenture.</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Oct.</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2009.</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4">
                <a:solidFill>
                  <a:srgbClr val="000000"/>
                </a:solidFill>
                <a:latin typeface="Roboto Condensed Light" panose="02000000000000000000" pitchFamily="2" charset="0"/>
                <a:cs typeface="Arial Narrow"/>
              </a:rPr>
              <a:t> </a:t>
            </a:r>
            <a:r>
              <a:rPr lang="en-CA" sz="1200" spc="-49">
                <a:solidFill>
                  <a:srgbClr val="000000"/>
                </a:solidFill>
                <a:latin typeface="Roboto Condensed Light" panose="02000000000000000000" pitchFamily="2" charset="0"/>
                <a:cs typeface="Arial Narrow"/>
              </a:rPr>
              <a:t>Nov.</a:t>
            </a:r>
            <a:r>
              <a:rPr lang="en-CA" sz="1200" spc="-64">
                <a:solidFill>
                  <a:srgbClr val="000000"/>
                </a:solidFill>
                <a:latin typeface="Roboto Condensed Light" panose="02000000000000000000" pitchFamily="2" charset="0"/>
                <a:cs typeface="Arial Narrow"/>
              </a:rPr>
              <a:t> </a:t>
            </a:r>
            <a:r>
              <a:rPr lang="en-CA" sz="1200" spc="-36">
                <a:solidFill>
                  <a:srgbClr val="000000"/>
                </a:solidFill>
                <a:latin typeface="Roboto Condensed Light" panose="02000000000000000000" pitchFamily="2" charset="0"/>
                <a:cs typeface="Arial Narrow"/>
              </a:rPr>
              <a:t>2013.</a:t>
            </a:r>
            <a:br>
              <a:rPr lang="en-CA" sz="1200" spc="0">
                <a:solidFill>
                  <a:srgbClr val="000000"/>
                </a:solidFill>
                <a:latin typeface="Roboto Condensed Light" panose="02000000000000000000" pitchFamily="2" charset="0"/>
                <a:cs typeface="Arial Narrow"/>
              </a:rPr>
            </a:br>
            <a:r>
              <a:rPr lang="en-CA" sz="1200" spc="-36">
                <a:solidFill>
                  <a:srgbClr val="2576B7"/>
                </a:solidFill>
                <a:latin typeface="Roboto Condensed Light" panose="02000000000000000000" pitchFamily="2" charset="0"/>
                <a:cs typeface="Arial Narrow"/>
                <a:hlinkClick r:id="rId3">
                  <a:extLst>
                    <a:ext uri="{A12FA001-AC4F-418D-AE19-62706E023703}">
                      <ahyp:hlinkClr xmlns:ahyp="http://schemas.microsoft.com/office/drawing/2018/hyperlinkcolor" val="tx"/>
                    </a:ext>
                  </a:extLst>
                </a:hlinkClick>
              </a:rPr>
              <a:t>&lt;http://www.accenture.com/SiteCollectionDocuments/PDF/OutlookPDF_AgileOrganization_02. </a:t>
            </a:r>
            <a:r>
              <a:rPr lang="en-CA" sz="1200" spc="-36">
                <a:solidFill>
                  <a:srgbClr val="2576B7"/>
                </a:solidFill>
                <a:latin typeface="Roboto Condensed Light" panose="02000000000000000000" pitchFamily="2" charset="0"/>
                <a:cs typeface="Arial Narrow"/>
              </a:rPr>
              <a:t> </a:t>
            </a:r>
            <a:r>
              <a:rPr lang="en-CA" sz="1200" spc="-30">
                <a:solidFill>
                  <a:srgbClr val="2576B7"/>
                </a:solidFill>
                <a:latin typeface="Roboto Condensed Light" panose="02000000000000000000" pitchFamily="2" charset="0"/>
                <a:cs typeface="Arial Narrow"/>
              </a:rPr>
              <a:t>pdf&gt;.</a:t>
            </a:r>
            <a:endParaRPr lang="en-CA" sz="1200" spc="0">
              <a:solidFill>
                <a:srgbClr val="2576B7"/>
              </a:solidFill>
              <a:latin typeface="Roboto Condensed Light" panose="02000000000000000000" pitchFamily="2" charset="0"/>
              <a:cs typeface="Times New Roman"/>
            </a:endParaRPr>
          </a:p>
          <a:p>
            <a:pPr marL="7701" marR="242975" indent="0" algn="l">
              <a:lnSpc>
                <a:spcPct val="110000"/>
              </a:lnSpc>
              <a:spcBef>
                <a:spcPts val="55"/>
              </a:spcBef>
              <a:spcAft>
                <a:spcPts val="1200"/>
              </a:spcAft>
              <a:buFont typeface="Arial" panose="020B0604020202020204" pitchFamily="34" charset="0"/>
              <a:buNone/>
            </a:pPr>
            <a:r>
              <a:rPr lang="en-CA" sz="1200" spc="-30" err="1">
                <a:solidFill>
                  <a:srgbClr val="000000"/>
                </a:solidFill>
                <a:latin typeface="Roboto Condensed Light" panose="02000000000000000000" pitchFamily="2" charset="0"/>
                <a:cs typeface="Arial Narrow"/>
              </a:rPr>
              <a:t>Croxon</a:t>
            </a:r>
            <a:r>
              <a:rPr lang="en-CA" sz="1200" spc="-30">
                <a:solidFill>
                  <a:srgbClr val="000000"/>
                </a:solidFill>
                <a:latin typeface="Roboto Condensed Light" panose="02000000000000000000" pitchFamily="2" charset="0"/>
                <a:cs typeface="Arial Narrow"/>
              </a:rPr>
              <a:t>,</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Bruce</a:t>
            </a:r>
            <a:r>
              <a:rPr lang="en-CA" sz="1200" spc="-67">
                <a:solidFill>
                  <a:srgbClr val="000000"/>
                </a:solidFill>
                <a:latin typeface="Roboto Condensed Light" panose="02000000000000000000" pitchFamily="2" charset="0"/>
                <a:cs typeface="Arial Narrow"/>
              </a:rPr>
              <a:t> </a:t>
            </a:r>
            <a:r>
              <a:rPr lang="en-CA" sz="1200" spc="-18">
                <a:solidFill>
                  <a:srgbClr val="000000"/>
                </a:solidFill>
                <a:latin typeface="Roboto Condensed Light" panose="02000000000000000000" pitchFamily="2" charset="0"/>
                <a:cs typeface="Arial Narrow"/>
              </a:rPr>
              <a:t>et</a:t>
            </a:r>
            <a:r>
              <a:rPr lang="en-CA" sz="1200" spc="-64">
                <a:solidFill>
                  <a:srgbClr val="000000"/>
                </a:solidFill>
                <a:latin typeface="Roboto Condensed Light" panose="02000000000000000000" pitchFamily="2" charset="0"/>
                <a:cs typeface="Arial Narrow"/>
              </a:rPr>
              <a:t> </a:t>
            </a:r>
            <a:r>
              <a:rPr lang="en-CA" sz="1200" spc="-24">
                <a:solidFill>
                  <a:srgbClr val="000000"/>
                </a:solidFill>
                <a:latin typeface="Roboto Condensed Light" panose="02000000000000000000" pitchFamily="2" charset="0"/>
                <a:cs typeface="Arial Narrow"/>
              </a:rPr>
              <a:t>al.</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“Dinner</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Series:</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Performance</a:t>
            </a:r>
            <a:r>
              <a:rPr lang="en-CA" sz="1200" spc="-67">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Management</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with</a:t>
            </a:r>
            <a:r>
              <a:rPr lang="en-CA" sz="1200" spc="-67">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Bruce</a:t>
            </a:r>
            <a:r>
              <a:rPr lang="en-CA" sz="1200" spc="-67">
                <a:solidFill>
                  <a:srgbClr val="000000"/>
                </a:solidFill>
                <a:latin typeface="Roboto Condensed Light" panose="02000000000000000000" pitchFamily="2" charset="0"/>
                <a:cs typeface="Arial Narrow"/>
              </a:rPr>
              <a:t> </a:t>
            </a:r>
            <a:r>
              <a:rPr lang="en-CA" sz="1200" spc="-30" err="1">
                <a:solidFill>
                  <a:srgbClr val="000000"/>
                </a:solidFill>
                <a:latin typeface="Roboto Condensed Light" panose="02000000000000000000" pitchFamily="2" charset="0"/>
                <a:cs typeface="Arial Narrow"/>
              </a:rPr>
              <a:t>Croxon</a:t>
            </a:r>
            <a:r>
              <a:rPr lang="en-CA" sz="1200" spc="-64">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from</a:t>
            </a:r>
            <a:r>
              <a:rPr lang="en-CA" sz="1200" spc="-67">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CBC’s  ‘Dragon’s </a:t>
            </a:r>
            <a:r>
              <a:rPr lang="en-CA" sz="1200" spc="-30">
                <a:solidFill>
                  <a:srgbClr val="000000"/>
                </a:solidFill>
                <a:latin typeface="Roboto Condensed Light" panose="02000000000000000000" pitchFamily="2" charset="0"/>
                <a:cs typeface="Arial Narrow"/>
              </a:rPr>
              <a:t>Den’” </a:t>
            </a:r>
            <a:r>
              <a:rPr lang="en-CA" sz="1200" spc="-49">
                <a:solidFill>
                  <a:srgbClr val="000000"/>
                </a:solidFill>
                <a:latin typeface="Roboto Condensed Light" panose="02000000000000000000" pitchFamily="2" charset="0"/>
                <a:cs typeface="Arial Narrow"/>
              </a:rPr>
              <a:t>HRPA Toronto </a:t>
            </a:r>
            <a:r>
              <a:rPr lang="en-CA" sz="1200" spc="-39">
                <a:solidFill>
                  <a:srgbClr val="000000"/>
                </a:solidFill>
                <a:latin typeface="Roboto Condensed Light" panose="02000000000000000000" pitchFamily="2" charset="0"/>
                <a:cs typeface="Arial Narrow"/>
              </a:rPr>
              <a:t>Chapter. </a:t>
            </a:r>
            <a:r>
              <a:rPr lang="en-CA" sz="1200" spc="-33">
                <a:solidFill>
                  <a:srgbClr val="000000"/>
                </a:solidFill>
                <a:latin typeface="Roboto Condensed Light" panose="02000000000000000000" pitchFamily="2" charset="0"/>
                <a:cs typeface="Arial Narrow"/>
              </a:rPr>
              <a:t>Sheraton </a:t>
            </a:r>
            <a:r>
              <a:rPr lang="en-CA" sz="1200" spc="-30">
                <a:solidFill>
                  <a:srgbClr val="000000"/>
                </a:solidFill>
                <a:latin typeface="Roboto Condensed Light" panose="02000000000000000000" pitchFamily="2" charset="0"/>
                <a:cs typeface="Arial Narrow"/>
              </a:rPr>
              <a:t>Hotel, </a:t>
            </a:r>
            <a:r>
              <a:rPr lang="en-CA" sz="1200" spc="-45">
                <a:solidFill>
                  <a:srgbClr val="000000"/>
                </a:solidFill>
                <a:latin typeface="Roboto Condensed Light" panose="02000000000000000000" pitchFamily="2" charset="0"/>
                <a:cs typeface="Arial Narrow"/>
              </a:rPr>
              <a:t>Toronto, </a:t>
            </a:r>
            <a:r>
              <a:rPr lang="en-CA" sz="1200" spc="-24">
                <a:solidFill>
                  <a:srgbClr val="000000"/>
                </a:solidFill>
                <a:latin typeface="Roboto Condensed Light" panose="02000000000000000000" pitchFamily="2" charset="0"/>
                <a:cs typeface="Arial Narrow"/>
              </a:rPr>
              <a:t>ON. </a:t>
            </a:r>
            <a:r>
              <a:rPr lang="en-CA" sz="1200" spc="-21">
                <a:solidFill>
                  <a:srgbClr val="000000"/>
                </a:solidFill>
                <a:latin typeface="Roboto Condensed Light" panose="02000000000000000000" pitchFamily="2" charset="0"/>
                <a:cs typeface="Arial Narrow"/>
              </a:rPr>
              <a:t>12 </a:t>
            </a:r>
            <a:r>
              <a:rPr lang="en-CA" sz="1200" spc="-49">
                <a:solidFill>
                  <a:srgbClr val="000000"/>
                </a:solidFill>
                <a:latin typeface="Roboto Condensed Light" panose="02000000000000000000" pitchFamily="2" charset="0"/>
                <a:cs typeface="Arial Narrow"/>
              </a:rPr>
              <a:t>Nov. </a:t>
            </a:r>
            <a:r>
              <a:rPr lang="en-CA" sz="1200" spc="-30">
                <a:solidFill>
                  <a:srgbClr val="000000"/>
                </a:solidFill>
                <a:latin typeface="Roboto Condensed Light" panose="02000000000000000000" pitchFamily="2" charset="0"/>
                <a:cs typeface="Arial Narrow"/>
              </a:rPr>
              <a:t>2013. </a:t>
            </a:r>
            <a:r>
              <a:rPr lang="en-CA" sz="1200" spc="-36">
                <a:solidFill>
                  <a:srgbClr val="000000"/>
                </a:solidFill>
                <a:latin typeface="Roboto Condensed Light" panose="02000000000000000000" pitchFamily="2" charset="0"/>
                <a:cs typeface="Arial Narrow"/>
              </a:rPr>
              <a:t>Panel  discussion.</a:t>
            </a:r>
            <a:endParaRPr lang="en-CA" sz="1200" spc="0">
              <a:solidFill>
                <a:srgbClr val="000000"/>
              </a:solidFill>
              <a:latin typeface="Roboto Condensed Light" panose="02000000000000000000" pitchFamily="2" charset="0"/>
              <a:cs typeface="Times New Roman"/>
            </a:endParaRPr>
          </a:p>
          <a:p>
            <a:pPr marL="7701" marR="182520" indent="0" algn="l">
              <a:lnSpc>
                <a:spcPct val="110000"/>
              </a:lnSpc>
              <a:spcBef>
                <a:spcPts val="3"/>
              </a:spcBef>
              <a:spcAft>
                <a:spcPts val="1200"/>
              </a:spcAft>
              <a:buFont typeface="Arial" panose="020B0604020202020204" pitchFamily="34" charset="0"/>
              <a:buNone/>
            </a:pPr>
            <a:r>
              <a:rPr lang="en-CA" sz="1200" spc="-33" err="1">
                <a:solidFill>
                  <a:srgbClr val="000000"/>
                </a:solidFill>
                <a:latin typeface="Roboto Condensed Light" panose="02000000000000000000" pitchFamily="2" charset="0"/>
                <a:cs typeface="Arial Narrow"/>
              </a:rPr>
              <a:t>Culbert</a:t>
            </a:r>
            <a:r>
              <a:rPr lang="en-CA" sz="1200" spc="-33">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Samuel. </a:t>
            </a:r>
            <a:r>
              <a:rPr lang="en-CA" sz="1200" spc="-24">
                <a:solidFill>
                  <a:srgbClr val="000000"/>
                </a:solidFill>
                <a:latin typeface="Roboto Condensed Light" panose="02000000000000000000" pitchFamily="2" charset="0"/>
                <a:cs typeface="Arial Narrow"/>
              </a:rPr>
              <a:t>“10 </a:t>
            </a:r>
            <a:r>
              <a:rPr lang="en-CA" sz="1200" spc="-33">
                <a:solidFill>
                  <a:srgbClr val="000000"/>
                </a:solidFill>
                <a:latin typeface="Roboto Condensed Light" panose="02000000000000000000" pitchFamily="2" charset="0"/>
                <a:cs typeface="Arial Narrow"/>
              </a:rPr>
              <a:t>Reasons </a:t>
            </a:r>
            <a:r>
              <a:rPr lang="en-CA" sz="1200" spc="-18">
                <a:solidFill>
                  <a:srgbClr val="000000"/>
                </a:solidFill>
                <a:latin typeface="Roboto Condensed Light" panose="02000000000000000000" pitchFamily="2" charset="0"/>
                <a:cs typeface="Arial Narrow"/>
              </a:rPr>
              <a:t>to </a:t>
            </a:r>
            <a:r>
              <a:rPr lang="en-CA" sz="1200" spc="-24">
                <a:solidFill>
                  <a:srgbClr val="000000"/>
                </a:solidFill>
                <a:latin typeface="Roboto Condensed Light" panose="02000000000000000000" pitchFamily="2" charset="0"/>
                <a:cs typeface="Arial Narrow"/>
              </a:rPr>
              <a:t>Get Rid </a:t>
            </a:r>
            <a:r>
              <a:rPr lang="en-CA" sz="1200" spc="-18">
                <a:solidFill>
                  <a:srgbClr val="000000"/>
                </a:solidFill>
                <a:latin typeface="Roboto Condensed Light" panose="02000000000000000000" pitchFamily="2" charset="0"/>
                <a:cs typeface="Arial Narrow"/>
              </a:rPr>
              <a:t>of </a:t>
            </a:r>
            <a:r>
              <a:rPr lang="en-CA" sz="1200" spc="-33">
                <a:solidFill>
                  <a:srgbClr val="000000"/>
                </a:solidFill>
                <a:latin typeface="Roboto Condensed Light" panose="02000000000000000000" pitchFamily="2" charset="0"/>
                <a:cs typeface="Arial Narrow"/>
              </a:rPr>
              <a:t>Performance Reviews.” </a:t>
            </a:r>
            <a:r>
              <a:rPr lang="en-CA" sz="1200" spc="-30">
                <a:solidFill>
                  <a:srgbClr val="000000"/>
                </a:solidFill>
                <a:latin typeface="Roboto Condensed Light" panose="02000000000000000000" pitchFamily="2" charset="0"/>
                <a:cs typeface="Arial Narrow"/>
              </a:rPr>
              <a:t>Huffington </a:t>
            </a:r>
            <a:r>
              <a:rPr lang="en-CA" sz="1200" spc="-27">
                <a:solidFill>
                  <a:srgbClr val="000000"/>
                </a:solidFill>
                <a:latin typeface="Roboto Condensed Light" panose="02000000000000000000" pitchFamily="2" charset="0"/>
                <a:cs typeface="Arial Narrow"/>
              </a:rPr>
              <a:t>Post </a:t>
            </a:r>
            <a:r>
              <a:rPr lang="en-CA" sz="1200" spc="-36">
                <a:solidFill>
                  <a:srgbClr val="000000"/>
                </a:solidFill>
                <a:latin typeface="Roboto Condensed Light" panose="02000000000000000000" pitchFamily="2" charset="0"/>
                <a:cs typeface="Arial Narrow"/>
              </a:rPr>
              <a:t>Business.  </a:t>
            </a:r>
            <a:r>
              <a:rPr lang="en-CA" sz="1200" spc="-21">
                <a:solidFill>
                  <a:srgbClr val="000000"/>
                </a:solidFill>
                <a:latin typeface="Roboto Condensed Light" panose="02000000000000000000" pitchFamily="2" charset="0"/>
                <a:cs typeface="Arial Narrow"/>
              </a:rPr>
              <a:t>18</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Dec.</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2012.</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1">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28</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Oct.</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30">
                <a:solidFill>
                  <a:srgbClr val="2576B7"/>
                </a:solidFill>
                <a:latin typeface="Roboto Condensed Light" panose="02000000000000000000" pitchFamily="2" charset="0"/>
                <a:cs typeface="Arial Narrow"/>
              </a:rPr>
              <a:t>.</a:t>
            </a:r>
            <a:r>
              <a:rPr lang="en-CA" sz="1200" spc="-58">
                <a:solidFill>
                  <a:srgbClr val="2576B7"/>
                </a:solidFill>
                <a:latin typeface="Roboto Condensed Light" panose="02000000000000000000" pitchFamily="2" charset="0"/>
                <a:cs typeface="Arial Narrow"/>
              </a:rPr>
              <a:t> </a:t>
            </a:r>
            <a:r>
              <a:rPr lang="en-CA" sz="1200" spc="-36">
                <a:solidFill>
                  <a:srgbClr val="2576B7"/>
                </a:solidFill>
                <a:latin typeface="Roboto Condensed Light" panose="02000000000000000000" pitchFamily="2" charset="0"/>
                <a:cs typeface="Arial Narrow"/>
                <a:hlinkClick r:id="rId4">
                  <a:extLst>
                    <a:ext uri="{A12FA001-AC4F-418D-AE19-62706E023703}">
                      <ahyp:hlinkClr xmlns:ahyp="http://schemas.microsoft.com/office/drawing/2018/hyperlinkcolor" val="tx"/>
                    </a:ext>
                  </a:extLst>
                </a:hlinkClick>
              </a:rPr>
              <a:t>&lt;http://www.huffingtonpost.com/samuel-culbert/performance- </a:t>
            </a:r>
            <a:r>
              <a:rPr lang="en-CA" sz="1200" spc="-36">
                <a:solidFill>
                  <a:srgbClr val="2576B7"/>
                </a:solidFill>
                <a:latin typeface="Roboto Condensed Light" panose="02000000000000000000" pitchFamily="2" charset="0"/>
                <a:cs typeface="Arial Narrow"/>
              </a:rPr>
              <a:t> reviews_b_2325104.html&gt;.</a:t>
            </a:r>
            <a:endParaRPr lang="en-CA" sz="1200" spc="0">
              <a:solidFill>
                <a:srgbClr val="2576B7"/>
              </a:solidFill>
              <a:latin typeface="Roboto Condensed Light" panose="02000000000000000000" pitchFamily="2" charset="0"/>
              <a:cs typeface="Times New Roman"/>
            </a:endParaRPr>
          </a:p>
          <a:p>
            <a:pPr marL="7701" marR="182520" indent="0" algn="l">
              <a:lnSpc>
                <a:spcPct val="110000"/>
              </a:lnSpc>
              <a:spcBef>
                <a:spcPts val="3"/>
              </a:spcBef>
              <a:spcAft>
                <a:spcPts val="1200"/>
              </a:spcAft>
              <a:buFont typeface="Arial" panose="020B0604020202020204" pitchFamily="34" charset="0"/>
              <a:buNone/>
            </a:pPr>
            <a:r>
              <a:rPr lang="en-CA" sz="1200" spc="-33">
                <a:solidFill>
                  <a:srgbClr val="000000"/>
                </a:solidFill>
                <a:latin typeface="Roboto Condensed Light" panose="02000000000000000000" pitchFamily="2" charset="0"/>
                <a:cs typeface="Arial Narrow"/>
              </a:rPr>
              <a:t>Denning, </a:t>
            </a:r>
            <a:r>
              <a:rPr lang="en-CA" sz="1200" spc="-30">
                <a:solidFill>
                  <a:srgbClr val="000000"/>
                </a:solidFill>
                <a:latin typeface="Roboto Condensed Light" panose="02000000000000000000" pitchFamily="2" charset="0"/>
                <a:cs typeface="Arial Narrow"/>
              </a:rPr>
              <a:t>Steve. </a:t>
            </a:r>
            <a:r>
              <a:rPr lang="en-CA" sz="1200" spc="-27">
                <a:solidFill>
                  <a:srgbClr val="000000"/>
                </a:solidFill>
                <a:latin typeface="Roboto Condensed Light" panose="02000000000000000000" pitchFamily="2" charset="0"/>
                <a:cs typeface="Arial Narrow"/>
              </a:rPr>
              <a:t>“The Case </a:t>
            </a:r>
            <a:r>
              <a:rPr lang="en-CA" sz="1200" spc="-30">
                <a:solidFill>
                  <a:srgbClr val="000000"/>
                </a:solidFill>
                <a:latin typeface="Roboto Condensed Light" panose="02000000000000000000" pitchFamily="2" charset="0"/>
                <a:cs typeface="Arial Narrow"/>
              </a:rPr>
              <a:t>Against Agile: </a:t>
            </a:r>
            <a:r>
              <a:rPr lang="en-CA" sz="1200" spc="-64">
                <a:solidFill>
                  <a:srgbClr val="000000"/>
                </a:solidFill>
                <a:latin typeface="Roboto Condensed Light" panose="02000000000000000000" pitchFamily="2" charset="0"/>
                <a:cs typeface="Arial Narrow"/>
              </a:rPr>
              <a:t>Ten </a:t>
            </a:r>
            <a:r>
              <a:rPr lang="en-CA" sz="1200" spc="-33">
                <a:solidFill>
                  <a:srgbClr val="000000"/>
                </a:solidFill>
                <a:latin typeface="Roboto Condensed Light" panose="02000000000000000000" pitchFamily="2" charset="0"/>
                <a:cs typeface="Arial Narrow"/>
              </a:rPr>
              <a:t>Perennial Management Objections.” </a:t>
            </a:r>
            <a:r>
              <a:rPr lang="en-CA" sz="1200" spc="-36">
                <a:solidFill>
                  <a:srgbClr val="000000"/>
                </a:solidFill>
                <a:latin typeface="Roboto Condensed Light" panose="02000000000000000000" pitchFamily="2" charset="0"/>
                <a:cs typeface="Arial Narrow"/>
              </a:rPr>
              <a:t>Forbes  </a:t>
            </a:r>
            <a:r>
              <a:rPr lang="en-CA" sz="1200" spc="-33">
                <a:solidFill>
                  <a:srgbClr val="000000"/>
                </a:solidFill>
                <a:latin typeface="Roboto Condensed Light" panose="02000000000000000000" pitchFamily="2" charset="0"/>
                <a:cs typeface="Arial Narrow"/>
              </a:rPr>
              <a:t>Magazine.</a:t>
            </a:r>
            <a:r>
              <a:rPr lang="en-CA" sz="1200" spc="-64">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17</a:t>
            </a:r>
            <a:r>
              <a:rPr lang="en-CA" sz="1200" spc="-124">
                <a:solidFill>
                  <a:srgbClr val="000000"/>
                </a:solidFill>
                <a:latin typeface="Roboto Condensed Light" panose="02000000000000000000" pitchFamily="2" charset="0"/>
                <a:cs typeface="Arial Narrow"/>
              </a:rPr>
              <a:t> </a:t>
            </a:r>
            <a:r>
              <a:rPr lang="en-CA" sz="1200" spc="-42">
                <a:solidFill>
                  <a:srgbClr val="000000"/>
                </a:solidFill>
                <a:latin typeface="Roboto Condensed Light" panose="02000000000000000000" pitchFamily="2" charset="0"/>
                <a:cs typeface="Arial Narrow"/>
              </a:rPr>
              <a:t>Apr.</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2012.</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4">
                <a:solidFill>
                  <a:srgbClr val="000000"/>
                </a:solidFill>
                <a:latin typeface="Roboto Condensed Light" panose="02000000000000000000" pitchFamily="2" charset="0"/>
                <a:cs typeface="Arial Narrow"/>
              </a:rPr>
              <a:t> </a:t>
            </a:r>
            <a:r>
              <a:rPr lang="en-CA" sz="1200" spc="-49">
                <a:solidFill>
                  <a:srgbClr val="000000"/>
                </a:solidFill>
                <a:latin typeface="Roboto Condensed Light" panose="02000000000000000000" pitchFamily="2" charset="0"/>
                <a:cs typeface="Arial Narrow"/>
              </a:rPr>
              <a:t>Nov.</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58">
                <a:solidFill>
                  <a:srgbClr val="000000"/>
                </a:solidFill>
                <a:latin typeface="Roboto Condensed Light" panose="02000000000000000000" pitchFamily="2" charset="0"/>
                <a:cs typeface="Arial Narrow"/>
              </a:rPr>
              <a:t> </a:t>
            </a:r>
            <a:r>
              <a:rPr lang="en-CA" sz="1200" spc="-36">
                <a:solidFill>
                  <a:srgbClr val="2576B7"/>
                </a:solidFill>
                <a:latin typeface="Roboto Condensed Light" panose="02000000000000000000" pitchFamily="2" charset="0"/>
                <a:cs typeface="Arial Narrow"/>
                <a:hlinkClick r:id="rId5">
                  <a:extLst>
                    <a:ext uri="{A12FA001-AC4F-418D-AE19-62706E023703}">
                      <ahyp:hlinkClr xmlns:ahyp="http://schemas.microsoft.com/office/drawing/2018/hyperlinkcolor" val="tx"/>
                    </a:ext>
                  </a:extLst>
                </a:hlinkClick>
              </a:rPr>
              <a:t>&lt;http://www.forbes.com/sites/stevedenning/2012/04/17/ </a:t>
            </a:r>
            <a:r>
              <a:rPr lang="en-CA" sz="1200" spc="-36">
                <a:solidFill>
                  <a:srgbClr val="2576B7"/>
                </a:solidFill>
                <a:latin typeface="Roboto Condensed Light" panose="02000000000000000000" pitchFamily="2" charset="0"/>
                <a:cs typeface="Arial Narrow"/>
              </a:rPr>
              <a:t> </a:t>
            </a:r>
            <a:r>
              <a:rPr lang="en-CA" sz="1200" spc="-36">
                <a:solidFill>
                  <a:srgbClr val="000000"/>
                </a:solidFill>
                <a:latin typeface="Roboto Condensed Light" panose="02000000000000000000" pitchFamily="2" charset="0"/>
                <a:cs typeface="Arial Narrow"/>
              </a:rPr>
              <a:t>the-case-against-agile-ten-perennial-management-objections/&gt;.</a:t>
            </a:r>
            <a:endParaRPr lang="en-CA" sz="1200" spc="0">
              <a:solidFill>
                <a:srgbClr val="000000"/>
              </a:solidFill>
              <a:latin typeface="Roboto Condensed Light" panose="02000000000000000000" pitchFamily="2" charset="0"/>
              <a:cs typeface="Times New Roman"/>
            </a:endParaRPr>
          </a:p>
          <a:p>
            <a:pPr marL="7701" marR="182520" indent="0" algn="l">
              <a:lnSpc>
                <a:spcPct val="110000"/>
              </a:lnSpc>
              <a:spcBef>
                <a:spcPts val="3"/>
              </a:spcBef>
              <a:spcAft>
                <a:spcPts val="1200"/>
              </a:spcAft>
              <a:buFont typeface="Arial" panose="020B0604020202020204" pitchFamily="34" charset="0"/>
              <a:buNone/>
            </a:pPr>
            <a:r>
              <a:rPr lang="en-CA" sz="1200" spc="-30" err="1">
                <a:solidFill>
                  <a:srgbClr val="000000"/>
                </a:solidFill>
                <a:latin typeface="Roboto Condensed Light" panose="02000000000000000000" pitchFamily="2" charset="0"/>
                <a:cs typeface="Arial Narrow"/>
              </a:rPr>
              <a:t>Estis</a:t>
            </a:r>
            <a:r>
              <a:rPr lang="en-CA" sz="1200" spc="-30">
                <a:solidFill>
                  <a:srgbClr val="000000"/>
                </a:solidFill>
                <a:latin typeface="Roboto Condensed Light" panose="02000000000000000000" pitchFamily="2" charset="0"/>
                <a:cs typeface="Arial Narrow"/>
              </a:rPr>
              <a:t>,</a:t>
            </a:r>
            <a:r>
              <a:rPr lang="en-CA" sz="1200" spc="-64">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Ryan.</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“Blowing</a:t>
            </a:r>
            <a:r>
              <a:rPr lang="en-CA" sz="1200" spc="-61">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up</a:t>
            </a:r>
            <a:r>
              <a:rPr lang="en-CA" sz="1200" spc="-61">
                <a:solidFill>
                  <a:srgbClr val="000000"/>
                </a:solidFill>
                <a:latin typeface="Roboto Condensed Light" panose="02000000000000000000" pitchFamily="2" charset="0"/>
                <a:cs typeface="Arial Narrow"/>
              </a:rPr>
              <a:t> </a:t>
            </a:r>
            <a:r>
              <a:rPr lang="en-CA" sz="1200" spc="-24">
                <a:solidFill>
                  <a:srgbClr val="000000"/>
                </a:solidFill>
                <a:latin typeface="Roboto Condensed Light" panose="02000000000000000000" pitchFamily="2" charset="0"/>
                <a:cs typeface="Arial Narrow"/>
              </a:rPr>
              <a:t>the</a:t>
            </a:r>
            <a:r>
              <a:rPr lang="en-CA" sz="1200" spc="-64">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Performance</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Review:</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Interview</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with</a:t>
            </a:r>
            <a:r>
              <a:rPr lang="en-CA" sz="1200" spc="-12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Adobe’s</a:t>
            </a:r>
            <a:r>
              <a:rPr lang="en-CA" sz="1200" spc="-61">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Donna</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Morris.”</a:t>
            </a:r>
            <a:r>
              <a:rPr lang="en-CA" sz="1200" spc="-64">
                <a:solidFill>
                  <a:srgbClr val="000000"/>
                </a:solidFill>
                <a:latin typeface="Roboto Condensed Light" panose="02000000000000000000" pitchFamily="2" charset="0"/>
                <a:cs typeface="Arial Narrow"/>
              </a:rPr>
              <a:t> </a:t>
            </a:r>
            <a:r>
              <a:rPr lang="en-CA" sz="1200" spc="-36">
                <a:solidFill>
                  <a:srgbClr val="000000"/>
                </a:solidFill>
                <a:latin typeface="Roboto Condensed Light" panose="02000000000000000000" pitchFamily="2" charset="0"/>
                <a:cs typeface="Arial Narrow"/>
              </a:rPr>
              <a:t>Ryan  </a:t>
            </a:r>
            <a:r>
              <a:rPr lang="en-CA" sz="1200" spc="-30" err="1">
                <a:solidFill>
                  <a:srgbClr val="000000"/>
                </a:solidFill>
                <a:latin typeface="Roboto Condensed Light" panose="02000000000000000000" pitchFamily="2" charset="0"/>
                <a:cs typeface="Arial Narrow"/>
              </a:rPr>
              <a:t>Estis</a:t>
            </a:r>
            <a:r>
              <a:rPr lang="en-CA" sz="1200" spc="-61">
                <a:solidFill>
                  <a:srgbClr val="000000"/>
                </a:solidFill>
                <a:latin typeface="Roboto Condensed Light" panose="02000000000000000000" pitchFamily="2" charset="0"/>
                <a:cs typeface="Arial Narrow"/>
              </a:rPr>
              <a:t> </a:t>
            </a:r>
            <a:r>
              <a:rPr lang="en-CA" sz="1200" spc="-3">
                <a:solidFill>
                  <a:srgbClr val="000000"/>
                </a:solidFill>
                <a:latin typeface="Roboto Condensed Light" panose="02000000000000000000" pitchFamily="2" charset="0"/>
                <a:cs typeface="Arial Narrow"/>
              </a:rPr>
              <a:t>&amp;</a:t>
            </a:r>
            <a:r>
              <a:rPr lang="en-CA" sz="1200" spc="-118">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Associates.</a:t>
            </a:r>
            <a:r>
              <a:rPr lang="en-CA" sz="1200" spc="-61">
                <a:solidFill>
                  <a:srgbClr val="000000"/>
                </a:solidFill>
                <a:latin typeface="Roboto Condensed Light" panose="02000000000000000000" pitchFamily="2" charset="0"/>
                <a:cs typeface="Arial Narrow"/>
              </a:rPr>
              <a:t> </a:t>
            </a:r>
            <a:r>
              <a:rPr lang="en-CA" sz="1200" spc="-21">
                <a:solidFill>
                  <a:srgbClr val="000000"/>
                </a:solidFill>
                <a:latin typeface="Roboto Condensed Light" panose="02000000000000000000" pitchFamily="2" charset="0"/>
                <a:cs typeface="Arial Narrow"/>
              </a:rPr>
              <a:t>17</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June</a:t>
            </a:r>
            <a:r>
              <a:rPr lang="en-CA" sz="1200" spc="-58">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61">
                <a:solidFill>
                  <a:srgbClr val="000000"/>
                </a:solidFill>
                <a:latin typeface="Roboto Condensed Light" panose="02000000000000000000" pitchFamily="2" charset="0"/>
                <a:cs typeface="Arial Narrow"/>
              </a:rPr>
              <a:t> </a:t>
            </a:r>
            <a:r>
              <a:rPr lang="en-CA" sz="1200" spc="-33">
                <a:solidFill>
                  <a:srgbClr val="000000"/>
                </a:solidFill>
                <a:latin typeface="Roboto Condensed Light" panose="02000000000000000000" pitchFamily="2" charset="0"/>
                <a:cs typeface="Arial Narrow"/>
              </a:rPr>
              <a:t>Web.</a:t>
            </a:r>
            <a:r>
              <a:rPr lang="en-CA" sz="1200" spc="-61">
                <a:solidFill>
                  <a:srgbClr val="000000"/>
                </a:solidFill>
                <a:latin typeface="Roboto Condensed Light" panose="02000000000000000000" pitchFamily="2" charset="0"/>
                <a:cs typeface="Arial Narrow"/>
              </a:rPr>
              <a:t> </a:t>
            </a:r>
            <a:r>
              <a:rPr lang="en-CA" sz="1200" spc="-27">
                <a:solidFill>
                  <a:srgbClr val="000000"/>
                </a:solidFill>
                <a:latin typeface="Roboto Condensed Light" panose="02000000000000000000" pitchFamily="2" charset="0"/>
                <a:cs typeface="Arial Narrow"/>
              </a:rPr>
              <a:t>Oct.</a:t>
            </a:r>
            <a:r>
              <a:rPr lang="en-CA" sz="1200" spc="-58">
                <a:solidFill>
                  <a:srgbClr val="000000"/>
                </a:solidFill>
                <a:latin typeface="Roboto Condensed Light" panose="02000000000000000000" pitchFamily="2" charset="0"/>
                <a:cs typeface="Arial Narrow"/>
              </a:rPr>
              <a:t> </a:t>
            </a:r>
            <a:r>
              <a:rPr lang="en-CA" sz="1200" spc="-30">
                <a:solidFill>
                  <a:srgbClr val="000000"/>
                </a:solidFill>
                <a:latin typeface="Roboto Condensed Light" panose="02000000000000000000" pitchFamily="2" charset="0"/>
                <a:cs typeface="Arial Narrow"/>
              </a:rPr>
              <a:t>2013</a:t>
            </a:r>
            <a:r>
              <a:rPr lang="en-CA" sz="1200" spc="-30">
                <a:solidFill>
                  <a:srgbClr val="2576B7"/>
                </a:solidFill>
                <a:latin typeface="Roboto Condensed Light" panose="02000000000000000000" pitchFamily="2" charset="0"/>
                <a:cs typeface="Arial Narrow"/>
              </a:rPr>
              <a:t>.</a:t>
            </a:r>
            <a:r>
              <a:rPr lang="en-CA" sz="1200" spc="-61">
                <a:solidFill>
                  <a:srgbClr val="2576B7"/>
                </a:solidFill>
                <a:latin typeface="Roboto Condensed Light" panose="02000000000000000000" pitchFamily="2" charset="0"/>
                <a:cs typeface="Arial Narrow"/>
              </a:rPr>
              <a:t> </a:t>
            </a:r>
            <a:r>
              <a:rPr lang="en-CA" sz="1200" spc="-36">
                <a:solidFill>
                  <a:srgbClr val="2576B7"/>
                </a:solidFill>
                <a:latin typeface="Roboto Condensed Light" panose="02000000000000000000" pitchFamily="2" charset="0"/>
                <a:cs typeface="Arial Narrow"/>
              </a:rPr>
              <a:t>&lt;</a:t>
            </a:r>
            <a:r>
              <a:rPr lang="en-CA" sz="1200" spc="-36">
                <a:solidFill>
                  <a:srgbClr val="2576B7"/>
                </a:solidFill>
                <a:latin typeface="Roboto Condensed Light" panose="02000000000000000000" pitchFamily="2" charset="0"/>
                <a:cs typeface="Arial Narrow"/>
                <a:hlinkClick r:id="rId6">
                  <a:extLst>
                    <a:ext uri="{A12FA001-AC4F-418D-AE19-62706E023703}">
                      <ahyp:hlinkClr xmlns:ahyp="http://schemas.microsoft.com/office/drawing/2018/hyperlinkcolor" val="tx"/>
                    </a:ext>
                  </a:extLst>
                </a:hlinkClick>
              </a:rPr>
              <a:t>http://ryanestis.com/adobe-interview/&gt;</a:t>
            </a:r>
            <a:r>
              <a:rPr lang="en-CA" sz="1200" spc="-36">
                <a:solidFill>
                  <a:srgbClr val="2576B7"/>
                </a:solidFill>
                <a:latin typeface="Roboto Condensed Light" panose="02000000000000000000" pitchFamily="2" charset="0"/>
                <a:cs typeface="Arial Narrow"/>
              </a:rPr>
              <a:t>.</a:t>
            </a:r>
            <a:endParaRPr lang="en-CA" sz="1200">
              <a:solidFill>
                <a:srgbClr val="2576B7"/>
              </a:solidFill>
              <a:latin typeface="Roboto Condensed Light" panose="02000000000000000000" pitchFamily="2" charset="0"/>
              <a:cs typeface="Arial Narrow"/>
            </a:endParaRPr>
          </a:p>
          <a:p>
            <a:pPr marL="0" lvl="0" indent="0" algn="l">
              <a:lnSpc>
                <a:spcPct val="110000"/>
              </a:lnSpc>
              <a:spcAft>
                <a:spcPts val="1200"/>
              </a:spcAft>
              <a:buFont typeface="Arial" panose="020B0604020202020204" pitchFamily="34" charset="0"/>
              <a:buNone/>
            </a:pPr>
            <a:endParaRPr lang="en-US" sz="1200">
              <a:solidFill>
                <a:srgbClr val="000000"/>
              </a:solidFill>
            </a:endParaRPr>
          </a:p>
          <a:p>
            <a:pPr marL="0" indent="0" algn="l">
              <a:lnSpc>
                <a:spcPct val="110000"/>
              </a:lnSpc>
              <a:spcAft>
                <a:spcPts val="1200"/>
              </a:spcAft>
              <a:buFont typeface="Arial" panose="020B0604020202020204" pitchFamily="34" charset="0"/>
              <a:buNone/>
              <a:tabLst/>
            </a:pPr>
            <a:endParaRPr lang="en-US" sz="1200">
              <a:solidFill>
                <a:srgbClr val="000000"/>
              </a:solidFill>
              <a:latin typeface="Roboto Condensed Light" panose="02000000000000000000" pitchFamily="2" charset="0"/>
              <a:ea typeface="Roboto Condensed Light" panose="02000000000000000000" pitchFamily="2" charset="0"/>
            </a:endParaRPr>
          </a:p>
          <a:p>
            <a:pPr marL="179388" indent="-179388" algn="l">
              <a:lnSpc>
                <a:spcPct val="110000"/>
              </a:lnSpc>
              <a:spcAft>
                <a:spcPts val="1200"/>
              </a:spcAft>
              <a:buFont typeface="Arial" panose="020B0604020202020204" pitchFamily="34" charset="0"/>
              <a:buChar char="•"/>
              <a:tabLst/>
            </a:pPr>
            <a:endParaRPr lang="en-US" sz="1200" err="1">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221485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ontent Slide-blue-left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5252382" y="1648758"/>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5232400" y="530021"/>
            <a:ext cx="4967041" cy="1130188"/>
          </a:xfrm>
        </p:spPr>
        <p:txBody>
          <a:bodyPr>
            <a:noAutofit/>
          </a:bodyPr>
          <a:lstStyle>
            <a:lvl1pPr>
              <a:lnSpc>
                <a:spcPct val="90000"/>
              </a:lnSpc>
              <a:defRPr b="0" i="0"/>
            </a:lvl1pPr>
          </a:lstStyle>
          <a:p>
            <a:r>
              <a:rPr lang="en-US"/>
              <a:t>Click to edit Master title style</a:t>
            </a:r>
          </a:p>
        </p:txBody>
      </p:sp>
      <p:sp>
        <p:nvSpPr>
          <p:cNvPr id="8" name="Rectangle 7">
            <a:extLst>
              <a:ext uri="{FF2B5EF4-FFF2-40B4-BE49-F238E27FC236}">
                <a16:creationId xmlns:a16="http://schemas.microsoft.com/office/drawing/2014/main" id="{F2D5BCB0-D6FF-CC4C-92CC-90D104D4F343}"/>
              </a:ext>
            </a:extLst>
          </p:cNvPr>
          <p:cNvSpPr/>
          <p:nvPr userDrawn="1"/>
        </p:nvSpPr>
        <p:spPr>
          <a:xfrm>
            <a:off x="0" y="0"/>
            <a:ext cx="4260850" cy="6858000"/>
          </a:xfrm>
          <a:prstGeom prst="rect">
            <a:avLst/>
          </a:prstGeom>
          <a:gradFill>
            <a:gsLst>
              <a:gs pos="0">
                <a:schemeClr val="accent1">
                  <a:lumMod val="60000"/>
                  <a:lumOff val="40000"/>
                </a:schemeClr>
              </a:gs>
              <a:gs pos="89000">
                <a:srgbClr val="2576B7"/>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dirty="0">
              <a:solidFill>
                <a:srgbClr val="1E5E92"/>
              </a:solidFill>
              <a:latin typeface="Roboto Condensed Light" panose="02000000000000000000" pitchFamily="2" charset="0"/>
            </a:endParaRPr>
          </a:p>
        </p:txBody>
      </p:sp>
      <p:sp>
        <p:nvSpPr>
          <p:cNvPr id="9" name="Text Placeholder 11">
            <a:extLst>
              <a:ext uri="{FF2B5EF4-FFF2-40B4-BE49-F238E27FC236}">
                <a16:creationId xmlns:a16="http://schemas.microsoft.com/office/drawing/2014/main" id="{2FD860C3-79CC-434D-9984-9C39951BAE42}"/>
              </a:ext>
            </a:extLst>
          </p:cNvPr>
          <p:cNvSpPr>
            <a:spLocks noGrp="1"/>
          </p:cNvSpPr>
          <p:nvPr>
            <p:ph type="body" sz="quarter" idx="14"/>
          </p:nvPr>
        </p:nvSpPr>
        <p:spPr>
          <a:xfrm>
            <a:off x="367657" y="952499"/>
            <a:ext cx="3289943" cy="5367277"/>
          </a:xfrm>
          <a:prstGeom prst="rect">
            <a:avLst/>
          </a:prstGeom>
        </p:spPr>
        <p:txBody>
          <a:bodyPr lIns="0" tIns="0" rIns="0" bIns="0" anchor="ctr" anchorCtr="0">
            <a:noAutofit/>
          </a:bodyPr>
          <a:lstStyle>
            <a:lvl1pPr marL="0" indent="0">
              <a:lnSpc>
                <a:spcPct val="110000"/>
              </a:lnSpc>
              <a:buNone/>
              <a:defRPr sz="2000" b="0" i="0" spc="0">
                <a:solidFill>
                  <a:schemeClr val="bg1"/>
                </a:solidFill>
                <a:latin typeface="Montserrat Medium"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4">
            <a:extLst>
              <a:ext uri="{FF2B5EF4-FFF2-40B4-BE49-F238E27FC236}">
                <a16:creationId xmlns:a16="http://schemas.microsoft.com/office/drawing/2014/main" id="{BFD1FFC3-1E5E-9546-8506-BC69F33F92C0}"/>
              </a:ext>
            </a:extLst>
          </p:cNvPr>
          <p:cNvSpPr>
            <a:spLocks noGrp="1"/>
          </p:cNvSpPr>
          <p:nvPr>
            <p:ph type="body" sz="quarter" idx="33"/>
          </p:nvPr>
        </p:nvSpPr>
        <p:spPr>
          <a:xfrm>
            <a:off x="5232400" y="2518948"/>
            <a:ext cx="6661150" cy="3275796"/>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14879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88" y="1648758"/>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58" y="203525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106" y="530021"/>
            <a:ext cx="4967041" cy="1130188"/>
          </a:xfrm>
        </p:spPr>
        <p:txBody>
          <a:bodyPr>
            <a:noAutofit/>
          </a:bodyPr>
          <a:lstStyle>
            <a:lvl1pPr>
              <a:lnSpc>
                <a:spcPct val="90000"/>
              </a:lnSpc>
              <a:defRPr b="0" i="0"/>
            </a:lvl1pPr>
          </a:lstStyle>
          <a:p>
            <a:r>
              <a:rPr lang="en-US"/>
              <a:t>Click to edit Master title style</a:t>
            </a:r>
          </a:p>
        </p:txBody>
      </p:sp>
      <p:sp>
        <p:nvSpPr>
          <p:cNvPr id="8" name="Text Placeholder 4">
            <a:extLst>
              <a:ext uri="{FF2B5EF4-FFF2-40B4-BE49-F238E27FC236}">
                <a16:creationId xmlns:a16="http://schemas.microsoft.com/office/drawing/2014/main" id="{2721BB38-35D8-6041-AE06-91C7C44D942C}"/>
              </a:ext>
            </a:extLst>
          </p:cNvPr>
          <p:cNvSpPr>
            <a:spLocks noGrp="1"/>
          </p:cNvSpPr>
          <p:nvPr>
            <p:ph type="body" sz="quarter" idx="33"/>
          </p:nvPr>
        </p:nvSpPr>
        <p:spPr>
          <a:xfrm>
            <a:off x="371475" y="3125003"/>
            <a:ext cx="6678613" cy="2637843"/>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39C547E-7388-DC4A-B7BE-F29EBC5287ED}"/>
              </a:ext>
            </a:extLst>
          </p:cNvPr>
          <p:cNvSpPr txBox="1"/>
          <p:nvPr userDrawn="1"/>
        </p:nvSpPr>
        <p:spPr>
          <a:xfrm>
            <a:off x="11409680" y="6471920"/>
            <a:ext cx="0" cy="0"/>
          </a:xfrm>
          <a:prstGeom prst="rect">
            <a:avLst/>
          </a:prstGeom>
        </p:spPr>
        <p:txBody>
          <a:bodyPr wrap="non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953981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Related Research B">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3BF8330-F21B-D442-AE37-1705C7870D32}"/>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79000"/>
                    </a14:imgEffect>
                  </a14:imgLayer>
                </a14:imgProps>
              </a:ext>
              <a:ext uri="{28A0092B-C50C-407E-A947-70E740481C1C}">
                <a14:useLocalDpi xmlns:a14="http://schemas.microsoft.com/office/drawing/2010/main"/>
              </a:ext>
            </a:extLst>
          </a:blip>
          <a:srcRect/>
          <a:stretch/>
        </p:blipFill>
        <p:spPr>
          <a:xfrm>
            <a:off x="0" y="-1"/>
            <a:ext cx="3287713" cy="6873276"/>
          </a:xfrm>
          <a:prstGeom prst="rect">
            <a:avLst/>
          </a:prstGeom>
        </p:spPr>
      </p:pic>
      <p:sp>
        <p:nvSpPr>
          <p:cNvPr id="29" name="Rectangle 28">
            <a:extLst>
              <a:ext uri="{FF2B5EF4-FFF2-40B4-BE49-F238E27FC236}">
                <a16:creationId xmlns:a16="http://schemas.microsoft.com/office/drawing/2014/main" id="{9942D4EE-B043-184F-8E87-10B454B4B973}"/>
              </a:ext>
            </a:extLst>
          </p:cNvPr>
          <p:cNvSpPr/>
          <p:nvPr userDrawn="1"/>
        </p:nvSpPr>
        <p:spPr>
          <a:xfrm>
            <a:off x="2" y="0"/>
            <a:ext cx="3287711" cy="6858000"/>
          </a:xfrm>
          <a:prstGeom prst="rect">
            <a:avLst/>
          </a:prstGeom>
          <a:gradFill>
            <a:gsLst>
              <a:gs pos="19000">
                <a:srgbClr val="2576B7">
                  <a:alpha val="11000"/>
                </a:srgbClr>
              </a:gs>
              <a:gs pos="99000">
                <a:schemeClr val="accent1">
                  <a:lumMod val="60000"/>
                  <a:lumOff val="40000"/>
                  <a:alpha val="59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lnSpc>
                <a:spcPct val="110000"/>
              </a:lnSpc>
            </a:pPr>
            <a:endParaRPr lang="en-US" dirty="0"/>
          </a:p>
        </p:txBody>
      </p:sp>
      <p:sp>
        <p:nvSpPr>
          <p:cNvPr id="34" name="Picture Placeholder 31">
            <a:extLst>
              <a:ext uri="{FF2B5EF4-FFF2-40B4-BE49-F238E27FC236}">
                <a16:creationId xmlns:a16="http://schemas.microsoft.com/office/drawing/2014/main" id="{A16A3254-CD4F-E745-B5D3-9721CB4A246F}"/>
              </a:ext>
            </a:extLst>
          </p:cNvPr>
          <p:cNvSpPr>
            <a:spLocks noGrp="1"/>
          </p:cNvSpPr>
          <p:nvPr>
            <p:ph type="pic" sz="quarter" idx="12"/>
          </p:nvPr>
        </p:nvSpPr>
        <p:spPr>
          <a:xfrm>
            <a:off x="3663983" y="481675"/>
            <a:ext cx="2419409" cy="1217613"/>
          </a:xfrm>
          <a:prstGeom prst="rect">
            <a:avLst/>
          </a:prstGeom>
        </p:spPr>
        <p:txBody>
          <a:bodyPr>
            <a:noAutofit/>
          </a:bodyPr>
          <a:lstStyle>
            <a:lvl1pPr>
              <a:lnSpc>
                <a:spcPct val="110000"/>
              </a:lnSpc>
              <a:defRPr sz="1800" b="1" i="0">
                <a:latin typeface="Montserrat SemiBold" pitchFamily="2" charset="77"/>
              </a:defRPr>
            </a:lvl1pPr>
          </a:lstStyle>
          <a:p>
            <a:endParaRPr lang="en-US" dirty="0"/>
          </a:p>
        </p:txBody>
      </p:sp>
      <p:sp>
        <p:nvSpPr>
          <p:cNvPr id="14" name="Picture Placeholder 31">
            <a:extLst>
              <a:ext uri="{FF2B5EF4-FFF2-40B4-BE49-F238E27FC236}">
                <a16:creationId xmlns:a16="http://schemas.microsoft.com/office/drawing/2014/main" id="{9D81BA75-D3B6-FE4B-9E28-055DAEF016DA}"/>
              </a:ext>
            </a:extLst>
          </p:cNvPr>
          <p:cNvSpPr>
            <a:spLocks noGrp="1"/>
          </p:cNvSpPr>
          <p:nvPr>
            <p:ph type="pic" sz="quarter" idx="13"/>
          </p:nvPr>
        </p:nvSpPr>
        <p:spPr>
          <a:xfrm>
            <a:off x="6463627" y="481675"/>
            <a:ext cx="2419409" cy="1217613"/>
          </a:xfrm>
          <a:prstGeom prst="rect">
            <a:avLst/>
          </a:prstGeom>
        </p:spPr>
        <p:txBody>
          <a:bodyPr>
            <a:noAutofit/>
          </a:bodyPr>
          <a:lstStyle>
            <a:lvl1pPr>
              <a:lnSpc>
                <a:spcPct val="110000"/>
              </a:lnSpc>
              <a:defRPr sz="1800" b="1" i="0">
                <a:latin typeface="Montserrat SemiBold" pitchFamily="2" charset="77"/>
              </a:defRPr>
            </a:lvl1pPr>
          </a:lstStyle>
          <a:p>
            <a:endParaRPr lang="en-US" dirty="0"/>
          </a:p>
        </p:txBody>
      </p:sp>
      <p:sp>
        <p:nvSpPr>
          <p:cNvPr id="15" name="Picture Placeholder 31">
            <a:extLst>
              <a:ext uri="{FF2B5EF4-FFF2-40B4-BE49-F238E27FC236}">
                <a16:creationId xmlns:a16="http://schemas.microsoft.com/office/drawing/2014/main" id="{63BF6C5D-F071-0843-B2AB-0EEC00DDAA7E}"/>
              </a:ext>
            </a:extLst>
          </p:cNvPr>
          <p:cNvSpPr>
            <a:spLocks noGrp="1"/>
          </p:cNvSpPr>
          <p:nvPr>
            <p:ph type="pic" sz="quarter" idx="14"/>
          </p:nvPr>
        </p:nvSpPr>
        <p:spPr>
          <a:xfrm>
            <a:off x="9280205" y="481675"/>
            <a:ext cx="2419409" cy="1217613"/>
          </a:xfrm>
          <a:prstGeom prst="rect">
            <a:avLst/>
          </a:prstGeom>
        </p:spPr>
        <p:txBody>
          <a:bodyPr>
            <a:noAutofit/>
          </a:bodyPr>
          <a:lstStyle>
            <a:lvl1pPr>
              <a:lnSpc>
                <a:spcPct val="110000"/>
              </a:lnSpc>
              <a:defRPr sz="1800" b="1" i="0">
                <a:latin typeface="Montserrat SemiBold" pitchFamily="2" charset="77"/>
              </a:defRPr>
            </a:lvl1pPr>
          </a:lstStyle>
          <a:p>
            <a:endParaRPr lang="en-US" dirty="0"/>
          </a:p>
        </p:txBody>
      </p:sp>
      <p:sp>
        <p:nvSpPr>
          <p:cNvPr id="4" name="Text Placeholder 3">
            <a:extLst>
              <a:ext uri="{FF2B5EF4-FFF2-40B4-BE49-F238E27FC236}">
                <a16:creationId xmlns:a16="http://schemas.microsoft.com/office/drawing/2014/main" id="{35FEB7B1-6275-0248-A0C2-CFA4FE5E587C}"/>
              </a:ext>
            </a:extLst>
          </p:cNvPr>
          <p:cNvSpPr>
            <a:spLocks noGrp="1"/>
          </p:cNvSpPr>
          <p:nvPr>
            <p:ph type="body" sz="quarter" idx="15" hasCustomPrompt="1"/>
          </p:nvPr>
        </p:nvSpPr>
        <p:spPr>
          <a:xfrm>
            <a:off x="3661721" y="2852939"/>
            <a:ext cx="2435073" cy="446087"/>
          </a:xfrm>
          <a:prstGeom prst="rect">
            <a:avLst/>
          </a:prstGeom>
        </p:spPr>
        <p:txBody>
          <a:bodyPr lIns="0" tIns="0" rIns="0" bIns="0">
            <a:noAutofit/>
          </a:bodyPr>
          <a:lstStyle>
            <a:lvl1pPr marL="0" indent="0">
              <a:lnSpc>
                <a:spcPct val="110000"/>
              </a:lnSpc>
              <a:buNone/>
              <a:defRPr sz="1600" b="0" i="0">
                <a:solidFill>
                  <a:srgbClr val="2576B7"/>
                </a:solidFill>
                <a:latin typeface="Exo" panose="020B0604020202020204" charset="0"/>
              </a:defRPr>
            </a:lvl1pPr>
          </a:lstStyle>
          <a:p>
            <a:pPr lvl="0"/>
            <a:r>
              <a:rPr lang="en-US"/>
              <a:t>Observe the Evolution of Quantum Capability</a:t>
            </a:r>
          </a:p>
        </p:txBody>
      </p:sp>
      <p:sp>
        <p:nvSpPr>
          <p:cNvPr id="24" name="Text Placeholder 3">
            <a:extLst>
              <a:ext uri="{FF2B5EF4-FFF2-40B4-BE49-F238E27FC236}">
                <a16:creationId xmlns:a16="http://schemas.microsoft.com/office/drawing/2014/main" id="{108CB76C-02AD-EF41-B531-F5DB3CB2D699}"/>
              </a:ext>
            </a:extLst>
          </p:cNvPr>
          <p:cNvSpPr>
            <a:spLocks noGrp="1"/>
          </p:cNvSpPr>
          <p:nvPr>
            <p:ph type="body" sz="quarter" idx="19" hasCustomPrompt="1"/>
          </p:nvPr>
        </p:nvSpPr>
        <p:spPr>
          <a:xfrm>
            <a:off x="6476173" y="2852939"/>
            <a:ext cx="2435073" cy="446087"/>
          </a:xfrm>
          <a:prstGeom prst="rect">
            <a:avLst/>
          </a:prstGeom>
        </p:spPr>
        <p:txBody>
          <a:bodyPr lIns="0" tIns="0" rIns="0" bIns="0">
            <a:noAutofit/>
          </a:bodyPr>
          <a:lstStyle>
            <a:lvl1pPr marL="0" indent="0">
              <a:lnSpc>
                <a:spcPct val="110000"/>
              </a:lnSpc>
              <a:buNone/>
              <a:defRPr sz="1600" b="0" i="0">
                <a:solidFill>
                  <a:srgbClr val="2576B7"/>
                </a:solidFill>
                <a:latin typeface="Exo" panose="020B0604020202020204" charset="0"/>
              </a:defRPr>
            </a:lvl1pPr>
          </a:lstStyle>
          <a:p>
            <a:pPr lvl="0"/>
            <a:r>
              <a:rPr lang="en-US"/>
              <a:t>Observe the Evolution of Quantum Capability</a:t>
            </a:r>
          </a:p>
        </p:txBody>
      </p:sp>
      <p:sp>
        <p:nvSpPr>
          <p:cNvPr id="26" name="Text Placeholder 3">
            <a:extLst>
              <a:ext uri="{FF2B5EF4-FFF2-40B4-BE49-F238E27FC236}">
                <a16:creationId xmlns:a16="http://schemas.microsoft.com/office/drawing/2014/main" id="{8AD22B1A-68AA-BD46-9959-0E6C0630032C}"/>
              </a:ext>
            </a:extLst>
          </p:cNvPr>
          <p:cNvSpPr>
            <a:spLocks noGrp="1"/>
          </p:cNvSpPr>
          <p:nvPr>
            <p:ph type="body" sz="quarter" idx="21" hasCustomPrompt="1"/>
          </p:nvPr>
        </p:nvSpPr>
        <p:spPr>
          <a:xfrm>
            <a:off x="9284687" y="2852939"/>
            <a:ext cx="2435073" cy="446087"/>
          </a:xfrm>
          <a:prstGeom prst="rect">
            <a:avLst/>
          </a:prstGeom>
        </p:spPr>
        <p:txBody>
          <a:bodyPr lIns="0" tIns="0" rIns="0" bIns="0">
            <a:noAutofit/>
          </a:bodyPr>
          <a:lstStyle>
            <a:lvl1pPr marL="0" indent="0">
              <a:lnSpc>
                <a:spcPct val="110000"/>
              </a:lnSpc>
              <a:buNone/>
              <a:defRPr sz="1600" b="0" i="0">
                <a:solidFill>
                  <a:srgbClr val="2576B7"/>
                </a:solidFill>
                <a:latin typeface="Exo" panose="020B0604020202020204" charset="0"/>
              </a:defRPr>
            </a:lvl1pPr>
          </a:lstStyle>
          <a:p>
            <a:pPr lvl="0"/>
            <a:r>
              <a:rPr lang="en-US"/>
              <a:t>Observe the Evolution of Quantum Capability</a:t>
            </a:r>
          </a:p>
        </p:txBody>
      </p:sp>
      <p:sp>
        <p:nvSpPr>
          <p:cNvPr id="17" name="Title 1">
            <a:extLst>
              <a:ext uri="{FF2B5EF4-FFF2-40B4-BE49-F238E27FC236}">
                <a16:creationId xmlns:a16="http://schemas.microsoft.com/office/drawing/2014/main" id="{0E684A7A-566C-524F-9059-7AED86894B10}"/>
              </a:ext>
            </a:extLst>
          </p:cNvPr>
          <p:cNvSpPr>
            <a:spLocks noGrp="1"/>
          </p:cNvSpPr>
          <p:nvPr>
            <p:ph type="title" hasCustomPrompt="1"/>
          </p:nvPr>
        </p:nvSpPr>
        <p:spPr>
          <a:xfrm>
            <a:off x="354107" y="530020"/>
            <a:ext cx="2528793" cy="1655967"/>
          </a:xfrm>
        </p:spPr>
        <p:txBody>
          <a:bodyPr>
            <a:noAutofit/>
          </a:bodyPr>
          <a:lstStyle>
            <a:lvl1pPr>
              <a:defRPr>
                <a:solidFill>
                  <a:schemeClr val="bg1"/>
                </a:solidFill>
              </a:defRPr>
            </a:lvl1pPr>
          </a:lstStyle>
          <a:p>
            <a:r>
              <a:rPr lang="en-US"/>
              <a:t>Related Info-Tech</a:t>
            </a:r>
            <a:br>
              <a:rPr lang="en-US"/>
            </a:br>
            <a:r>
              <a:rPr lang="en-US"/>
              <a:t>Research</a:t>
            </a:r>
          </a:p>
        </p:txBody>
      </p:sp>
      <p:sp>
        <p:nvSpPr>
          <p:cNvPr id="20" name="Text Placeholder 4">
            <a:extLst>
              <a:ext uri="{FF2B5EF4-FFF2-40B4-BE49-F238E27FC236}">
                <a16:creationId xmlns:a16="http://schemas.microsoft.com/office/drawing/2014/main" id="{601906B8-F10B-5344-931F-79A91218159A}"/>
              </a:ext>
            </a:extLst>
          </p:cNvPr>
          <p:cNvSpPr>
            <a:spLocks noGrp="1"/>
          </p:cNvSpPr>
          <p:nvPr>
            <p:ph type="body" sz="quarter" idx="33"/>
          </p:nvPr>
        </p:nvSpPr>
        <p:spPr>
          <a:xfrm>
            <a:off x="3654167" y="3518409"/>
            <a:ext cx="2551371" cy="2361396"/>
          </a:xfrm>
          <a:prstGeom prst="rect">
            <a:avLst/>
          </a:prstGeom>
        </p:spPr>
        <p:txBody>
          <a:bodyPr lIns="0" tIns="0" rIns="0" bIns="0" numCol="1" spcCol="292608"/>
          <a:lstStyle>
            <a:lvl1pPr marL="179388" indent="-179388">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4">
            <a:extLst>
              <a:ext uri="{FF2B5EF4-FFF2-40B4-BE49-F238E27FC236}">
                <a16:creationId xmlns:a16="http://schemas.microsoft.com/office/drawing/2014/main" id="{7CDAC451-E2DC-5E43-8A65-BDD2C214A4E3}"/>
              </a:ext>
            </a:extLst>
          </p:cNvPr>
          <p:cNvSpPr>
            <a:spLocks noGrp="1"/>
          </p:cNvSpPr>
          <p:nvPr>
            <p:ph type="body" sz="quarter" idx="34"/>
          </p:nvPr>
        </p:nvSpPr>
        <p:spPr>
          <a:xfrm>
            <a:off x="6477794" y="3518409"/>
            <a:ext cx="2551371" cy="2361396"/>
          </a:xfrm>
          <a:prstGeom prst="rect">
            <a:avLst/>
          </a:prstGeom>
        </p:spPr>
        <p:txBody>
          <a:bodyPr lIns="0" tIns="0" rIns="0" bIns="0" numCol="1" spcCol="292608"/>
          <a:lstStyle>
            <a:lvl1pPr marL="179388" indent="-179388">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4">
            <a:extLst>
              <a:ext uri="{FF2B5EF4-FFF2-40B4-BE49-F238E27FC236}">
                <a16:creationId xmlns:a16="http://schemas.microsoft.com/office/drawing/2014/main" id="{20852FC8-6DA5-4540-982F-D5CBC2F29FE2}"/>
              </a:ext>
            </a:extLst>
          </p:cNvPr>
          <p:cNvSpPr>
            <a:spLocks noGrp="1"/>
          </p:cNvSpPr>
          <p:nvPr>
            <p:ph type="body" sz="quarter" idx="35"/>
          </p:nvPr>
        </p:nvSpPr>
        <p:spPr>
          <a:xfrm>
            <a:off x="9297194" y="3518409"/>
            <a:ext cx="2551371" cy="2361396"/>
          </a:xfrm>
          <a:prstGeom prst="rect">
            <a:avLst/>
          </a:prstGeom>
        </p:spPr>
        <p:txBody>
          <a:bodyPr lIns="0" tIns="0" rIns="0" bIns="0" numCol="1" spcCol="292608"/>
          <a:lstStyle>
            <a:lvl1pPr marL="179388" indent="-179388">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2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9815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BackCover-Dark-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4AB8C1-6C40-CD43-B475-2AF9EA36EA9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87693" y="2785036"/>
            <a:ext cx="2818202" cy="965200"/>
          </a:xfrm>
          <a:prstGeom prst="rect">
            <a:avLst/>
          </a:prstGeom>
        </p:spPr>
      </p:pic>
    </p:spTree>
    <p:extLst>
      <p:ext uri="{BB962C8B-B14F-4D97-AF65-F5344CB8AC3E}">
        <p14:creationId xmlns:p14="http://schemas.microsoft.com/office/powerpoint/2010/main" val="2598447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9BE7-F796-02C6-FA35-271B9F9FF6C8}"/>
              </a:ext>
            </a:extLst>
          </p:cNvPr>
          <p:cNvSpPr>
            <a:spLocks noGrp="1"/>
          </p:cNvSpPr>
          <p:nvPr>
            <p:ph type="ctrTitle"/>
          </p:nvPr>
        </p:nvSpPr>
        <p:spPr>
          <a:xfrm>
            <a:off x="1524199" y="1122363"/>
            <a:ext cx="9145191"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730C99-8F3E-EC01-7329-7938E23367DB}"/>
              </a:ext>
            </a:extLst>
          </p:cNvPr>
          <p:cNvSpPr>
            <a:spLocks noGrp="1"/>
          </p:cNvSpPr>
          <p:nvPr>
            <p:ph type="subTitle" idx="1"/>
          </p:nvPr>
        </p:nvSpPr>
        <p:spPr>
          <a:xfrm>
            <a:off x="1524199" y="3602038"/>
            <a:ext cx="914519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B3334C-3A97-CF8D-4C50-7164E56240DF}"/>
              </a:ext>
            </a:extLst>
          </p:cNvPr>
          <p:cNvSpPr>
            <a:spLocks noGrp="1"/>
          </p:cNvSpPr>
          <p:nvPr>
            <p:ph type="dt" sz="half" idx="10"/>
          </p:nvPr>
        </p:nvSpPr>
        <p:spPr/>
        <p:txBody>
          <a:bodyPr/>
          <a:lstStyle/>
          <a:p>
            <a:fld id="{41225349-1304-45B9-9EE0-D22ECD4B9502}" type="datetimeFigureOut">
              <a:rPr lang="en-US" smtClean="0"/>
              <a:t>12/8/2025</a:t>
            </a:fld>
            <a:endParaRPr lang="en-US" dirty="0"/>
          </a:p>
        </p:txBody>
      </p:sp>
      <p:sp>
        <p:nvSpPr>
          <p:cNvPr id="5" name="Footer Placeholder 4">
            <a:extLst>
              <a:ext uri="{FF2B5EF4-FFF2-40B4-BE49-F238E27FC236}">
                <a16:creationId xmlns:a16="http://schemas.microsoft.com/office/drawing/2014/main" id="{75E5AD35-A3DB-32B9-7699-AD28CC3173C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C6A23CD-35E9-EA05-CF69-02113026F9D0}"/>
              </a:ext>
            </a:extLst>
          </p:cNvPr>
          <p:cNvSpPr>
            <a:spLocks noGrp="1"/>
          </p:cNvSpPr>
          <p:nvPr>
            <p:ph type="sldNum" sz="quarter" idx="12"/>
          </p:nvPr>
        </p:nvSpPr>
        <p:spPr/>
        <p:txBody>
          <a:bodyPr/>
          <a:lstStyle/>
          <a:p>
            <a:fld id="{97DBFC90-69ED-4732-A98D-D4829B2EE2B8}" type="slidenum">
              <a:rPr lang="en-US" smtClean="0"/>
              <a:t>‹#›</a:t>
            </a:fld>
            <a:endParaRPr lang="en-US" dirty="0"/>
          </a:p>
        </p:txBody>
      </p:sp>
    </p:spTree>
    <p:extLst>
      <p:ext uri="{BB962C8B-B14F-4D97-AF65-F5344CB8AC3E}">
        <p14:creationId xmlns:p14="http://schemas.microsoft.com/office/powerpoint/2010/main" val="38600956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graySidebar">
    <p:spTree>
      <p:nvGrpSpPr>
        <p:cNvPr id="1" name=""/>
        <p:cNvGrpSpPr/>
        <p:nvPr/>
      </p:nvGrpSpPr>
      <p:grpSpPr>
        <a:xfrm>
          <a:off x="0" y="0"/>
          <a:ext cx="0" cy="0"/>
          <a:chOff x="0" y="0"/>
          <a:chExt cx="0" cy="0"/>
        </a:xfrm>
      </p:grpSpPr>
      <p:sp>
        <p:nvSpPr>
          <p:cNvPr id="6" name="Text Placeholder 11">
            <a:extLst>
              <a:ext uri="{FF2B5EF4-FFF2-40B4-BE49-F238E27FC236}">
                <a16:creationId xmlns:a16="http://schemas.microsoft.com/office/drawing/2014/main" id="{D426E116-0FE3-D446-B568-6373B436AD1A}"/>
              </a:ext>
            </a:extLst>
          </p:cNvPr>
          <p:cNvSpPr>
            <a:spLocks noGrp="1"/>
          </p:cNvSpPr>
          <p:nvPr>
            <p:ph type="body" sz="quarter" idx="11"/>
          </p:nvPr>
        </p:nvSpPr>
        <p:spPr>
          <a:xfrm>
            <a:off x="374088" y="1648758"/>
            <a:ext cx="5686987" cy="456696"/>
          </a:xfrm>
          <a:prstGeom prst="rect">
            <a:avLst/>
          </a:prstGeom>
        </p:spPr>
        <p:txBody>
          <a:bodyPr lIns="0" tIns="0" rIns="0" bIns="0">
            <a:noAutofit/>
          </a:bodyPr>
          <a:lstStyle>
            <a:lvl1pPr marL="0" indent="0">
              <a:lnSpc>
                <a:spcPct val="110000"/>
              </a:lnSpc>
              <a:buNone/>
              <a:defRPr sz="2000" b="0" i="0">
                <a:solidFill>
                  <a:srgbClr val="4A4A4A"/>
                </a:solidFill>
                <a:latin typeface="Montserrat SemiBold" pitchFamily="2" charset="77"/>
                <a:cs typeface="Arial" panose="020B0604020202020204" pitchFamily="34" charset="0"/>
              </a:defRPr>
            </a:lvl1pPr>
            <a:lvl2pPr marL="457200" indent="0">
              <a:lnSpc>
                <a:spcPts val="2400"/>
              </a:lnSpc>
              <a:buNone/>
              <a:defRPr sz="2000">
                <a:solidFill>
                  <a:srgbClr val="848585"/>
                </a:solidFill>
                <a:latin typeface="Arial" panose="020B0604020202020204" pitchFamily="34" charset="0"/>
                <a:cs typeface="Arial" panose="020B0604020202020204" pitchFamily="34" charset="0"/>
              </a:defRPr>
            </a:lvl2pPr>
            <a:lvl3pPr marL="914400" indent="0">
              <a:lnSpc>
                <a:spcPts val="2400"/>
              </a:lnSpc>
              <a:buNone/>
              <a:defRPr sz="2000">
                <a:solidFill>
                  <a:srgbClr val="848585"/>
                </a:solidFill>
                <a:latin typeface="Arial" panose="020B0604020202020204" pitchFamily="34" charset="0"/>
                <a:cs typeface="Arial" panose="020B0604020202020204" pitchFamily="34" charset="0"/>
              </a:defRPr>
            </a:lvl3pPr>
            <a:lvl4pPr marL="1371600" indent="0">
              <a:lnSpc>
                <a:spcPts val="2400"/>
              </a:lnSpc>
              <a:buNone/>
              <a:defRPr sz="2000">
                <a:solidFill>
                  <a:srgbClr val="848585"/>
                </a:solidFill>
                <a:latin typeface="Arial" panose="020B0604020202020204" pitchFamily="34" charset="0"/>
                <a:cs typeface="Arial" panose="020B0604020202020204" pitchFamily="34" charset="0"/>
              </a:defRPr>
            </a:lvl4pPr>
            <a:lvl5pPr marL="1828800" indent="0">
              <a:lnSpc>
                <a:spcPts val="2400"/>
              </a:lnSpc>
              <a:buNone/>
              <a:defRPr sz="2000">
                <a:solidFill>
                  <a:srgbClr val="848585"/>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7" name="Text Placeholder 17">
            <a:extLst>
              <a:ext uri="{FF2B5EF4-FFF2-40B4-BE49-F238E27FC236}">
                <a16:creationId xmlns:a16="http://schemas.microsoft.com/office/drawing/2014/main" id="{BC346A8C-5C1D-114F-94D6-BBB1ED290669}"/>
              </a:ext>
            </a:extLst>
          </p:cNvPr>
          <p:cNvSpPr>
            <a:spLocks noGrp="1"/>
          </p:cNvSpPr>
          <p:nvPr>
            <p:ph type="body" sz="quarter" idx="13"/>
          </p:nvPr>
        </p:nvSpPr>
        <p:spPr>
          <a:xfrm>
            <a:off x="383858" y="2035250"/>
            <a:ext cx="5677217" cy="473616"/>
          </a:xfrm>
          <a:prstGeom prst="rect">
            <a:avLst/>
          </a:prstGeom>
        </p:spPr>
        <p:txBody>
          <a:bodyPr lIns="0" tIns="0" rIns="0" bIns="0">
            <a:noAutofit/>
          </a:bodyPr>
          <a:lstStyle>
            <a:lvl1pPr marL="0" indent="0">
              <a:lnSpc>
                <a:spcPct val="110000"/>
              </a:lnSpc>
              <a:buNone/>
              <a:defRPr sz="1600" b="0" i="0">
                <a:solidFill>
                  <a:srgbClr val="2576B7"/>
                </a:solidFill>
                <a:latin typeface="Exo" panose="02000503000000000000" pitchFamily="2" charset="77"/>
                <a:cs typeface="Arial" panose="020B0604020202020204" pitchFamily="34" charset="0"/>
              </a:defRPr>
            </a:lvl1pPr>
            <a:lvl2pPr marL="457200" indent="0">
              <a:lnSpc>
                <a:spcPts val="1400"/>
              </a:lnSpc>
              <a:buNone/>
              <a:defRPr sz="1400">
                <a:solidFill>
                  <a:srgbClr val="2576B7"/>
                </a:solidFill>
                <a:latin typeface="Arial" panose="020B0604020202020204" pitchFamily="34" charset="0"/>
                <a:cs typeface="Arial" panose="020B0604020202020204" pitchFamily="34" charset="0"/>
              </a:defRPr>
            </a:lvl2pPr>
            <a:lvl3pPr marL="914400" indent="0">
              <a:lnSpc>
                <a:spcPts val="1400"/>
              </a:lnSpc>
              <a:buNone/>
              <a:defRPr sz="1400">
                <a:solidFill>
                  <a:srgbClr val="2576B7"/>
                </a:solidFill>
                <a:latin typeface="Arial" panose="020B0604020202020204" pitchFamily="34" charset="0"/>
                <a:cs typeface="Arial" panose="020B0604020202020204" pitchFamily="34" charset="0"/>
              </a:defRPr>
            </a:lvl3pPr>
            <a:lvl4pPr marL="1371600" indent="0">
              <a:lnSpc>
                <a:spcPts val="1400"/>
              </a:lnSpc>
              <a:buNone/>
              <a:defRPr sz="1400">
                <a:solidFill>
                  <a:srgbClr val="2576B7"/>
                </a:solidFill>
                <a:latin typeface="Arial" panose="020B0604020202020204" pitchFamily="34" charset="0"/>
                <a:cs typeface="Arial" panose="020B0604020202020204" pitchFamily="34" charset="0"/>
              </a:defRPr>
            </a:lvl4pPr>
            <a:lvl5pPr marL="1828800" indent="0">
              <a:lnSpc>
                <a:spcPts val="1400"/>
              </a:lnSpc>
              <a:buNone/>
              <a:defRPr sz="1400">
                <a:solidFill>
                  <a:srgbClr val="2576B7"/>
                </a:solidFill>
                <a:latin typeface="Arial" panose="020B0604020202020204" pitchFamily="34" charset="0"/>
                <a:cs typeface="Arial" panose="020B0604020202020204" pitchFamily="34" charset="0"/>
              </a:defRPr>
            </a:lvl5pPr>
          </a:lstStyle>
          <a:p>
            <a:pPr lvl="0"/>
            <a:r>
              <a:rPr lang="en-US"/>
              <a:t>Click to edit Master text styles</a:t>
            </a:r>
          </a:p>
        </p:txBody>
      </p:sp>
      <p:sp>
        <p:nvSpPr>
          <p:cNvPr id="12" name="Title 9">
            <a:extLst>
              <a:ext uri="{FF2B5EF4-FFF2-40B4-BE49-F238E27FC236}">
                <a16:creationId xmlns:a16="http://schemas.microsoft.com/office/drawing/2014/main" id="{488EE5B4-C583-A04D-B5FC-EA23A0B46B36}"/>
              </a:ext>
            </a:extLst>
          </p:cNvPr>
          <p:cNvSpPr>
            <a:spLocks noGrp="1"/>
          </p:cNvSpPr>
          <p:nvPr>
            <p:ph type="title"/>
          </p:nvPr>
        </p:nvSpPr>
        <p:spPr>
          <a:xfrm>
            <a:off x="354106" y="530021"/>
            <a:ext cx="4967041" cy="1130188"/>
          </a:xfrm>
        </p:spPr>
        <p:txBody>
          <a:bodyPr>
            <a:noAutofit/>
          </a:bodyPr>
          <a:lstStyle>
            <a:lvl1pPr>
              <a:lnSpc>
                <a:spcPct val="90000"/>
              </a:lnSpc>
              <a:defRPr b="0" i="0"/>
            </a:lvl1pPr>
          </a:lstStyle>
          <a:p>
            <a:r>
              <a:rPr lang="en-US"/>
              <a:t>Click to edit Master title style</a:t>
            </a:r>
          </a:p>
        </p:txBody>
      </p:sp>
      <p:sp>
        <p:nvSpPr>
          <p:cNvPr id="8" name="Text Placeholder 4">
            <a:extLst>
              <a:ext uri="{FF2B5EF4-FFF2-40B4-BE49-F238E27FC236}">
                <a16:creationId xmlns:a16="http://schemas.microsoft.com/office/drawing/2014/main" id="{2721BB38-35D8-6041-AE06-91C7C44D942C}"/>
              </a:ext>
            </a:extLst>
          </p:cNvPr>
          <p:cNvSpPr>
            <a:spLocks noGrp="1"/>
          </p:cNvSpPr>
          <p:nvPr>
            <p:ph type="body" sz="quarter" idx="33"/>
          </p:nvPr>
        </p:nvSpPr>
        <p:spPr>
          <a:xfrm>
            <a:off x="371475" y="3125003"/>
            <a:ext cx="6678613" cy="2637843"/>
          </a:xfrm>
          <a:prstGeom prst="rect">
            <a:avLst/>
          </a:prstGeom>
        </p:spPr>
        <p:txBody>
          <a:bodyPr lIns="0" tIns="0" rIns="0" bIns="0" numCol="1" spcCol="292608"/>
          <a:lstStyle>
            <a:lvl1pPr marL="179388" indent="-179388">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1pPr>
            <a:lvl2pPr marL="6286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2pPr>
            <a:lvl3pPr marL="1089025" indent="-174625">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3pPr>
            <a:lvl4pPr marL="1549400" indent="-17780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4pPr>
            <a:lvl5pPr marL="2000250" indent="-171450">
              <a:lnSpc>
                <a:spcPct val="110000"/>
              </a:lnSpc>
              <a:tabLst/>
              <a:defRPr sz="1400">
                <a:solidFill>
                  <a:srgbClr val="000000"/>
                </a:solidFill>
                <a:latin typeface="Roboto Condensed Light" panose="02000000000000000000" pitchFamily="2" charset="0"/>
                <a:ea typeface="Roboto Condensed Light" panose="020000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39C547E-7388-DC4A-B7BE-F29EBC5287ED}"/>
              </a:ext>
            </a:extLst>
          </p:cNvPr>
          <p:cNvSpPr txBox="1"/>
          <p:nvPr userDrawn="1"/>
        </p:nvSpPr>
        <p:spPr>
          <a:xfrm>
            <a:off x="11409680" y="6471920"/>
            <a:ext cx="0" cy="0"/>
          </a:xfrm>
          <a:prstGeom prst="rect">
            <a:avLst/>
          </a:prstGeom>
        </p:spPr>
        <p:txBody>
          <a:bodyPr wrap="non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7264430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
        <p:nvSpPr>
          <p:cNvPr id="2" name="Title Placeholder 11">
            <a:extLst>
              <a:ext uri="{FF2B5EF4-FFF2-40B4-BE49-F238E27FC236}">
                <a16:creationId xmlns:a16="http://schemas.microsoft.com/office/drawing/2014/main" id="{E52F795C-27C2-8046-8EBA-637111198D80}"/>
              </a:ext>
            </a:extLst>
          </p:cNvPr>
          <p:cNvSpPr>
            <a:spLocks noGrp="1"/>
          </p:cNvSpPr>
          <p:nvPr>
            <p:ph type="title"/>
          </p:nvPr>
        </p:nvSpPr>
        <p:spPr>
          <a:xfrm>
            <a:off x="369016" y="528897"/>
            <a:ext cx="10516970" cy="1325563"/>
          </a:xfrm>
          <a:prstGeom prst="rect">
            <a:avLst/>
          </a:prstGeom>
        </p:spPr>
        <p:txBody>
          <a:bodyPr vert="horz" lIns="0" tIns="0" rIns="0" bIns="0" rtlCol="0" anchor="t">
            <a:normAutofit/>
          </a:bodyPr>
          <a:lstStyle>
            <a:lvl1pPr>
              <a:defRPr sz="4000" b="1" i="0">
                <a:solidFill>
                  <a:srgbClr val="717171"/>
                </a:solidFill>
                <a:latin typeface="Montserrat SemiBold" pitchFamily="2" charset="77"/>
              </a:defRPr>
            </a:lvl1pPr>
          </a:lstStyle>
          <a:p>
            <a:r>
              <a:rPr lang="en-US"/>
              <a:t>Click to edit Master title style</a:t>
            </a:r>
          </a:p>
        </p:txBody>
      </p:sp>
      <p:sp>
        <p:nvSpPr>
          <p:cNvPr id="3" name="Text Placeholder 4">
            <a:extLst>
              <a:ext uri="{FF2B5EF4-FFF2-40B4-BE49-F238E27FC236}">
                <a16:creationId xmlns:a16="http://schemas.microsoft.com/office/drawing/2014/main" id="{410EDEE3-640B-504D-9EE5-6837D51D0F1B}"/>
              </a:ext>
            </a:extLst>
          </p:cNvPr>
          <p:cNvSpPr>
            <a:spLocks noGrp="1"/>
          </p:cNvSpPr>
          <p:nvPr>
            <p:ph type="body" sz="quarter" idx="10"/>
          </p:nvPr>
        </p:nvSpPr>
        <p:spPr>
          <a:xfrm>
            <a:off x="369938" y="1098120"/>
            <a:ext cx="3832724" cy="616383"/>
          </a:xfrm>
          <a:prstGeom prst="rect">
            <a:avLst/>
          </a:prstGeom>
        </p:spPr>
        <p:txBody>
          <a:bodyPr lIns="0" tIns="0" rIns="0" bIns="0"/>
          <a:lstStyle>
            <a:lvl1pPr marL="0" indent="0">
              <a:lnSpc>
                <a:spcPct val="110000"/>
              </a:lnSpc>
              <a:buNone/>
              <a:defRPr sz="1600" b="0" i="0">
                <a:solidFill>
                  <a:srgbClr val="717171"/>
                </a:solidFill>
                <a:latin typeface="Exo" panose="02000503000000000000" pitchFamily="2" charset="77"/>
              </a:defRPr>
            </a:lvl1pPr>
            <a:lvl2pPr marL="457154" indent="0">
              <a:lnSpc>
                <a:spcPct val="110000"/>
              </a:lnSpc>
              <a:buNone/>
              <a:defRPr sz="1600" b="0" i="0">
                <a:solidFill>
                  <a:srgbClr val="717171"/>
                </a:solidFill>
                <a:latin typeface="Exo" panose="02000503000000000000" pitchFamily="2" charset="77"/>
              </a:defRPr>
            </a:lvl2pPr>
            <a:lvl3pPr marL="914309" indent="0">
              <a:lnSpc>
                <a:spcPct val="110000"/>
              </a:lnSpc>
              <a:buNone/>
              <a:defRPr sz="1600" b="0" i="0">
                <a:solidFill>
                  <a:srgbClr val="717171"/>
                </a:solidFill>
                <a:latin typeface="Exo" panose="02000503000000000000" pitchFamily="2" charset="77"/>
              </a:defRPr>
            </a:lvl3pPr>
            <a:lvl4pPr marL="1371463" indent="0">
              <a:lnSpc>
                <a:spcPct val="110000"/>
              </a:lnSpc>
              <a:buNone/>
              <a:defRPr sz="1600" b="0" i="0">
                <a:solidFill>
                  <a:srgbClr val="717171"/>
                </a:solidFill>
                <a:latin typeface="Exo" panose="02000503000000000000" pitchFamily="2" charset="77"/>
              </a:defRPr>
            </a:lvl4pPr>
            <a:lvl5pPr marL="1828617" indent="0">
              <a:lnSpc>
                <a:spcPct val="110000"/>
              </a:lnSpc>
              <a:buNone/>
              <a:defRPr sz="1600" b="0" i="0">
                <a:solidFill>
                  <a:srgbClr val="717171"/>
                </a:solidFill>
                <a:latin typeface="Exo" panose="02000503000000000000"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892077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3.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p:nvSpPr>
          <p:cNvPr id="4" name="object 40">
            <a:extLst>
              <a:ext uri="{FF2B5EF4-FFF2-40B4-BE49-F238E27FC236}">
                <a16:creationId xmlns:a16="http://schemas.microsoft.com/office/drawing/2014/main" id="{CAA2DC47-C07C-8841-8398-880188265DC9}"/>
              </a:ext>
            </a:extLst>
          </p:cNvPr>
          <p:cNvSpPr txBox="1"/>
          <p:nvPr userDrawn="1"/>
        </p:nvSpPr>
        <p:spPr>
          <a:xfrm>
            <a:off x="5965031" y="6040551"/>
            <a:ext cx="3221785" cy="502469"/>
          </a:xfrm>
          <a:prstGeom prst="rect">
            <a:avLst/>
          </a:prstGeom>
        </p:spPr>
        <p:txBody>
          <a:bodyPr vert="horz" wrap="square" lIns="0" tIns="2310" rIns="0" bIns="0" rtlCol="0">
            <a:noAutofit/>
          </a:bodyPr>
          <a:lstStyle/>
          <a:p>
            <a:pPr marL="7701" marR="3081" indent="33886" algn="r">
              <a:lnSpc>
                <a:spcPts val="958"/>
              </a:lnSpc>
              <a:spcBef>
                <a:spcPts val="18"/>
              </a:spcBef>
            </a:pPr>
            <a:r>
              <a:rPr sz="788" b="0" i="0" spc="-6" dirty="0">
                <a:solidFill>
                  <a:srgbClr val="DCDCDC"/>
                </a:solidFill>
                <a:latin typeface="Roboto Condensed Light" panose="02000000000000000000" pitchFamily="2" charset="0"/>
                <a:ea typeface="Roboto Condensed Light" panose="02000000000000000000" pitchFamily="2" charset="0"/>
                <a:cs typeface="Arial"/>
              </a:rPr>
              <a:t>Info-Tech </a:t>
            </a:r>
            <a:r>
              <a:rPr sz="788" b="0" i="0" spc="3" dirty="0">
                <a:solidFill>
                  <a:srgbClr val="DCDCDC"/>
                </a:solidFill>
                <a:latin typeface="Roboto Condensed Light" panose="02000000000000000000" pitchFamily="2" charset="0"/>
                <a:ea typeface="Roboto Condensed Light" panose="02000000000000000000" pitchFamily="2" charset="0"/>
                <a:cs typeface="Arial"/>
              </a:rPr>
              <a:t>Research </a:t>
            </a:r>
            <a:r>
              <a:rPr sz="788" b="0" i="0" spc="6" dirty="0">
                <a:solidFill>
                  <a:srgbClr val="DCDCDC"/>
                </a:solidFill>
                <a:latin typeface="Roboto Condensed Light" panose="02000000000000000000" pitchFamily="2" charset="0"/>
                <a:ea typeface="Roboto Condensed Light" panose="02000000000000000000" pitchFamily="2" charset="0"/>
                <a:cs typeface="Arial"/>
              </a:rPr>
              <a:t>Group </a:t>
            </a:r>
            <a:r>
              <a:rPr sz="788" b="0" i="0" spc="3" dirty="0">
                <a:solidFill>
                  <a:srgbClr val="DCDCDC"/>
                </a:solidFill>
                <a:latin typeface="Roboto Condensed Light" panose="02000000000000000000" pitchFamily="2" charset="0"/>
                <a:ea typeface="Roboto Condensed Light" panose="02000000000000000000" pitchFamily="2" charset="0"/>
                <a:cs typeface="Arial"/>
              </a:rPr>
              <a:t>Inc. </a:t>
            </a:r>
            <a:r>
              <a:rPr sz="788" b="0" i="0" dirty="0">
                <a:solidFill>
                  <a:srgbClr val="DCDCDC"/>
                </a:solidFill>
                <a:latin typeface="Roboto Condensed Light" panose="02000000000000000000" pitchFamily="2" charset="0"/>
                <a:ea typeface="Roboto Condensed Light" panose="02000000000000000000" pitchFamily="2" charset="0"/>
                <a:cs typeface="Arial"/>
              </a:rPr>
              <a:t>is </a:t>
            </a:r>
            <a:r>
              <a:rPr sz="788" b="0" i="0" spc="6" dirty="0">
                <a:solidFill>
                  <a:srgbClr val="DCDCDC"/>
                </a:solidFill>
                <a:latin typeface="Roboto Condensed Light" panose="02000000000000000000" pitchFamily="2" charset="0"/>
                <a:ea typeface="Roboto Condensed Light" panose="02000000000000000000" pitchFamily="2" charset="0"/>
                <a:cs typeface="Arial"/>
              </a:rPr>
              <a:t>a </a:t>
            </a:r>
            <a:r>
              <a:rPr sz="788" b="0" i="0" dirty="0">
                <a:solidFill>
                  <a:srgbClr val="DCDCDC"/>
                </a:solidFill>
                <a:latin typeface="Roboto Condensed Light" panose="02000000000000000000" pitchFamily="2" charset="0"/>
                <a:ea typeface="Roboto Condensed Light" panose="02000000000000000000" pitchFamily="2" charset="0"/>
                <a:cs typeface="Arial"/>
              </a:rPr>
              <a:t>global leader </a:t>
            </a:r>
            <a:r>
              <a:rPr sz="788" b="0" i="0" spc="3" dirty="0">
                <a:solidFill>
                  <a:srgbClr val="DCDCDC"/>
                </a:solidFill>
                <a:latin typeface="Roboto Condensed Light" panose="02000000000000000000" pitchFamily="2" charset="0"/>
                <a:ea typeface="Roboto Condensed Light" panose="02000000000000000000" pitchFamily="2" charset="0"/>
                <a:cs typeface="Arial"/>
              </a:rPr>
              <a:t>in </a:t>
            </a:r>
            <a:r>
              <a:rPr sz="788" b="0" i="0" dirty="0">
                <a:solidFill>
                  <a:srgbClr val="DCDCDC"/>
                </a:solidFill>
                <a:latin typeface="Roboto Condensed Light" panose="02000000000000000000" pitchFamily="2" charset="0"/>
                <a:ea typeface="Roboto Condensed Light" panose="02000000000000000000" pitchFamily="2" charset="0"/>
                <a:cs typeface="Arial"/>
              </a:rPr>
              <a:t>providing </a:t>
            </a:r>
            <a:r>
              <a:rPr sz="788" b="0" i="0" spc="3" dirty="0">
                <a:solidFill>
                  <a:srgbClr val="DCDCDC"/>
                </a:solidFill>
                <a:latin typeface="Roboto Condensed Light" panose="02000000000000000000" pitchFamily="2" charset="0"/>
                <a:ea typeface="Roboto Condensed Light" panose="02000000000000000000" pitchFamily="2" charset="0"/>
                <a:cs typeface="Arial"/>
              </a:rPr>
              <a:t>IT research</a:t>
            </a:r>
            <a:r>
              <a:rPr sz="788" b="0" i="0" spc="64" dirty="0">
                <a:solidFill>
                  <a:srgbClr val="DCDCDC"/>
                </a:solidFill>
                <a:latin typeface="Roboto Condensed Light" panose="02000000000000000000" pitchFamily="2" charset="0"/>
                <a:ea typeface="Roboto Condensed Light" panose="02000000000000000000" pitchFamily="2" charset="0"/>
                <a:cs typeface="Arial"/>
              </a:rPr>
              <a:t> </a:t>
            </a:r>
            <a:r>
              <a:rPr sz="788" b="0" i="0" spc="3" dirty="0">
                <a:solidFill>
                  <a:srgbClr val="DCDCDC"/>
                </a:solidFill>
                <a:latin typeface="Roboto Condensed Light" panose="02000000000000000000" pitchFamily="2" charset="0"/>
                <a:ea typeface="Roboto Condensed Light" panose="02000000000000000000" pitchFamily="2" charset="0"/>
                <a:cs typeface="Arial"/>
              </a:rPr>
              <a:t>and</a:t>
            </a:r>
            <a:r>
              <a:rPr sz="788" b="0" i="0" spc="9" dirty="0">
                <a:solidFill>
                  <a:srgbClr val="DCDCDC"/>
                </a:solidFill>
                <a:latin typeface="Roboto Condensed Light" panose="02000000000000000000" pitchFamily="2" charset="0"/>
                <a:ea typeface="Roboto Condensed Light" panose="02000000000000000000" pitchFamily="2" charset="0"/>
                <a:cs typeface="Arial"/>
              </a:rPr>
              <a:t> </a:t>
            </a:r>
            <a:r>
              <a:rPr sz="788" b="0" i="0" dirty="0">
                <a:solidFill>
                  <a:srgbClr val="DCDCDC"/>
                </a:solidFill>
                <a:latin typeface="Roboto Condensed Light" panose="02000000000000000000" pitchFamily="2" charset="0"/>
                <a:ea typeface="Roboto Condensed Light" panose="02000000000000000000" pitchFamily="2" charset="0"/>
                <a:cs typeface="Arial"/>
              </a:rPr>
              <a:t>advice. </a:t>
            </a:r>
            <a:r>
              <a:rPr sz="788" b="0" i="0" spc="-6" dirty="0">
                <a:solidFill>
                  <a:srgbClr val="DCDCDC"/>
                </a:solidFill>
                <a:latin typeface="Roboto Condensed Light" panose="02000000000000000000" pitchFamily="2" charset="0"/>
                <a:ea typeface="Roboto Condensed Light" panose="02000000000000000000" pitchFamily="2" charset="0"/>
                <a:cs typeface="Arial"/>
              </a:rPr>
              <a:t>Info-Tech’s </a:t>
            </a:r>
            <a:r>
              <a:rPr sz="788" b="0" i="0" dirty="0">
                <a:solidFill>
                  <a:srgbClr val="DCDCDC"/>
                </a:solidFill>
                <a:latin typeface="Roboto Condensed Light" panose="02000000000000000000" pitchFamily="2" charset="0"/>
                <a:ea typeface="Roboto Condensed Light" panose="02000000000000000000" pitchFamily="2" charset="0"/>
                <a:cs typeface="Arial"/>
              </a:rPr>
              <a:t>products </a:t>
            </a:r>
            <a:r>
              <a:rPr sz="788" b="0" i="0" spc="3" dirty="0">
                <a:solidFill>
                  <a:srgbClr val="DCDCDC"/>
                </a:solidFill>
                <a:latin typeface="Roboto Condensed Light" panose="02000000000000000000" pitchFamily="2" charset="0"/>
                <a:ea typeface="Roboto Condensed Light" panose="02000000000000000000" pitchFamily="2" charset="0"/>
                <a:cs typeface="Arial"/>
              </a:rPr>
              <a:t>and services </a:t>
            </a:r>
            <a:r>
              <a:rPr sz="788" b="0" i="0" spc="6" dirty="0">
                <a:solidFill>
                  <a:srgbClr val="DCDCDC"/>
                </a:solidFill>
                <a:latin typeface="Roboto Condensed Light" panose="02000000000000000000" pitchFamily="2" charset="0"/>
                <a:ea typeface="Roboto Condensed Light" panose="02000000000000000000" pitchFamily="2" charset="0"/>
                <a:cs typeface="Arial"/>
              </a:rPr>
              <a:t>combine </a:t>
            </a:r>
            <a:r>
              <a:rPr sz="788" b="0" i="0" dirty="0">
                <a:solidFill>
                  <a:srgbClr val="DCDCDC"/>
                </a:solidFill>
                <a:latin typeface="Roboto Condensed Light" panose="02000000000000000000" pitchFamily="2" charset="0"/>
                <a:ea typeface="Roboto Condensed Light" panose="02000000000000000000" pitchFamily="2" charset="0"/>
                <a:cs typeface="Arial"/>
              </a:rPr>
              <a:t>actionable insight </a:t>
            </a:r>
            <a:r>
              <a:rPr sz="788" b="0" i="0" spc="3" dirty="0">
                <a:solidFill>
                  <a:srgbClr val="DCDCDC"/>
                </a:solidFill>
                <a:latin typeface="Roboto Condensed Light" panose="02000000000000000000" pitchFamily="2" charset="0"/>
                <a:ea typeface="Roboto Condensed Light" panose="02000000000000000000" pitchFamily="2" charset="0"/>
                <a:cs typeface="Arial"/>
              </a:rPr>
              <a:t>and relevant</a:t>
            </a:r>
            <a:r>
              <a:rPr sz="788" b="0" i="0" spc="76" dirty="0">
                <a:solidFill>
                  <a:srgbClr val="DCDCDC"/>
                </a:solidFill>
                <a:latin typeface="Roboto Condensed Light" panose="02000000000000000000" pitchFamily="2" charset="0"/>
                <a:ea typeface="Roboto Condensed Light" panose="02000000000000000000" pitchFamily="2" charset="0"/>
                <a:cs typeface="Arial"/>
              </a:rPr>
              <a:t> </a:t>
            </a:r>
            <a:r>
              <a:rPr sz="788" b="0" i="0" spc="3" dirty="0">
                <a:solidFill>
                  <a:srgbClr val="DCDCDC"/>
                </a:solidFill>
                <a:latin typeface="Roboto Condensed Light" panose="02000000000000000000" pitchFamily="2" charset="0"/>
                <a:ea typeface="Roboto Condensed Light" panose="02000000000000000000" pitchFamily="2" charset="0"/>
                <a:cs typeface="Arial"/>
              </a:rPr>
              <a:t>advice</a:t>
            </a:r>
            <a:r>
              <a:rPr sz="788" b="0" i="0" spc="12" dirty="0">
                <a:solidFill>
                  <a:srgbClr val="DCDCDC"/>
                </a:solidFill>
                <a:latin typeface="Roboto Condensed Light" panose="02000000000000000000" pitchFamily="2" charset="0"/>
                <a:ea typeface="Roboto Condensed Light" panose="02000000000000000000" pitchFamily="2" charset="0"/>
                <a:cs typeface="Arial"/>
              </a:rPr>
              <a:t> </a:t>
            </a:r>
            <a:r>
              <a:rPr sz="788" b="0" i="0" dirty="0">
                <a:solidFill>
                  <a:srgbClr val="DCDCDC"/>
                </a:solidFill>
                <a:latin typeface="Roboto Condensed Light" panose="02000000000000000000" pitchFamily="2" charset="0"/>
                <a:ea typeface="Roboto Condensed Light" panose="02000000000000000000" pitchFamily="2" charset="0"/>
                <a:cs typeface="Arial"/>
              </a:rPr>
              <a:t>with </a:t>
            </a:r>
            <a:r>
              <a:rPr sz="788" b="0" i="0" spc="3" dirty="0">
                <a:solidFill>
                  <a:srgbClr val="DCDCDC"/>
                </a:solidFill>
                <a:latin typeface="Roboto Condensed Light" panose="02000000000000000000" pitchFamily="2" charset="0"/>
                <a:ea typeface="Roboto Condensed Light" panose="02000000000000000000" pitchFamily="2" charset="0"/>
                <a:cs typeface="Arial"/>
              </a:rPr>
              <a:t>ready-to-use tools and templates that cover the full spectrum of IT</a:t>
            </a:r>
            <a:r>
              <a:rPr sz="788" b="0" i="0" spc="73" dirty="0">
                <a:solidFill>
                  <a:srgbClr val="DCDCDC"/>
                </a:solidFill>
                <a:latin typeface="Roboto Condensed Light" panose="02000000000000000000" pitchFamily="2" charset="0"/>
                <a:ea typeface="Roboto Condensed Light" panose="02000000000000000000" pitchFamily="2" charset="0"/>
                <a:cs typeface="Arial"/>
              </a:rPr>
              <a:t> </a:t>
            </a:r>
            <a:r>
              <a:rPr sz="788" b="0" i="0" spc="3" dirty="0">
                <a:solidFill>
                  <a:srgbClr val="DCDCDC"/>
                </a:solidFill>
                <a:latin typeface="Roboto Condensed Light" panose="02000000000000000000" pitchFamily="2" charset="0"/>
                <a:ea typeface="Roboto Condensed Light" panose="02000000000000000000" pitchFamily="2" charset="0"/>
                <a:cs typeface="Arial"/>
              </a:rPr>
              <a:t>concerns.</a:t>
            </a:r>
            <a:endParaRPr sz="788" b="0" i="0" dirty="0">
              <a:latin typeface="Roboto Condensed Light" panose="02000000000000000000" pitchFamily="2" charset="0"/>
              <a:ea typeface="Roboto Condensed Light" panose="02000000000000000000" pitchFamily="2" charset="0"/>
              <a:cs typeface="Arial"/>
            </a:endParaRPr>
          </a:p>
          <a:p>
            <a:pPr marR="3851" algn="r">
              <a:lnSpc>
                <a:spcPts val="931"/>
              </a:lnSpc>
            </a:pPr>
            <a:r>
              <a:rPr sz="788" b="0" i="0" spc="6" dirty="0">
                <a:solidFill>
                  <a:srgbClr val="DCDCDC"/>
                </a:solidFill>
                <a:latin typeface="Roboto Condensed Light" panose="02000000000000000000" pitchFamily="2" charset="0"/>
                <a:ea typeface="Roboto Condensed Light" panose="02000000000000000000" pitchFamily="2" charset="0"/>
                <a:cs typeface="Arial"/>
              </a:rPr>
              <a:t>© </a:t>
            </a:r>
            <a:r>
              <a:rPr sz="788" b="0" i="0" spc="3" dirty="0">
                <a:solidFill>
                  <a:srgbClr val="DCDCDC"/>
                </a:solidFill>
                <a:latin typeface="Roboto Condensed Light" panose="02000000000000000000" pitchFamily="2" charset="0"/>
                <a:ea typeface="Roboto Condensed Light" panose="02000000000000000000" pitchFamily="2" charset="0"/>
                <a:cs typeface="Arial"/>
              </a:rPr>
              <a:t>1997-20</a:t>
            </a:r>
            <a:r>
              <a:rPr lang="en-US" sz="788" b="0" i="0" spc="3" dirty="0">
                <a:solidFill>
                  <a:srgbClr val="DCDCDC"/>
                </a:solidFill>
                <a:latin typeface="Roboto Condensed Light" panose="02000000000000000000" pitchFamily="2" charset="0"/>
                <a:ea typeface="Roboto Condensed Light" panose="02000000000000000000" pitchFamily="2" charset="0"/>
                <a:cs typeface="Arial"/>
              </a:rPr>
              <a:t>25</a:t>
            </a:r>
            <a:r>
              <a:rPr sz="788" b="0" i="0" spc="3" dirty="0">
                <a:solidFill>
                  <a:srgbClr val="DCDCDC"/>
                </a:solidFill>
                <a:latin typeface="Roboto Condensed Light" panose="02000000000000000000" pitchFamily="2" charset="0"/>
                <a:ea typeface="Roboto Condensed Light" panose="02000000000000000000" pitchFamily="2" charset="0"/>
                <a:cs typeface="Arial"/>
              </a:rPr>
              <a:t> </a:t>
            </a:r>
            <a:r>
              <a:rPr sz="788" b="0" i="0" spc="-6" dirty="0">
                <a:solidFill>
                  <a:srgbClr val="DCDCDC"/>
                </a:solidFill>
                <a:latin typeface="Roboto Condensed Light" panose="02000000000000000000" pitchFamily="2" charset="0"/>
                <a:ea typeface="Roboto Condensed Light" panose="02000000000000000000" pitchFamily="2" charset="0"/>
                <a:cs typeface="Arial"/>
              </a:rPr>
              <a:t>Info-Tech </a:t>
            </a:r>
            <a:r>
              <a:rPr sz="788" b="0" i="0" spc="3" dirty="0">
                <a:solidFill>
                  <a:srgbClr val="DCDCDC"/>
                </a:solidFill>
                <a:latin typeface="Roboto Condensed Light" panose="02000000000000000000" pitchFamily="2" charset="0"/>
                <a:ea typeface="Roboto Condensed Light" panose="02000000000000000000" pitchFamily="2" charset="0"/>
                <a:cs typeface="Arial"/>
              </a:rPr>
              <a:t>Research </a:t>
            </a:r>
            <a:r>
              <a:rPr sz="788" b="0" i="0" spc="6" dirty="0">
                <a:solidFill>
                  <a:srgbClr val="DCDCDC"/>
                </a:solidFill>
                <a:latin typeface="Roboto Condensed Light" panose="02000000000000000000" pitchFamily="2" charset="0"/>
                <a:ea typeface="Roboto Condensed Light" panose="02000000000000000000" pitchFamily="2" charset="0"/>
                <a:cs typeface="Arial"/>
              </a:rPr>
              <a:t>Group</a:t>
            </a:r>
            <a:r>
              <a:rPr sz="788" b="0" i="0" spc="-27" dirty="0">
                <a:solidFill>
                  <a:srgbClr val="DCDCDC"/>
                </a:solidFill>
                <a:latin typeface="Roboto Condensed Light" panose="02000000000000000000" pitchFamily="2" charset="0"/>
                <a:ea typeface="Roboto Condensed Light" panose="02000000000000000000" pitchFamily="2" charset="0"/>
                <a:cs typeface="Arial"/>
              </a:rPr>
              <a:t> </a:t>
            </a:r>
            <a:r>
              <a:rPr sz="788" b="0" i="0" spc="3" dirty="0">
                <a:solidFill>
                  <a:srgbClr val="DCDCDC"/>
                </a:solidFill>
                <a:latin typeface="Roboto Condensed Light" panose="02000000000000000000" pitchFamily="2" charset="0"/>
                <a:ea typeface="Roboto Condensed Light" panose="02000000000000000000" pitchFamily="2" charset="0"/>
                <a:cs typeface="Arial"/>
              </a:rPr>
              <a:t>Inc.</a:t>
            </a:r>
            <a:endParaRPr sz="788" b="0" i="0" dirty="0">
              <a:latin typeface="Roboto Condensed Light" panose="02000000000000000000" pitchFamily="2" charset="0"/>
              <a:ea typeface="Roboto Condensed Light" panose="02000000000000000000" pitchFamily="2" charset="0"/>
              <a:cs typeface="Arial"/>
            </a:endParaRPr>
          </a:p>
        </p:txBody>
      </p:sp>
      <p:pic>
        <p:nvPicPr>
          <p:cNvPr id="6" name="Picture 5">
            <a:extLst>
              <a:ext uri="{FF2B5EF4-FFF2-40B4-BE49-F238E27FC236}">
                <a16:creationId xmlns:a16="http://schemas.microsoft.com/office/drawing/2014/main" id="{E9D10E23-5B6C-0E46-8E09-10A336299F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298392" y="5803901"/>
            <a:ext cx="2818202" cy="965200"/>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Lst>
  <p:hf hdr="0" ftr="0" dt="0"/>
  <p:txStyles>
    <p:titleStyle>
      <a:lvl1pPr>
        <a:defRPr>
          <a:latin typeface="+mj-lt"/>
          <a:ea typeface="+mj-ea"/>
          <a:cs typeface="+mj-cs"/>
        </a:defRPr>
      </a:lvl1pPr>
    </p:titleStyle>
    <p:body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bodyStyle>
    <p:otherStyle>
      <a:lvl1pPr marL="0">
        <a:defRPr>
          <a:latin typeface="+mn-lt"/>
          <a:ea typeface="+mn-ea"/>
          <a:cs typeface="+mn-cs"/>
        </a:defRPr>
      </a:lvl1pPr>
      <a:lvl2pPr marL="277246">
        <a:defRPr>
          <a:latin typeface="+mn-lt"/>
          <a:ea typeface="+mn-ea"/>
          <a:cs typeface="+mn-cs"/>
        </a:defRPr>
      </a:lvl2pPr>
      <a:lvl3pPr marL="554492">
        <a:defRPr>
          <a:latin typeface="+mn-lt"/>
          <a:ea typeface="+mn-ea"/>
          <a:cs typeface="+mn-cs"/>
        </a:defRPr>
      </a:lvl3pPr>
      <a:lvl4pPr marL="831738">
        <a:defRPr>
          <a:latin typeface="+mn-lt"/>
          <a:ea typeface="+mn-ea"/>
          <a:cs typeface="+mn-cs"/>
        </a:defRPr>
      </a:lvl4pPr>
      <a:lvl5pPr marL="1108984">
        <a:defRPr>
          <a:latin typeface="+mn-lt"/>
          <a:ea typeface="+mn-ea"/>
          <a:cs typeface="+mn-cs"/>
        </a:defRPr>
      </a:lvl5pPr>
      <a:lvl6pPr marL="1386230">
        <a:defRPr>
          <a:latin typeface="+mn-lt"/>
          <a:ea typeface="+mn-ea"/>
          <a:cs typeface="+mn-cs"/>
        </a:defRPr>
      </a:lvl6pPr>
      <a:lvl7pPr marL="1663476">
        <a:defRPr>
          <a:latin typeface="+mn-lt"/>
          <a:ea typeface="+mn-ea"/>
          <a:cs typeface="+mn-cs"/>
        </a:defRPr>
      </a:lvl7pPr>
      <a:lvl8pPr marL="1940723">
        <a:defRPr>
          <a:latin typeface="+mn-lt"/>
          <a:ea typeface="+mn-ea"/>
          <a:cs typeface="+mn-cs"/>
        </a:defRPr>
      </a:lvl8pPr>
      <a:lvl9pPr marL="2217969">
        <a:defRPr>
          <a:latin typeface="+mn-lt"/>
          <a:ea typeface="+mn-ea"/>
          <a:cs typeface="+mn-cs"/>
        </a:defRPr>
      </a:lvl9pPr>
    </p:otherStyle>
  </p:txStyles>
  <p:extLst>
    <p:ext uri="{27BBF7A9-308A-43DC-89C8-2F10F3537804}">
      <p15:sldGuideLst xmlns:p15="http://schemas.microsoft.com/office/powerpoint/2012/main">
        <p15:guide id="1" orient="horz" pos="4110" userDrawn="1">
          <p15:clr>
            <a:srgbClr val="F26B43"/>
          </p15:clr>
        </p15:guide>
        <p15:guide id="2" pos="3840" userDrawn="1">
          <p15:clr>
            <a:srgbClr val="F26B43"/>
          </p15:clr>
        </p15:guide>
        <p15:guide id="3" orient="horz" pos="381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D2D98CA-E486-8443-9BF6-95C9C1E815D5}"/>
              </a:ext>
            </a:extLst>
          </p:cNvPr>
          <p:cNvSpPr>
            <a:spLocks noGrp="1"/>
          </p:cNvSpPr>
          <p:nvPr>
            <p:ph type="title"/>
          </p:nvPr>
        </p:nvSpPr>
        <p:spPr>
          <a:xfrm>
            <a:off x="354106" y="530021"/>
            <a:ext cx="5632357" cy="1130188"/>
          </a:xfrm>
          <a:prstGeom prst="rect">
            <a:avLst/>
          </a:prstGeom>
        </p:spPr>
        <p:txBody>
          <a:bodyPr vert="horz" lIns="0" tIns="0" rIns="0" bIns="0" rtlCol="0" anchor="t" anchorCtr="0">
            <a:noAutofit/>
          </a:bodyPr>
          <a:lstStyle/>
          <a:p>
            <a:r>
              <a:rPr lang="en-US"/>
              <a:t>Click to edit Master title style</a:t>
            </a:r>
          </a:p>
        </p:txBody>
      </p:sp>
      <p:sp>
        <p:nvSpPr>
          <p:cNvPr id="12" name="TextBox 11">
            <a:extLst>
              <a:ext uri="{FF2B5EF4-FFF2-40B4-BE49-F238E27FC236}">
                <a16:creationId xmlns:a16="http://schemas.microsoft.com/office/drawing/2014/main" id="{9A5610B7-08DB-7849-96D1-46BF1C785ED5}"/>
              </a:ext>
            </a:extLst>
          </p:cNvPr>
          <p:cNvSpPr txBox="1"/>
          <p:nvPr userDrawn="1"/>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lang="en-CA" sz="800" spc="-18" dirty="0">
                <a:solidFill>
                  <a:schemeClr val="tx1">
                    <a:lumMod val="50000"/>
                  </a:schemeClr>
                </a:solidFill>
                <a:latin typeface="Exo" panose="02000503000000000000" pitchFamily="2" charset="77"/>
              </a:rPr>
              <a:t>Info-</a:t>
            </a:r>
            <a:r>
              <a:rPr lang="en-CA" sz="800" spc="-103" dirty="0">
                <a:solidFill>
                  <a:schemeClr val="tx1">
                    <a:lumMod val="50000"/>
                  </a:schemeClr>
                </a:solidFill>
                <a:latin typeface="Exo" panose="02000503000000000000" pitchFamily="2" charset="77"/>
              </a:rPr>
              <a:t>T</a:t>
            </a:r>
            <a:r>
              <a:rPr lang="en-CA" sz="800" spc="-15" dirty="0">
                <a:solidFill>
                  <a:schemeClr val="tx1">
                    <a:lumMod val="50000"/>
                  </a:schemeClr>
                </a:solidFill>
                <a:latin typeface="Exo" panose="02000503000000000000" pitchFamily="2" charset="77"/>
              </a:rPr>
              <a:t>ec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Researc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Grou</a:t>
            </a:r>
            <a:r>
              <a:rPr lang="en-CA" sz="800" spc="6" dirty="0">
                <a:solidFill>
                  <a:schemeClr val="tx1">
                    <a:lumMod val="50000"/>
                  </a:schemeClr>
                </a:solidFill>
                <a:latin typeface="Exo" panose="02000503000000000000" pitchFamily="2" charset="77"/>
              </a:rPr>
              <a:t>p   |   </a:t>
            </a:r>
            <a:fld id="{81D60167-4931-47E6-BA6A-407CBD079E47}" type="slidenum">
              <a:rPr lang="en-CA" sz="800" spc="6" smtClean="0">
                <a:solidFill>
                  <a:schemeClr val="tx1">
                    <a:lumMod val="50000"/>
                  </a:schemeClr>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a:t>
            </a:fld>
            <a:endParaRPr sz="800" spc="6" dirty="0">
              <a:solidFill>
                <a:schemeClr val="tx1">
                  <a:lumMod val="50000"/>
                </a:schemeClr>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3961882258"/>
      </p:ext>
    </p:extLst>
  </p:cSld>
  <p:clrMap bg1="lt1" tx1="dk1" bg2="lt2" tx2="dk2" accent1="accent1" accent2="accent2" accent3="accent3" accent4="accent4" accent5="accent5" accent6="accent6" hlink="hlink" folHlink="folHlink"/>
  <p:sldLayoutIdLst>
    <p:sldLayoutId id="2147483672" r:id="rId1"/>
    <p:sldLayoutId id="2147483677" r:id="rId2"/>
    <p:sldLayoutId id="2147483732" r:id="rId3"/>
    <p:sldLayoutId id="2147483708" r:id="rId4"/>
  </p:sldLayoutIdLst>
  <p:hf hdr="0" ftr="0" dt="0"/>
  <p:txStyles>
    <p:titleStyle>
      <a:lvl1pPr algn="l" defTabSz="914400" rtl="0" eaLnBrk="1" latinLnBrk="0" hangingPunct="1">
        <a:lnSpc>
          <a:spcPct val="90000"/>
        </a:lnSpc>
        <a:spcBef>
          <a:spcPct val="0"/>
        </a:spcBef>
        <a:buNone/>
        <a:defRPr sz="4000" b="0" i="0" kern="1200">
          <a:solidFill>
            <a:srgbClr val="4A4A4A"/>
          </a:solidFill>
          <a:latin typeface="Montserrat SemiBold" pitchFamily="2" charset="77"/>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96" userDrawn="1">
          <p15:clr>
            <a:srgbClr val="F26B43"/>
          </p15:clr>
        </p15:guide>
        <p15:guide id="2" pos="3818" userDrawn="1">
          <p15:clr>
            <a:srgbClr val="F26B43"/>
          </p15:clr>
        </p15:guide>
        <p15:guide id="3" pos="3909" userDrawn="1">
          <p15:clr>
            <a:srgbClr val="F26B43"/>
          </p15:clr>
        </p15:guide>
        <p15:guide id="4" pos="4441" userDrawn="1">
          <p15:clr>
            <a:srgbClr val="F26B43"/>
          </p15:clr>
        </p15:guide>
        <p15:guide id="5" pos="3205" userDrawn="1">
          <p15:clr>
            <a:srgbClr val="F26B43"/>
          </p15:clr>
        </p15:guide>
        <p15:guide id="6" pos="2684" userDrawn="1">
          <p15:clr>
            <a:srgbClr val="F26B43"/>
          </p15:clr>
        </p15:guide>
        <p15:guide id="7" pos="2593" userDrawn="1">
          <p15:clr>
            <a:srgbClr val="F26B43"/>
          </p15:clr>
        </p15:guide>
        <p15:guide id="8" pos="2071" userDrawn="1">
          <p15:clr>
            <a:srgbClr val="F26B43"/>
          </p15:clr>
        </p15:guide>
        <p15:guide id="9" pos="4521" userDrawn="1">
          <p15:clr>
            <a:srgbClr val="F26B43"/>
          </p15:clr>
        </p15:guide>
        <p15:guide id="10" pos="5043" userDrawn="1">
          <p15:clr>
            <a:srgbClr val="F26B43"/>
          </p15:clr>
        </p15:guide>
        <p15:guide id="11" pos="5133" userDrawn="1">
          <p15:clr>
            <a:srgbClr val="F26B43"/>
          </p15:clr>
        </p15:guide>
        <p15:guide id="12" pos="5655" userDrawn="1">
          <p15:clr>
            <a:srgbClr val="F26B43"/>
          </p15:clr>
        </p15:guide>
        <p15:guide id="13" pos="5737" userDrawn="1">
          <p15:clr>
            <a:srgbClr val="F26B43"/>
          </p15:clr>
        </p15:guide>
        <p15:guide id="14" pos="6265" userDrawn="1">
          <p15:clr>
            <a:srgbClr val="F26B43"/>
          </p15:clr>
        </p15:guide>
        <p15:guide id="15" pos="6358" userDrawn="1">
          <p15:clr>
            <a:srgbClr val="F26B43"/>
          </p15:clr>
        </p15:guide>
        <p15:guide id="16" pos="6880" userDrawn="1">
          <p15:clr>
            <a:srgbClr val="F26B43"/>
          </p15:clr>
        </p15:guide>
        <p15:guide id="17" pos="6970" userDrawn="1">
          <p15:clr>
            <a:srgbClr val="F26B43"/>
          </p15:clr>
        </p15:guide>
        <p15:guide id="18" pos="7492" userDrawn="1">
          <p15:clr>
            <a:srgbClr val="F26B43"/>
          </p15:clr>
        </p15:guide>
        <p15:guide id="19" pos="1981" userDrawn="1">
          <p15:clr>
            <a:srgbClr val="F26B43"/>
          </p15:clr>
        </p15:guide>
        <p15:guide id="20" pos="1459" userDrawn="1">
          <p15:clr>
            <a:srgbClr val="F26B43"/>
          </p15:clr>
        </p15:guide>
        <p15:guide id="21" pos="1368" userDrawn="1">
          <p15:clr>
            <a:srgbClr val="F26B43"/>
          </p15:clr>
        </p15:guide>
        <p15:guide id="22" pos="847" userDrawn="1">
          <p15:clr>
            <a:srgbClr val="F26B43"/>
          </p15:clr>
        </p15:guide>
        <p15:guide id="23" pos="756" userDrawn="1">
          <p15:clr>
            <a:srgbClr val="F26B43"/>
          </p15:clr>
        </p15:guide>
        <p15:guide id="24" pos="234" userDrawn="1">
          <p15:clr>
            <a:srgbClr val="F26B43"/>
          </p15:clr>
        </p15:guide>
        <p15:guide id="25" orient="horz" pos="60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D2D98CA-E486-8443-9BF6-95C9C1E815D5}"/>
              </a:ext>
            </a:extLst>
          </p:cNvPr>
          <p:cNvSpPr>
            <a:spLocks noGrp="1"/>
          </p:cNvSpPr>
          <p:nvPr>
            <p:ph type="title"/>
          </p:nvPr>
        </p:nvSpPr>
        <p:spPr>
          <a:xfrm>
            <a:off x="354106" y="530021"/>
            <a:ext cx="5632357" cy="1130188"/>
          </a:xfrm>
          <a:prstGeom prst="rect">
            <a:avLst/>
          </a:prstGeom>
        </p:spPr>
        <p:txBody>
          <a:bodyPr vert="horz" lIns="0" tIns="0" rIns="0" bIns="0" rtlCol="0" anchor="t" anchorCtr="0">
            <a:noAutofit/>
          </a:bodyPr>
          <a:lstStyle/>
          <a:p>
            <a:r>
              <a:rPr lang="en-US"/>
              <a:t>Click to edit Master title style</a:t>
            </a:r>
          </a:p>
        </p:txBody>
      </p:sp>
      <p:sp>
        <p:nvSpPr>
          <p:cNvPr id="12" name="TextBox 11">
            <a:extLst>
              <a:ext uri="{FF2B5EF4-FFF2-40B4-BE49-F238E27FC236}">
                <a16:creationId xmlns:a16="http://schemas.microsoft.com/office/drawing/2014/main" id="{9A5610B7-08DB-7849-96D1-46BF1C785ED5}"/>
              </a:ext>
            </a:extLst>
          </p:cNvPr>
          <p:cNvSpPr txBox="1"/>
          <p:nvPr userDrawn="1"/>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lang="en-CA" sz="800" spc="-18" dirty="0">
                <a:solidFill>
                  <a:schemeClr val="tx1">
                    <a:lumMod val="50000"/>
                  </a:schemeClr>
                </a:solidFill>
                <a:latin typeface="Exo" panose="02000503000000000000" pitchFamily="2" charset="77"/>
              </a:rPr>
              <a:t>Info-</a:t>
            </a:r>
            <a:r>
              <a:rPr lang="en-CA" sz="800" spc="-103" dirty="0">
                <a:solidFill>
                  <a:schemeClr val="tx1">
                    <a:lumMod val="50000"/>
                  </a:schemeClr>
                </a:solidFill>
                <a:latin typeface="Exo" panose="02000503000000000000" pitchFamily="2" charset="77"/>
              </a:rPr>
              <a:t>T</a:t>
            </a:r>
            <a:r>
              <a:rPr lang="en-CA" sz="800" spc="-15" dirty="0">
                <a:solidFill>
                  <a:schemeClr val="tx1">
                    <a:lumMod val="50000"/>
                  </a:schemeClr>
                </a:solidFill>
                <a:latin typeface="Exo" panose="02000503000000000000" pitchFamily="2" charset="77"/>
              </a:rPr>
              <a:t>ec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Researc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Grou</a:t>
            </a:r>
            <a:r>
              <a:rPr lang="en-CA" sz="800" spc="6" dirty="0">
                <a:solidFill>
                  <a:schemeClr val="tx1">
                    <a:lumMod val="50000"/>
                  </a:schemeClr>
                </a:solidFill>
                <a:latin typeface="Exo" panose="02000503000000000000" pitchFamily="2" charset="77"/>
              </a:rPr>
              <a:t>p   |   </a:t>
            </a:r>
            <a:fld id="{81D60167-4931-47E6-BA6A-407CBD079E47}" type="slidenum">
              <a:rPr lang="en-CA" sz="800" spc="6" smtClean="0">
                <a:solidFill>
                  <a:schemeClr val="tx1">
                    <a:lumMod val="50000"/>
                  </a:schemeClr>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a:t>
            </a:fld>
            <a:endParaRPr sz="800" spc="6" dirty="0">
              <a:solidFill>
                <a:schemeClr val="tx1">
                  <a:lumMod val="50000"/>
                </a:schemeClr>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2773681964"/>
      </p:ext>
    </p:extLst>
  </p:cSld>
  <p:clrMap bg1="lt1" tx1="dk1" bg2="lt2" tx2="dk2" accent1="accent1" accent2="accent2" accent3="accent3" accent4="accent4" accent5="accent5" accent6="accent6" hlink="hlink" folHlink="folHlink"/>
  <p:sldLayoutIdLst>
    <p:sldLayoutId id="2147483818"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3" r:id="rId13"/>
    <p:sldLayoutId id="2147483834" r:id="rId14"/>
    <p:sldLayoutId id="2147483837" r:id="rId15"/>
    <p:sldLayoutId id="2147483886" r:id="rId16"/>
  </p:sldLayoutIdLst>
  <p:hf hdr="0" ftr="0" dt="0"/>
  <p:txStyles>
    <p:titleStyle>
      <a:lvl1pPr algn="l" defTabSz="914400" rtl="0" eaLnBrk="1" latinLnBrk="0" hangingPunct="1">
        <a:lnSpc>
          <a:spcPct val="90000"/>
        </a:lnSpc>
        <a:spcBef>
          <a:spcPct val="0"/>
        </a:spcBef>
        <a:buNone/>
        <a:defRPr sz="4000" b="0" i="0" kern="1200">
          <a:solidFill>
            <a:srgbClr val="4A4A4A"/>
          </a:solidFill>
          <a:latin typeface="Montserrat SemiBold" pitchFamily="2" charset="77"/>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96">
          <p15:clr>
            <a:srgbClr val="F26B43"/>
          </p15:clr>
        </p15:guide>
        <p15:guide id="2" pos="3818">
          <p15:clr>
            <a:srgbClr val="F26B43"/>
          </p15:clr>
        </p15:guide>
        <p15:guide id="3" pos="3909">
          <p15:clr>
            <a:srgbClr val="F26B43"/>
          </p15:clr>
        </p15:guide>
        <p15:guide id="4" pos="4441">
          <p15:clr>
            <a:srgbClr val="F26B43"/>
          </p15:clr>
        </p15:guide>
        <p15:guide id="5" pos="3205">
          <p15:clr>
            <a:srgbClr val="F26B43"/>
          </p15:clr>
        </p15:guide>
        <p15:guide id="6" pos="2684">
          <p15:clr>
            <a:srgbClr val="F26B43"/>
          </p15:clr>
        </p15:guide>
        <p15:guide id="7" pos="2593">
          <p15:clr>
            <a:srgbClr val="F26B43"/>
          </p15:clr>
        </p15:guide>
        <p15:guide id="8" pos="2071">
          <p15:clr>
            <a:srgbClr val="F26B43"/>
          </p15:clr>
        </p15:guide>
        <p15:guide id="9" pos="4521">
          <p15:clr>
            <a:srgbClr val="F26B43"/>
          </p15:clr>
        </p15:guide>
        <p15:guide id="10" pos="5043">
          <p15:clr>
            <a:srgbClr val="F26B43"/>
          </p15:clr>
        </p15:guide>
        <p15:guide id="11" pos="5133">
          <p15:clr>
            <a:srgbClr val="F26B43"/>
          </p15:clr>
        </p15:guide>
        <p15:guide id="12" pos="5655">
          <p15:clr>
            <a:srgbClr val="F26B43"/>
          </p15:clr>
        </p15:guide>
        <p15:guide id="13" pos="5737">
          <p15:clr>
            <a:srgbClr val="F26B43"/>
          </p15:clr>
        </p15:guide>
        <p15:guide id="14" pos="6265">
          <p15:clr>
            <a:srgbClr val="F26B43"/>
          </p15:clr>
        </p15:guide>
        <p15:guide id="15" pos="6358">
          <p15:clr>
            <a:srgbClr val="F26B43"/>
          </p15:clr>
        </p15:guide>
        <p15:guide id="16" pos="6880">
          <p15:clr>
            <a:srgbClr val="F26B43"/>
          </p15:clr>
        </p15:guide>
        <p15:guide id="17" pos="6970">
          <p15:clr>
            <a:srgbClr val="F26B43"/>
          </p15:clr>
        </p15:guide>
        <p15:guide id="18" pos="7492">
          <p15:clr>
            <a:srgbClr val="F26B43"/>
          </p15:clr>
        </p15:guide>
        <p15:guide id="19" pos="1981">
          <p15:clr>
            <a:srgbClr val="F26B43"/>
          </p15:clr>
        </p15:guide>
        <p15:guide id="20" pos="1459">
          <p15:clr>
            <a:srgbClr val="F26B43"/>
          </p15:clr>
        </p15:guide>
        <p15:guide id="21" pos="1368">
          <p15:clr>
            <a:srgbClr val="F26B43"/>
          </p15:clr>
        </p15:guide>
        <p15:guide id="22" pos="847">
          <p15:clr>
            <a:srgbClr val="F26B43"/>
          </p15:clr>
        </p15:guide>
        <p15:guide id="23" pos="756">
          <p15:clr>
            <a:srgbClr val="F26B43"/>
          </p15:clr>
        </p15:guide>
        <p15:guide id="24" pos="234">
          <p15:clr>
            <a:srgbClr val="F26B43"/>
          </p15:clr>
        </p15:guide>
        <p15:guide id="25" orient="horz" pos="60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64D1AC-4E7C-7996-8269-B3572C6614C0}"/>
              </a:ext>
            </a:extLst>
          </p:cNvPr>
          <p:cNvSpPr>
            <a:spLocks noGrp="1"/>
          </p:cNvSpPr>
          <p:nvPr>
            <p:ph type="title"/>
          </p:nvPr>
        </p:nvSpPr>
        <p:spPr>
          <a:xfrm>
            <a:off x="838309" y="365126"/>
            <a:ext cx="1051697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639F76-C1AC-5280-E696-3D99B7764940}"/>
              </a:ext>
            </a:extLst>
          </p:cNvPr>
          <p:cNvSpPr>
            <a:spLocks noGrp="1"/>
          </p:cNvSpPr>
          <p:nvPr>
            <p:ph type="body" idx="1"/>
          </p:nvPr>
        </p:nvSpPr>
        <p:spPr>
          <a:xfrm>
            <a:off x="838309" y="1825625"/>
            <a:ext cx="1051697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6F9C9C-B56E-49BD-E15C-9FB01CD19023}"/>
              </a:ext>
            </a:extLst>
          </p:cNvPr>
          <p:cNvSpPr>
            <a:spLocks noGrp="1"/>
          </p:cNvSpPr>
          <p:nvPr>
            <p:ph type="dt" sz="half" idx="2"/>
          </p:nvPr>
        </p:nvSpPr>
        <p:spPr>
          <a:xfrm>
            <a:off x="838309" y="6356351"/>
            <a:ext cx="2743557"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225349-1304-45B9-9EE0-D22ECD4B9502}" type="datetimeFigureOut">
              <a:rPr lang="en-US" smtClean="0"/>
              <a:t>12/8/2025</a:t>
            </a:fld>
            <a:endParaRPr lang="en-US" dirty="0"/>
          </a:p>
        </p:txBody>
      </p:sp>
      <p:sp>
        <p:nvSpPr>
          <p:cNvPr id="5" name="Footer Placeholder 4">
            <a:extLst>
              <a:ext uri="{FF2B5EF4-FFF2-40B4-BE49-F238E27FC236}">
                <a16:creationId xmlns:a16="http://schemas.microsoft.com/office/drawing/2014/main" id="{00C8BC34-2779-3916-55E6-B75681135175}"/>
              </a:ext>
            </a:extLst>
          </p:cNvPr>
          <p:cNvSpPr>
            <a:spLocks noGrp="1"/>
          </p:cNvSpPr>
          <p:nvPr>
            <p:ph type="ftr" sz="quarter" idx="3"/>
          </p:nvPr>
        </p:nvSpPr>
        <p:spPr>
          <a:xfrm>
            <a:off x="4039126" y="6356351"/>
            <a:ext cx="4115336"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5F037DFC-01E7-428E-B728-A36F859E5B65}"/>
              </a:ext>
            </a:extLst>
          </p:cNvPr>
          <p:cNvSpPr>
            <a:spLocks noGrp="1"/>
          </p:cNvSpPr>
          <p:nvPr>
            <p:ph type="sldNum" sz="quarter" idx="4"/>
          </p:nvPr>
        </p:nvSpPr>
        <p:spPr>
          <a:xfrm>
            <a:off x="8611722" y="6356351"/>
            <a:ext cx="2743557"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DBFC90-69ED-4732-A98D-D4829B2EE2B8}" type="slidenum">
              <a:rPr lang="en-US" smtClean="0"/>
              <a:t>‹#›</a:t>
            </a:fld>
            <a:endParaRPr lang="en-US" dirty="0"/>
          </a:p>
        </p:txBody>
      </p:sp>
    </p:spTree>
    <p:extLst>
      <p:ext uri="{BB962C8B-B14F-4D97-AF65-F5344CB8AC3E}">
        <p14:creationId xmlns:p14="http://schemas.microsoft.com/office/powerpoint/2010/main" val="2159966134"/>
      </p:ext>
    </p:extLst>
  </p:cSld>
  <p:clrMap bg1="lt1" tx1="dk1" bg2="lt2" tx2="dk2" accent1="accent1" accent2="accent2" accent3="accent3" accent4="accent4" accent5="accent5" accent6="accent6" hlink="hlink" folHlink="folHlink"/>
  <p:sldLayoutIdLst>
    <p:sldLayoutId id="214748383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D2D98CA-E486-8443-9BF6-95C9C1E815D5}"/>
              </a:ext>
            </a:extLst>
          </p:cNvPr>
          <p:cNvSpPr>
            <a:spLocks noGrp="1"/>
          </p:cNvSpPr>
          <p:nvPr>
            <p:ph type="title"/>
          </p:nvPr>
        </p:nvSpPr>
        <p:spPr>
          <a:xfrm>
            <a:off x="354106" y="530021"/>
            <a:ext cx="5632357" cy="1130188"/>
          </a:xfrm>
          <a:prstGeom prst="rect">
            <a:avLst/>
          </a:prstGeom>
        </p:spPr>
        <p:txBody>
          <a:bodyPr vert="horz" lIns="0" tIns="0" rIns="0" bIns="0" rtlCol="0" anchor="t" anchorCtr="0">
            <a:noAutofit/>
          </a:bodyPr>
          <a:lstStyle/>
          <a:p>
            <a:r>
              <a:rPr lang="en-US"/>
              <a:t>Click to edit Master title style</a:t>
            </a:r>
          </a:p>
        </p:txBody>
      </p:sp>
      <p:sp>
        <p:nvSpPr>
          <p:cNvPr id="12" name="TextBox 11">
            <a:extLst>
              <a:ext uri="{FF2B5EF4-FFF2-40B4-BE49-F238E27FC236}">
                <a16:creationId xmlns:a16="http://schemas.microsoft.com/office/drawing/2014/main" id="{9A5610B7-08DB-7849-96D1-46BF1C785ED5}"/>
              </a:ext>
            </a:extLst>
          </p:cNvPr>
          <p:cNvSpPr txBox="1"/>
          <p:nvPr userDrawn="1"/>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lang="en-CA" sz="800" spc="6" dirty="0">
                <a:solidFill>
                  <a:schemeClr val="tx1">
                    <a:lumMod val="50000"/>
                  </a:schemeClr>
                </a:solidFill>
                <a:latin typeface="Exo" panose="02000503000000000000" pitchFamily="2" charset="77"/>
              </a:rPr>
              <a:t>|   </a:t>
            </a:r>
            <a:fld id="{81D60167-4931-47E6-BA6A-407CBD079E47}" type="slidenum">
              <a:rPr lang="en-CA" sz="800" spc="6" smtClean="0">
                <a:solidFill>
                  <a:schemeClr val="tx1">
                    <a:lumMod val="50000"/>
                  </a:schemeClr>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a:t>
            </a:fld>
            <a:endParaRPr sz="800" spc="6" dirty="0">
              <a:solidFill>
                <a:schemeClr val="tx1">
                  <a:lumMod val="50000"/>
                </a:schemeClr>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4290478919"/>
      </p:ext>
    </p:extLst>
  </p:cSld>
  <p:clrMap bg1="lt1" tx1="dk1" bg2="lt2" tx2="dk2" accent1="accent1" accent2="accent2" accent3="accent3" accent4="accent4" accent5="accent5" accent6="accent6" hlink="hlink" folHlink="folHlink"/>
  <p:sldLayoutIdLst>
    <p:sldLayoutId id="2147483879" r:id="rId1"/>
  </p:sldLayoutIdLst>
  <p:hf hdr="0" ftr="0" dt="0"/>
  <p:txStyles>
    <p:titleStyle>
      <a:lvl1pPr algn="l" defTabSz="914400" rtl="0" eaLnBrk="1" latinLnBrk="0" hangingPunct="1">
        <a:lnSpc>
          <a:spcPct val="90000"/>
        </a:lnSpc>
        <a:spcBef>
          <a:spcPct val="0"/>
        </a:spcBef>
        <a:buNone/>
        <a:defRPr sz="4000" b="0" i="0" kern="1200">
          <a:solidFill>
            <a:srgbClr val="4A4A4A"/>
          </a:solidFill>
          <a:latin typeface="Montserrat SemiBold" pitchFamily="2" charset="77"/>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96">
          <p15:clr>
            <a:srgbClr val="F26B43"/>
          </p15:clr>
        </p15:guide>
        <p15:guide id="2" pos="3818">
          <p15:clr>
            <a:srgbClr val="F26B43"/>
          </p15:clr>
        </p15:guide>
        <p15:guide id="3" pos="3909">
          <p15:clr>
            <a:srgbClr val="F26B43"/>
          </p15:clr>
        </p15:guide>
        <p15:guide id="4" pos="4441">
          <p15:clr>
            <a:srgbClr val="F26B43"/>
          </p15:clr>
        </p15:guide>
        <p15:guide id="5" pos="3205">
          <p15:clr>
            <a:srgbClr val="F26B43"/>
          </p15:clr>
        </p15:guide>
        <p15:guide id="6" pos="2684">
          <p15:clr>
            <a:srgbClr val="F26B43"/>
          </p15:clr>
        </p15:guide>
        <p15:guide id="7" pos="2593">
          <p15:clr>
            <a:srgbClr val="F26B43"/>
          </p15:clr>
        </p15:guide>
        <p15:guide id="8" pos="2071">
          <p15:clr>
            <a:srgbClr val="F26B43"/>
          </p15:clr>
        </p15:guide>
        <p15:guide id="9" pos="4521">
          <p15:clr>
            <a:srgbClr val="F26B43"/>
          </p15:clr>
        </p15:guide>
        <p15:guide id="10" pos="5043">
          <p15:clr>
            <a:srgbClr val="F26B43"/>
          </p15:clr>
        </p15:guide>
        <p15:guide id="11" pos="5133">
          <p15:clr>
            <a:srgbClr val="F26B43"/>
          </p15:clr>
        </p15:guide>
        <p15:guide id="12" pos="5655">
          <p15:clr>
            <a:srgbClr val="F26B43"/>
          </p15:clr>
        </p15:guide>
        <p15:guide id="13" pos="5737">
          <p15:clr>
            <a:srgbClr val="F26B43"/>
          </p15:clr>
        </p15:guide>
        <p15:guide id="14" pos="6265">
          <p15:clr>
            <a:srgbClr val="F26B43"/>
          </p15:clr>
        </p15:guide>
        <p15:guide id="15" pos="6358">
          <p15:clr>
            <a:srgbClr val="F26B43"/>
          </p15:clr>
        </p15:guide>
        <p15:guide id="16" pos="6880">
          <p15:clr>
            <a:srgbClr val="F26B43"/>
          </p15:clr>
        </p15:guide>
        <p15:guide id="17" pos="6970">
          <p15:clr>
            <a:srgbClr val="F26B43"/>
          </p15:clr>
        </p15:guide>
        <p15:guide id="18" pos="7492">
          <p15:clr>
            <a:srgbClr val="F26B43"/>
          </p15:clr>
        </p15:guide>
        <p15:guide id="19" pos="1981">
          <p15:clr>
            <a:srgbClr val="F26B43"/>
          </p15:clr>
        </p15:guide>
        <p15:guide id="20" pos="1459">
          <p15:clr>
            <a:srgbClr val="F26B43"/>
          </p15:clr>
        </p15:guide>
        <p15:guide id="21" pos="1368">
          <p15:clr>
            <a:srgbClr val="F26B43"/>
          </p15:clr>
        </p15:guide>
        <p15:guide id="22" pos="847">
          <p15:clr>
            <a:srgbClr val="F26B43"/>
          </p15:clr>
        </p15:guide>
        <p15:guide id="23" pos="756">
          <p15:clr>
            <a:srgbClr val="F26B43"/>
          </p15:clr>
        </p15:guide>
        <p15:guide id="24" pos="234">
          <p15:clr>
            <a:srgbClr val="F26B43"/>
          </p15:clr>
        </p15:guide>
        <p15:guide id="25" orient="horz" pos="60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9D2D98CA-E486-8443-9BF6-95C9C1E815D5}"/>
              </a:ext>
            </a:extLst>
          </p:cNvPr>
          <p:cNvSpPr>
            <a:spLocks noGrp="1"/>
          </p:cNvSpPr>
          <p:nvPr>
            <p:ph type="title"/>
          </p:nvPr>
        </p:nvSpPr>
        <p:spPr>
          <a:xfrm>
            <a:off x="354106" y="530021"/>
            <a:ext cx="5632357" cy="1130188"/>
          </a:xfrm>
          <a:prstGeom prst="rect">
            <a:avLst/>
          </a:prstGeom>
        </p:spPr>
        <p:txBody>
          <a:bodyPr vert="horz" lIns="0" tIns="0" rIns="0" bIns="0" rtlCol="0" anchor="t" anchorCtr="0">
            <a:noAutofit/>
          </a:bodyPr>
          <a:lstStyle/>
          <a:p>
            <a:r>
              <a:rPr lang="en-US"/>
              <a:t>Click to edit Master title style</a:t>
            </a:r>
          </a:p>
        </p:txBody>
      </p:sp>
      <p:sp>
        <p:nvSpPr>
          <p:cNvPr id="12" name="TextBox 11">
            <a:extLst>
              <a:ext uri="{FF2B5EF4-FFF2-40B4-BE49-F238E27FC236}">
                <a16:creationId xmlns:a16="http://schemas.microsoft.com/office/drawing/2014/main" id="{9A5610B7-08DB-7849-96D1-46BF1C785ED5}"/>
              </a:ext>
            </a:extLst>
          </p:cNvPr>
          <p:cNvSpPr txBox="1"/>
          <p:nvPr userDrawn="1"/>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lang="en-CA" sz="800" spc="-18" dirty="0">
                <a:solidFill>
                  <a:schemeClr val="tx1">
                    <a:lumMod val="50000"/>
                  </a:schemeClr>
                </a:solidFill>
                <a:latin typeface="Exo" panose="02000503000000000000" pitchFamily="2" charset="77"/>
              </a:rPr>
              <a:t>Info-</a:t>
            </a:r>
            <a:r>
              <a:rPr lang="en-CA" sz="800" spc="-103" dirty="0">
                <a:solidFill>
                  <a:schemeClr val="tx1">
                    <a:lumMod val="50000"/>
                  </a:schemeClr>
                </a:solidFill>
                <a:latin typeface="Exo" panose="02000503000000000000" pitchFamily="2" charset="77"/>
              </a:rPr>
              <a:t>T</a:t>
            </a:r>
            <a:r>
              <a:rPr lang="en-CA" sz="800" spc="-15" dirty="0">
                <a:solidFill>
                  <a:schemeClr val="tx1">
                    <a:lumMod val="50000"/>
                  </a:schemeClr>
                </a:solidFill>
                <a:latin typeface="Exo" panose="02000503000000000000" pitchFamily="2" charset="77"/>
              </a:rPr>
              <a:t>ec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Researc</a:t>
            </a:r>
            <a:r>
              <a:rPr lang="en-CA" sz="800" spc="6" dirty="0">
                <a:solidFill>
                  <a:schemeClr val="tx1">
                    <a:lumMod val="50000"/>
                  </a:schemeClr>
                </a:solidFill>
                <a:latin typeface="Exo" panose="02000503000000000000" pitchFamily="2" charset="77"/>
              </a:rPr>
              <a:t>h</a:t>
            </a:r>
            <a:r>
              <a:rPr lang="en-CA" sz="800" spc="-39" dirty="0">
                <a:solidFill>
                  <a:schemeClr val="tx1">
                    <a:lumMod val="50000"/>
                  </a:schemeClr>
                </a:solidFill>
                <a:latin typeface="Exo" panose="02000503000000000000" pitchFamily="2" charset="77"/>
              </a:rPr>
              <a:t> </a:t>
            </a:r>
            <a:r>
              <a:rPr lang="en-CA" sz="800" spc="-15" dirty="0">
                <a:solidFill>
                  <a:schemeClr val="tx1">
                    <a:lumMod val="50000"/>
                  </a:schemeClr>
                </a:solidFill>
                <a:latin typeface="Exo" panose="02000503000000000000" pitchFamily="2" charset="77"/>
              </a:rPr>
              <a:t>Grou</a:t>
            </a:r>
            <a:r>
              <a:rPr lang="en-CA" sz="800" spc="6" dirty="0">
                <a:solidFill>
                  <a:schemeClr val="tx1">
                    <a:lumMod val="50000"/>
                  </a:schemeClr>
                </a:solidFill>
                <a:latin typeface="Exo" panose="02000503000000000000" pitchFamily="2" charset="77"/>
              </a:rPr>
              <a:t>p   |   </a:t>
            </a:r>
            <a:fld id="{81D60167-4931-47E6-BA6A-407CBD079E47}" type="slidenum">
              <a:rPr lang="en-CA" sz="800" spc="6" smtClean="0">
                <a:solidFill>
                  <a:schemeClr val="tx1">
                    <a:lumMod val="50000"/>
                  </a:schemeClr>
                </a:solidFill>
                <a:latin typeface="Exo" panose="02000503000000000000" pitchFamily="2" charset="77"/>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a:t>
            </a:fld>
            <a:endParaRPr sz="800" spc="6" dirty="0">
              <a:solidFill>
                <a:schemeClr val="tx1">
                  <a:lumMod val="50000"/>
                </a:schemeClr>
              </a:solidFill>
              <a:latin typeface="Exo" panose="02000503000000000000" pitchFamily="2" charset="77"/>
              <a:cs typeface="Arial" panose="020B0604020202020204" pitchFamily="34" charset="0"/>
            </a:endParaRPr>
          </a:p>
        </p:txBody>
      </p:sp>
    </p:spTree>
    <p:extLst>
      <p:ext uri="{BB962C8B-B14F-4D97-AF65-F5344CB8AC3E}">
        <p14:creationId xmlns:p14="http://schemas.microsoft.com/office/powerpoint/2010/main" val="3809611931"/>
      </p:ext>
    </p:extLst>
  </p:cSld>
  <p:clrMap bg1="lt1" tx1="dk1" bg2="lt2" tx2="dk2" accent1="accent1" accent2="accent2" accent3="accent3" accent4="accent4" accent5="accent5" accent6="accent6" hlink="hlink" folHlink="folHlink"/>
  <p:sldLayoutIdLst>
    <p:sldLayoutId id="2147483911" r:id="rId1"/>
  </p:sldLayoutIdLst>
  <p:hf hdr="0" ftr="0" dt="0"/>
  <p:txStyles>
    <p:titleStyle>
      <a:lvl1pPr algn="l" defTabSz="914400" rtl="0" eaLnBrk="1" latinLnBrk="0" hangingPunct="1">
        <a:lnSpc>
          <a:spcPct val="90000"/>
        </a:lnSpc>
        <a:spcBef>
          <a:spcPct val="0"/>
        </a:spcBef>
        <a:buNone/>
        <a:defRPr sz="4000" b="0" i="0" kern="1200">
          <a:solidFill>
            <a:srgbClr val="4A4A4A"/>
          </a:solidFill>
          <a:latin typeface="Montserrat SemiBold" pitchFamily="2" charset="77"/>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96">
          <p15:clr>
            <a:srgbClr val="F26B43"/>
          </p15:clr>
        </p15:guide>
        <p15:guide id="2" pos="3818">
          <p15:clr>
            <a:srgbClr val="F26B43"/>
          </p15:clr>
        </p15:guide>
        <p15:guide id="3" pos="3909">
          <p15:clr>
            <a:srgbClr val="F26B43"/>
          </p15:clr>
        </p15:guide>
        <p15:guide id="4" pos="4441">
          <p15:clr>
            <a:srgbClr val="F26B43"/>
          </p15:clr>
        </p15:guide>
        <p15:guide id="5" pos="3205">
          <p15:clr>
            <a:srgbClr val="F26B43"/>
          </p15:clr>
        </p15:guide>
        <p15:guide id="6" pos="2684">
          <p15:clr>
            <a:srgbClr val="F26B43"/>
          </p15:clr>
        </p15:guide>
        <p15:guide id="7" pos="2593">
          <p15:clr>
            <a:srgbClr val="F26B43"/>
          </p15:clr>
        </p15:guide>
        <p15:guide id="8" pos="2071">
          <p15:clr>
            <a:srgbClr val="F26B43"/>
          </p15:clr>
        </p15:guide>
        <p15:guide id="9" pos="4521">
          <p15:clr>
            <a:srgbClr val="F26B43"/>
          </p15:clr>
        </p15:guide>
        <p15:guide id="10" pos="5043">
          <p15:clr>
            <a:srgbClr val="F26B43"/>
          </p15:clr>
        </p15:guide>
        <p15:guide id="11" pos="5133">
          <p15:clr>
            <a:srgbClr val="F26B43"/>
          </p15:clr>
        </p15:guide>
        <p15:guide id="12" pos="5655">
          <p15:clr>
            <a:srgbClr val="F26B43"/>
          </p15:clr>
        </p15:guide>
        <p15:guide id="13" pos="5737">
          <p15:clr>
            <a:srgbClr val="F26B43"/>
          </p15:clr>
        </p15:guide>
        <p15:guide id="14" pos="6265">
          <p15:clr>
            <a:srgbClr val="F26B43"/>
          </p15:clr>
        </p15:guide>
        <p15:guide id="15" pos="6358">
          <p15:clr>
            <a:srgbClr val="F26B43"/>
          </p15:clr>
        </p15:guide>
        <p15:guide id="16" pos="6880">
          <p15:clr>
            <a:srgbClr val="F26B43"/>
          </p15:clr>
        </p15:guide>
        <p15:guide id="17" pos="6970">
          <p15:clr>
            <a:srgbClr val="F26B43"/>
          </p15:clr>
        </p15:guide>
        <p15:guide id="18" pos="7492">
          <p15:clr>
            <a:srgbClr val="F26B43"/>
          </p15:clr>
        </p15:guide>
        <p15:guide id="19" pos="1981">
          <p15:clr>
            <a:srgbClr val="F26B43"/>
          </p15:clr>
        </p15:guide>
        <p15:guide id="20" pos="1459">
          <p15:clr>
            <a:srgbClr val="F26B43"/>
          </p15:clr>
        </p15:guide>
        <p15:guide id="21" pos="1368">
          <p15:clr>
            <a:srgbClr val="F26B43"/>
          </p15:clr>
        </p15:guide>
        <p15:guide id="22" pos="847">
          <p15:clr>
            <a:srgbClr val="F26B43"/>
          </p15:clr>
        </p15:guide>
        <p15:guide id="23" pos="756">
          <p15:clr>
            <a:srgbClr val="F26B43"/>
          </p15:clr>
        </p15:guide>
        <p15:guide id="24" pos="234">
          <p15:clr>
            <a:srgbClr val="F26B43"/>
          </p15:clr>
        </p15:guide>
        <p15:guide id="25" orient="horz" pos="60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1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diagramQuickStyle" Target="../diagrams/quickStyle1.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diagramLayout" Target="../diagrams/layout1.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24.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diagramData" Target="../diagrams/data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notesSlide" Target="../notesSlides/notesSlide10.xml"/><Relationship Id="rId28" Type="http://schemas.microsoft.com/office/2007/relationships/diagramDrawing" Target="../diagrams/drawing1.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6.xml"/><Relationship Id="rId27" Type="http://schemas.openxmlformats.org/officeDocument/2006/relationships/diagramColors" Target="../diagrams/colors1.xml"/></Relationships>
</file>

<file path=ppt/slides/_rels/slide13.xml.rels><?xml version="1.0" encoding="UTF-8" standalone="yes"?>
<Relationships xmlns="http://schemas.openxmlformats.org/package/2006/relationships"><Relationship Id="rId3" Type="http://schemas.openxmlformats.org/officeDocument/2006/relationships/hyperlink" Target="mailto:workshops@infotech.com"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3.xml"/><Relationship Id="rId5" Type="http://schemas.openxmlformats.org/officeDocument/2006/relationships/chart" Target="../charts/chart8.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25.png"/><Relationship Id="rId5" Type="http://schemas.openxmlformats.org/officeDocument/2006/relationships/hyperlink" Target="https://www.infotech.com/research/issdlc-capabilities-assessment-tool" TargetMode="Externa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21" Type="http://schemas.openxmlformats.org/officeDocument/2006/relationships/image" Target="../media/image54.png"/><Relationship Id="rId34" Type="http://schemas.openxmlformats.org/officeDocument/2006/relationships/image" Target="../media/image67.png"/><Relationship Id="rId7" Type="http://schemas.microsoft.com/office/2007/relationships/diagramDrawing" Target="../diagrams/drawing2.xml"/><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33" Type="http://schemas.openxmlformats.org/officeDocument/2006/relationships/image" Target="../media/image66.png"/><Relationship Id="rId2" Type="http://schemas.openxmlformats.org/officeDocument/2006/relationships/notesSlide" Target="../notesSlides/notesSlide3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23.xml"/><Relationship Id="rId6" Type="http://schemas.openxmlformats.org/officeDocument/2006/relationships/diagramColors" Target="../diagrams/colors2.xml"/><Relationship Id="rId11" Type="http://schemas.openxmlformats.org/officeDocument/2006/relationships/image" Target="../media/image44.png"/><Relationship Id="rId24" Type="http://schemas.openxmlformats.org/officeDocument/2006/relationships/image" Target="../media/image57.png"/><Relationship Id="rId32" Type="http://schemas.openxmlformats.org/officeDocument/2006/relationships/image" Target="../media/image65.png"/><Relationship Id="rId37" Type="http://schemas.openxmlformats.org/officeDocument/2006/relationships/image" Target="../media/image70.png"/><Relationship Id="rId5" Type="http://schemas.openxmlformats.org/officeDocument/2006/relationships/diagramQuickStyle" Target="../diagrams/quickStyle2.xml"/><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36" Type="http://schemas.openxmlformats.org/officeDocument/2006/relationships/image" Target="../media/image69.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diagramLayout" Target="../diagrams/layout2.xml"/><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 Id="rId35" Type="http://schemas.openxmlformats.org/officeDocument/2006/relationships/image" Target="../media/image68.png"/><Relationship Id="rId8" Type="http://schemas.openxmlformats.org/officeDocument/2006/relationships/image" Target="../media/image41.png"/><Relationship Id="rId3" Type="http://schemas.openxmlformats.org/officeDocument/2006/relationships/diagramData" Target="../diagrams/data2.xml"/></Relationships>
</file>

<file path=ppt/slides/_rels/slide3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3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4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70.png"/></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75.png"/><Relationship Id="rId5" Type="http://schemas.openxmlformats.org/officeDocument/2006/relationships/image" Target="../media/image73.png"/><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hyperlink" Target="https://www.softwarereviews.com/" TargetMode="External"/><Relationship Id="rId7" Type="http://schemas.openxmlformats.org/officeDocument/2006/relationships/hyperlink" Target="https://www.softwarereviews.com/categories/web-application-firewall" TargetMode="External"/><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hyperlink" Target="https://www.softwarereviews.com/categories/mobile-application-security" TargetMode="External"/><Relationship Id="rId5" Type="http://schemas.openxmlformats.org/officeDocument/2006/relationships/hyperlink" Target="https://www.softwarereviews.com/categories/application-security-testing" TargetMode="External"/><Relationship Id="rId4" Type="http://schemas.openxmlformats.org/officeDocument/2006/relationships/hyperlink" Target="https://www.softwarereviews.com/categories/api-security-tools"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2.xml"/><Relationship Id="rId1" Type="http://schemas.openxmlformats.org/officeDocument/2006/relationships/slideLayout" Target="../slideLayouts/slideLayout13.xml"/><Relationship Id="rId6" Type="http://schemas.openxmlformats.org/officeDocument/2006/relationships/image" Target="../media/image80.png"/><Relationship Id="rId5" Type="http://schemas.openxmlformats.org/officeDocument/2006/relationships/image" Target="../media/image25.png"/><Relationship Id="rId4" Type="http://schemas.openxmlformats.org/officeDocument/2006/relationships/hyperlink" Target="https://www.infotech.com/research/issdlc-capabilities-assessment-tool"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82.png"/></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5.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hyperlink" Target="https://www.infotech.com/research/issdlc-strategic-plan-template"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s://www.infotech.com/research/issdlc-capabilities-assessment-tool" TargetMode="External"/><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90.png"/></Relationships>
</file>

<file path=ppt/slides/_rels/slide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0.xml"/><Relationship Id="rId1" Type="http://schemas.openxmlformats.org/officeDocument/2006/relationships/slideLayout" Target="../slideLayouts/slideLayout13.xml"/><Relationship Id="rId4" Type="http://schemas.openxmlformats.org/officeDocument/2006/relationships/image" Target="../media/image92.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2.xml"/><Relationship Id="rId1" Type="http://schemas.openxmlformats.org/officeDocument/2006/relationships/slideLayout" Target="../slideLayouts/slideLayout16.xml"/><Relationship Id="rId5" Type="http://schemas.openxmlformats.org/officeDocument/2006/relationships/image" Target="../media/image94.png"/><Relationship Id="rId4" Type="http://schemas.openxmlformats.org/officeDocument/2006/relationships/image" Target="../media/image18.png"/></Relationships>
</file>

<file path=ppt/slides/_rels/slide67.xml.rels><?xml version="1.0" encoding="UTF-8" standalone="yes"?>
<Relationships xmlns="http://schemas.openxmlformats.org/package/2006/relationships"><Relationship Id="rId3" Type="http://schemas.openxmlformats.org/officeDocument/2006/relationships/hyperlink" Target="https://www.infotech.com/research/ss/build-a-software-quality-assurance-program" TargetMode="External"/><Relationship Id="rId7" Type="http://schemas.openxmlformats.org/officeDocument/2006/relationships/image" Target="../media/image97.png"/><Relationship Id="rId2" Type="http://schemas.openxmlformats.org/officeDocument/2006/relationships/hyperlink" Target="https://www.infotech.com/research/ss/evolve-your-software-development-lifecycle-into-a-solution-delivery-lifecycle" TargetMode="External"/><Relationship Id="rId1" Type="http://schemas.openxmlformats.org/officeDocument/2006/relationships/slideLayout" Target="../slideLayouts/slideLayout20.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hyperlink" Target="https://www.infotech.com/research/ss/build-an-automation-roadmap-to-streamline-security-processes"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services.google.com/fh/files/misc/2024_final_dora_report.pdf.%20Accessed%2031%20July%202025" TargetMode="External"/><Relationship Id="rId2" Type="http://schemas.openxmlformats.org/officeDocument/2006/relationships/notesSlide" Target="../notesSlides/notesSlide63.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9F9978C-0D1B-0C53-7FFA-69D36585F66B}"/>
              </a:ext>
            </a:extLst>
          </p:cNvPr>
          <p:cNvSpPr>
            <a:spLocks noGrp="1"/>
          </p:cNvSpPr>
          <p:nvPr>
            <p:ph type="body" sz="quarter" idx="10"/>
          </p:nvPr>
        </p:nvSpPr>
        <p:spPr>
          <a:xfrm>
            <a:off x="650874" y="1079498"/>
            <a:ext cx="10271126" cy="1306512"/>
          </a:xfrm>
        </p:spPr>
        <p:txBody>
          <a:bodyPr/>
          <a:lstStyle/>
          <a:p>
            <a:r>
              <a:rPr lang="en-US" dirty="0"/>
              <a:t>Develop a Strategic Plan for Intelligent Application Security</a:t>
            </a:r>
          </a:p>
        </p:txBody>
      </p:sp>
      <p:sp>
        <p:nvSpPr>
          <p:cNvPr id="5" name="Text Placeholder 4">
            <a:extLst>
              <a:ext uri="{FF2B5EF4-FFF2-40B4-BE49-F238E27FC236}">
                <a16:creationId xmlns:a16="http://schemas.microsoft.com/office/drawing/2014/main" id="{E842C386-06BE-B2B2-C4F4-0099D9971B96}"/>
              </a:ext>
            </a:extLst>
          </p:cNvPr>
          <p:cNvSpPr>
            <a:spLocks noGrp="1"/>
          </p:cNvSpPr>
          <p:nvPr>
            <p:ph type="body" sz="quarter" idx="11"/>
          </p:nvPr>
        </p:nvSpPr>
        <p:spPr>
          <a:xfrm>
            <a:off x="742314" y="2578104"/>
            <a:ext cx="6725285" cy="1893887"/>
          </a:xfrm>
        </p:spPr>
        <p:txBody>
          <a:bodyPr/>
          <a:lstStyle/>
          <a:p>
            <a:r>
              <a:rPr lang="en-US" dirty="0"/>
              <a:t>Plan for an intelligent SSDLC to build smarter, faster, and more resilient solutions.</a:t>
            </a:r>
          </a:p>
        </p:txBody>
      </p:sp>
    </p:spTree>
    <p:extLst>
      <p:ext uri="{BB962C8B-B14F-4D97-AF65-F5344CB8AC3E}">
        <p14:creationId xmlns:p14="http://schemas.microsoft.com/office/powerpoint/2010/main" val="2461874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BE87D-1B3A-C148-99E8-F80C50325912}"/>
              </a:ext>
            </a:extLst>
          </p:cNvPr>
          <p:cNvSpPr>
            <a:spLocks noGrp="1"/>
          </p:cNvSpPr>
          <p:nvPr>
            <p:ph type="title"/>
          </p:nvPr>
        </p:nvSpPr>
        <p:spPr/>
        <p:txBody>
          <a:bodyPr>
            <a:noAutofit/>
          </a:bodyPr>
          <a:lstStyle/>
          <a:p>
            <a:r>
              <a:rPr lang="en-US" dirty="0">
                <a:solidFill>
                  <a:srgbClr val="2576B7"/>
                </a:solidFill>
              </a:rPr>
              <a:t>Analyst</a:t>
            </a:r>
            <a:br>
              <a:rPr lang="en-US" dirty="0">
                <a:solidFill>
                  <a:srgbClr val="2576B7"/>
                </a:solidFill>
              </a:rPr>
            </a:br>
            <a:r>
              <a:rPr lang="en-US" dirty="0">
                <a:solidFill>
                  <a:srgbClr val="2576B7"/>
                </a:solidFill>
              </a:rPr>
              <a:t>perspective</a:t>
            </a:r>
          </a:p>
        </p:txBody>
      </p:sp>
      <p:sp>
        <p:nvSpPr>
          <p:cNvPr id="3" name="Text Placeholder 2">
            <a:extLst>
              <a:ext uri="{FF2B5EF4-FFF2-40B4-BE49-F238E27FC236}">
                <a16:creationId xmlns:a16="http://schemas.microsoft.com/office/drawing/2014/main" id="{3689B9D3-E749-9E4F-B868-F1D6E60CDACB}"/>
              </a:ext>
            </a:extLst>
          </p:cNvPr>
          <p:cNvSpPr>
            <a:spLocks noGrp="1"/>
          </p:cNvSpPr>
          <p:nvPr>
            <p:ph type="body" sz="quarter" idx="11"/>
          </p:nvPr>
        </p:nvSpPr>
        <p:spPr>
          <a:xfrm>
            <a:off x="367657" y="1667939"/>
            <a:ext cx="3582043" cy="1036350"/>
          </a:xfrm>
        </p:spPr>
        <p:txBody>
          <a:bodyPr>
            <a:noAutofit/>
          </a:bodyPr>
          <a:lstStyle/>
          <a:p>
            <a:r>
              <a:rPr lang="en-CA" dirty="0">
                <a:cs typeface="Arial"/>
              </a:rPr>
              <a:t>Confidently deliver your solutions through intelligent secure software.</a:t>
            </a:r>
            <a:endParaRPr lang="en-US" dirty="0"/>
          </a:p>
        </p:txBody>
      </p:sp>
      <p:sp>
        <p:nvSpPr>
          <p:cNvPr id="8" name="Text Placeholder 7"/>
          <p:cNvSpPr>
            <a:spLocks noGrp="1"/>
          </p:cNvSpPr>
          <p:nvPr>
            <p:ph type="body" sz="quarter" idx="13"/>
          </p:nvPr>
        </p:nvSpPr>
        <p:spPr>
          <a:xfrm>
            <a:off x="5238246" y="5120360"/>
            <a:ext cx="3580077" cy="1269682"/>
          </a:xfrm>
        </p:spPr>
        <p:txBody>
          <a:bodyPr>
            <a:noAutofit/>
          </a:bodyPr>
          <a:lstStyle/>
          <a:p>
            <a:r>
              <a:rPr lang="en-US" dirty="0"/>
              <a:t>Ahmad Jowhar</a:t>
            </a:r>
            <a:br>
              <a:rPr lang="en-US" dirty="0"/>
            </a:br>
            <a:r>
              <a:rPr lang="en-US" dirty="0">
                <a:latin typeface="Montserrat Medium" pitchFamily="2" charset="77"/>
              </a:rPr>
              <a:t>Research Analyst, Security &amp; Privacy Practice</a:t>
            </a:r>
            <a:br>
              <a:rPr lang="en-US" dirty="0">
                <a:latin typeface="Montserrat Medium" pitchFamily="2" charset="77"/>
              </a:rPr>
            </a:br>
            <a:r>
              <a:rPr lang="en-US" dirty="0">
                <a:latin typeface="Montserrat Medium" pitchFamily="2" charset="77"/>
              </a:rPr>
              <a:t>Info-Tech Research Group</a:t>
            </a:r>
            <a:endParaRPr lang="en-CA" dirty="0">
              <a:latin typeface="Montserrat Medium" pitchFamily="2" charset="77"/>
            </a:endParaRPr>
          </a:p>
        </p:txBody>
      </p:sp>
      <p:sp>
        <p:nvSpPr>
          <p:cNvPr id="5" name="Text Placeholder 4">
            <a:extLst>
              <a:ext uri="{FF2B5EF4-FFF2-40B4-BE49-F238E27FC236}">
                <a16:creationId xmlns:a16="http://schemas.microsoft.com/office/drawing/2014/main" id="{6CDA48C0-BB8D-0447-AF41-29869BBEE7C7}"/>
              </a:ext>
            </a:extLst>
          </p:cNvPr>
          <p:cNvSpPr>
            <a:spLocks noGrp="1"/>
          </p:cNvSpPr>
          <p:nvPr>
            <p:ph type="body" sz="quarter" idx="14"/>
          </p:nvPr>
        </p:nvSpPr>
        <p:spPr>
          <a:xfrm>
            <a:off x="5232400" y="1101548"/>
            <a:ext cx="6661150" cy="3646812"/>
          </a:xfrm>
          <a:prstGeom prst="rect">
            <a:avLst/>
          </a:prstGeom>
        </p:spPr>
        <p:txBody>
          <a:bodyPr>
            <a:noAutofit/>
          </a:bodyPr>
          <a:lstStyle/>
          <a:p>
            <a:pPr marL="0" marR="3081" indent="0">
              <a:lnSpc>
                <a:spcPct val="101000"/>
              </a:lnSpc>
              <a:spcBef>
                <a:spcPts val="58"/>
              </a:spcBef>
              <a:buNone/>
            </a:pPr>
            <a:r>
              <a:rPr lang="en-US" dirty="0"/>
              <a:t>With the rise of emerging technologies and increased attacks on applications, traditional secure software development lifecycles (SSDLCs) are no longer sufficient to safeguard applications. Conventional approaches are often rigid, heavily manual, and misaligned with the pace of digital innovation, leading to inconsistent controls and security debt across the software supply chain.</a:t>
            </a:r>
          </a:p>
          <a:p>
            <a:pPr marL="0" marR="3081" indent="0">
              <a:lnSpc>
                <a:spcPct val="101000"/>
              </a:lnSpc>
              <a:spcBef>
                <a:spcPts val="58"/>
              </a:spcBef>
              <a:buNone/>
            </a:pPr>
            <a:r>
              <a:rPr lang="en-US" dirty="0"/>
              <a:t>The solution is to rethink application security through a capabilities-driven lens that aligns to real-world business priorities and emerging threat realities.</a:t>
            </a:r>
          </a:p>
          <a:p>
            <a:pPr marL="0" marR="3081" indent="0">
              <a:lnSpc>
                <a:spcPct val="101000"/>
              </a:lnSpc>
              <a:spcBef>
                <a:spcPts val="58"/>
              </a:spcBef>
              <a:buNone/>
            </a:pPr>
            <a:r>
              <a:rPr lang="en-US" dirty="0"/>
              <a:t>By conducting a structured capabilities assessment, organizations can identify maturity gaps, align security to key SDLC phases, and prioritize improvements based on the highest business value and risk mitigation. The introduction of an intelligent, risk-aligned maturity model — backed by metrics and executive-level insights — enables security leaders to evolve AppSec practices without hindering innovation.</a:t>
            </a:r>
          </a:p>
          <a:p>
            <a:pPr marL="0" marR="3081" indent="0">
              <a:lnSpc>
                <a:spcPct val="101000"/>
              </a:lnSpc>
              <a:spcBef>
                <a:spcPts val="58"/>
              </a:spcBef>
              <a:buNone/>
            </a:pPr>
            <a:r>
              <a:rPr lang="en-US" dirty="0"/>
              <a:t>Building a scalable and adaptive application security program through an intelligent approach positions security as a business enabler. It strengthens foundational practices, increases development velocity, and ensures resilience across modern development pipelines — empowering organizations to deliver securely, at scale.</a:t>
            </a:r>
          </a:p>
          <a:p>
            <a:pPr marL="0" marR="3081" indent="0">
              <a:lnSpc>
                <a:spcPct val="101000"/>
              </a:lnSpc>
              <a:spcBef>
                <a:spcPts val="58"/>
              </a:spcBef>
              <a:buNone/>
            </a:pPr>
            <a:endParaRPr lang="en-US" dirty="0"/>
          </a:p>
        </p:txBody>
      </p:sp>
      <p:sp>
        <p:nvSpPr>
          <p:cNvPr id="6" name="Rectangle 5">
            <a:extLst>
              <a:ext uri="{FF2B5EF4-FFF2-40B4-BE49-F238E27FC236}">
                <a16:creationId xmlns:a16="http://schemas.microsoft.com/office/drawing/2014/main" id="{CA77F5FC-FE14-7A4D-AA82-AFE3CFD0AC20}"/>
              </a:ext>
            </a:extLst>
          </p:cNvPr>
          <p:cNvSpPr/>
          <p:nvPr/>
        </p:nvSpPr>
        <p:spPr>
          <a:xfrm>
            <a:off x="5232400" y="4839462"/>
            <a:ext cx="6624638" cy="54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Roboto Condensed Light" panose="02000000000000000000" pitchFamily="2" charset="0"/>
            </a:endParaRPr>
          </a:p>
        </p:txBody>
      </p:sp>
      <p:pic>
        <p:nvPicPr>
          <p:cNvPr id="4" name="Picture 3">
            <a:extLst>
              <a:ext uri="{FF2B5EF4-FFF2-40B4-BE49-F238E27FC236}">
                <a16:creationId xmlns:a16="http://schemas.microsoft.com/office/drawing/2014/main" id="{0CC897D2-AF89-626B-76F4-35392B1EA7F4}"/>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543"/>
          <a:stretch/>
        </p:blipFill>
        <p:spPr>
          <a:xfrm>
            <a:off x="1219872" y="2960605"/>
            <a:ext cx="1564253" cy="2306697"/>
          </a:xfrm>
          <a:prstGeom prst="rect">
            <a:avLst/>
          </a:prstGeom>
        </p:spPr>
      </p:pic>
    </p:spTree>
    <p:extLst>
      <p:ext uri="{BB962C8B-B14F-4D97-AF65-F5344CB8AC3E}">
        <p14:creationId xmlns:p14="http://schemas.microsoft.com/office/powerpoint/2010/main" val="2438022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1A7BD8C-6502-A549-A087-5E557EF075FB}"/>
              </a:ext>
            </a:extLst>
          </p:cNvPr>
          <p:cNvSpPr/>
          <p:nvPr/>
        </p:nvSpPr>
        <p:spPr>
          <a:xfrm>
            <a:off x="370864" y="4841832"/>
            <a:ext cx="3708401" cy="54000"/>
          </a:xfrm>
          <a:prstGeom prst="rect">
            <a:avLst/>
          </a:prstGeom>
          <a:solidFill>
            <a:srgbClr val="B3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Roboto Condensed Light" panose="02000000000000000000" pitchFamily="2" charset="0"/>
            </a:endParaRPr>
          </a:p>
        </p:txBody>
      </p:sp>
      <p:sp>
        <p:nvSpPr>
          <p:cNvPr id="14" name="Rectangle 13">
            <a:extLst>
              <a:ext uri="{FF2B5EF4-FFF2-40B4-BE49-F238E27FC236}">
                <a16:creationId xmlns:a16="http://schemas.microsoft.com/office/drawing/2014/main" id="{05BCA3C4-18C9-9845-B05E-44B99BE411EC}"/>
              </a:ext>
            </a:extLst>
          </p:cNvPr>
          <p:cNvSpPr/>
          <p:nvPr/>
        </p:nvSpPr>
        <p:spPr>
          <a:xfrm>
            <a:off x="4260850" y="4841832"/>
            <a:ext cx="3708401" cy="54000"/>
          </a:xfrm>
          <a:prstGeom prst="rect">
            <a:avLst/>
          </a:prstGeom>
          <a:solidFill>
            <a:srgbClr val="F17A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Roboto Condensed Light" panose="02000000000000000000" pitchFamily="2" charset="0"/>
            </a:endParaRPr>
          </a:p>
        </p:txBody>
      </p:sp>
      <p:sp>
        <p:nvSpPr>
          <p:cNvPr id="15" name="Rectangle 14">
            <a:extLst>
              <a:ext uri="{FF2B5EF4-FFF2-40B4-BE49-F238E27FC236}">
                <a16:creationId xmlns:a16="http://schemas.microsoft.com/office/drawing/2014/main" id="{8B947AAF-002F-4B47-B7A1-5BED7E696C90}"/>
              </a:ext>
            </a:extLst>
          </p:cNvPr>
          <p:cNvSpPr/>
          <p:nvPr/>
        </p:nvSpPr>
        <p:spPr>
          <a:xfrm>
            <a:off x="8169825" y="4841832"/>
            <a:ext cx="3708401" cy="54000"/>
          </a:xfrm>
          <a:prstGeom prst="rect">
            <a:avLst/>
          </a:prstGeom>
          <a:solidFill>
            <a:srgbClr val="2B9E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Roboto Condensed Light" panose="02000000000000000000" pitchFamily="2" charset="0"/>
            </a:endParaRPr>
          </a:p>
        </p:txBody>
      </p:sp>
      <p:sp>
        <p:nvSpPr>
          <p:cNvPr id="2" name="Title 1">
            <a:extLst>
              <a:ext uri="{FF2B5EF4-FFF2-40B4-BE49-F238E27FC236}">
                <a16:creationId xmlns:a16="http://schemas.microsoft.com/office/drawing/2014/main" id="{BDBEB923-D4F6-E94C-814E-8C31A0E743B5}"/>
              </a:ext>
            </a:extLst>
          </p:cNvPr>
          <p:cNvSpPr>
            <a:spLocks noGrp="1"/>
          </p:cNvSpPr>
          <p:nvPr>
            <p:ph type="title"/>
          </p:nvPr>
        </p:nvSpPr>
        <p:spPr/>
        <p:txBody>
          <a:bodyPr/>
          <a:lstStyle/>
          <a:p>
            <a:r>
              <a:rPr lang="en-CA" spc="-79" dirty="0"/>
              <a:t>Executive</a:t>
            </a:r>
            <a:r>
              <a:rPr lang="en-CA" spc="-3" dirty="0"/>
              <a:t> </a:t>
            </a:r>
            <a:r>
              <a:rPr lang="en-CA" spc="-42" dirty="0"/>
              <a:t>summary</a:t>
            </a:r>
            <a:endParaRPr lang="en-US" dirty="0"/>
          </a:p>
        </p:txBody>
      </p:sp>
      <p:sp>
        <p:nvSpPr>
          <p:cNvPr id="5" name="Text Placeholder 4">
            <a:extLst>
              <a:ext uri="{FF2B5EF4-FFF2-40B4-BE49-F238E27FC236}">
                <a16:creationId xmlns:a16="http://schemas.microsoft.com/office/drawing/2014/main" id="{80005E5B-FABC-E34E-BB01-080338E4F048}"/>
              </a:ext>
            </a:extLst>
          </p:cNvPr>
          <p:cNvSpPr>
            <a:spLocks noGrp="1"/>
          </p:cNvSpPr>
          <p:nvPr>
            <p:ph type="body" sz="quarter" idx="13"/>
          </p:nvPr>
        </p:nvSpPr>
        <p:spPr>
          <a:xfrm>
            <a:off x="354106" y="1275309"/>
            <a:ext cx="3542400" cy="297314"/>
          </a:xfrm>
        </p:spPr>
        <p:txBody>
          <a:bodyPr/>
          <a:lstStyle/>
          <a:p>
            <a:r>
              <a:rPr lang="en-US" dirty="0"/>
              <a:t>Your Challenge</a:t>
            </a:r>
          </a:p>
        </p:txBody>
      </p:sp>
      <p:sp>
        <p:nvSpPr>
          <p:cNvPr id="7" name="Text Placeholder 6">
            <a:extLst>
              <a:ext uri="{FF2B5EF4-FFF2-40B4-BE49-F238E27FC236}">
                <a16:creationId xmlns:a16="http://schemas.microsoft.com/office/drawing/2014/main" id="{59A6EC1C-F28C-7B4C-8F22-A6457C4B8A70}"/>
              </a:ext>
            </a:extLst>
          </p:cNvPr>
          <p:cNvSpPr>
            <a:spLocks noGrp="1"/>
          </p:cNvSpPr>
          <p:nvPr>
            <p:ph type="body" sz="quarter" idx="15"/>
          </p:nvPr>
        </p:nvSpPr>
        <p:spPr>
          <a:xfrm>
            <a:off x="4253906" y="1275309"/>
            <a:ext cx="3542400" cy="297314"/>
          </a:xfrm>
        </p:spPr>
        <p:txBody>
          <a:bodyPr/>
          <a:lstStyle/>
          <a:p>
            <a:r>
              <a:rPr lang="en-US" dirty="0"/>
              <a:t>Common Obstacles</a:t>
            </a:r>
          </a:p>
        </p:txBody>
      </p:sp>
      <p:sp>
        <p:nvSpPr>
          <p:cNvPr id="9" name="Text Placeholder 8">
            <a:extLst>
              <a:ext uri="{FF2B5EF4-FFF2-40B4-BE49-F238E27FC236}">
                <a16:creationId xmlns:a16="http://schemas.microsoft.com/office/drawing/2014/main" id="{6C42E00F-3E3D-DB41-AFB7-AF68944040C3}"/>
              </a:ext>
            </a:extLst>
          </p:cNvPr>
          <p:cNvSpPr>
            <a:spLocks noGrp="1"/>
          </p:cNvSpPr>
          <p:nvPr>
            <p:ph type="body" sz="quarter" idx="17"/>
          </p:nvPr>
        </p:nvSpPr>
        <p:spPr>
          <a:xfrm>
            <a:off x="8116660" y="1275309"/>
            <a:ext cx="3542400" cy="297314"/>
          </a:xfrm>
        </p:spPr>
        <p:txBody>
          <a:bodyPr/>
          <a:lstStyle/>
          <a:p>
            <a:r>
              <a:rPr lang="en-US" dirty="0"/>
              <a:t>Info-Tech’s Approach</a:t>
            </a:r>
          </a:p>
        </p:txBody>
      </p:sp>
      <p:sp>
        <p:nvSpPr>
          <p:cNvPr id="4" name="Text Placeholder 3">
            <a:extLst>
              <a:ext uri="{FF2B5EF4-FFF2-40B4-BE49-F238E27FC236}">
                <a16:creationId xmlns:a16="http://schemas.microsoft.com/office/drawing/2014/main" id="{27793FA1-A38B-2C4F-AAC9-FBF515D54EB3}"/>
              </a:ext>
            </a:extLst>
          </p:cNvPr>
          <p:cNvSpPr>
            <a:spLocks noGrp="1"/>
          </p:cNvSpPr>
          <p:nvPr>
            <p:ph type="body" sz="quarter" idx="18"/>
          </p:nvPr>
        </p:nvSpPr>
        <p:spPr>
          <a:xfrm>
            <a:off x="357387" y="1669099"/>
            <a:ext cx="3658265" cy="2592918"/>
          </a:xfrm>
          <a:prstGeom prst="rect">
            <a:avLst/>
          </a:prstGeom>
        </p:spPr>
        <p:txBody>
          <a:bodyPr/>
          <a:lstStyle/>
          <a:p>
            <a:pPr marL="0" indent="0">
              <a:lnSpc>
                <a:spcPts val="1800"/>
              </a:lnSpc>
              <a:buNone/>
            </a:pPr>
            <a:r>
              <a:rPr lang="en-CA" dirty="0"/>
              <a:t>Emerging trends in application development pose new challenges for cybersecurity:</a:t>
            </a:r>
          </a:p>
          <a:p>
            <a:pPr>
              <a:lnSpc>
                <a:spcPts val="1800"/>
              </a:lnSpc>
            </a:pPr>
            <a:r>
              <a:rPr lang="en-CA" dirty="0"/>
              <a:t>Generative AI coding accelerates development, stressing manual security reviews.</a:t>
            </a:r>
          </a:p>
          <a:p>
            <a:pPr>
              <a:lnSpc>
                <a:spcPts val="1800"/>
              </a:lnSpc>
            </a:pPr>
            <a:r>
              <a:rPr lang="en-CA" dirty="0"/>
              <a:t>The need for new agentic AI applications creates a need for new security oversight.</a:t>
            </a:r>
          </a:p>
          <a:p>
            <a:pPr>
              <a:lnSpc>
                <a:spcPts val="1800"/>
              </a:lnSpc>
            </a:pPr>
            <a:r>
              <a:rPr lang="en-CA" dirty="0"/>
              <a:t>Attack surfaces are increasingly shifting to applications and APIs, creating new threats and evolving attack vectors.</a:t>
            </a:r>
          </a:p>
          <a:p>
            <a:pPr>
              <a:lnSpc>
                <a:spcPts val="1800"/>
              </a:lnSpc>
            </a:pPr>
            <a:endParaRPr lang="en-CA" dirty="0"/>
          </a:p>
          <a:p>
            <a:pPr>
              <a:lnSpc>
                <a:spcPts val="1800"/>
              </a:lnSpc>
            </a:pPr>
            <a:endParaRPr lang="en-CA" dirty="0"/>
          </a:p>
          <a:p>
            <a:pPr>
              <a:lnSpc>
                <a:spcPts val="1800"/>
              </a:lnSpc>
            </a:pPr>
            <a:endParaRPr lang="en-CA" dirty="0">
              <a:solidFill>
                <a:srgbClr val="000000"/>
              </a:solidFill>
            </a:endParaRPr>
          </a:p>
          <a:p>
            <a:pPr marL="0" indent="0">
              <a:lnSpc>
                <a:spcPts val="1800"/>
              </a:lnSpc>
              <a:buNone/>
            </a:pPr>
            <a:endParaRPr lang="en-CA" dirty="0">
              <a:solidFill>
                <a:srgbClr val="000000"/>
              </a:solidFill>
            </a:endParaRPr>
          </a:p>
          <a:p>
            <a:pPr marL="0" indent="0">
              <a:lnSpc>
                <a:spcPts val="1800"/>
              </a:lnSpc>
              <a:buNone/>
            </a:pPr>
            <a:endParaRPr lang="en-CA" dirty="0">
              <a:solidFill>
                <a:srgbClr val="000000"/>
              </a:solidFill>
            </a:endParaRPr>
          </a:p>
          <a:p>
            <a:pPr marL="0" indent="0">
              <a:lnSpc>
                <a:spcPts val="1800"/>
              </a:lnSpc>
              <a:buNone/>
            </a:pPr>
            <a:endParaRPr lang="en-CA" dirty="0">
              <a:solidFill>
                <a:srgbClr val="000000"/>
              </a:solidFill>
            </a:endParaRPr>
          </a:p>
          <a:p>
            <a:pPr marL="0" indent="0">
              <a:lnSpc>
                <a:spcPts val="1800"/>
              </a:lnSpc>
              <a:buNone/>
            </a:pPr>
            <a:endParaRPr lang="en-CA" dirty="0">
              <a:solidFill>
                <a:srgbClr val="000000"/>
              </a:solidFill>
            </a:endParaRPr>
          </a:p>
          <a:p>
            <a:pPr marL="0" indent="0">
              <a:lnSpc>
                <a:spcPts val="1800"/>
              </a:lnSpc>
              <a:buNone/>
            </a:pPr>
            <a:endParaRPr lang="en-CA" dirty="0">
              <a:solidFill>
                <a:srgbClr val="000000"/>
              </a:solidFill>
            </a:endParaRPr>
          </a:p>
        </p:txBody>
      </p:sp>
      <p:sp>
        <p:nvSpPr>
          <p:cNvPr id="6" name="Text Placeholder 5">
            <a:extLst>
              <a:ext uri="{FF2B5EF4-FFF2-40B4-BE49-F238E27FC236}">
                <a16:creationId xmlns:a16="http://schemas.microsoft.com/office/drawing/2014/main" id="{A7C9325C-82FA-1447-94F3-75405DB036ED}"/>
              </a:ext>
            </a:extLst>
          </p:cNvPr>
          <p:cNvSpPr>
            <a:spLocks noGrp="1"/>
          </p:cNvSpPr>
          <p:nvPr>
            <p:ph type="body" sz="quarter" idx="19"/>
          </p:nvPr>
        </p:nvSpPr>
        <p:spPr>
          <a:xfrm>
            <a:off x="4253906" y="1669099"/>
            <a:ext cx="3658265" cy="2648413"/>
          </a:xfrm>
          <a:prstGeom prst="rect">
            <a:avLst/>
          </a:prstGeom>
        </p:spPr>
        <p:txBody>
          <a:bodyPr/>
          <a:lstStyle/>
          <a:p>
            <a:pPr>
              <a:lnSpc>
                <a:spcPts val="1800"/>
              </a:lnSpc>
            </a:pPr>
            <a:r>
              <a:rPr lang="en-US" dirty="0">
                <a:solidFill>
                  <a:srgbClr val="000000"/>
                </a:solidFill>
              </a:rPr>
              <a:t>Conventional secure software development lifecycles fail to deliver on their promises. Rooted in waterfall bureaucracy, their inflexibility inevitably leads to decay. </a:t>
            </a:r>
          </a:p>
          <a:p>
            <a:pPr>
              <a:lnSpc>
                <a:spcPts val="1800"/>
              </a:lnSpc>
            </a:pPr>
            <a:r>
              <a:rPr lang="en-CA" dirty="0"/>
              <a:t>Lack of a prioritization process exacerbates the challenges of effectively addressing and mitigating application-based vulnerabilities.</a:t>
            </a:r>
            <a:endParaRPr lang="en-CA" dirty="0">
              <a:solidFill>
                <a:srgbClr val="000000"/>
              </a:solidFill>
            </a:endParaRPr>
          </a:p>
          <a:p>
            <a:pPr>
              <a:lnSpc>
                <a:spcPts val="1800"/>
              </a:lnSpc>
            </a:pPr>
            <a:r>
              <a:rPr lang="en-CA" dirty="0">
                <a:solidFill>
                  <a:srgbClr val="000000"/>
                </a:solidFill>
              </a:rPr>
              <a:t>Integrating </a:t>
            </a:r>
            <a:r>
              <a:rPr lang="en-CA" dirty="0"/>
              <a:t>security, application, and operations teams remains a significant challenge for many organizations.</a:t>
            </a:r>
          </a:p>
          <a:p>
            <a:pPr>
              <a:lnSpc>
                <a:spcPts val="1800"/>
              </a:lnSpc>
            </a:pPr>
            <a:endParaRPr lang="en-CA" dirty="0">
              <a:solidFill>
                <a:srgbClr val="000000"/>
              </a:solidFill>
            </a:endParaRPr>
          </a:p>
          <a:p>
            <a:pPr marL="0" indent="0">
              <a:lnSpc>
                <a:spcPts val="1800"/>
              </a:lnSpc>
              <a:buNone/>
            </a:pPr>
            <a:endParaRPr lang="en-CA" dirty="0">
              <a:solidFill>
                <a:srgbClr val="000000"/>
              </a:solidFill>
            </a:endParaRPr>
          </a:p>
        </p:txBody>
      </p:sp>
      <p:sp>
        <p:nvSpPr>
          <p:cNvPr id="8" name="Text Placeholder 7">
            <a:extLst>
              <a:ext uri="{FF2B5EF4-FFF2-40B4-BE49-F238E27FC236}">
                <a16:creationId xmlns:a16="http://schemas.microsoft.com/office/drawing/2014/main" id="{90AD9441-D636-F047-A10D-3ADBEEBBB987}"/>
              </a:ext>
            </a:extLst>
          </p:cNvPr>
          <p:cNvSpPr>
            <a:spLocks noGrp="1"/>
          </p:cNvSpPr>
          <p:nvPr>
            <p:ph type="body" sz="quarter" idx="20"/>
          </p:nvPr>
        </p:nvSpPr>
        <p:spPr>
          <a:xfrm>
            <a:off x="8140106" y="1669099"/>
            <a:ext cx="3658265" cy="2648413"/>
          </a:xfrm>
          <a:prstGeom prst="rect">
            <a:avLst/>
          </a:prstGeom>
        </p:spPr>
        <p:txBody>
          <a:bodyPr/>
          <a:lstStyle/>
          <a:p>
            <a:pPr>
              <a:lnSpc>
                <a:spcPts val="1800"/>
              </a:lnSpc>
            </a:pPr>
            <a:r>
              <a:rPr lang="en-CA" dirty="0">
                <a:solidFill>
                  <a:srgbClr val="000000"/>
                </a:solidFill>
              </a:rPr>
              <a:t>Autonomous code development requires autonomous security capabilities, delivered as part of an intelligent secure software development lifecycle (iSSDLC).</a:t>
            </a:r>
          </a:p>
          <a:p>
            <a:pPr>
              <a:lnSpc>
                <a:spcPts val="1800"/>
              </a:lnSpc>
            </a:pPr>
            <a:r>
              <a:rPr lang="en-CA" dirty="0">
                <a:solidFill>
                  <a:srgbClr val="000000"/>
                </a:solidFill>
              </a:rPr>
              <a:t>Leverage a best-of-breed capabilities assessment to evaluate the maturity of your application security practices.</a:t>
            </a:r>
          </a:p>
          <a:p>
            <a:pPr>
              <a:lnSpc>
                <a:spcPts val="1800"/>
              </a:lnSpc>
            </a:pPr>
            <a:r>
              <a:rPr lang="en-CA" dirty="0"/>
              <a:t>Develop a structured roadmap with defined roles and responsibilities for achieving your desired application security maturity state.</a:t>
            </a:r>
          </a:p>
          <a:p>
            <a:pPr>
              <a:lnSpc>
                <a:spcPts val="1800"/>
              </a:lnSpc>
            </a:pPr>
            <a:endParaRPr lang="en-CA" dirty="0">
              <a:solidFill>
                <a:srgbClr val="000000"/>
              </a:solidFill>
            </a:endParaRPr>
          </a:p>
          <a:p>
            <a:pPr marL="0" indent="0">
              <a:lnSpc>
                <a:spcPts val="1800"/>
              </a:lnSpc>
              <a:buNone/>
            </a:pPr>
            <a:endParaRPr lang="en-CA" dirty="0">
              <a:solidFill>
                <a:srgbClr val="000000"/>
              </a:solidFill>
            </a:endParaRPr>
          </a:p>
        </p:txBody>
      </p:sp>
      <p:grpSp>
        <p:nvGrpSpPr>
          <p:cNvPr id="16" name="Group 15">
            <a:extLst>
              <a:ext uri="{FF2B5EF4-FFF2-40B4-BE49-F238E27FC236}">
                <a16:creationId xmlns:a16="http://schemas.microsoft.com/office/drawing/2014/main" id="{CAFF2AC8-5F14-D84D-86C3-BAF386B22002}"/>
              </a:ext>
            </a:extLst>
          </p:cNvPr>
          <p:cNvGrpSpPr/>
          <p:nvPr/>
        </p:nvGrpSpPr>
        <p:grpSpPr>
          <a:xfrm>
            <a:off x="375405" y="5189834"/>
            <a:ext cx="11487081" cy="1057523"/>
            <a:chOff x="6353842" y="3127248"/>
            <a:chExt cx="3887438" cy="1664208"/>
          </a:xfrm>
        </p:grpSpPr>
        <p:sp>
          <p:nvSpPr>
            <p:cNvPr id="17" name="Rectangle 16">
              <a:extLst>
                <a:ext uri="{FF2B5EF4-FFF2-40B4-BE49-F238E27FC236}">
                  <a16:creationId xmlns:a16="http://schemas.microsoft.com/office/drawing/2014/main" id="{78E41E68-57BC-5A45-8C5B-1F4EE2BA8F9D}"/>
                </a:ext>
              </a:extLst>
            </p:cNvPr>
            <p:cNvSpPr/>
            <p:nvPr/>
          </p:nvSpPr>
          <p:spPr>
            <a:xfrm>
              <a:off x="6353842" y="3127248"/>
              <a:ext cx="3887438" cy="1664208"/>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a:spcBef>
                  <a:spcPts val="800"/>
                </a:spcBef>
              </a:pPr>
              <a:r>
                <a:rPr lang="en-US" sz="1600" dirty="0">
                  <a:solidFill>
                    <a:schemeClr val="bg1"/>
                  </a:solidFill>
                  <a:latin typeface="Montserrat Medium" pitchFamily="2" charset="77"/>
                </a:rPr>
                <a:t>Info-Tech Insight</a:t>
              </a:r>
            </a:p>
            <a:p>
              <a:r>
                <a:rPr lang="en-US" sz="1400" dirty="0"/>
                <a:t>Shift security from a roadblock to a growth accelerant. Intelligent, adaptive security capabilities — aligned to enable top business opportunities and mitigate the most critical threats — unlock the full speed and value of modern application delivery.</a:t>
              </a:r>
              <a:endParaRPr lang="en-US" sz="1400" dirty="0">
                <a:solidFill>
                  <a:prstClr val="black"/>
                </a:solidFill>
              </a:endParaRPr>
            </a:p>
          </p:txBody>
        </p:sp>
        <p:sp>
          <p:nvSpPr>
            <p:cNvPr id="18" name="Rectangle 17">
              <a:extLst>
                <a:ext uri="{FF2B5EF4-FFF2-40B4-BE49-F238E27FC236}">
                  <a16:creationId xmlns:a16="http://schemas.microsoft.com/office/drawing/2014/main" id="{E5C426B7-54D5-6E4B-B315-687203C7E4D7}"/>
                </a:ext>
              </a:extLst>
            </p:cNvPr>
            <p:cNvSpPr/>
            <p:nvPr/>
          </p:nvSpPr>
          <p:spPr>
            <a:xfrm>
              <a:off x="6353842" y="3127248"/>
              <a:ext cx="3887438" cy="1664208"/>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a:spcBef>
                  <a:spcPts val="800"/>
                </a:spcBef>
              </a:pPr>
              <a:endParaRPr lang="en-US" sz="1400" dirty="0">
                <a:solidFill>
                  <a:srgbClr val="2576B7"/>
                </a:solidFill>
                <a:latin typeface="Roboto Condensed Light" panose="02000000000000000000" pitchFamily="2" charset="0"/>
                <a:ea typeface="Roboto Condensed Light" panose="02000000000000000000" pitchFamily="2" charset="0"/>
              </a:endParaRPr>
            </a:p>
          </p:txBody>
        </p:sp>
      </p:grpSp>
    </p:spTree>
    <p:extLst>
      <p:ext uri="{BB962C8B-B14F-4D97-AF65-F5344CB8AC3E}">
        <p14:creationId xmlns:p14="http://schemas.microsoft.com/office/powerpoint/2010/main" val="78981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CA82B1-EF6B-6442-AFD4-99B7AC11CD83}"/>
              </a:ext>
            </a:extLst>
          </p:cNvPr>
          <p:cNvSpPr>
            <a:spLocks noGrp="1"/>
          </p:cNvSpPr>
          <p:nvPr>
            <p:ph type="title"/>
          </p:nvPr>
        </p:nvSpPr>
        <p:spPr>
          <a:xfrm>
            <a:off x="354106" y="530021"/>
            <a:ext cx="5088332" cy="1130188"/>
          </a:xfrm>
        </p:spPr>
        <p:txBody>
          <a:bodyPr/>
          <a:lstStyle/>
          <a:p>
            <a:r>
              <a:rPr lang="en-US" dirty="0">
                <a:solidFill>
                  <a:srgbClr val="2576B7"/>
                </a:solidFill>
              </a:rPr>
              <a:t>Challenge</a:t>
            </a:r>
          </a:p>
        </p:txBody>
      </p:sp>
      <p:sp>
        <p:nvSpPr>
          <p:cNvPr id="22" name="Text Placeholder 6">
            <a:extLst>
              <a:ext uri="{FF2B5EF4-FFF2-40B4-BE49-F238E27FC236}">
                <a16:creationId xmlns:a16="http://schemas.microsoft.com/office/drawing/2014/main" id="{AEF12EEA-DE2C-4432-BAA3-6D372EC97D48}"/>
              </a:ext>
            </a:extLst>
          </p:cNvPr>
          <p:cNvSpPr txBox="1">
            <a:spLocks/>
          </p:cNvSpPr>
          <p:nvPr/>
        </p:nvSpPr>
        <p:spPr>
          <a:xfrm>
            <a:off x="387865" y="1256176"/>
            <a:ext cx="5508332" cy="658554"/>
          </a:xfrm>
          <a:prstGeom prst="rect">
            <a:avLst/>
          </a:prstGeom>
        </p:spPr>
        <p:txBody>
          <a:bodyPr lIns="0" tIns="0" rIns="0" bIns="0">
            <a:noAutofit/>
          </a:bodyPr>
          <a:lstStyle>
            <a:lvl1pPr marL="0" indent="0" algn="l" defTabSz="914400" rtl="0" eaLnBrk="1" latinLnBrk="0" hangingPunct="1">
              <a:lnSpc>
                <a:spcPts val="2400"/>
              </a:lnSpc>
              <a:spcBef>
                <a:spcPts val="1000"/>
              </a:spcBef>
              <a:buFont typeface="Arial" panose="020B0604020202020204" pitchFamily="34" charset="0"/>
              <a:buNone/>
              <a:defRPr sz="2000" b="0" i="0" kern="1200">
                <a:solidFill>
                  <a:srgbClr val="848585"/>
                </a:solidFill>
                <a:latin typeface="Montserrat SemiBold" pitchFamily="2" charset="77"/>
                <a:ea typeface="+mn-ea"/>
                <a:cs typeface="Arial" panose="020B0604020202020204" pitchFamily="34" charset="0"/>
              </a:defRPr>
            </a:lvl1pPr>
            <a:lvl2pPr marL="4572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r>
              <a:rPr lang="en-US" dirty="0">
                <a:solidFill>
                  <a:schemeClr val="tx1"/>
                </a:solidFill>
              </a:rPr>
              <a:t>Poor application security practices expand an organization’s threat landscape.</a:t>
            </a:r>
            <a:endParaRPr kumimoji="0" lang="en-US" sz="6600" b="0" i="0" u="none" strike="noStrike" kern="1200" cap="none" spc="0" normalizeH="0" baseline="0" noProof="0" dirty="0">
              <a:ln>
                <a:noFill/>
              </a:ln>
              <a:solidFill>
                <a:srgbClr val="4A4A4A"/>
              </a:solidFill>
              <a:effectLst/>
              <a:uLnTx/>
              <a:uFillTx/>
              <a:latin typeface="Montserrat SemiBold" pitchFamily="2" charset="77"/>
              <a:ea typeface="+mj-ea"/>
            </a:endParaRPr>
          </a:p>
        </p:txBody>
      </p:sp>
      <p:sp>
        <p:nvSpPr>
          <p:cNvPr id="12" name="Text Placeholder 7">
            <a:extLst>
              <a:ext uri="{FF2B5EF4-FFF2-40B4-BE49-F238E27FC236}">
                <a16:creationId xmlns:a16="http://schemas.microsoft.com/office/drawing/2014/main" id="{404A78B1-2A18-429A-B1FD-48886CCC7F03}"/>
              </a:ext>
            </a:extLst>
          </p:cNvPr>
          <p:cNvSpPr txBox="1">
            <a:spLocks/>
          </p:cNvSpPr>
          <p:nvPr/>
        </p:nvSpPr>
        <p:spPr>
          <a:xfrm>
            <a:off x="416569" y="2364012"/>
            <a:ext cx="5176143" cy="3967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The rise of emerging technologies is driving the need to develop applications more efficiently and at greater scale, straining traditional development processes.</a:t>
            </a:r>
          </a:p>
          <a:p>
            <a:pPr marL="184150" indent="-184150">
              <a:lnSpc>
                <a:spcPct val="110000"/>
              </a:lnSpc>
            </a:pPr>
            <a:r>
              <a:rPr lang="en-US" sz="1400" dirty="0">
                <a:solidFill>
                  <a:srgbClr val="000000"/>
                </a:solidFill>
                <a:latin typeface="Roboto Condensed Light" panose="02000000000000000000" pitchFamily="2" charset="0"/>
              </a:rPr>
              <a:t>As applications and APIs become fundamental to digital services, they represent a growing portion of the threat landscape, making them key targets for attackers.</a:t>
            </a:r>
          </a:p>
          <a:p>
            <a:pPr marL="184150" indent="-184150">
              <a:lnSpc>
                <a:spcPct val="110000"/>
              </a:lnSpc>
            </a:pPr>
            <a:r>
              <a:rPr lang="en-US" sz="1400" dirty="0">
                <a:solidFill>
                  <a:srgbClr val="000000"/>
                </a:solidFill>
                <a:latin typeface="Roboto Condensed Light" panose="02000000000000000000" pitchFamily="2" charset="0"/>
              </a:rPr>
              <a:t>Traditional security practices struggle to keep up with modern application development and its associated threats, highlighting the need for more adaptive and application-focused security strategies.</a:t>
            </a:r>
          </a:p>
          <a:p>
            <a:pPr marL="184150" indent="-184150">
              <a:lnSpc>
                <a:spcPct val="110000"/>
              </a:lnSpc>
            </a:pPr>
            <a:r>
              <a:rPr lang="en-US" sz="1400" dirty="0">
                <a:solidFill>
                  <a:srgbClr val="000000"/>
                </a:solidFill>
                <a:latin typeface="Roboto Condensed Light" panose="02000000000000000000" pitchFamily="2" charset="0"/>
              </a:rPr>
              <a:t>As the urgency to leverage emerging technologies increases, unresolved vulnerabilities and ad hoc security practices accumulate, creating a growing backlog that threatens long-term resilience for organizations.</a:t>
            </a:r>
          </a:p>
          <a:p>
            <a:endParaRPr lang="en-US" sz="1400" dirty="0"/>
          </a:p>
          <a:p>
            <a:pPr fontAlgn="base">
              <a:lnSpc>
                <a:spcPct val="100000"/>
              </a:lnSpc>
            </a:pPr>
            <a:endParaRPr lang="en-CA" sz="1400" dirty="0">
              <a:solidFill>
                <a:srgbClr val="000000"/>
              </a:solidFill>
              <a:latin typeface="Roboto Condensed Light" panose="02000000000000000000" pitchFamily="2" charset="0"/>
            </a:endParaRPr>
          </a:p>
        </p:txBody>
      </p:sp>
      <p:sp>
        <p:nvSpPr>
          <p:cNvPr id="2" name="TextBox 1">
            <a:extLst>
              <a:ext uri="{FF2B5EF4-FFF2-40B4-BE49-F238E27FC236}">
                <a16:creationId xmlns:a16="http://schemas.microsoft.com/office/drawing/2014/main" id="{6DAB7A5E-B6D2-AF2C-BBB3-BAEDA92E8C51}"/>
              </a:ext>
            </a:extLst>
          </p:cNvPr>
          <p:cNvSpPr txBox="1"/>
          <p:nvPr/>
        </p:nvSpPr>
        <p:spPr>
          <a:xfrm>
            <a:off x="9151947" y="2145699"/>
            <a:ext cx="2422581" cy="485710"/>
          </a:xfrm>
          <a:prstGeom prst="rect">
            <a:avLst/>
          </a:prstGeom>
          <a:noFill/>
        </p:spPr>
        <p:txBody>
          <a:bodyPr wrap="square">
            <a:spAutoFit/>
          </a:bodyPr>
          <a:lstStyle/>
          <a:p>
            <a:pPr algn="ctr">
              <a:lnSpc>
                <a:spcPct val="110000"/>
              </a:lnSpc>
            </a:pPr>
            <a:r>
              <a:rPr lang="en-CA" sz="1200" dirty="0">
                <a:solidFill>
                  <a:srgbClr val="000000"/>
                </a:solidFill>
                <a:latin typeface="Roboto Condensed Light" panose="02000000000000000000" pitchFamily="2" charset="0"/>
                <a:ea typeface="Roboto Condensed Light" panose="02000000000000000000" pitchFamily="2" charset="0"/>
              </a:rPr>
              <a:t>80% of top breaches were related to application attack surfaces.</a:t>
            </a:r>
            <a:endParaRPr lang="en-US" sz="1200" dirty="0">
              <a:latin typeface="Roboto Condensed Light" panose="02000000000000000000" pitchFamily="2" charset="0"/>
            </a:endParaRPr>
          </a:p>
        </p:txBody>
      </p:sp>
      <p:sp>
        <p:nvSpPr>
          <p:cNvPr id="4" name="TextBox 3">
            <a:extLst>
              <a:ext uri="{FF2B5EF4-FFF2-40B4-BE49-F238E27FC236}">
                <a16:creationId xmlns:a16="http://schemas.microsoft.com/office/drawing/2014/main" id="{E15AD99F-434C-FEB0-855A-DC4D11C7EDBC}"/>
              </a:ext>
            </a:extLst>
          </p:cNvPr>
          <p:cNvSpPr txBox="1"/>
          <p:nvPr/>
        </p:nvSpPr>
        <p:spPr>
          <a:xfrm>
            <a:off x="9165080" y="2659860"/>
            <a:ext cx="2478280" cy="415498"/>
          </a:xfrm>
          <a:prstGeom prst="rect">
            <a:avLst/>
          </a:prstGeom>
          <a:noFill/>
        </p:spPr>
        <p:txBody>
          <a:bodyPr wrap="square">
            <a:spAutoFit/>
          </a:bodyPr>
          <a:lstStyle/>
          <a:p>
            <a:pPr algn="ctr"/>
            <a:r>
              <a:rPr lang="en-CA" sz="1050" dirty="0">
                <a:solidFill>
                  <a:schemeClr val="tx1">
                    <a:lumMod val="75000"/>
                  </a:schemeClr>
                </a:solidFill>
                <a:latin typeface="Roboto Condensed Light" panose="02000000000000000000" pitchFamily="2" charset="0"/>
                <a:ea typeface="Roboto Condensed Light" panose="02000000000000000000" pitchFamily="2" charset="0"/>
              </a:rPr>
              <a:t>Source: “2024 State of Application Security Report”, CrowdStrike, 2024</a:t>
            </a:r>
            <a:endParaRPr lang="en-US" sz="1050" dirty="0">
              <a:solidFill>
                <a:schemeClr val="tx1">
                  <a:lumMod val="75000"/>
                </a:schemeClr>
              </a:solidFill>
              <a:latin typeface="Roboto Condensed Light" panose="02000000000000000000" pitchFamily="2" charset="0"/>
            </a:endParaRPr>
          </a:p>
        </p:txBody>
      </p:sp>
      <p:sp>
        <p:nvSpPr>
          <p:cNvPr id="5" name="TextBox 4">
            <a:extLst>
              <a:ext uri="{FF2B5EF4-FFF2-40B4-BE49-F238E27FC236}">
                <a16:creationId xmlns:a16="http://schemas.microsoft.com/office/drawing/2014/main" id="{336B2743-C253-4649-07C6-B8C7DDE491C1}"/>
              </a:ext>
            </a:extLst>
          </p:cNvPr>
          <p:cNvSpPr txBox="1"/>
          <p:nvPr/>
        </p:nvSpPr>
        <p:spPr>
          <a:xfrm>
            <a:off x="6409089" y="4057173"/>
            <a:ext cx="2030627" cy="688843"/>
          </a:xfrm>
          <a:prstGeom prst="rect">
            <a:avLst/>
          </a:prstGeom>
          <a:noFill/>
        </p:spPr>
        <p:txBody>
          <a:bodyPr wrap="square">
            <a:spAutoFit/>
          </a:bodyPr>
          <a:lstStyle/>
          <a:p>
            <a:pPr algn="ctr">
              <a:lnSpc>
                <a:spcPct val="110000"/>
              </a:lnSpc>
            </a:pPr>
            <a:r>
              <a:rPr lang="en-CA" sz="1200" dirty="0">
                <a:solidFill>
                  <a:srgbClr val="000000"/>
                </a:solidFill>
                <a:latin typeface="Roboto Condensed Light" panose="02000000000000000000" pitchFamily="2" charset="0"/>
                <a:ea typeface="Roboto Condensed Light" panose="02000000000000000000" pitchFamily="2" charset="0"/>
              </a:rPr>
              <a:t>92% of organizations had a breach due to an application they developed.</a:t>
            </a:r>
            <a:endParaRPr lang="en-US" sz="1200" dirty="0">
              <a:latin typeface="Roboto Condensed Light" panose="02000000000000000000" pitchFamily="2" charset="0"/>
            </a:endParaRPr>
          </a:p>
        </p:txBody>
      </p:sp>
      <p:sp>
        <p:nvSpPr>
          <p:cNvPr id="13" name="TextBox 12">
            <a:extLst>
              <a:ext uri="{FF2B5EF4-FFF2-40B4-BE49-F238E27FC236}">
                <a16:creationId xmlns:a16="http://schemas.microsoft.com/office/drawing/2014/main" id="{4AB6137D-E67C-49B8-34FB-6DF584191B95}"/>
              </a:ext>
            </a:extLst>
          </p:cNvPr>
          <p:cNvSpPr txBox="1"/>
          <p:nvPr/>
        </p:nvSpPr>
        <p:spPr>
          <a:xfrm>
            <a:off x="6096794" y="4774467"/>
            <a:ext cx="2711832" cy="415498"/>
          </a:xfrm>
          <a:prstGeom prst="rect">
            <a:avLst/>
          </a:prstGeom>
          <a:noFill/>
        </p:spPr>
        <p:txBody>
          <a:bodyPr wrap="square">
            <a:spAutoFit/>
          </a:bodyPr>
          <a:lstStyle/>
          <a:p>
            <a:pPr algn="ctr"/>
            <a:r>
              <a:rPr lang="en-CA" sz="1050" dirty="0">
                <a:solidFill>
                  <a:schemeClr val="tx1">
                    <a:lumMod val="75000"/>
                  </a:schemeClr>
                </a:solidFill>
                <a:latin typeface="Roboto Condensed Light" panose="02000000000000000000" pitchFamily="2" charset="0"/>
                <a:ea typeface="Roboto Condensed Light" panose="02000000000000000000" pitchFamily="2" charset="0"/>
              </a:rPr>
              <a:t>Source: </a:t>
            </a:r>
            <a:r>
              <a:rPr lang="en-US" sz="1050" dirty="0">
                <a:solidFill>
                  <a:srgbClr val="000000"/>
                </a:solidFill>
                <a:latin typeface="Roboto Condensed Light" panose="02000000000000000000" pitchFamily="2" charset="0"/>
                <a:ea typeface="Roboto Condensed Light" panose="02000000000000000000" pitchFamily="2" charset="0"/>
              </a:rPr>
              <a:t>“The Future of Application Security 2024,” </a:t>
            </a:r>
            <a:r>
              <a:rPr lang="en-CA" sz="1050" dirty="0">
                <a:solidFill>
                  <a:schemeClr val="tx1">
                    <a:lumMod val="75000"/>
                  </a:schemeClr>
                </a:solidFill>
                <a:latin typeface="Roboto Condensed Light" panose="02000000000000000000" pitchFamily="2" charset="0"/>
                <a:ea typeface="Roboto Condensed Light" panose="02000000000000000000" pitchFamily="2" charset="0"/>
              </a:rPr>
              <a:t>Checkmarx, 2024</a:t>
            </a:r>
            <a:endParaRPr lang="en-US" sz="1050" dirty="0">
              <a:solidFill>
                <a:schemeClr val="tx1">
                  <a:lumMod val="75000"/>
                </a:schemeClr>
              </a:solidFill>
              <a:latin typeface="Roboto Condensed Light" panose="02000000000000000000" pitchFamily="2" charset="0"/>
            </a:endParaRPr>
          </a:p>
        </p:txBody>
      </p:sp>
      <p:sp>
        <p:nvSpPr>
          <p:cNvPr id="27" name="Subtitle 2">
            <a:extLst>
              <a:ext uri="{FF2B5EF4-FFF2-40B4-BE49-F238E27FC236}">
                <a16:creationId xmlns:a16="http://schemas.microsoft.com/office/drawing/2014/main" id="{D471B14C-6A7B-0848-4DBD-7854C103B960}"/>
              </a:ext>
            </a:extLst>
          </p:cNvPr>
          <p:cNvSpPr txBox="1">
            <a:spLocks/>
          </p:cNvSpPr>
          <p:nvPr/>
        </p:nvSpPr>
        <p:spPr>
          <a:xfrm>
            <a:off x="9262385" y="5367530"/>
            <a:ext cx="2387266" cy="597087"/>
          </a:xfrm>
          <a:prstGeom prst="rect">
            <a:avLst/>
          </a:prstGeom>
        </p:spPr>
        <p:txBody>
          <a:bodyPr vert="horz" wrap="square" lIns="0" tIns="0" rIns="0"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10000"/>
              </a:lnSpc>
            </a:pPr>
            <a:r>
              <a:rPr lang="en-US" sz="1200" dirty="0">
                <a:solidFill>
                  <a:srgbClr val="000000"/>
                </a:solidFill>
                <a:latin typeface="Roboto Condensed Light"/>
                <a:ea typeface="Roboto Condensed Light"/>
                <a:cs typeface="Roboto Condensed Light"/>
              </a:rPr>
              <a:t>There was a 49% year-over-year increase in web application attacks from 2023 to 2024.</a:t>
            </a:r>
          </a:p>
        </p:txBody>
      </p:sp>
      <p:sp>
        <p:nvSpPr>
          <p:cNvPr id="16" name="TextBox 15">
            <a:extLst>
              <a:ext uri="{FF2B5EF4-FFF2-40B4-BE49-F238E27FC236}">
                <a16:creationId xmlns:a16="http://schemas.microsoft.com/office/drawing/2014/main" id="{6A78975F-4D32-C747-E2B5-653A05281DCE}"/>
              </a:ext>
            </a:extLst>
          </p:cNvPr>
          <p:cNvSpPr txBox="1"/>
          <p:nvPr/>
        </p:nvSpPr>
        <p:spPr>
          <a:xfrm>
            <a:off x="9392082" y="6032013"/>
            <a:ext cx="2127872" cy="415498"/>
          </a:xfrm>
          <a:prstGeom prst="rect">
            <a:avLst/>
          </a:prstGeom>
          <a:noFill/>
        </p:spPr>
        <p:txBody>
          <a:bodyPr wrap="square">
            <a:spAutoFit/>
          </a:bodyPr>
          <a:lstStyle/>
          <a:p>
            <a:pPr algn="ctr"/>
            <a:r>
              <a:rPr lang="en-CA" sz="1050" dirty="0">
                <a:solidFill>
                  <a:schemeClr val="tx1">
                    <a:lumMod val="75000"/>
                  </a:schemeClr>
                </a:solidFill>
                <a:latin typeface="Roboto Condensed Light" panose="02000000000000000000" pitchFamily="2" charset="0"/>
                <a:ea typeface="Roboto Condensed Light" panose="02000000000000000000" pitchFamily="2" charset="0"/>
              </a:rPr>
              <a:t>Source: </a:t>
            </a:r>
            <a:r>
              <a:rPr lang="en-US" sz="1050" dirty="0">
                <a:solidFill>
                  <a:srgbClr val="000000"/>
                </a:solidFill>
                <a:latin typeface="Roboto Condensed Light" panose="02000000000000000000" pitchFamily="2" charset="0"/>
                <a:ea typeface="Roboto Condensed Light" panose="02000000000000000000" pitchFamily="2" charset="0"/>
              </a:rPr>
              <a:t>“Application Security Report 2024,” </a:t>
            </a:r>
            <a:r>
              <a:rPr lang="en-CA" sz="1050" dirty="0">
                <a:solidFill>
                  <a:schemeClr val="tx1">
                    <a:lumMod val="75000"/>
                  </a:schemeClr>
                </a:solidFill>
                <a:latin typeface="Roboto Condensed Light" panose="02000000000000000000" pitchFamily="2" charset="0"/>
                <a:ea typeface="Roboto Condensed Light" panose="02000000000000000000" pitchFamily="2" charset="0"/>
              </a:rPr>
              <a:t>Akamai, 2025</a:t>
            </a:r>
            <a:endParaRPr lang="en-US" sz="1050" dirty="0">
              <a:solidFill>
                <a:schemeClr val="tx1">
                  <a:lumMod val="75000"/>
                </a:schemeClr>
              </a:solidFill>
              <a:latin typeface="Roboto Condensed Light" panose="02000000000000000000" pitchFamily="2" charset="0"/>
            </a:endParaRPr>
          </a:p>
        </p:txBody>
      </p:sp>
      <p:sp>
        <p:nvSpPr>
          <p:cNvPr id="15" name="object 19">
            <a:extLst>
              <a:ext uri="{FF2B5EF4-FFF2-40B4-BE49-F238E27FC236}">
                <a16:creationId xmlns:a16="http://schemas.microsoft.com/office/drawing/2014/main" id="{07D0A3C8-43C2-9A42-BDE5-4C44F613756D}"/>
              </a:ext>
              <a:ext uri="{C183D7F6-B498-43B3-948B-1728B52AA6E4}">
                <adec:decorative xmlns:adec="http://schemas.microsoft.com/office/drawing/2017/decorative" val="1"/>
              </a:ext>
            </a:extLst>
          </p:cNvPr>
          <p:cNvSpPr/>
          <p:nvPr/>
        </p:nvSpPr>
        <p:spPr>
          <a:xfrm rot="10800000" flipH="1">
            <a:off x="5929771" y="1210235"/>
            <a:ext cx="379861" cy="5071871"/>
          </a:xfrm>
          <a:custGeom>
            <a:avLst/>
            <a:gdLst/>
            <a:ahLst/>
            <a:cxnLst/>
            <a:rect l="l" t="t" r="r" b="b"/>
            <a:pathLst>
              <a:path h="7791450">
                <a:moveTo>
                  <a:pt x="0" y="0"/>
                </a:moveTo>
                <a:lnTo>
                  <a:pt x="0" y="7790956"/>
                </a:lnTo>
              </a:path>
            </a:pathLst>
          </a:custGeom>
          <a:ln w="3175">
            <a:solidFill>
              <a:srgbClr val="C9C9C9"/>
            </a:solidFill>
          </a:ln>
        </p:spPr>
        <p:txBody>
          <a:bodyPr wrap="square" lIns="0" tIns="0" rIns="0" bIns="0" rtlCol="0">
            <a:no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662" b="0" i="0" u="none" strike="noStrike" kern="1200" cap="none" spc="0" normalizeH="0" baseline="0" noProof="0" dirty="0">
              <a:ln>
                <a:noFill/>
              </a:ln>
              <a:solidFill>
                <a:srgbClr val="494949"/>
              </a:solidFill>
              <a:effectLst/>
              <a:uLnTx/>
              <a:uFillTx/>
              <a:latin typeface="Roboto Condensed Light" panose="02000000000000000000" pitchFamily="2" charset="0"/>
              <a:ea typeface="+mn-ea"/>
              <a:cs typeface="+mn-cs"/>
            </a:endParaRPr>
          </a:p>
        </p:txBody>
      </p:sp>
      <p:grpSp>
        <p:nvGrpSpPr>
          <p:cNvPr id="3" name="Group 2">
            <a:extLst>
              <a:ext uri="{FF2B5EF4-FFF2-40B4-BE49-F238E27FC236}">
                <a16:creationId xmlns:a16="http://schemas.microsoft.com/office/drawing/2014/main" id="{108D13EF-C98F-D6FE-EE9B-790B3CD335CE}"/>
              </a:ext>
            </a:extLst>
          </p:cNvPr>
          <p:cNvGrpSpPr/>
          <p:nvPr/>
        </p:nvGrpSpPr>
        <p:grpSpPr>
          <a:xfrm>
            <a:off x="8755250" y="85881"/>
            <a:ext cx="3273953" cy="2159884"/>
            <a:chOff x="2668775" y="333296"/>
            <a:chExt cx="3273953" cy="2159884"/>
          </a:xfrm>
        </p:grpSpPr>
        <p:graphicFrame>
          <p:nvGraphicFramePr>
            <p:cNvPr id="7" name="Chart 6">
              <a:extLst>
                <a:ext uri="{FF2B5EF4-FFF2-40B4-BE49-F238E27FC236}">
                  <a16:creationId xmlns:a16="http://schemas.microsoft.com/office/drawing/2014/main" id="{7E0AA128-DB81-59EE-59D6-758A50759CF3}"/>
                </a:ext>
              </a:extLst>
            </p:cNvPr>
            <p:cNvGraphicFramePr/>
            <p:nvPr>
              <p:extLst>
                <p:ext uri="{D42A27DB-BD31-4B8C-83A1-F6EECF244321}">
                  <p14:modId xmlns:p14="http://schemas.microsoft.com/office/powerpoint/2010/main" val="1400287297"/>
                </p:ext>
              </p:extLst>
            </p:nvPr>
          </p:nvGraphicFramePr>
          <p:xfrm>
            <a:off x="2668775" y="333296"/>
            <a:ext cx="3273953" cy="215988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B12368B6-DAB3-41C6-2B90-D8466212CABC}"/>
                </a:ext>
              </a:extLst>
            </p:cNvPr>
            <p:cNvSpPr txBox="1"/>
            <p:nvPr/>
          </p:nvSpPr>
          <p:spPr>
            <a:xfrm>
              <a:off x="3122534" y="1285794"/>
              <a:ext cx="2343150" cy="307777"/>
            </a:xfrm>
            <a:prstGeom prst="rect">
              <a:avLst/>
            </a:prstGeom>
          </p:spPr>
          <p:txBody>
            <a:bodyPr vert="horz" wrap="square" lIns="0" tIns="0" rIns="0" bIns="0" rtlCol="0">
              <a:spAutoFit/>
            </a:bodyPr>
            <a:lstStyle/>
            <a:p>
              <a:pPr marL="289946" marR="242975" lvl="1" algn="ctr">
                <a:spcBef>
                  <a:spcPts val="55"/>
                </a:spcBef>
              </a:pPr>
              <a:r>
                <a:rPr lang="en-US" sz="2000" spc="-30" dirty="0">
                  <a:solidFill>
                    <a:srgbClr val="2576B7"/>
                  </a:solidFill>
                  <a:latin typeface="Exo" panose="02000503000000000000" pitchFamily="2" charset="77"/>
                  <a:cs typeface="Arial Narrow"/>
                </a:rPr>
                <a:t>80%</a:t>
              </a:r>
            </a:p>
          </p:txBody>
        </p:sp>
      </p:grpSp>
      <p:grpSp>
        <p:nvGrpSpPr>
          <p:cNvPr id="11" name="Group 10">
            <a:extLst>
              <a:ext uri="{FF2B5EF4-FFF2-40B4-BE49-F238E27FC236}">
                <a16:creationId xmlns:a16="http://schemas.microsoft.com/office/drawing/2014/main" id="{0742CB08-25BD-EDF4-1C8A-D3FB5DC4C0D5}"/>
              </a:ext>
            </a:extLst>
          </p:cNvPr>
          <p:cNvGrpSpPr/>
          <p:nvPr/>
        </p:nvGrpSpPr>
        <p:grpSpPr>
          <a:xfrm>
            <a:off x="5752323" y="2007458"/>
            <a:ext cx="3273953" cy="2159884"/>
            <a:chOff x="2668775" y="333296"/>
            <a:chExt cx="3273953" cy="2159884"/>
          </a:xfrm>
        </p:grpSpPr>
        <p:graphicFrame>
          <p:nvGraphicFramePr>
            <p:cNvPr id="14" name="Chart 13">
              <a:extLst>
                <a:ext uri="{FF2B5EF4-FFF2-40B4-BE49-F238E27FC236}">
                  <a16:creationId xmlns:a16="http://schemas.microsoft.com/office/drawing/2014/main" id="{FFEE5D8C-8B20-02B7-79DB-9DD4EF8B51CC}"/>
                </a:ext>
              </a:extLst>
            </p:cNvPr>
            <p:cNvGraphicFramePr/>
            <p:nvPr>
              <p:extLst>
                <p:ext uri="{D42A27DB-BD31-4B8C-83A1-F6EECF244321}">
                  <p14:modId xmlns:p14="http://schemas.microsoft.com/office/powerpoint/2010/main" val="3909260356"/>
                </p:ext>
              </p:extLst>
            </p:nvPr>
          </p:nvGraphicFramePr>
          <p:xfrm>
            <a:off x="2668775" y="333296"/>
            <a:ext cx="3273953" cy="2159884"/>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a:extLst>
                <a:ext uri="{FF2B5EF4-FFF2-40B4-BE49-F238E27FC236}">
                  <a16:creationId xmlns:a16="http://schemas.microsoft.com/office/drawing/2014/main" id="{7086083A-E861-CA4B-DC80-9815D095E14A}"/>
                </a:ext>
              </a:extLst>
            </p:cNvPr>
            <p:cNvSpPr txBox="1"/>
            <p:nvPr/>
          </p:nvSpPr>
          <p:spPr>
            <a:xfrm>
              <a:off x="3122534" y="1285794"/>
              <a:ext cx="2343150" cy="307777"/>
            </a:xfrm>
            <a:prstGeom prst="rect">
              <a:avLst/>
            </a:prstGeom>
          </p:spPr>
          <p:txBody>
            <a:bodyPr vert="horz" wrap="square" lIns="0" tIns="0" rIns="0" bIns="0" rtlCol="0">
              <a:spAutoFit/>
            </a:bodyPr>
            <a:lstStyle/>
            <a:p>
              <a:pPr marL="289946" marR="242975" lvl="1" algn="ctr">
                <a:spcBef>
                  <a:spcPts val="55"/>
                </a:spcBef>
              </a:pPr>
              <a:r>
                <a:rPr lang="en-US" sz="2000" spc="-30" dirty="0">
                  <a:solidFill>
                    <a:srgbClr val="2576B7"/>
                  </a:solidFill>
                  <a:latin typeface="Exo" panose="02000503000000000000" pitchFamily="2" charset="77"/>
                  <a:cs typeface="Arial Narrow"/>
                </a:rPr>
                <a:t>92%</a:t>
              </a:r>
            </a:p>
          </p:txBody>
        </p:sp>
      </p:grpSp>
      <p:grpSp>
        <p:nvGrpSpPr>
          <p:cNvPr id="18" name="Group 17">
            <a:extLst>
              <a:ext uri="{FF2B5EF4-FFF2-40B4-BE49-F238E27FC236}">
                <a16:creationId xmlns:a16="http://schemas.microsoft.com/office/drawing/2014/main" id="{35FA44E3-349B-0DC3-C722-32671CDBCB63}"/>
              </a:ext>
            </a:extLst>
          </p:cNvPr>
          <p:cNvGrpSpPr/>
          <p:nvPr/>
        </p:nvGrpSpPr>
        <p:grpSpPr>
          <a:xfrm>
            <a:off x="8808626" y="3267733"/>
            <a:ext cx="3273953" cy="2159884"/>
            <a:chOff x="2668775" y="333296"/>
            <a:chExt cx="3273953" cy="2159884"/>
          </a:xfrm>
        </p:grpSpPr>
        <p:graphicFrame>
          <p:nvGraphicFramePr>
            <p:cNvPr id="19" name="Chart 18">
              <a:extLst>
                <a:ext uri="{FF2B5EF4-FFF2-40B4-BE49-F238E27FC236}">
                  <a16:creationId xmlns:a16="http://schemas.microsoft.com/office/drawing/2014/main" id="{C052B200-2154-FAD9-4AE7-47586A59DF84}"/>
                </a:ext>
              </a:extLst>
            </p:cNvPr>
            <p:cNvGraphicFramePr/>
            <p:nvPr>
              <p:extLst>
                <p:ext uri="{D42A27DB-BD31-4B8C-83A1-F6EECF244321}">
                  <p14:modId xmlns:p14="http://schemas.microsoft.com/office/powerpoint/2010/main" val="1301221421"/>
                </p:ext>
              </p:extLst>
            </p:nvPr>
          </p:nvGraphicFramePr>
          <p:xfrm>
            <a:off x="2668775" y="333296"/>
            <a:ext cx="3273953" cy="2159884"/>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D917EB31-1EA5-31DD-29FE-D2C84C71D3A4}"/>
                </a:ext>
              </a:extLst>
            </p:cNvPr>
            <p:cNvSpPr txBox="1"/>
            <p:nvPr/>
          </p:nvSpPr>
          <p:spPr>
            <a:xfrm>
              <a:off x="3122534" y="1285794"/>
              <a:ext cx="2343150" cy="307777"/>
            </a:xfrm>
            <a:prstGeom prst="rect">
              <a:avLst/>
            </a:prstGeom>
          </p:spPr>
          <p:txBody>
            <a:bodyPr vert="horz" wrap="square" lIns="0" tIns="0" rIns="0" bIns="0" rtlCol="0">
              <a:spAutoFit/>
            </a:bodyPr>
            <a:lstStyle/>
            <a:p>
              <a:pPr marL="289946" marR="242975" lvl="1" algn="ctr">
                <a:spcBef>
                  <a:spcPts val="55"/>
                </a:spcBef>
              </a:pPr>
              <a:r>
                <a:rPr lang="en-US" sz="2000" spc="-30" dirty="0">
                  <a:solidFill>
                    <a:srgbClr val="2576B7"/>
                  </a:solidFill>
                  <a:latin typeface="Exo" panose="02000503000000000000" pitchFamily="2" charset="77"/>
                  <a:cs typeface="Arial Narrow"/>
                </a:rPr>
                <a:t>49%</a:t>
              </a:r>
            </a:p>
          </p:txBody>
        </p:sp>
      </p:grpSp>
    </p:spTree>
    <p:extLst>
      <p:ext uri="{BB962C8B-B14F-4D97-AF65-F5344CB8AC3E}">
        <p14:creationId xmlns:p14="http://schemas.microsoft.com/office/powerpoint/2010/main" val="3361328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CA82B1-EF6B-6442-AFD4-99B7AC11CD83}"/>
              </a:ext>
            </a:extLst>
          </p:cNvPr>
          <p:cNvSpPr>
            <a:spLocks noGrp="1"/>
          </p:cNvSpPr>
          <p:nvPr>
            <p:ph type="title"/>
          </p:nvPr>
        </p:nvSpPr>
        <p:spPr>
          <a:xfrm>
            <a:off x="354106" y="530021"/>
            <a:ext cx="5088332" cy="1130188"/>
          </a:xfrm>
        </p:spPr>
        <p:txBody>
          <a:bodyPr/>
          <a:lstStyle/>
          <a:p>
            <a:r>
              <a:rPr lang="en-US" dirty="0">
                <a:solidFill>
                  <a:srgbClr val="2576B7"/>
                </a:solidFill>
              </a:rPr>
              <a:t>Common obstacles</a:t>
            </a:r>
          </a:p>
        </p:txBody>
      </p:sp>
      <p:sp>
        <p:nvSpPr>
          <p:cNvPr id="15" name="object 19">
            <a:extLst>
              <a:ext uri="{FF2B5EF4-FFF2-40B4-BE49-F238E27FC236}">
                <a16:creationId xmlns:a16="http://schemas.microsoft.com/office/drawing/2014/main" id="{07D0A3C8-43C2-9A42-BDE5-4C44F613756D}"/>
              </a:ext>
            </a:extLst>
          </p:cNvPr>
          <p:cNvSpPr/>
          <p:nvPr/>
        </p:nvSpPr>
        <p:spPr>
          <a:xfrm rot="10800000" flipH="1">
            <a:off x="5967041" y="914400"/>
            <a:ext cx="379861" cy="5071871"/>
          </a:xfrm>
          <a:custGeom>
            <a:avLst/>
            <a:gdLst/>
            <a:ahLst/>
            <a:cxnLst/>
            <a:rect l="l" t="t" r="r" b="b"/>
            <a:pathLst>
              <a:path h="7791450">
                <a:moveTo>
                  <a:pt x="0" y="0"/>
                </a:moveTo>
                <a:lnTo>
                  <a:pt x="0" y="7790956"/>
                </a:lnTo>
              </a:path>
            </a:pathLst>
          </a:custGeom>
          <a:ln w="3175">
            <a:solidFill>
              <a:srgbClr val="C9C9C9"/>
            </a:solidFill>
          </a:ln>
        </p:spPr>
        <p:txBody>
          <a:bodyPr wrap="square" lIns="0" tIns="0" rIns="0" bIns="0" rtlCol="0">
            <a:no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endParaRPr kumimoji="0" sz="662" b="0" i="0" u="none" strike="noStrike" kern="1200" cap="none" spc="0" normalizeH="0" baseline="0" noProof="0" dirty="0">
              <a:ln>
                <a:noFill/>
              </a:ln>
              <a:solidFill>
                <a:srgbClr val="494949"/>
              </a:solidFill>
              <a:effectLst/>
              <a:uLnTx/>
              <a:uFillTx/>
              <a:latin typeface="Roboto Condensed Light" panose="02000000000000000000" pitchFamily="2" charset="0"/>
              <a:ea typeface="+mn-ea"/>
              <a:cs typeface="+mn-cs"/>
            </a:endParaRPr>
          </a:p>
        </p:txBody>
      </p:sp>
      <p:sp>
        <p:nvSpPr>
          <p:cNvPr id="22" name="Text Placeholder 6">
            <a:extLst>
              <a:ext uri="{FF2B5EF4-FFF2-40B4-BE49-F238E27FC236}">
                <a16:creationId xmlns:a16="http://schemas.microsoft.com/office/drawing/2014/main" id="{AEF12EEA-DE2C-4432-BAA3-6D372EC97D48}"/>
              </a:ext>
            </a:extLst>
          </p:cNvPr>
          <p:cNvSpPr txBox="1">
            <a:spLocks/>
          </p:cNvSpPr>
          <p:nvPr/>
        </p:nvSpPr>
        <p:spPr>
          <a:xfrm>
            <a:off x="371475" y="1300566"/>
            <a:ext cx="4124326" cy="658554"/>
          </a:xfrm>
          <a:prstGeom prst="rect">
            <a:avLst/>
          </a:prstGeom>
        </p:spPr>
        <p:txBody>
          <a:bodyPr lIns="0" tIns="0" rIns="0" bIns="0">
            <a:noAutofit/>
          </a:bodyPr>
          <a:lstStyle>
            <a:lvl1pPr marL="0" indent="0" algn="l" defTabSz="914400" rtl="0" eaLnBrk="1" latinLnBrk="0" hangingPunct="1">
              <a:lnSpc>
                <a:spcPts val="2400"/>
              </a:lnSpc>
              <a:spcBef>
                <a:spcPts val="1000"/>
              </a:spcBef>
              <a:buFont typeface="Arial" panose="020B0604020202020204" pitchFamily="34" charset="0"/>
              <a:buNone/>
              <a:defRPr sz="2000" b="0" i="0" kern="1200">
                <a:solidFill>
                  <a:srgbClr val="848585"/>
                </a:solidFill>
                <a:latin typeface="Montserrat SemiBold" pitchFamily="2" charset="77"/>
                <a:ea typeface="+mn-ea"/>
                <a:cs typeface="Arial" panose="020B0604020202020204" pitchFamily="34" charset="0"/>
              </a:defRPr>
            </a:lvl1pPr>
            <a:lvl2pPr marL="4572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4A4A4A"/>
                </a:solidFill>
              </a:rPr>
              <a:t>Organizations lack guidance to mature their application security program.</a:t>
            </a:r>
          </a:p>
        </p:txBody>
      </p:sp>
      <p:sp>
        <p:nvSpPr>
          <p:cNvPr id="2" name="Subtitle 2">
            <a:extLst>
              <a:ext uri="{FF2B5EF4-FFF2-40B4-BE49-F238E27FC236}">
                <a16:creationId xmlns:a16="http://schemas.microsoft.com/office/drawing/2014/main" id="{211D05B8-DC98-F39F-34A9-BA78D6BB3F74}"/>
              </a:ext>
            </a:extLst>
          </p:cNvPr>
          <p:cNvSpPr txBox="1">
            <a:spLocks/>
          </p:cNvSpPr>
          <p:nvPr/>
        </p:nvSpPr>
        <p:spPr>
          <a:xfrm>
            <a:off x="6187198" y="3048989"/>
            <a:ext cx="2127872" cy="393377"/>
          </a:xfrm>
          <a:prstGeom prst="rect">
            <a:avLst/>
          </a:prstGeom>
        </p:spPr>
        <p:txBody>
          <a:bodyPr vert="horz" wrap="square" lIns="0" tIns="0" rIns="0"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10000"/>
              </a:lnSpc>
            </a:pPr>
            <a:r>
              <a:rPr lang="en-US" sz="1200" dirty="0">
                <a:solidFill>
                  <a:srgbClr val="000000"/>
                </a:solidFill>
                <a:latin typeface="Roboto Condensed Light"/>
                <a:ea typeface="Roboto Condensed Light"/>
                <a:cs typeface="Roboto Condensed Light"/>
              </a:rPr>
              <a:t>Only 30% of organizations have a mature </a:t>
            </a:r>
            <a:r>
              <a:rPr lang="en-US" sz="1200" dirty="0" err="1">
                <a:solidFill>
                  <a:srgbClr val="000000"/>
                </a:solidFill>
                <a:latin typeface="Roboto Condensed Light"/>
                <a:ea typeface="Roboto Condensed Light"/>
                <a:cs typeface="Roboto Condensed Light"/>
              </a:rPr>
              <a:t>DevSecOps</a:t>
            </a:r>
            <a:r>
              <a:rPr lang="en-US" sz="1200" dirty="0">
                <a:solidFill>
                  <a:srgbClr val="000000"/>
                </a:solidFill>
                <a:latin typeface="Roboto Condensed Light"/>
                <a:ea typeface="Roboto Condensed Light"/>
                <a:cs typeface="Roboto Condensed Light"/>
              </a:rPr>
              <a:t> program.</a:t>
            </a:r>
          </a:p>
        </p:txBody>
      </p:sp>
      <p:sp>
        <p:nvSpPr>
          <p:cNvPr id="3" name="TextBox 2">
            <a:extLst>
              <a:ext uri="{FF2B5EF4-FFF2-40B4-BE49-F238E27FC236}">
                <a16:creationId xmlns:a16="http://schemas.microsoft.com/office/drawing/2014/main" id="{06404DBC-C32B-AD50-C441-4E2516AB28A6}"/>
              </a:ext>
            </a:extLst>
          </p:cNvPr>
          <p:cNvSpPr txBox="1"/>
          <p:nvPr/>
        </p:nvSpPr>
        <p:spPr>
          <a:xfrm>
            <a:off x="6187198" y="3533100"/>
            <a:ext cx="2127872" cy="415498"/>
          </a:xfrm>
          <a:prstGeom prst="rect">
            <a:avLst/>
          </a:prstGeom>
          <a:noFill/>
        </p:spPr>
        <p:txBody>
          <a:bodyPr wrap="square">
            <a:spAutoFit/>
          </a:bodyPr>
          <a:lstStyle/>
          <a:p>
            <a:pPr algn="ctr"/>
            <a:r>
              <a:rPr lang="en-CA" sz="1050" dirty="0">
                <a:solidFill>
                  <a:schemeClr val="tx1">
                    <a:lumMod val="75000"/>
                  </a:schemeClr>
                </a:solidFill>
                <a:latin typeface="Roboto Condensed Light" panose="02000000000000000000" pitchFamily="2" charset="0"/>
                <a:ea typeface="Roboto Condensed Light" panose="02000000000000000000" pitchFamily="2" charset="0"/>
              </a:rPr>
              <a:t>Source: </a:t>
            </a:r>
            <a:r>
              <a:rPr lang="en-US" sz="1050" dirty="0">
                <a:solidFill>
                  <a:srgbClr val="000000"/>
                </a:solidFill>
                <a:latin typeface="Roboto Condensed Light" panose="02000000000000000000" pitchFamily="2" charset="0"/>
                <a:ea typeface="Roboto Condensed Light" panose="02000000000000000000" pitchFamily="2" charset="0"/>
              </a:rPr>
              <a:t>“DevSecOps Evolution,” </a:t>
            </a:r>
            <a:r>
              <a:rPr lang="en-CA" sz="1050" dirty="0">
                <a:solidFill>
                  <a:schemeClr val="tx1">
                    <a:lumMod val="75000"/>
                  </a:schemeClr>
                </a:solidFill>
                <a:latin typeface="Roboto Condensed Light" panose="02000000000000000000" pitchFamily="2" charset="0"/>
                <a:ea typeface="Roboto Condensed Light" panose="02000000000000000000" pitchFamily="2" charset="0"/>
              </a:rPr>
              <a:t>Checkmarx, 2025</a:t>
            </a:r>
            <a:endParaRPr lang="en-US" sz="1050" dirty="0">
              <a:solidFill>
                <a:schemeClr val="tx1">
                  <a:lumMod val="75000"/>
                </a:schemeClr>
              </a:solidFill>
              <a:latin typeface="Roboto Condensed Light" panose="02000000000000000000" pitchFamily="2" charset="0"/>
            </a:endParaRPr>
          </a:p>
        </p:txBody>
      </p:sp>
      <p:grpSp>
        <p:nvGrpSpPr>
          <p:cNvPr id="4" name="Group 3">
            <a:extLst>
              <a:ext uri="{FF2B5EF4-FFF2-40B4-BE49-F238E27FC236}">
                <a16:creationId xmlns:a16="http://schemas.microsoft.com/office/drawing/2014/main" id="{475B1AD2-8BB1-B3C4-352F-32592A73098A}"/>
              </a:ext>
            </a:extLst>
          </p:cNvPr>
          <p:cNvGrpSpPr/>
          <p:nvPr/>
        </p:nvGrpSpPr>
        <p:grpSpPr>
          <a:xfrm>
            <a:off x="5614158" y="935142"/>
            <a:ext cx="3273953" cy="2159884"/>
            <a:chOff x="2668775" y="333296"/>
            <a:chExt cx="3273953" cy="2159884"/>
          </a:xfrm>
        </p:grpSpPr>
        <p:graphicFrame>
          <p:nvGraphicFramePr>
            <p:cNvPr id="5" name="Chart 4">
              <a:extLst>
                <a:ext uri="{FF2B5EF4-FFF2-40B4-BE49-F238E27FC236}">
                  <a16:creationId xmlns:a16="http://schemas.microsoft.com/office/drawing/2014/main" id="{40F183FF-D08F-9914-D4FD-E465C8FBBD61}"/>
                </a:ext>
              </a:extLst>
            </p:cNvPr>
            <p:cNvGraphicFramePr/>
            <p:nvPr>
              <p:extLst>
                <p:ext uri="{D42A27DB-BD31-4B8C-83A1-F6EECF244321}">
                  <p14:modId xmlns:p14="http://schemas.microsoft.com/office/powerpoint/2010/main" val="3340460356"/>
                </p:ext>
              </p:extLst>
            </p:nvPr>
          </p:nvGraphicFramePr>
          <p:xfrm>
            <a:off x="2668775" y="333296"/>
            <a:ext cx="3273953" cy="215988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C0A8DA5D-C49B-F0E2-B3EC-7FBAE1264B6A}"/>
                </a:ext>
              </a:extLst>
            </p:cNvPr>
            <p:cNvSpPr txBox="1"/>
            <p:nvPr/>
          </p:nvSpPr>
          <p:spPr>
            <a:xfrm>
              <a:off x="3122534" y="1285794"/>
              <a:ext cx="2343150" cy="307777"/>
            </a:xfrm>
            <a:prstGeom prst="rect">
              <a:avLst/>
            </a:prstGeom>
          </p:spPr>
          <p:txBody>
            <a:bodyPr vert="horz" wrap="square" lIns="0" tIns="0" rIns="0" bIns="0" rtlCol="0">
              <a:spAutoFit/>
            </a:bodyPr>
            <a:lstStyle/>
            <a:p>
              <a:pPr marL="289946" marR="242975" lvl="1" algn="ctr">
                <a:spcBef>
                  <a:spcPts val="55"/>
                </a:spcBef>
              </a:pPr>
              <a:r>
                <a:rPr lang="en-US" sz="2000" spc="-30" dirty="0">
                  <a:solidFill>
                    <a:srgbClr val="2576B7"/>
                  </a:solidFill>
                  <a:latin typeface="Exo" panose="02000503000000000000" pitchFamily="2" charset="77"/>
                  <a:cs typeface="Arial Narrow"/>
                </a:rPr>
                <a:t>30%</a:t>
              </a:r>
            </a:p>
          </p:txBody>
        </p:sp>
      </p:grpSp>
      <p:sp>
        <p:nvSpPr>
          <p:cNvPr id="8" name="Subtitle 2">
            <a:extLst>
              <a:ext uri="{FF2B5EF4-FFF2-40B4-BE49-F238E27FC236}">
                <a16:creationId xmlns:a16="http://schemas.microsoft.com/office/drawing/2014/main" id="{C27B660C-9DBF-4EA7-EE6E-FEBD5D84D433}"/>
              </a:ext>
            </a:extLst>
          </p:cNvPr>
          <p:cNvSpPr txBox="1">
            <a:spLocks/>
          </p:cNvSpPr>
          <p:nvPr/>
        </p:nvSpPr>
        <p:spPr>
          <a:xfrm>
            <a:off x="9242631" y="4977184"/>
            <a:ext cx="2127872" cy="393377"/>
          </a:xfrm>
          <a:prstGeom prst="rect">
            <a:avLst/>
          </a:prstGeom>
        </p:spPr>
        <p:txBody>
          <a:bodyPr vert="horz" wrap="square" lIns="0" tIns="0" rIns="0"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Light"/>
                <a:ea typeface="+mn-ea"/>
                <a:cs typeface="Open Sans Light"/>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10000"/>
              </a:lnSpc>
            </a:pPr>
            <a:r>
              <a:rPr lang="en-US" sz="1200" dirty="0">
                <a:solidFill>
                  <a:srgbClr val="000000"/>
                </a:solidFill>
                <a:latin typeface="Roboto Condensed Light"/>
                <a:ea typeface="Roboto Condensed Light"/>
                <a:cs typeface="Roboto Condensed Light"/>
              </a:rPr>
              <a:t>Only 54% of major code changes go through full security reviews.</a:t>
            </a:r>
          </a:p>
        </p:txBody>
      </p:sp>
      <p:sp>
        <p:nvSpPr>
          <p:cNvPr id="9" name="TextBox 8">
            <a:extLst>
              <a:ext uri="{FF2B5EF4-FFF2-40B4-BE49-F238E27FC236}">
                <a16:creationId xmlns:a16="http://schemas.microsoft.com/office/drawing/2014/main" id="{72F5B2E3-C747-AC38-7174-2074B36D53E6}"/>
              </a:ext>
            </a:extLst>
          </p:cNvPr>
          <p:cNvSpPr txBox="1"/>
          <p:nvPr/>
        </p:nvSpPr>
        <p:spPr>
          <a:xfrm>
            <a:off x="9242631" y="5461295"/>
            <a:ext cx="2127872" cy="415498"/>
          </a:xfrm>
          <a:prstGeom prst="rect">
            <a:avLst/>
          </a:prstGeom>
          <a:noFill/>
        </p:spPr>
        <p:txBody>
          <a:bodyPr wrap="square">
            <a:spAutoFit/>
          </a:bodyPr>
          <a:lstStyle/>
          <a:p>
            <a:pPr algn="ctr"/>
            <a:r>
              <a:rPr lang="en-CA" sz="1050" dirty="0">
                <a:solidFill>
                  <a:schemeClr val="tx1">
                    <a:lumMod val="75000"/>
                  </a:schemeClr>
                </a:solidFill>
                <a:latin typeface="Roboto Condensed Light" panose="02000000000000000000" pitchFamily="2" charset="0"/>
                <a:ea typeface="Roboto Condensed Light" panose="02000000000000000000" pitchFamily="2" charset="0"/>
              </a:rPr>
              <a:t>Source: “2024 State of Application Security Report”, CrowdStrike, 2024</a:t>
            </a:r>
            <a:endParaRPr lang="en-US" sz="1050" dirty="0">
              <a:solidFill>
                <a:schemeClr val="tx1">
                  <a:lumMod val="75000"/>
                </a:schemeClr>
              </a:solidFill>
              <a:latin typeface="Roboto Condensed Light" panose="02000000000000000000" pitchFamily="2" charset="0"/>
            </a:endParaRPr>
          </a:p>
        </p:txBody>
      </p:sp>
      <p:grpSp>
        <p:nvGrpSpPr>
          <p:cNvPr id="10" name="Group 9">
            <a:extLst>
              <a:ext uri="{FF2B5EF4-FFF2-40B4-BE49-F238E27FC236}">
                <a16:creationId xmlns:a16="http://schemas.microsoft.com/office/drawing/2014/main" id="{6D719893-F072-65D5-9C2C-07EB72696E6D}"/>
              </a:ext>
            </a:extLst>
          </p:cNvPr>
          <p:cNvGrpSpPr/>
          <p:nvPr/>
        </p:nvGrpSpPr>
        <p:grpSpPr>
          <a:xfrm>
            <a:off x="8669591" y="2817300"/>
            <a:ext cx="3273953" cy="2159884"/>
            <a:chOff x="2668775" y="333296"/>
            <a:chExt cx="3273953" cy="2159884"/>
          </a:xfrm>
        </p:grpSpPr>
        <p:graphicFrame>
          <p:nvGraphicFramePr>
            <p:cNvPr id="11" name="Chart 10">
              <a:extLst>
                <a:ext uri="{FF2B5EF4-FFF2-40B4-BE49-F238E27FC236}">
                  <a16:creationId xmlns:a16="http://schemas.microsoft.com/office/drawing/2014/main" id="{D5AFCAD7-2A72-8979-1382-F3E721368CB9}"/>
                </a:ext>
              </a:extLst>
            </p:cNvPr>
            <p:cNvGraphicFramePr/>
            <p:nvPr>
              <p:extLst>
                <p:ext uri="{D42A27DB-BD31-4B8C-83A1-F6EECF244321}">
                  <p14:modId xmlns:p14="http://schemas.microsoft.com/office/powerpoint/2010/main" val="1324629524"/>
                </p:ext>
              </p:extLst>
            </p:nvPr>
          </p:nvGraphicFramePr>
          <p:xfrm>
            <a:off x="2668775" y="333296"/>
            <a:ext cx="3273953" cy="2159884"/>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a:extLst>
                <a:ext uri="{FF2B5EF4-FFF2-40B4-BE49-F238E27FC236}">
                  <a16:creationId xmlns:a16="http://schemas.microsoft.com/office/drawing/2014/main" id="{AC3092F2-36A0-8AD7-6B4B-F3CA4A0E8B13}"/>
                </a:ext>
              </a:extLst>
            </p:cNvPr>
            <p:cNvSpPr txBox="1"/>
            <p:nvPr/>
          </p:nvSpPr>
          <p:spPr>
            <a:xfrm>
              <a:off x="3122534" y="1285794"/>
              <a:ext cx="2343150" cy="307777"/>
            </a:xfrm>
            <a:prstGeom prst="rect">
              <a:avLst/>
            </a:prstGeom>
          </p:spPr>
          <p:txBody>
            <a:bodyPr vert="horz" wrap="square" lIns="0" tIns="0" rIns="0" bIns="0" rtlCol="0">
              <a:spAutoFit/>
            </a:bodyPr>
            <a:lstStyle/>
            <a:p>
              <a:pPr marL="289946" marR="242975" lvl="1" algn="ctr">
                <a:spcBef>
                  <a:spcPts val="55"/>
                </a:spcBef>
              </a:pPr>
              <a:r>
                <a:rPr lang="en-US" sz="2000" spc="-30" dirty="0">
                  <a:solidFill>
                    <a:srgbClr val="2576B7"/>
                  </a:solidFill>
                  <a:latin typeface="Exo" panose="02000503000000000000" pitchFamily="2" charset="77"/>
                  <a:cs typeface="Arial Narrow"/>
                </a:rPr>
                <a:t>54%</a:t>
              </a:r>
            </a:p>
          </p:txBody>
        </p:sp>
      </p:grpSp>
      <p:sp>
        <p:nvSpPr>
          <p:cNvPr id="13" name="Text Placeholder 7">
            <a:extLst>
              <a:ext uri="{FF2B5EF4-FFF2-40B4-BE49-F238E27FC236}">
                <a16:creationId xmlns:a16="http://schemas.microsoft.com/office/drawing/2014/main" id="{7AB55506-32E3-B2B8-6700-63939E4F1C90}"/>
              </a:ext>
            </a:extLst>
          </p:cNvPr>
          <p:cNvSpPr txBox="1">
            <a:spLocks/>
          </p:cNvSpPr>
          <p:nvPr/>
        </p:nvSpPr>
        <p:spPr>
          <a:xfrm>
            <a:off x="424734" y="2430754"/>
            <a:ext cx="5176143" cy="39673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Current application security guidelines often fail to offer a clear, phased approach for evaluating and maturing secure coding practices across the development lifecycle.</a:t>
            </a:r>
          </a:p>
          <a:p>
            <a:pPr marL="184150" indent="-184150">
              <a:lnSpc>
                <a:spcPct val="110000"/>
              </a:lnSpc>
            </a:pPr>
            <a:r>
              <a:rPr lang="en-US" sz="1400" dirty="0">
                <a:solidFill>
                  <a:srgbClr val="000000"/>
                </a:solidFill>
                <a:latin typeface="Roboto Condensed Light" panose="02000000000000000000" pitchFamily="2" charset="0"/>
              </a:rPr>
              <a:t>Without a risk-based prioritization model that encompasses business opportunities and security threats, teams struggle to focus on vulnerabilities that pose the greatest threat, leading to inefficient mitigation efforts.</a:t>
            </a:r>
          </a:p>
          <a:p>
            <a:pPr marL="184150" indent="-184150">
              <a:lnSpc>
                <a:spcPct val="110000"/>
              </a:lnSpc>
            </a:pPr>
            <a:r>
              <a:rPr lang="en-US" sz="1400" dirty="0">
                <a:solidFill>
                  <a:srgbClr val="000000"/>
                </a:solidFill>
                <a:latin typeface="Roboto Condensed Light" panose="02000000000000000000" pitchFamily="2" charset="0"/>
              </a:rPr>
              <a:t>Security, development, and delivery teams frequently operate in silos, making it difficult to embed secure coding practices consistently across workflows.</a:t>
            </a:r>
          </a:p>
          <a:p>
            <a:pPr marL="184150" indent="-184150">
              <a:lnSpc>
                <a:spcPct val="110000"/>
              </a:lnSpc>
            </a:pPr>
            <a:r>
              <a:rPr lang="en-US" sz="1400" dirty="0">
                <a:solidFill>
                  <a:srgbClr val="000000"/>
                </a:solidFill>
                <a:latin typeface="Roboto Condensed Light" panose="02000000000000000000" pitchFamily="2" charset="0"/>
              </a:rPr>
              <a:t>Organizations may adopt security tools without aligning them to existing pipelines or developer workflows, resulting in poor adoption and inconsistent coverage.</a:t>
            </a:r>
          </a:p>
          <a:p>
            <a:endParaRPr lang="en-US" sz="1400" dirty="0"/>
          </a:p>
          <a:p>
            <a:pPr fontAlgn="base">
              <a:lnSpc>
                <a:spcPct val="100000"/>
              </a:lnSpc>
            </a:pPr>
            <a:endParaRPr lang="en-CA" sz="1400" dirty="0">
              <a:solidFill>
                <a:srgbClr val="000000"/>
              </a:solidFill>
              <a:latin typeface="Roboto Condensed Light" panose="02000000000000000000" pitchFamily="2" charset="0"/>
            </a:endParaRPr>
          </a:p>
        </p:txBody>
      </p:sp>
    </p:spTree>
    <p:extLst>
      <p:ext uri="{BB962C8B-B14F-4D97-AF65-F5344CB8AC3E}">
        <p14:creationId xmlns:p14="http://schemas.microsoft.com/office/powerpoint/2010/main" val="245205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1D06A963-5DB5-731C-B845-71266B686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 y="0"/>
            <a:ext cx="12192000" cy="6858000"/>
          </a:xfrm>
          <a:prstGeom prst="rect">
            <a:avLst/>
          </a:prstGeom>
        </p:spPr>
      </p:pic>
    </p:spTree>
    <p:extLst>
      <p:ext uri="{BB962C8B-B14F-4D97-AF65-F5344CB8AC3E}">
        <p14:creationId xmlns:p14="http://schemas.microsoft.com/office/powerpoint/2010/main" val="2826151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A579B9F4-F655-8B4D-9FCC-74877991C78F}"/>
              </a:ext>
            </a:extLst>
          </p:cNvPr>
          <p:cNvSpPr>
            <a:spLocks noGrp="1"/>
          </p:cNvSpPr>
          <p:nvPr>
            <p:ph type="title"/>
          </p:nvPr>
        </p:nvSpPr>
        <p:spPr>
          <a:xfrm>
            <a:off x="354105" y="530021"/>
            <a:ext cx="11536205" cy="1130188"/>
          </a:xfrm>
        </p:spPr>
        <p:txBody>
          <a:bodyPr>
            <a:noAutofit/>
          </a:bodyPr>
          <a:lstStyle/>
          <a:p>
            <a:r>
              <a:rPr lang="en-US" dirty="0"/>
              <a:t>Info-Tech’s methodology for modernizing your application security services</a:t>
            </a:r>
            <a:endParaRPr lang="en-US" dirty="0">
              <a:solidFill>
                <a:srgbClr val="717272"/>
              </a:solidFill>
            </a:endParaRPr>
          </a:p>
        </p:txBody>
      </p:sp>
      <p:sp>
        <p:nvSpPr>
          <p:cNvPr id="7" name="Rectangle 6">
            <a:extLst>
              <a:ext uri="{FF2B5EF4-FFF2-40B4-BE49-F238E27FC236}">
                <a16:creationId xmlns:a16="http://schemas.microsoft.com/office/drawing/2014/main" id="{CD4FD073-B817-4E3F-89E9-A6CEE16BA7E5}"/>
              </a:ext>
              <a:ext uri="{C183D7F6-B498-43B3-948B-1728B52AA6E4}">
                <adec:decorative xmlns:adec="http://schemas.microsoft.com/office/drawing/2017/decorative" val="1"/>
              </a:ext>
            </a:extLst>
          </p:cNvPr>
          <p:cNvSpPr/>
          <p:nvPr/>
        </p:nvSpPr>
        <p:spPr>
          <a:xfrm flipV="1">
            <a:off x="354105" y="1830614"/>
            <a:ext cx="11536206" cy="83864"/>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graphicFrame>
        <p:nvGraphicFramePr>
          <p:cNvPr id="8" name="Table 7">
            <a:extLst>
              <a:ext uri="{FF2B5EF4-FFF2-40B4-BE49-F238E27FC236}">
                <a16:creationId xmlns:a16="http://schemas.microsoft.com/office/drawing/2014/main" id="{7596626A-A49E-49CC-A20B-FA99D5E0E724}"/>
              </a:ext>
            </a:extLst>
          </p:cNvPr>
          <p:cNvGraphicFramePr>
            <a:graphicFrameLocks noGrp="1"/>
          </p:cNvGraphicFramePr>
          <p:nvPr>
            <p:extLst>
              <p:ext uri="{D42A27DB-BD31-4B8C-83A1-F6EECF244321}">
                <p14:modId xmlns:p14="http://schemas.microsoft.com/office/powerpoint/2010/main" val="4035806413"/>
              </p:ext>
            </p:extLst>
          </p:nvPr>
        </p:nvGraphicFramePr>
        <p:xfrm>
          <a:off x="375131" y="2142257"/>
          <a:ext cx="11515179" cy="4088273"/>
        </p:xfrm>
        <a:graphic>
          <a:graphicData uri="http://schemas.openxmlformats.org/drawingml/2006/table">
            <a:tbl>
              <a:tblPr firstRow="1" bandRow="1">
                <a:tableStyleId>{5C22544A-7EE6-4342-B048-85BDC9FD1C3A}</a:tableStyleId>
              </a:tblPr>
              <a:tblGrid>
                <a:gridCol w="1955395">
                  <a:extLst>
                    <a:ext uri="{9D8B030D-6E8A-4147-A177-3AD203B41FA5}">
                      <a16:colId xmlns:a16="http://schemas.microsoft.com/office/drawing/2014/main" val="976837652"/>
                    </a:ext>
                  </a:extLst>
                </a:gridCol>
                <a:gridCol w="3330054">
                  <a:extLst>
                    <a:ext uri="{9D8B030D-6E8A-4147-A177-3AD203B41FA5}">
                      <a16:colId xmlns:a16="http://schemas.microsoft.com/office/drawing/2014/main" val="2500794229"/>
                    </a:ext>
                  </a:extLst>
                </a:gridCol>
                <a:gridCol w="3289110">
                  <a:extLst>
                    <a:ext uri="{9D8B030D-6E8A-4147-A177-3AD203B41FA5}">
                      <a16:colId xmlns:a16="http://schemas.microsoft.com/office/drawing/2014/main" val="1791260046"/>
                    </a:ext>
                  </a:extLst>
                </a:gridCol>
                <a:gridCol w="2940620">
                  <a:extLst>
                    <a:ext uri="{9D8B030D-6E8A-4147-A177-3AD203B41FA5}">
                      <a16:colId xmlns:a16="http://schemas.microsoft.com/office/drawing/2014/main" val="4002077772"/>
                    </a:ext>
                  </a:extLst>
                </a:gridCol>
              </a:tblGrid>
              <a:tr h="1115024">
                <a:tc>
                  <a:txBody>
                    <a:bodyPr/>
                    <a:lstStyle/>
                    <a:p>
                      <a:pPr marL="12700" marR="962660" indent="0">
                        <a:lnSpc>
                          <a:spcPct val="101000"/>
                        </a:lnSpc>
                        <a:spcBef>
                          <a:spcPts val="2045"/>
                        </a:spcBef>
                        <a:tabLst/>
                      </a:pPr>
                      <a:endParaRPr sz="1200" b="0" i="0" dirty="0">
                        <a:latin typeface="Montserrat SemiBold" pitchFamily="2" charset="77"/>
                        <a:cs typeface="Arial" panose="020B0604020202020204" pitchFamily="34" charset="0"/>
                      </a:endParaRPr>
                    </a:p>
                  </a:txBody>
                  <a:tcPr marL="108000" marR="0" marT="216000" marB="10800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CA" sz="2000" b="0" i="0" spc="6" dirty="0">
                          <a:solidFill>
                            <a:srgbClr val="2576B7"/>
                          </a:solidFill>
                          <a:latin typeface="Montserrat SemiBold" pitchFamily="2" charset="77"/>
                          <a:cs typeface="Arial" panose="020B0604020202020204" pitchFamily="34" charset="0"/>
                        </a:rPr>
                        <a:t>1. </a:t>
                      </a:r>
                      <a:r>
                        <a:rPr lang="en-US" sz="2000" b="0" i="0" kern="1200" spc="6" dirty="0">
                          <a:solidFill>
                            <a:srgbClr val="2576B7"/>
                          </a:solidFill>
                          <a:latin typeface="Montserrat SemiBold" pitchFamily="2" charset="77"/>
                          <a:ea typeface="+mn-ea"/>
                          <a:cs typeface="Arial" panose="020B0604020202020204" pitchFamily="34" charset="0"/>
                        </a:rPr>
                        <a:t>Prioritize </a:t>
                      </a:r>
                      <a:r>
                        <a:rPr lang="en-US" sz="2000" b="0" i="0" kern="1200" spc="6" dirty="0" err="1">
                          <a:solidFill>
                            <a:srgbClr val="2576B7"/>
                          </a:solidFill>
                          <a:latin typeface="Montserrat SemiBold" pitchFamily="2" charset="77"/>
                          <a:ea typeface="+mn-ea"/>
                          <a:cs typeface="Arial" panose="020B0604020202020204" pitchFamily="34" charset="0"/>
                        </a:rPr>
                        <a:t>iSSDLC</a:t>
                      </a:r>
                      <a:r>
                        <a:rPr lang="en-US" sz="2000" b="0" i="0" kern="1200" spc="6" dirty="0">
                          <a:solidFill>
                            <a:srgbClr val="2576B7"/>
                          </a:solidFill>
                          <a:latin typeface="Montserrat SemiBold" pitchFamily="2" charset="77"/>
                          <a:ea typeface="+mn-ea"/>
                          <a:cs typeface="Arial" panose="020B0604020202020204" pitchFamily="34" charset="0"/>
                        </a:rPr>
                        <a:t> capabilities.</a:t>
                      </a:r>
                      <a:endParaRPr lang="en-CA" sz="2000" b="0" i="0" kern="1200" spc="6" dirty="0">
                        <a:solidFill>
                          <a:srgbClr val="2576B7"/>
                        </a:solidFill>
                        <a:latin typeface="Montserrat SemiBold" pitchFamily="2" charset="77"/>
                        <a:ea typeface="+mn-ea"/>
                        <a:cs typeface="Arial" panose="020B0604020202020204" pitchFamily="34" charset="0"/>
                      </a:endParaRPr>
                    </a:p>
                  </a:txBody>
                  <a:tcPr marL="108000" marR="108000" marT="216000" marB="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CADD4">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b="0" i="0" spc="6" dirty="0">
                          <a:solidFill>
                            <a:srgbClr val="2576B7"/>
                          </a:solidFill>
                          <a:latin typeface="Montserrat SemiBold" pitchFamily="2" charset="77"/>
                          <a:cs typeface="Arial" panose="020B0604020202020204" pitchFamily="34" charset="0"/>
                        </a:rPr>
                        <a:t>2.</a:t>
                      </a:r>
                      <a:r>
                        <a:rPr lang="en-US" sz="2000" b="0" i="0" kern="1200" spc="6" dirty="0">
                          <a:solidFill>
                            <a:srgbClr val="2576B7"/>
                          </a:solidFill>
                          <a:latin typeface="Montserrat SemiBold" pitchFamily="2" charset="77"/>
                          <a:ea typeface="+mn-ea"/>
                          <a:cs typeface="Arial" panose="020B0604020202020204" pitchFamily="34" charset="0"/>
                        </a:rPr>
                        <a:t> Assess maturity.</a:t>
                      </a:r>
                      <a:endParaRPr lang="en-CA" sz="2000" b="0" i="0" dirty="0">
                        <a:solidFill>
                          <a:srgbClr val="2576B7"/>
                        </a:solidFill>
                        <a:latin typeface="Montserrat SemiBold" pitchFamily="2" charset="77"/>
                        <a:cs typeface="Arial" panose="020B0604020202020204" pitchFamily="34" charset="0"/>
                      </a:endParaRPr>
                    </a:p>
                  </a:txBody>
                  <a:tcPr marL="108000" marR="108000" marT="216000" marB="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CADD4">
                        <a:alpha val="2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b="0" i="0" spc="6" dirty="0">
                          <a:solidFill>
                            <a:srgbClr val="2576B7"/>
                          </a:solidFill>
                          <a:latin typeface="Montserrat SemiBold" pitchFamily="2" charset="77"/>
                          <a:cs typeface="Arial" panose="020B0604020202020204" pitchFamily="34" charset="0"/>
                        </a:rPr>
                        <a:t>3. </a:t>
                      </a:r>
                      <a:r>
                        <a:rPr lang="en-US" sz="2000" b="0" i="0" kern="1200" spc="6" dirty="0">
                          <a:solidFill>
                            <a:srgbClr val="2576B7"/>
                          </a:solidFill>
                          <a:latin typeface="Montserrat SemiBold" pitchFamily="2" charset="77"/>
                          <a:ea typeface="+mn-ea"/>
                          <a:cs typeface="Arial" panose="020B0604020202020204" pitchFamily="34" charset="0"/>
                        </a:rPr>
                        <a:t>Develop a strategic plan​.</a:t>
                      </a:r>
                      <a:endParaRPr lang="en-CA" sz="2000" b="0" i="0" dirty="0">
                        <a:solidFill>
                          <a:srgbClr val="2576B7"/>
                        </a:solidFill>
                        <a:latin typeface="Montserrat SemiBold" pitchFamily="2" charset="77"/>
                        <a:cs typeface="Arial" panose="020B0604020202020204" pitchFamily="34" charset="0"/>
                      </a:endParaRPr>
                    </a:p>
                  </a:txBody>
                  <a:tcPr marL="108000" marR="108000" marT="216000" marB="10800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CADD4">
                        <a:alpha val="30000"/>
                      </a:srgbClr>
                    </a:solidFill>
                  </a:tcPr>
                </a:tc>
                <a:extLst>
                  <a:ext uri="{0D108BD9-81ED-4DB2-BD59-A6C34878D82A}">
                    <a16:rowId xmlns:a16="http://schemas.microsoft.com/office/drawing/2014/main" val="2052837071"/>
                  </a:ext>
                </a:extLst>
              </a:tr>
              <a:tr h="1546449">
                <a:tc>
                  <a:txBody>
                    <a:bodyPr/>
                    <a:lstStyle/>
                    <a:p>
                      <a:r>
                        <a:rPr lang="en-US" sz="1400" b="1" i="0" dirty="0">
                          <a:solidFill>
                            <a:srgbClr val="4A4A4A"/>
                          </a:solidFill>
                          <a:latin typeface="Montserrat SemiBold" pitchFamily="2" charset="77"/>
                        </a:rPr>
                        <a:t>Phase steps</a:t>
                      </a:r>
                    </a:p>
                  </a:txBody>
                  <a:tcPr marL="108000" marR="0" marT="36000" marB="14400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Identify business and security requirements.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Identify goals.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Establish metrics.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Assign roles and responsibilities.</a:t>
                      </a:r>
                      <a:endParaRPr lang="en-CA"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endParaRPr>
                    </a:p>
                  </a:txBody>
                  <a:tcPr marL="182880" marR="10800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10000"/>
                      </a:srgbClr>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Assess current application security state.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Determine target state.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endParaRPr>
                    </a:p>
                    <a:p>
                      <a:pPr algn="l">
                        <a:lnSpc>
                          <a:spcPct val="100000"/>
                        </a:lnSpc>
                      </a:pPr>
                      <a:endParaRPr lang="en-US"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endParaRPr>
                    </a:p>
                  </a:txBody>
                  <a:tcPr marL="182880" marR="108000" marT="36000" marB="144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20000"/>
                      </a:srgbClr>
                    </a:solid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Develop and prioritize initiatives.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Develop roadmap.</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400" b="0" i="0" kern="1200" spc="-5"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Develop strategy deck.</a:t>
                      </a:r>
                    </a:p>
                  </a:txBody>
                  <a:tcPr marL="182880" marR="108000" marT="36000" marB="144000">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30000"/>
                      </a:srgbClr>
                    </a:solidFill>
                  </a:tcPr>
                </a:tc>
                <a:extLst>
                  <a:ext uri="{0D108BD9-81ED-4DB2-BD59-A6C34878D82A}">
                    <a16:rowId xmlns:a16="http://schemas.microsoft.com/office/drawing/2014/main" val="106570360"/>
                  </a:ext>
                </a:extLst>
              </a:tr>
              <a:tr h="1285149">
                <a:tc>
                  <a:txBody>
                    <a:bodyPr/>
                    <a:lstStyle/>
                    <a:p>
                      <a:r>
                        <a:rPr lang="en-US" sz="1400" b="1" i="0" dirty="0">
                          <a:solidFill>
                            <a:srgbClr val="4A4A4A"/>
                          </a:solidFill>
                          <a:latin typeface="Montserrat SemiBold" pitchFamily="2" charset="77"/>
                        </a:rPr>
                        <a:t>Phase outcomes</a:t>
                      </a:r>
                    </a:p>
                  </a:txBody>
                  <a:tcPr marL="108000" marR="108000" marT="108000" marB="108000" anchor="ctr">
                    <a:lnL w="12700" cmpd="sng">
                      <a:noFill/>
                    </a:lnL>
                    <a:lnR w="12700" cap="flat" cmpd="sng" algn="ctr">
                      <a:no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400" b="0" i="0" kern="1200" dirty="0">
                          <a:solidFill>
                            <a:srgbClr val="000000"/>
                          </a:solidFill>
                          <a:effectLst/>
                          <a:latin typeface="Roboto Condensed Light" panose="02000000000000000000" pitchFamily="2" charset="0"/>
                          <a:ea typeface="Roboto Condensed Light" panose="02000000000000000000" pitchFamily="2" charset="0"/>
                          <a:cs typeface="Arial" panose="020B0604020202020204" pitchFamily="34" charset="0"/>
                        </a:rPr>
                        <a:t>Security requirements defined</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400" b="0" i="0" kern="1200" dirty="0">
                          <a:solidFill>
                            <a:srgbClr val="000000"/>
                          </a:solidFill>
                          <a:effectLst/>
                          <a:latin typeface="Roboto Condensed Light" panose="02000000000000000000" pitchFamily="2" charset="0"/>
                          <a:ea typeface="Roboto Condensed Light" panose="02000000000000000000" pitchFamily="2" charset="0"/>
                          <a:cs typeface="Arial" panose="020B0604020202020204" pitchFamily="34" charset="0"/>
                        </a:rPr>
                        <a:t>Business opportunities defined</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400" b="0" i="0" kern="1200" dirty="0">
                          <a:solidFill>
                            <a:srgbClr val="000000"/>
                          </a:solidFill>
                          <a:effectLst/>
                          <a:latin typeface="Roboto Condensed Light" panose="02000000000000000000" pitchFamily="2" charset="0"/>
                          <a:ea typeface="Roboto Condensed Light" panose="02000000000000000000" pitchFamily="2" charset="0"/>
                          <a:cs typeface="Arial" panose="020B0604020202020204" pitchFamily="34" charset="0"/>
                        </a:rPr>
                        <a:t>Security threats identified</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400" b="0" i="0" kern="1200" dirty="0">
                          <a:solidFill>
                            <a:srgbClr val="000000"/>
                          </a:solidFill>
                          <a:effectLst/>
                          <a:latin typeface="Roboto Condensed Light" panose="02000000000000000000" pitchFamily="2" charset="0"/>
                          <a:ea typeface="Roboto Condensed Light" panose="02000000000000000000" pitchFamily="2" charset="0"/>
                          <a:cs typeface="Arial" panose="020B0604020202020204" pitchFamily="34" charset="0"/>
                        </a:rPr>
                        <a:t>Metrics established</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400" b="0" i="0" kern="1200" dirty="0">
                          <a:solidFill>
                            <a:srgbClr val="000000"/>
                          </a:solidFill>
                          <a:effectLst/>
                          <a:latin typeface="Roboto Condensed Light" panose="02000000000000000000" pitchFamily="2" charset="0"/>
                          <a:ea typeface="Roboto Condensed Light" panose="02000000000000000000" pitchFamily="2" charset="0"/>
                          <a:cs typeface="Arial" panose="020B0604020202020204" pitchFamily="34" charset="0"/>
                        </a:rPr>
                        <a:t>Governance established</a:t>
                      </a:r>
                      <a:endParaRPr lang="en-CA"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endParaRP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10000"/>
                      </a:srgbClr>
                    </a:solidFill>
                  </a:tcPr>
                </a:tc>
                <a:tc>
                  <a:txBody>
                    <a:bodyPr/>
                    <a:lstStyle/>
                    <a:p>
                      <a:pPr marL="228600" indent="-228600" algn="l">
                        <a:lnSpc>
                          <a:spcPct val="100000"/>
                        </a:lnSpc>
                        <a:buFont typeface="Arial" panose="020B0604020202020204" pitchFamily="34" charset="0"/>
                        <a:buChar char="•"/>
                      </a:pPr>
                      <a:r>
                        <a:rPr lang="en-US"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Current state assessed</a:t>
                      </a:r>
                    </a:p>
                    <a:p>
                      <a:pPr marL="228600" indent="-228600" algn="l">
                        <a:lnSpc>
                          <a:spcPct val="100000"/>
                        </a:lnSpc>
                        <a:buFont typeface="Arial" panose="020B0604020202020204" pitchFamily="34" charset="0"/>
                        <a:buChar char="•"/>
                      </a:pPr>
                      <a:r>
                        <a:rPr lang="en-US"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Target state determined</a:t>
                      </a:r>
                    </a:p>
                  </a:txBody>
                  <a:tcPr marL="180000" marR="180000" marT="180000" marB="18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20000"/>
                      </a:srgbClr>
                    </a:solidFill>
                  </a:tcPr>
                </a:tc>
                <a:tc>
                  <a:txBody>
                    <a:bodyPr/>
                    <a:lstStyle/>
                    <a:p>
                      <a:pPr marL="228600" indent="-228600" algn="l">
                        <a:lnSpc>
                          <a:spcPct val="100000"/>
                        </a:lnSpc>
                        <a:buFont typeface="Arial" panose="020B0604020202020204" pitchFamily="34" charset="0"/>
                        <a:buChar char="•"/>
                      </a:pPr>
                      <a:r>
                        <a:rPr lang="en-US"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Initiatives developed and prioritized</a:t>
                      </a:r>
                    </a:p>
                    <a:p>
                      <a:pPr marL="228600" indent="-228600" algn="l">
                        <a:lnSpc>
                          <a:spcPct val="100000"/>
                        </a:lnSpc>
                        <a:buFont typeface="Arial" panose="020B0604020202020204" pitchFamily="34" charset="0"/>
                        <a:buChar char="•"/>
                      </a:pPr>
                      <a:r>
                        <a:rPr lang="en-US" sz="1400" b="0" i="0" dirty="0">
                          <a:solidFill>
                            <a:srgbClr val="000000"/>
                          </a:solidFill>
                          <a:latin typeface="Roboto Condensed Light" panose="02000000000000000000" pitchFamily="2" charset="0"/>
                          <a:ea typeface="Roboto Condensed Light" panose="02000000000000000000" pitchFamily="2" charset="0"/>
                          <a:cs typeface="Arial" panose="020B0604020202020204" pitchFamily="34" charset="0"/>
                        </a:rPr>
                        <a:t>Roadmap developed</a:t>
                      </a:r>
                    </a:p>
                  </a:txBody>
                  <a:tcPr marL="180000" marR="180000" marT="180000" marB="180000" anchor="ctr">
                    <a:lnL w="12700" cap="flat" cmpd="sng" algn="ctr">
                      <a:noFill/>
                      <a:prstDash val="solid"/>
                      <a:round/>
                      <a:headEnd type="none" w="med" len="med"/>
                      <a:tailEnd type="none" w="med" len="med"/>
                    </a:lnL>
                    <a:lnR w="12700" cmpd="sng">
                      <a:noFill/>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30000"/>
                      </a:srgbClr>
                    </a:solidFill>
                  </a:tcPr>
                </a:tc>
                <a:extLst>
                  <a:ext uri="{0D108BD9-81ED-4DB2-BD59-A6C34878D82A}">
                    <a16:rowId xmlns:a16="http://schemas.microsoft.com/office/drawing/2014/main" val="385565625"/>
                  </a:ext>
                </a:extLst>
              </a:tr>
            </a:tbl>
          </a:graphicData>
        </a:graphic>
      </p:graphicFrame>
    </p:spTree>
    <p:extLst>
      <p:ext uri="{BB962C8B-B14F-4D97-AF65-F5344CB8AC3E}">
        <p14:creationId xmlns:p14="http://schemas.microsoft.com/office/powerpoint/2010/main" val="1550076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C07F83C-53BE-854C-81B6-A99DD6EDD402}"/>
              </a:ext>
            </a:extLst>
          </p:cNvPr>
          <p:cNvSpPr>
            <a:spLocks noGrp="1"/>
          </p:cNvSpPr>
          <p:nvPr>
            <p:ph type="title"/>
          </p:nvPr>
        </p:nvSpPr>
        <p:spPr/>
        <p:txBody>
          <a:bodyPr/>
          <a:lstStyle/>
          <a:p>
            <a:r>
              <a:rPr lang="en-CA" spc="-79" dirty="0"/>
              <a:t>Insight summary</a:t>
            </a:r>
            <a:endParaRPr lang="en-US" dirty="0"/>
          </a:p>
        </p:txBody>
      </p:sp>
      <p:graphicFrame>
        <p:nvGraphicFramePr>
          <p:cNvPr id="25" name="Table 24">
            <a:extLst>
              <a:ext uri="{FF2B5EF4-FFF2-40B4-BE49-F238E27FC236}">
                <a16:creationId xmlns:a16="http://schemas.microsoft.com/office/drawing/2014/main" id="{33A80B2B-1D03-4BCD-AEB8-647ADC62AD9F}"/>
              </a:ext>
            </a:extLst>
          </p:cNvPr>
          <p:cNvGraphicFramePr>
            <a:graphicFrameLocks noGrp="1"/>
          </p:cNvGraphicFramePr>
          <p:nvPr>
            <p:extLst>
              <p:ext uri="{D42A27DB-BD31-4B8C-83A1-F6EECF244321}">
                <p14:modId xmlns:p14="http://schemas.microsoft.com/office/powerpoint/2010/main" val="393959432"/>
              </p:ext>
            </p:extLst>
          </p:nvPr>
        </p:nvGraphicFramePr>
        <p:xfrm>
          <a:off x="3477905" y="502956"/>
          <a:ext cx="8286384" cy="1115261"/>
        </p:xfrm>
        <a:graphic>
          <a:graphicData uri="http://schemas.openxmlformats.org/drawingml/2006/table">
            <a:tbl>
              <a:tblPr firstRow="1" bandRow="1">
                <a:tableStyleId>{5C22544A-7EE6-4342-B048-85BDC9FD1C3A}</a:tableStyleId>
              </a:tblPr>
              <a:tblGrid>
                <a:gridCol w="8286384">
                  <a:extLst>
                    <a:ext uri="{9D8B030D-6E8A-4147-A177-3AD203B41FA5}">
                      <a16:colId xmlns:a16="http://schemas.microsoft.com/office/drawing/2014/main" val="1362635670"/>
                    </a:ext>
                  </a:extLst>
                </a:gridCol>
              </a:tblGrid>
              <a:tr h="276768">
                <a:tc>
                  <a:txBody>
                    <a:bodyPr/>
                    <a:lstStyle/>
                    <a:p>
                      <a:pPr marL="0" algn="l" defTabSz="914400" rtl="0" eaLnBrk="1" latinLnBrk="0" hangingPunct="1">
                        <a:spcBef>
                          <a:spcPts val="800"/>
                        </a:spcBef>
                      </a:pPr>
                      <a:r>
                        <a:rPr lang="en-US" sz="1600" b="1" kern="1200" dirty="0">
                          <a:solidFill>
                            <a:srgbClr val="2576B7"/>
                          </a:solidFill>
                          <a:latin typeface="Montserrat SemiBold" pitchFamily="2" charset="77"/>
                          <a:ea typeface="+mn-ea"/>
                          <a:cs typeface="+mn-cs"/>
                        </a:rPr>
                        <a:t>Remove the security roadblocks.</a:t>
                      </a:r>
                      <a:endParaRPr lang="en-CA" sz="1600" b="1" kern="1200" dirty="0">
                        <a:solidFill>
                          <a:srgbClr val="2576B7"/>
                        </a:solidFill>
                        <a:latin typeface="Montserrat SemiBold" pitchFamily="2" charset="77"/>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60000"/>
                        <a:lumOff val="40000"/>
                        <a:alpha val="23000"/>
                      </a:schemeClr>
                    </a:solidFill>
                  </a:tcPr>
                </a:tc>
                <a:extLst>
                  <a:ext uri="{0D108BD9-81ED-4DB2-BD59-A6C34878D82A}">
                    <a16:rowId xmlns:a16="http://schemas.microsoft.com/office/drawing/2014/main" val="1384045114"/>
                  </a:ext>
                </a:extLst>
              </a:tr>
              <a:tr h="779981">
                <a:tc>
                  <a:txBody>
                    <a:bodyPr/>
                    <a:lstStyle/>
                    <a:p>
                      <a:r>
                        <a:rPr lang="en-US" sz="1400" kern="1200" dirty="0">
                          <a:solidFill>
                            <a:srgbClr val="2576B7"/>
                          </a:solidFill>
                          <a:latin typeface="Roboto Condensed Light" panose="02000000000000000000" pitchFamily="2" charset="0"/>
                          <a:ea typeface="Roboto Condensed Light" panose="02000000000000000000" pitchFamily="2" charset="0"/>
                          <a:cs typeface="+mn-cs"/>
                        </a:rPr>
                        <a:t>Shift security from a roadblock to a growth accelerant. Intelligent, adaptive security capabilities — aligned to enable top business opportunities and mitigate the most critical threats — unlock the full speed and value of modern application delivery.</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60000"/>
                        <a:lumOff val="40000"/>
                        <a:alpha val="23000"/>
                      </a:schemeClr>
                    </a:solidFill>
                  </a:tcPr>
                </a:tc>
                <a:extLst>
                  <a:ext uri="{0D108BD9-81ED-4DB2-BD59-A6C34878D82A}">
                    <a16:rowId xmlns:a16="http://schemas.microsoft.com/office/drawing/2014/main" val="4099423048"/>
                  </a:ext>
                </a:extLst>
              </a:tr>
            </a:tbl>
          </a:graphicData>
        </a:graphic>
      </p:graphicFrame>
      <p:graphicFrame>
        <p:nvGraphicFramePr>
          <p:cNvPr id="26" name="Table 25">
            <a:extLst>
              <a:ext uri="{FF2B5EF4-FFF2-40B4-BE49-F238E27FC236}">
                <a16:creationId xmlns:a16="http://schemas.microsoft.com/office/drawing/2014/main" id="{C09FA1B5-E16C-43CC-976D-E5325F4D9615}"/>
              </a:ext>
            </a:extLst>
          </p:cNvPr>
          <p:cNvGraphicFramePr>
            <a:graphicFrameLocks noGrp="1"/>
          </p:cNvGraphicFramePr>
          <p:nvPr>
            <p:extLst>
              <p:ext uri="{D42A27DB-BD31-4B8C-83A1-F6EECF244321}">
                <p14:modId xmlns:p14="http://schemas.microsoft.com/office/powerpoint/2010/main" val="1830479552"/>
              </p:ext>
            </p:extLst>
          </p:nvPr>
        </p:nvGraphicFramePr>
        <p:xfrm>
          <a:off x="3477905" y="1731762"/>
          <a:ext cx="2677886" cy="3313967"/>
        </p:xfrm>
        <a:graphic>
          <a:graphicData uri="http://schemas.openxmlformats.org/drawingml/2006/table">
            <a:tbl>
              <a:tblPr firstRow="1" bandRow="1">
                <a:tableStyleId>{5C22544A-7EE6-4342-B048-85BDC9FD1C3A}</a:tableStyleId>
              </a:tblPr>
              <a:tblGrid>
                <a:gridCol w="2677886">
                  <a:extLst>
                    <a:ext uri="{9D8B030D-6E8A-4147-A177-3AD203B41FA5}">
                      <a16:colId xmlns:a16="http://schemas.microsoft.com/office/drawing/2014/main" val="1362635670"/>
                    </a:ext>
                  </a:extLst>
                </a:gridCol>
              </a:tblGrid>
              <a:tr h="786472">
                <a:tc>
                  <a:txBody>
                    <a:bodyPr/>
                    <a:lstStyle/>
                    <a:p>
                      <a:pPr marL="0" algn="l" defTabSz="914400" rtl="0" eaLnBrk="1" latinLnBrk="0" hangingPunct="1">
                        <a:spcBef>
                          <a:spcPts val="0"/>
                        </a:spcBef>
                      </a:pPr>
                      <a:r>
                        <a:rPr lang="en-US" sz="1600" b="1" kern="1200" dirty="0">
                          <a:solidFill>
                            <a:srgbClr val="2576B7"/>
                          </a:solidFill>
                          <a:latin typeface="Montserrat SemiBold" pitchFamily="2" charset="77"/>
                          <a:ea typeface="+mn-ea"/>
                          <a:cs typeface="+mn-cs"/>
                        </a:rPr>
                        <a:t>Cross-functional collaboration drives security success.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alpha val="23000"/>
                      </a:schemeClr>
                    </a:solidFill>
                  </a:tcPr>
                </a:tc>
                <a:extLst>
                  <a:ext uri="{0D108BD9-81ED-4DB2-BD59-A6C34878D82A}">
                    <a16:rowId xmlns:a16="http://schemas.microsoft.com/office/drawing/2014/main" val="1384045114"/>
                  </a:ext>
                </a:extLst>
              </a:tr>
              <a:tr h="24910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576B7"/>
                          </a:solidFill>
                          <a:latin typeface="Roboto Condensed Light" panose="02000000000000000000" pitchFamily="2" charset="0"/>
                          <a:ea typeface="Roboto Condensed Light" panose="02000000000000000000" pitchFamily="2" charset="0"/>
                        </a:rPr>
                        <a:t>Effective application security demands more than tools </a:t>
                      </a:r>
                      <a:r>
                        <a:rPr lang="en-US" sz="1400" kern="1200" dirty="0">
                          <a:solidFill>
                            <a:srgbClr val="2576B7"/>
                          </a:solidFill>
                          <a:latin typeface="Roboto Condensed Light" panose="02000000000000000000" pitchFamily="2" charset="0"/>
                          <a:ea typeface="Roboto Condensed Light" panose="02000000000000000000" pitchFamily="2" charset="0"/>
                          <a:cs typeface="+mn-cs"/>
                        </a:rPr>
                        <a:t>—</a:t>
                      </a:r>
                      <a:r>
                        <a:rPr lang="en-US" sz="1400" dirty="0">
                          <a:solidFill>
                            <a:srgbClr val="2576B7"/>
                          </a:solidFill>
                          <a:latin typeface="Roboto Condensed Light" panose="02000000000000000000" pitchFamily="2" charset="0"/>
                          <a:ea typeface="Roboto Condensed Light" panose="02000000000000000000" pitchFamily="2" charset="0"/>
                        </a:rPr>
                        <a:t> it requires a shared ownership that aligns security, development, and operations teams to ensure secure practices are embedded early, which will enable faster delivery and reduce risks.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alpha val="23000"/>
                      </a:schemeClr>
                    </a:solidFill>
                  </a:tcPr>
                </a:tc>
                <a:extLst>
                  <a:ext uri="{0D108BD9-81ED-4DB2-BD59-A6C34878D82A}">
                    <a16:rowId xmlns:a16="http://schemas.microsoft.com/office/drawing/2014/main" val="4099423048"/>
                  </a:ext>
                </a:extLst>
              </a:tr>
            </a:tbl>
          </a:graphicData>
        </a:graphic>
      </p:graphicFrame>
      <p:graphicFrame>
        <p:nvGraphicFramePr>
          <p:cNvPr id="2" name="Table 1">
            <a:extLst>
              <a:ext uri="{FF2B5EF4-FFF2-40B4-BE49-F238E27FC236}">
                <a16:creationId xmlns:a16="http://schemas.microsoft.com/office/drawing/2014/main" id="{02637A80-476B-3DD4-F00F-6EE358F3B66C}"/>
              </a:ext>
            </a:extLst>
          </p:cNvPr>
          <p:cNvGraphicFramePr>
            <a:graphicFrameLocks noGrp="1"/>
          </p:cNvGraphicFramePr>
          <p:nvPr>
            <p:extLst>
              <p:ext uri="{D42A27DB-BD31-4B8C-83A1-F6EECF244321}">
                <p14:modId xmlns:p14="http://schemas.microsoft.com/office/powerpoint/2010/main" val="841461383"/>
              </p:ext>
            </p:extLst>
          </p:nvPr>
        </p:nvGraphicFramePr>
        <p:xfrm>
          <a:off x="6282154" y="1731763"/>
          <a:ext cx="2677886" cy="3298063"/>
        </p:xfrm>
        <a:graphic>
          <a:graphicData uri="http://schemas.openxmlformats.org/drawingml/2006/table">
            <a:tbl>
              <a:tblPr firstRow="1" bandRow="1">
                <a:tableStyleId>{5C22544A-7EE6-4342-B048-85BDC9FD1C3A}</a:tableStyleId>
              </a:tblPr>
              <a:tblGrid>
                <a:gridCol w="2677886">
                  <a:extLst>
                    <a:ext uri="{9D8B030D-6E8A-4147-A177-3AD203B41FA5}">
                      <a16:colId xmlns:a16="http://schemas.microsoft.com/office/drawing/2014/main" val="1362635670"/>
                    </a:ext>
                  </a:extLst>
                </a:gridCol>
              </a:tblGrid>
              <a:tr h="802376">
                <a:tc>
                  <a:txBody>
                    <a:bodyPr/>
                    <a:lstStyle/>
                    <a:p>
                      <a:pPr marL="0" algn="l" defTabSz="914400" rtl="0" eaLnBrk="1" latinLnBrk="0" hangingPunct="1">
                        <a:spcBef>
                          <a:spcPts val="800"/>
                        </a:spcBef>
                      </a:pPr>
                      <a:r>
                        <a:rPr lang="en-US" sz="1600" b="1" kern="1200" dirty="0">
                          <a:solidFill>
                            <a:srgbClr val="2576B7"/>
                          </a:solidFill>
                          <a:latin typeface="Montserrat SemiBold" pitchFamily="2" charset="77"/>
                          <a:ea typeface="+mn-ea"/>
                          <a:cs typeface="+mn-cs"/>
                        </a:rPr>
                        <a:t>High-impact investments derive from capability gaps.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alpha val="23000"/>
                      </a:schemeClr>
                    </a:solidFill>
                  </a:tcPr>
                </a:tc>
                <a:extLst>
                  <a:ext uri="{0D108BD9-81ED-4DB2-BD59-A6C34878D82A}">
                    <a16:rowId xmlns:a16="http://schemas.microsoft.com/office/drawing/2014/main" val="1384045114"/>
                  </a:ext>
                </a:extLst>
              </a:tr>
              <a:tr h="24751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576B7"/>
                          </a:solidFill>
                          <a:latin typeface="Roboto Condensed Light" panose="02000000000000000000" pitchFamily="2" charset="0"/>
                          <a:ea typeface="Roboto Condensed Light" panose="02000000000000000000" pitchFamily="2" charset="0"/>
                        </a:rPr>
                        <a:t>Assessment of your security capabilities exposes gaps in critical areas such as CI/CD security and software supply chain integrity, which enables organizations to prioritize efforts.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alpha val="23000"/>
                      </a:schemeClr>
                    </a:solidFill>
                  </a:tcPr>
                </a:tc>
                <a:extLst>
                  <a:ext uri="{0D108BD9-81ED-4DB2-BD59-A6C34878D82A}">
                    <a16:rowId xmlns:a16="http://schemas.microsoft.com/office/drawing/2014/main" val="4099423048"/>
                  </a:ext>
                </a:extLst>
              </a:tr>
            </a:tbl>
          </a:graphicData>
        </a:graphic>
      </p:graphicFrame>
      <p:graphicFrame>
        <p:nvGraphicFramePr>
          <p:cNvPr id="3" name="Table 2">
            <a:extLst>
              <a:ext uri="{FF2B5EF4-FFF2-40B4-BE49-F238E27FC236}">
                <a16:creationId xmlns:a16="http://schemas.microsoft.com/office/drawing/2014/main" id="{03C316ED-4B15-25FD-185B-BEDD4D5101F1}"/>
              </a:ext>
            </a:extLst>
          </p:cNvPr>
          <p:cNvGraphicFramePr>
            <a:graphicFrameLocks noGrp="1"/>
          </p:cNvGraphicFramePr>
          <p:nvPr>
            <p:extLst>
              <p:ext uri="{D42A27DB-BD31-4B8C-83A1-F6EECF244321}">
                <p14:modId xmlns:p14="http://schemas.microsoft.com/office/powerpoint/2010/main" val="731922570"/>
              </p:ext>
            </p:extLst>
          </p:nvPr>
        </p:nvGraphicFramePr>
        <p:xfrm>
          <a:off x="9086403" y="1731763"/>
          <a:ext cx="2677886" cy="3277479"/>
        </p:xfrm>
        <a:graphic>
          <a:graphicData uri="http://schemas.openxmlformats.org/drawingml/2006/table">
            <a:tbl>
              <a:tblPr firstRow="1" bandRow="1">
                <a:tableStyleId>{5C22544A-7EE6-4342-B048-85BDC9FD1C3A}</a:tableStyleId>
              </a:tblPr>
              <a:tblGrid>
                <a:gridCol w="2677886">
                  <a:extLst>
                    <a:ext uri="{9D8B030D-6E8A-4147-A177-3AD203B41FA5}">
                      <a16:colId xmlns:a16="http://schemas.microsoft.com/office/drawing/2014/main" val="1362635670"/>
                    </a:ext>
                  </a:extLst>
                </a:gridCol>
              </a:tblGrid>
              <a:tr h="876128">
                <a:tc>
                  <a:txBody>
                    <a:bodyPr/>
                    <a:lstStyle/>
                    <a:p>
                      <a:pPr marL="0" algn="l" defTabSz="914400" rtl="0" eaLnBrk="1" latinLnBrk="0" hangingPunct="1">
                        <a:spcBef>
                          <a:spcPts val="800"/>
                        </a:spcBef>
                      </a:pPr>
                      <a:r>
                        <a:rPr lang="en-US" sz="1600" b="1" kern="1200" dirty="0">
                          <a:solidFill>
                            <a:srgbClr val="2576B7"/>
                          </a:solidFill>
                          <a:latin typeface="Montserrat SemiBold" pitchFamily="2" charset="77"/>
                          <a:ea typeface="+mn-ea"/>
                          <a:cs typeface="+mn-cs"/>
                        </a:rPr>
                        <a:t>Secure development is not only a technical function.</a:t>
                      </a:r>
                      <a:endParaRPr lang="en-CA" sz="1600" b="1" kern="1200" dirty="0">
                        <a:solidFill>
                          <a:srgbClr val="2576B7"/>
                        </a:solidFill>
                        <a:latin typeface="Montserrat SemiBold" pitchFamily="2" charset="77"/>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alpha val="23000"/>
                      </a:schemeClr>
                    </a:solidFill>
                  </a:tcPr>
                </a:tc>
                <a:extLst>
                  <a:ext uri="{0D108BD9-81ED-4DB2-BD59-A6C34878D82A}">
                    <a16:rowId xmlns:a16="http://schemas.microsoft.com/office/drawing/2014/main" val="1384045114"/>
                  </a:ext>
                </a:extLst>
              </a:tr>
              <a:tr h="2401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576B7"/>
                          </a:solidFill>
                          <a:latin typeface="Roboto Condensed Light" panose="02000000000000000000" pitchFamily="2" charset="0"/>
                          <a:ea typeface="Roboto Condensed Light" panose="02000000000000000000" pitchFamily="2" charset="0"/>
                        </a:rPr>
                        <a:t>Security must be integrated into an SDLC from architecture to operations. It must contain a structured process that supports governance, accountability, and culture.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40000"/>
                        <a:lumOff val="60000"/>
                        <a:alpha val="23000"/>
                      </a:schemeClr>
                    </a:solidFill>
                  </a:tcPr>
                </a:tc>
                <a:extLst>
                  <a:ext uri="{0D108BD9-81ED-4DB2-BD59-A6C34878D82A}">
                    <a16:rowId xmlns:a16="http://schemas.microsoft.com/office/drawing/2014/main" val="4099423048"/>
                  </a:ext>
                </a:extLst>
              </a:tr>
            </a:tbl>
          </a:graphicData>
        </a:graphic>
      </p:graphicFrame>
      <p:graphicFrame>
        <p:nvGraphicFramePr>
          <p:cNvPr id="4" name="Table 3">
            <a:extLst>
              <a:ext uri="{FF2B5EF4-FFF2-40B4-BE49-F238E27FC236}">
                <a16:creationId xmlns:a16="http://schemas.microsoft.com/office/drawing/2014/main" id="{C3999A14-247A-50CD-D08F-2CA19995F261}"/>
              </a:ext>
            </a:extLst>
          </p:cNvPr>
          <p:cNvGraphicFramePr>
            <a:graphicFrameLocks noGrp="1"/>
          </p:cNvGraphicFramePr>
          <p:nvPr>
            <p:extLst>
              <p:ext uri="{D42A27DB-BD31-4B8C-83A1-F6EECF244321}">
                <p14:modId xmlns:p14="http://schemas.microsoft.com/office/powerpoint/2010/main" val="3327649673"/>
              </p:ext>
            </p:extLst>
          </p:nvPr>
        </p:nvGraphicFramePr>
        <p:xfrm>
          <a:off x="7696289" y="5187481"/>
          <a:ext cx="4068000" cy="1306491"/>
        </p:xfrm>
        <a:graphic>
          <a:graphicData uri="http://schemas.openxmlformats.org/drawingml/2006/table">
            <a:tbl>
              <a:tblPr firstRow="1" bandRow="1">
                <a:tableStyleId>{5C22544A-7EE6-4342-B048-85BDC9FD1C3A}</a:tableStyleId>
              </a:tblPr>
              <a:tblGrid>
                <a:gridCol w="4068000">
                  <a:extLst>
                    <a:ext uri="{9D8B030D-6E8A-4147-A177-3AD203B41FA5}">
                      <a16:colId xmlns:a16="http://schemas.microsoft.com/office/drawing/2014/main" val="1362635670"/>
                    </a:ext>
                  </a:extLst>
                </a:gridCol>
              </a:tblGrid>
              <a:tr h="565560">
                <a:tc>
                  <a:txBody>
                    <a:bodyPr/>
                    <a:lstStyle/>
                    <a:p>
                      <a:pPr marL="0" algn="l" defTabSz="914400" rtl="0" eaLnBrk="1" latinLnBrk="0" hangingPunct="1">
                        <a:spcBef>
                          <a:spcPts val="800"/>
                        </a:spcBef>
                      </a:pPr>
                      <a:r>
                        <a:rPr lang="en-US" sz="1600" b="1" kern="1200" dirty="0">
                          <a:solidFill>
                            <a:srgbClr val="2576B7"/>
                          </a:solidFill>
                          <a:latin typeface="Montserrat SemiBold" pitchFamily="2" charset="77"/>
                          <a:ea typeface="+mn-ea"/>
                          <a:cs typeface="+mn-cs"/>
                        </a:rPr>
                        <a:t>Empower developers to build securely from the start.</a:t>
                      </a:r>
                      <a:endParaRPr lang="en-CA" sz="1600" b="1" kern="1200" dirty="0">
                        <a:solidFill>
                          <a:srgbClr val="2576B7"/>
                        </a:solidFill>
                        <a:latin typeface="Montserrat SemiBold" pitchFamily="2" charset="77"/>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alpha val="23000"/>
                      </a:schemeClr>
                    </a:solidFill>
                  </a:tcPr>
                </a:tc>
                <a:extLst>
                  <a:ext uri="{0D108BD9-81ED-4DB2-BD59-A6C34878D82A}">
                    <a16:rowId xmlns:a16="http://schemas.microsoft.com/office/drawing/2014/main" val="1384045114"/>
                  </a:ext>
                </a:extLst>
              </a:tr>
              <a:tr h="72737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576B7"/>
                          </a:solidFill>
                          <a:latin typeface="Roboto Condensed Light" panose="02000000000000000000" pitchFamily="2" charset="0"/>
                          <a:ea typeface="Roboto Condensed Light" panose="02000000000000000000" pitchFamily="2" charset="0"/>
                        </a:rPr>
                        <a:t>Security shouldn’t slow down development but rather streamline it with clear guidelines and embedded controls.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alpha val="23000"/>
                      </a:schemeClr>
                    </a:solidFill>
                  </a:tcPr>
                </a:tc>
                <a:extLst>
                  <a:ext uri="{0D108BD9-81ED-4DB2-BD59-A6C34878D82A}">
                    <a16:rowId xmlns:a16="http://schemas.microsoft.com/office/drawing/2014/main" val="4099423048"/>
                  </a:ext>
                </a:extLst>
              </a:tr>
            </a:tbl>
          </a:graphicData>
        </a:graphic>
      </p:graphicFrame>
      <p:graphicFrame>
        <p:nvGraphicFramePr>
          <p:cNvPr id="6" name="Table 5">
            <a:extLst>
              <a:ext uri="{FF2B5EF4-FFF2-40B4-BE49-F238E27FC236}">
                <a16:creationId xmlns:a16="http://schemas.microsoft.com/office/drawing/2014/main" id="{268FFDA9-C2C1-A11D-E5CD-12DE018DE046}"/>
              </a:ext>
            </a:extLst>
          </p:cNvPr>
          <p:cNvGraphicFramePr>
            <a:graphicFrameLocks noGrp="1"/>
          </p:cNvGraphicFramePr>
          <p:nvPr>
            <p:extLst>
              <p:ext uri="{D42A27DB-BD31-4B8C-83A1-F6EECF244321}">
                <p14:modId xmlns:p14="http://schemas.microsoft.com/office/powerpoint/2010/main" val="430812879"/>
              </p:ext>
            </p:extLst>
          </p:nvPr>
        </p:nvGraphicFramePr>
        <p:xfrm>
          <a:off x="3490968" y="5181297"/>
          <a:ext cx="4068000" cy="1299115"/>
        </p:xfrm>
        <a:graphic>
          <a:graphicData uri="http://schemas.openxmlformats.org/drawingml/2006/table">
            <a:tbl>
              <a:tblPr firstRow="1" bandRow="1">
                <a:tableStyleId>{5C22544A-7EE6-4342-B048-85BDC9FD1C3A}</a:tableStyleId>
              </a:tblPr>
              <a:tblGrid>
                <a:gridCol w="4068000">
                  <a:extLst>
                    <a:ext uri="{9D8B030D-6E8A-4147-A177-3AD203B41FA5}">
                      <a16:colId xmlns:a16="http://schemas.microsoft.com/office/drawing/2014/main" val="1362635670"/>
                    </a:ext>
                  </a:extLst>
                </a:gridCol>
              </a:tblGrid>
              <a:tr h="354235">
                <a:tc>
                  <a:txBody>
                    <a:bodyPr/>
                    <a:lstStyle/>
                    <a:p>
                      <a:pPr marL="0" algn="l" defTabSz="914400" rtl="0" eaLnBrk="1" latinLnBrk="0" hangingPunct="1">
                        <a:spcBef>
                          <a:spcPts val="800"/>
                        </a:spcBef>
                      </a:pPr>
                      <a:r>
                        <a:rPr lang="en-US" sz="1600" b="1" kern="1200" dirty="0">
                          <a:solidFill>
                            <a:srgbClr val="2576B7"/>
                          </a:solidFill>
                          <a:latin typeface="Montserrat SemiBold" pitchFamily="2" charset="77"/>
                          <a:ea typeface="+mn-ea"/>
                          <a:cs typeface="+mn-cs"/>
                        </a:rPr>
                        <a:t>Balance automation with expertise.</a:t>
                      </a:r>
                      <a:endParaRPr lang="en-CA" sz="1600" b="1" kern="1200" dirty="0">
                        <a:solidFill>
                          <a:srgbClr val="2576B7"/>
                        </a:solidFill>
                        <a:latin typeface="Montserrat SemiBold" pitchFamily="2" charset="77"/>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alpha val="23000"/>
                      </a:schemeClr>
                    </a:solidFill>
                  </a:tcPr>
                </a:tc>
                <a:extLst>
                  <a:ext uri="{0D108BD9-81ED-4DB2-BD59-A6C34878D82A}">
                    <a16:rowId xmlns:a16="http://schemas.microsoft.com/office/drawing/2014/main" val="1384045114"/>
                  </a:ext>
                </a:extLst>
              </a:tr>
              <a:tr h="8133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2576B7"/>
                          </a:solidFill>
                          <a:latin typeface="Roboto Condensed Light" panose="02000000000000000000" pitchFamily="2" charset="0"/>
                          <a:ea typeface="Roboto Condensed Light" panose="02000000000000000000" pitchFamily="2" charset="0"/>
                        </a:rPr>
                        <a:t>Although automation accelerates scale, other capabilities thrive on human expertise and context, which promotes a balanced approach to combine intelligence tooling with strategic human oversight.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alpha val="23000"/>
                      </a:schemeClr>
                    </a:solidFill>
                  </a:tcPr>
                </a:tc>
                <a:extLst>
                  <a:ext uri="{0D108BD9-81ED-4DB2-BD59-A6C34878D82A}">
                    <a16:rowId xmlns:a16="http://schemas.microsoft.com/office/drawing/2014/main" val="4099423048"/>
                  </a:ext>
                </a:extLst>
              </a:tr>
            </a:tbl>
          </a:graphicData>
        </a:graphic>
      </p:graphicFrame>
    </p:spTree>
    <p:extLst>
      <p:ext uri="{BB962C8B-B14F-4D97-AF65-F5344CB8AC3E}">
        <p14:creationId xmlns:p14="http://schemas.microsoft.com/office/powerpoint/2010/main" val="2682191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FD480F-D98C-5C4A-9642-E63AD86D3330}"/>
              </a:ext>
            </a:extLst>
          </p:cNvPr>
          <p:cNvSpPr>
            <a:spLocks noGrp="1"/>
          </p:cNvSpPr>
          <p:nvPr>
            <p:ph type="title"/>
          </p:nvPr>
        </p:nvSpPr>
        <p:spPr>
          <a:xfrm>
            <a:off x="5194300" y="542721"/>
            <a:ext cx="5956300" cy="605627"/>
          </a:xfrm>
        </p:spPr>
        <p:txBody>
          <a:bodyPr/>
          <a:lstStyle/>
          <a:p>
            <a:r>
              <a:rPr lang="en-CA" dirty="0"/>
              <a:t>Blueprint deliverables</a:t>
            </a:r>
            <a:endParaRPr lang="en-US" dirty="0"/>
          </a:p>
        </p:txBody>
      </p:sp>
      <p:sp>
        <p:nvSpPr>
          <p:cNvPr id="7" name="Text Placeholder 6">
            <a:extLst>
              <a:ext uri="{FF2B5EF4-FFF2-40B4-BE49-F238E27FC236}">
                <a16:creationId xmlns:a16="http://schemas.microsoft.com/office/drawing/2014/main" id="{E26898AF-7A03-F140-B7B4-6BF59FD40A8E}"/>
              </a:ext>
            </a:extLst>
          </p:cNvPr>
          <p:cNvSpPr>
            <a:spLocks noGrp="1"/>
          </p:cNvSpPr>
          <p:nvPr>
            <p:ph type="body" sz="quarter" idx="11"/>
          </p:nvPr>
        </p:nvSpPr>
        <p:spPr>
          <a:xfrm>
            <a:off x="5226982" y="1178421"/>
            <a:ext cx="5686987" cy="456696"/>
          </a:xfrm>
        </p:spPr>
        <p:txBody>
          <a:bodyPr/>
          <a:lstStyle/>
          <a:p>
            <a:pPr lvl="0">
              <a:lnSpc>
                <a:spcPct val="100000"/>
              </a:lnSpc>
            </a:pPr>
            <a:r>
              <a:rPr lang="en-US" sz="1400" dirty="0">
                <a:solidFill>
                  <a:srgbClr val="000000"/>
                </a:solidFill>
                <a:latin typeface="Montserrat" pitchFamily="2" charset="77"/>
              </a:rPr>
              <a:t>Each step of this blueprint is accompanied by supporting deliverables to help you accomplish your goals:</a:t>
            </a:r>
          </a:p>
          <a:p>
            <a:endParaRPr lang="en-US" sz="1800" dirty="0">
              <a:solidFill>
                <a:srgbClr val="000000"/>
              </a:solidFill>
            </a:endParaRPr>
          </a:p>
        </p:txBody>
      </p:sp>
      <p:sp>
        <p:nvSpPr>
          <p:cNvPr id="10" name="Text Placeholder 6">
            <a:extLst>
              <a:ext uri="{FF2B5EF4-FFF2-40B4-BE49-F238E27FC236}">
                <a16:creationId xmlns:a16="http://schemas.microsoft.com/office/drawing/2014/main" id="{082B9CCD-7DA0-4B2D-BFEC-F2E76798C491}"/>
              </a:ext>
            </a:extLst>
          </p:cNvPr>
          <p:cNvSpPr txBox="1">
            <a:spLocks/>
          </p:cNvSpPr>
          <p:nvPr/>
        </p:nvSpPr>
        <p:spPr>
          <a:xfrm>
            <a:off x="357173" y="549391"/>
            <a:ext cx="2719621" cy="456637"/>
          </a:xfrm>
          <a:prstGeom prst="rect">
            <a:avLst/>
          </a:prstGeom>
        </p:spPr>
        <p:txBody>
          <a:bodyPr lIns="0" tIns="0" rIns="0" bIns="0">
            <a:noAutofit/>
          </a:bodyPr>
          <a:lstStyle>
            <a:lvl1pPr marL="0" indent="0" algn="l" defTabSz="914400" rtl="0" eaLnBrk="1" latinLnBrk="0" hangingPunct="1">
              <a:lnSpc>
                <a:spcPct val="110000"/>
              </a:lnSpc>
              <a:spcBef>
                <a:spcPts val="1000"/>
              </a:spcBef>
              <a:buFont typeface="Arial" panose="020B0604020202020204" pitchFamily="34" charset="0"/>
              <a:buNone/>
              <a:defRPr sz="2000" b="0" i="0" kern="1200">
                <a:solidFill>
                  <a:srgbClr val="848585"/>
                </a:solidFill>
                <a:latin typeface="Montserrat SemiBold" pitchFamily="2" charset="77"/>
                <a:ea typeface="+mn-ea"/>
                <a:cs typeface="Arial" panose="020B0604020202020204" pitchFamily="34" charset="0"/>
              </a:defRPr>
            </a:lvl1pPr>
            <a:lvl2pPr marL="4572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2400"/>
              </a:lnSpc>
              <a:spcBef>
                <a:spcPts val="500"/>
              </a:spcBef>
              <a:buFont typeface="Arial" panose="020B0604020202020204" pitchFamily="34" charset="0"/>
              <a:buNone/>
              <a:defRPr sz="2000" kern="1200">
                <a:solidFill>
                  <a:srgbClr val="84858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FFFFFF"/>
                </a:solidFill>
                <a:effectLst/>
                <a:uLnTx/>
                <a:uFillTx/>
                <a:latin typeface="Montserrat SemiBold" pitchFamily="2" charset="77"/>
                <a:ea typeface="+mn-ea"/>
                <a:cs typeface="Arial" panose="020B0604020202020204" pitchFamily="34" charset="0"/>
              </a:rPr>
              <a:t>Key deliverables</a:t>
            </a:r>
            <a:r>
              <a:rPr kumimoji="0" lang="en-US" sz="2000" b="0" i="0" u="none" strike="noStrike" kern="1200" cap="none" spc="0" normalizeH="0" baseline="0" noProof="0" dirty="0">
                <a:ln>
                  <a:noFill/>
                </a:ln>
                <a:solidFill>
                  <a:srgbClr val="FFFFFF"/>
                </a:solidFill>
                <a:effectLst/>
                <a:uLnTx/>
                <a:uFillTx/>
                <a:latin typeface="Montserrat SemiBold" pitchFamily="2" charset="77"/>
                <a:ea typeface="+mn-ea"/>
                <a:cs typeface="Arial" panose="020B0604020202020204" pitchFamily="34" charset="0"/>
              </a:rPr>
              <a:t>:</a:t>
            </a:r>
          </a:p>
        </p:txBody>
      </p:sp>
      <p:sp>
        <p:nvSpPr>
          <p:cNvPr id="31" name="TextBox 30">
            <a:extLst>
              <a:ext uri="{FF2B5EF4-FFF2-40B4-BE49-F238E27FC236}">
                <a16:creationId xmlns:a16="http://schemas.microsoft.com/office/drawing/2014/main" id="{5891C79E-7977-4273-B86A-623CEC9EC3AC}"/>
              </a:ext>
            </a:extLst>
          </p:cNvPr>
          <p:cNvSpPr txBox="1"/>
          <p:nvPr/>
        </p:nvSpPr>
        <p:spPr>
          <a:xfrm>
            <a:off x="447040" y="1925668"/>
            <a:ext cx="3274703" cy="276999"/>
          </a:xfrm>
          <a:prstGeom prst="rect">
            <a:avLst/>
          </a:prstGeom>
        </p:spPr>
        <p:txBody>
          <a:bodyPr vert="horz" wrap="square" lIns="0" tIns="0" rIns="0" bIns="0" rtlCol="0">
            <a:spAutoFit/>
          </a:bodyPr>
          <a:lstStyle/>
          <a:p>
            <a:pPr marL="289917" marR="242951" lvl="1" indent="0" algn="ctr" defTabSz="554437" rtl="0" eaLnBrk="1" fontAlgn="auto" latinLnBrk="0" hangingPunct="1">
              <a:lnSpc>
                <a:spcPct val="100000"/>
              </a:lnSpc>
              <a:spcBef>
                <a:spcPts val="55"/>
              </a:spcBef>
              <a:spcAft>
                <a:spcPts val="0"/>
              </a:spcAft>
              <a:buClrTx/>
              <a:buSzTx/>
              <a:buFontTx/>
              <a:buNone/>
              <a:tabLst/>
              <a:defRPr/>
            </a:pPr>
            <a:r>
              <a:rPr kumimoji="0" lang="en-US" sz="1800" b="1" i="0" u="none" strike="noStrike" kern="1200" cap="none" spc="-30" normalizeH="0" baseline="0" noProof="0" dirty="0">
                <a:ln>
                  <a:noFill/>
                </a:ln>
                <a:solidFill>
                  <a:srgbClr val="FFFFFF"/>
                </a:solidFill>
                <a:effectLst/>
                <a:uLnTx/>
                <a:uFillTx/>
                <a:latin typeface="Montserrat" pitchFamily="2" charset="77"/>
                <a:ea typeface="+mn-ea"/>
                <a:cs typeface="Arial Narrow"/>
              </a:rPr>
              <a:t>iSSDLC Strategy Deck</a:t>
            </a:r>
          </a:p>
        </p:txBody>
      </p:sp>
      <p:sp>
        <p:nvSpPr>
          <p:cNvPr id="19" name="TextBox 18">
            <a:extLst>
              <a:ext uri="{FF2B5EF4-FFF2-40B4-BE49-F238E27FC236}">
                <a16:creationId xmlns:a16="http://schemas.microsoft.com/office/drawing/2014/main" id="{3F40C270-1BB1-47ED-B351-7E5BA06F2437}"/>
              </a:ext>
            </a:extLst>
          </p:cNvPr>
          <p:cNvSpPr txBox="1"/>
          <p:nvPr/>
        </p:nvSpPr>
        <p:spPr>
          <a:xfrm>
            <a:off x="4003474" y="2929173"/>
            <a:ext cx="2084889" cy="646331"/>
          </a:xfrm>
          <a:prstGeom prst="rect">
            <a:avLst/>
          </a:prstGeom>
        </p:spPr>
        <p:txBody>
          <a:bodyPr vert="horz" wrap="square" lIns="0" tIns="0" rIns="0" bIns="0" rtlCol="0">
            <a:spAutoFit/>
          </a:bodyPr>
          <a:lstStyle/>
          <a:p>
            <a:pPr marL="289917" marR="242951" lvl="1" indent="0" algn="ctr" defTabSz="554437" rtl="0" eaLnBrk="1" fontAlgn="auto" latinLnBrk="0" hangingPunct="1">
              <a:lnSpc>
                <a:spcPct val="100000"/>
              </a:lnSpc>
              <a:spcBef>
                <a:spcPts val="55"/>
              </a:spcBef>
              <a:spcAft>
                <a:spcPts val="0"/>
              </a:spcAft>
              <a:buClrTx/>
              <a:buSzTx/>
              <a:buFontTx/>
              <a:buNone/>
              <a:tabLst/>
              <a:defRPr/>
            </a:pPr>
            <a:r>
              <a:rPr kumimoji="0" lang="en-US" sz="1400" b="0" i="0" u="none" strike="noStrike" kern="1200" cap="none" spc="-30" normalizeH="0" baseline="0" noProof="0" dirty="0">
                <a:ln>
                  <a:noFill/>
                </a:ln>
                <a:solidFill>
                  <a:srgbClr val="2576B7"/>
                </a:solidFill>
                <a:effectLst/>
                <a:uLnTx/>
                <a:uFillTx/>
                <a:latin typeface="Montserrat" pitchFamily="2" charset="77"/>
                <a:ea typeface="+mn-ea"/>
                <a:cs typeface="+mn-cs"/>
              </a:rPr>
              <a:t>iSSDLC Capabilities Assessment Tool</a:t>
            </a:r>
          </a:p>
        </p:txBody>
      </p:sp>
      <p:sp>
        <p:nvSpPr>
          <p:cNvPr id="20" name="Text Placeholder 7">
            <a:extLst>
              <a:ext uri="{FF2B5EF4-FFF2-40B4-BE49-F238E27FC236}">
                <a16:creationId xmlns:a16="http://schemas.microsoft.com/office/drawing/2014/main" id="{E62AF2FE-EEEF-4035-B6A8-B7A5BA0F9FBF}"/>
              </a:ext>
            </a:extLst>
          </p:cNvPr>
          <p:cNvSpPr txBox="1">
            <a:spLocks/>
          </p:cNvSpPr>
          <p:nvPr/>
        </p:nvSpPr>
        <p:spPr>
          <a:xfrm>
            <a:off x="4277328" y="3634371"/>
            <a:ext cx="1663679" cy="690249"/>
          </a:xfrm>
          <a:prstGeom prst="rect">
            <a:avLst/>
          </a:prstGeom>
        </p:spPr>
        <p:txBody>
          <a:bodyPr lIns="0" tIns="0" rIns="0" bIns="0" numCol="1" spcCol="360000">
            <a:noAutofit/>
          </a:bodyPr>
          <a:lstStyle>
            <a:lvl1pPr marL="0" indent="0" algn="l" defTabSz="914400" rtl="0" eaLnBrk="1" latinLnBrk="0" hangingPunct="1">
              <a:lnSpc>
                <a:spcPts val="1800"/>
              </a:lnSpc>
              <a:spcBef>
                <a:spcPts val="1000"/>
              </a:spcBef>
              <a:buFont typeface="Arial" panose="020B0604020202020204" pitchFamily="34" charset="0"/>
              <a:buNone/>
              <a:defRPr sz="1400" b="0" i="0" kern="1200">
                <a:solidFill>
                  <a:srgbClr val="4A4A4A"/>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CA" sz="12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rPr>
              <a:t>Assessment tool to develop your application security improvement plan</a:t>
            </a:r>
          </a:p>
        </p:txBody>
      </p:sp>
      <p:pic>
        <p:nvPicPr>
          <p:cNvPr id="2" name="Picture 1">
            <a:extLst>
              <a:ext uri="{FF2B5EF4-FFF2-40B4-BE49-F238E27FC236}">
                <a16:creationId xmlns:a16="http://schemas.microsoft.com/office/drawing/2014/main" id="{13932470-4335-9007-73E9-09ACE737915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728418" y="2235306"/>
            <a:ext cx="635000" cy="635000"/>
          </a:xfrm>
          <a:prstGeom prst="rect">
            <a:avLst/>
          </a:prstGeom>
        </p:spPr>
      </p:pic>
      <p:pic>
        <p:nvPicPr>
          <p:cNvPr id="5" name="Picture 4">
            <a:extLst>
              <a:ext uri="{FF2B5EF4-FFF2-40B4-BE49-F238E27FC236}">
                <a16:creationId xmlns:a16="http://schemas.microsoft.com/office/drawing/2014/main" id="{D6184EB7-4A59-0B23-5582-2FDD074FE49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924157" y="2052587"/>
            <a:ext cx="5228019" cy="1985812"/>
          </a:xfrm>
          <a:prstGeom prst="rect">
            <a:avLst/>
          </a:prstGeom>
        </p:spPr>
      </p:pic>
      <p:pic>
        <p:nvPicPr>
          <p:cNvPr id="8" name="Picture 7">
            <a:extLst>
              <a:ext uri="{FF2B5EF4-FFF2-40B4-BE49-F238E27FC236}">
                <a16:creationId xmlns:a16="http://schemas.microsoft.com/office/drawing/2014/main" id="{D36C5B85-8794-375B-821B-E1DD18F02C3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06154" y="2929173"/>
            <a:ext cx="5742517" cy="2059949"/>
          </a:xfrm>
          <a:prstGeom prst="rect">
            <a:avLst/>
          </a:prstGeom>
        </p:spPr>
      </p:pic>
      <p:pic>
        <p:nvPicPr>
          <p:cNvPr id="11" name="Picture 10">
            <a:extLst>
              <a:ext uri="{FF2B5EF4-FFF2-40B4-BE49-F238E27FC236}">
                <a16:creationId xmlns:a16="http://schemas.microsoft.com/office/drawing/2014/main" id="{4D88EC46-3D80-BF06-890D-B1BA1B4A503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590798" y="3793777"/>
            <a:ext cx="5475664" cy="2390690"/>
          </a:xfrm>
          <a:prstGeom prst="rect">
            <a:avLst/>
          </a:prstGeom>
        </p:spPr>
      </p:pic>
      <p:pic>
        <p:nvPicPr>
          <p:cNvPr id="13" name="Picture 12">
            <a:extLst>
              <a:ext uri="{FF2B5EF4-FFF2-40B4-BE49-F238E27FC236}">
                <a16:creationId xmlns:a16="http://schemas.microsoft.com/office/drawing/2014/main" id="{D6690322-2E00-DD71-C4CA-80B35C4D084B}"/>
              </a:ext>
            </a:extLst>
          </p:cNvPr>
          <p:cNvPicPr>
            <a:picLocks noChangeAspect="1"/>
          </p:cNvPicPr>
          <p:nvPr/>
        </p:nvPicPr>
        <p:blipFill>
          <a:blip r:embed="rId6"/>
          <a:stretch>
            <a:fillRect/>
          </a:stretch>
        </p:blipFill>
        <p:spPr>
          <a:xfrm>
            <a:off x="1716983" y="1138660"/>
            <a:ext cx="634039" cy="634039"/>
          </a:xfrm>
          <a:prstGeom prst="rect">
            <a:avLst/>
          </a:prstGeom>
        </p:spPr>
      </p:pic>
      <p:sp>
        <p:nvSpPr>
          <p:cNvPr id="15" name="TextBox 14">
            <a:extLst>
              <a:ext uri="{FF2B5EF4-FFF2-40B4-BE49-F238E27FC236}">
                <a16:creationId xmlns:a16="http://schemas.microsoft.com/office/drawing/2014/main" id="{6CD00631-BD76-107A-54EA-04065F2EF202}"/>
              </a:ext>
            </a:extLst>
          </p:cNvPr>
          <p:cNvSpPr txBox="1"/>
          <p:nvPr/>
        </p:nvSpPr>
        <p:spPr>
          <a:xfrm>
            <a:off x="886462" y="2276840"/>
            <a:ext cx="2395858" cy="830997"/>
          </a:xfrm>
          <a:prstGeom prst="rect">
            <a:avLst/>
          </a:prstGeom>
          <a:noFill/>
        </p:spPr>
        <p:txBody>
          <a:bodyPr wrap="square">
            <a:spAutoFit/>
          </a:bodyPr>
          <a:lstStyle/>
          <a:p>
            <a:pPr algn="ctr"/>
            <a:r>
              <a:rPr kumimoji="0" lang="en-US" sz="1200" b="1" i="0" u="none" strike="noStrike" kern="1200" cap="none" spc="-3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Arial Narrow"/>
              </a:rPr>
              <a:t>Communication deck to present your iSSDLC strategy  </a:t>
            </a:r>
            <a:r>
              <a:rPr lang="en-US" sz="1200" b="1" spc="-30" dirty="0">
                <a:solidFill>
                  <a:srgbClr val="FFFFFF"/>
                </a:solidFill>
                <a:latin typeface="Roboto Condensed Light" panose="02000000000000000000" pitchFamily="2" charset="0"/>
                <a:ea typeface="Roboto Condensed Light" panose="02000000000000000000" pitchFamily="2" charset="0"/>
                <a:cs typeface="Arial Narrow"/>
              </a:rPr>
              <a:t>to key stakeholders  to obtain buy-in and support for your application security improvement plan</a:t>
            </a:r>
            <a:endParaRPr lang="en-US" sz="1200" dirty="0">
              <a:latin typeface="Roboto Condensed Light" panose="02000000000000000000" pitchFamily="2" charset="0"/>
              <a:ea typeface="Roboto Condensed Light" panose="02000000000000000000" pitchFamily="2" charset="0"/>
            </a:endParaRPr>
          </a:p>
        </p:txBody>
      </p:sp>
      <p:pic>
        <p:nvPicPr>
          <p:cNvPr id="6" name="Picture 5">
            <a:extLst>
              <a:ext uri="{FF2B5EF4-FFF2-40B4-BE49-F238E27FC236}">
                <a16:creationId xmlns:a16="http://schemas.microsoft.com/office/drawing/2014/main" id="{BE0B6C01-0577-B6DF-6F94-6ADA4984B722}"/>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15878" y="3174359"/>
            <a:ext cx="3365770" cy="1868903"/>
          </a:xfrm>
          <a:prstGeom prst="rect">
            <a:avLst/>
          </a:prstGeom>
        </p:spPr>
      </p:pic>
      <p:pic>
        <p:nvPicPr>
          <p:cNvPr id="12" name="Picture 11">
            <a:extLst>
              <a:ext uri="{FF2B5EF4-FFF2-40B4-BE49-F238E27FC236}">
                <a16:creationId xmlns:a16="http://schemas.microsoft.com/office/drawing/2014/main" id="{710BD37A-0C6D-DAB4-6543-55083317CBA5}"/>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23875" y="3865723"/>
            <a:ext cx="3245884" cy="1797112"/>
          </a:xfrm>
          <a:prstGeom prst="rect">
            <a:avLst/>
          </a:prstGeom>
        </p:spPr>
      </p:pic>
      <p:pic>
        <p:nvPicPr>
          <p:cNvPr id="16" name="Picture 15">
            <a:extLst>
              <a:ext uri="{FF2B5EF4-FFF2-40B4-BE49-F238E27FC236}">
                <a16:creationId xmlns:a16="http://schemas.microsoft.com/office/drawing/2014/main" id="{B0356AED-028B-4AE0-202D-A94A8FF17FE6}"/>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1041412" y="4477019"/>
            <a:ext cx="3090027" cy="1707448"/>
          </a:xfrm>
          <a:prstGeom prst="rect">
            <a:avLst/>
          </a:prstGeom>
        </p:spPr>
      </p:pic>
    </p:spTree>
    <p:extLst>
      <p:ext uri="{BB962C8B-B14F-4D97-AF65-F5344CB8AC3E}">
        <p14:creationId xmlns:p14="http://schemas.microsoft.com/office/powerpoint/2010/main" val="2308516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6E8AF-AA02-8A45-8B51-0888B0C66904}"/>
              </a:ext>
            </a:extLst>
          </p:cNvPr>
          <p:cNvSpPr>
            <a:spLocks noGrp="1"/>
          </p:cNvSpPr>
          <p:nvPr>
            <p:ph type="title"/>
          </p:nvPr>
        </p:nvSpPr>
        <p:spPr>
          <a:xfrm>
            <a:off x="354106" y="530021"/>
            <a:ext cx="8449652" cy="1130188"/>
          </a:xfrm>
        </p:spPr>
        <p:txBody>
          <a:bodyPr/>
          <a:lstStyle/>
          <a:p>
            <a:r>
              <a:rPr lang="en-US" dirty="0"/>
              <a:t>Blueprint benefits </a:t>
            </a:r>
          </a:p>
        </p:txBody>
      </p:sp>
      <p:graphicFrame>
        <p:nvGraphicFramePr>
          <p:cNvPr id="11" name="Table 10">
            <a:extLst>
              <a:ext uri="{FF2B5EF4-FFF2-40B4-BE49-F238E27FC236}">
                <a16:creationId xmlns:a16="http://schemas.microsoft.com/office/drawing/2014/main" id="{D07E744E-A6AF-4096-8DEB-1E2503376BA5}"/>
              </a:ext>
            </a:extLst>
          </p:cNvPr>
          <p:cNvGraphicFramePr>
            <a:graphicFrameLocks noGrp="1"/>
          </p:cNvGraphicFramePr>
          <p:nvPr>
            <p:extLst>
              <p:ext uri="{D42A27DB-BD31-4B8C-83A1-F6EECF244321}">
                <p14:modId xmlns:p14="http://schemas.microsoft.com/office/powerpoint/2010/main" val="1069828314"/>
              </p:ext>
            </p:extLst>
          </p:nvPr>
        </p:nvGraphicFramePr>
        <p:xfrm>
          <a:off x="371474" y="1797600"/>
          <a:ext cx="11450640" cy="4051831"/>
        </p:xfrm>
        <a:graphic>
          <a:graphicData uri="http://schemas.openxmlformats.org/drawingml/2006/table">
            <a:tbl>
              <a:tblPr firstRow="1" bandRow="1">
                <a:tableStyleId>{5C22544A-7EE6-4342-B048-85BDC9FD1C3A}</a:tableStyleId>
              </a:tblPr>
              <a:tblGrid>
                <a:gridCol w="5638392">
                  <a:extLst>
                    <a:ext uri="{9D8B030D-6E8A-4147-A177-3AD203B41FA5}">
                      <a16:colId xmlns:a16="http://schemas.microsoft.com/office/drawing/2014/main" val="2500794229"/>
                    </a:ext>
                  </a:extLst>
                </a:gridCol>
                <a:gridCol w="5812248">
                  <a:extLst>
                    <a:ext uri="{9D8B030D-6E8A-4147-A177-3AD203B41FA5}">
                      <a16:colId xmlns:a16="http://schemas.microsoft.com/office/drawing/2014/main" val="1791260046"/>
                    </a:ext>
                  </a:extLst>
                </a:gridCol>
              </a:tblGrid>
              <a:tr h="483320">
                <a:tc>
                  <a:txBody>
                    <a:bodyPr/>
                    <a:lstStyle/>
                    <a:p>
                      <a:pPr marL="0" marR="0" lvl="0" indent="0" algn="ctr" defTabSz="914400" rtl="0" eaLnBrk="1" fontAlgn="auto" latinLnBrk="0" hangingPunct="1">
                        <a:lnSpc>
                          <a:spcPct val="100000"/>
                        </a:lnSpc>
                        <a:spcBef>
                          <a:spcPts val="0"/>
                        </a:spcBef>
                        <a:spcAft>
                          <a:spcPts val="0"/>
                        </a:spcAft>
                        <a:buClrTx/>
                        <a:buSzTx/>
                        <a:buFont typeface="+mj-lt"/>
                        <a:buNone/>
                        <a:tabLst/>
                        <a:defRPr/>
                      </a:pPr>
                      <a:r>
                        <a:rPr lang="en-CA" sz="2000" b="0" i="0" spc="6" dirty="0">
                          <a:solidFill>
                            <a:srgbClr val="2576B7"/>
                          </a:solidFill>
                          <a:latin typeface="Montserrat SemiBold" pitchFamily="2" charset="77"/>
                          <a:cs typeface="Arial" panose="020B0604020202020204" pitchFamily="34" charset="0"/>
                        </a:rPr>
                        <a:t>IT Benefits</a:t>
                      </a:r>
                      <a:endParaRPr lang="en-CA" sz="2000" b="0" i="0" dirty="0">
                        <a:solidFill>
                          <a:srgbClr val="2576B7"/>
                        </a:solidFill>
                        <a:latin typeface="Montserrat SemiBold" pitchFamily="2" charset="77"/>
                        <a:cs typeface="Arial" panose="020B0604020202020204" pitchFamily="34" charset="0"/>
                      </a:endParaRPr>
                    </a:p>
                  </a:txBody>
                  <a:tcPr marL="182880" marR="182880" marT="216000" marB="108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CADD4">
                        <a:alpha val="1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000" b="0" i="0" spc="6" dirty="0">
                          <a:solidFill>
                            <a:srgbClr val="2576B7"/>
                          </a:solidFill>
                          <a:latin typeface="Montserrat SemiBold" pitchFamily="2" charset="77"/>
                          <a:cs typeface="Arial" panose="020B0604020202020204" pitchFamily="34" charset="0"/>
                        </a:rPr>
                        <a:t>Business Benefits</a:t>
                      </a:r>
                      <a:endParaRPr lang="en-CA" sz="2000" b="0" i="0" dirty="0">
                        <a:solidFill>
                          <a:srgbClr val="2576B7"/>
                        </a:solidFill>
                        <a:latin typeface="Montserrat SemiBold" pitchFamily="2" charset="77"/>
                        <a:cs typeface="Arial" panose="020B0604020202020204" pitchFamily="34" charset="0"/>
                      </a:endParaRPr>
                    </a:p>
                  </a:txBody>
                  <a:tcPr marL="182880" marR="182880" marT="216000" marB="108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7CADD4">
                        <a:alpha val="20000"/>
                      </a:srgbClr>
                    </a:solidFill>
                  </a:tcPr>
                </a:tc>
                <a:extLst>
                  <a:ext uri="{0D108BD9-81ED-4DB2-BD59-A6C34878D82A}">
                    <a16:rowId xmlns:a16="http://schemas.microsoft.com/office/drawing/2014/main" val="2052837071"/>
                  </a:ext>
                </a:extLst>
              </a:tr>
              <a:tr h="3423031">
                <a:tc>
                  <a:txBody>
                    <a:bodyPr/>
                    <a:lstStyle/>
                    <a:p>
                      <a:pPr marL="184150" indent="-184150" algn="l" defTabSz="914400" rtl="0" eaLnBrk="1" latinLnBrk="0" hangingPunct="1">
                        <a:lnSpc>
                          <a:spcPct val="110000"/>
                        </a:lnSpc>
                        <a:spcBef>
                          <a:spcPts val="1000"/>
                        </a:spcBef>
                        <a:buFont typeface="Arial" panose="020B0604020202020204" pitchFamily="34" charset="0"/>
                        <a:buChar char="•"/>
                      </a:pPr>
                      <a:r>
                        <a:rPr lang="en-US" sz="1600" b="0" i="0" kern="1200" noProof="0" dirty="0">
                          <a:solidFill>
                            <a:srgbClr val="000000"/>
                          </a:solidFill>
                          <a:latin typeface="Roboto Condensed Light" panose="02000000000000000000" pitchFamily="2" charset="0"/>
                          <a:ea typeface="+mn-ea"/>
                          <a:cs typeface="+mn-cs"/>
                        </a:rPr>
                        <a:t>Enhanced adoption of DevSecOps, which provides smoother integration of security into development workflows through a maturity-guided improvement plan.</a:t>
                      </a:r>
                    </a:p>
                    <a:p>
                      <a:pPr marL="184150" indent="-184150" algn="l" defTabSz="914400" rtl="0" eaLnBrk="1" latinLnBrk="0" hangingPunct="1">
                        <a:lnSpc>
                          <a:spcPct val="110000"/>
                        </a:lnSpc>
                        <a:spcBef>
                          <a:spcPts val="1000"/>
                        </a:spcBef>
                        <a:buFont typeface="Arial" panose="020B0604020202020204" pitchFamily="34" charset="0"/>
                        <a:buChar char="•"/>
                      </a:pPr>
                      <a:r>
                        <a:rPr lang="en-US" sz="1600" b="0" i="0" kern="1200" noProof="0" dirty="0">
                          <a:solidFill>
                            <a:srgbClr val="000000"/>
                          </a:solidFill>
                          <a:latin typeface="Roboto Condensed Light" panose="02000000000000000000" pitchFamily="2" charset="0"/>
                          <a:ea typeface="+mn-ea"/>
                          <a:cs typeface="+mn-cs"/>
                        </a:rPr>
                        <a:t>Improved visibility of an organization's security risks and gaps across the SDLC, which promotes proactive threat mitigation and enables targeted remediation efforts.</a:t>
                      </a:r>
                    </a:p>
                    <a:p>
                      <a:pPr marL="184150" indent="-184150" algn="l" defTabSz="914400" rtl="0" eaLnBrk="1" latinLnBrk="0" hangingPunct="1">
                        <a:lnSpc>
                          <a:spcPct val="110000"/>
                        </a:lnSpc>
                        <a:spcBef>
                          <a:spcPts val="1000"/>
                        </a:spcBef>
                        <a:buFont typeface="Arial" panose="020B0604020202020204" pitchFamily="34" charset="0"/>
                        <a:buChar char="•"/>
                      </a:pPr>
                      <a:r>
                        <a:rPr lang="en-CA" sz="1600" b="0" i="0" kern="1200" dirty="0">
                          <a:solidFill>
                            <a:srgbClr val="000000"/>
                          </a:solidFill>
                          <a:latin typeface="Roboto Condensed Light" panose="02000000000000000000" pitchFamily="2" charset="0"/>
                          <a:ea typeface="+mn-ea"/>
                          <a:cs typeface="+mn-cs"/>
                        </a:rPr>
                        <a:t>Accelerated adoption of application security tools and strengthened organizational readiness for AI-driven development initiatives.</a:t>
                      </a:r>
                    </a:p>
                    <a:p>
                      <a:pPr marL="0" indent="0" algn="l" defTabSz="914400" rtl="0" eaLnBrk="1" latinLnBrk="0" hangingPunct="1">
                        <a:lnSpc>
                          <a:spcPct val="110000"/>
                        </a:lnSpc>
                        <a:spcBef>
                          <a:spcPts val="1000"/>
                        </a:spcBef>
                        <a:buFont typeface="Arial" panose="020B0604020202020204" pitchFamily="34" charset="0"/>
                        <a:buNone/>
                      </a:pPr>
                      <a:endParaRPr lang="en-CA" sz="1600" b="0" i="0" kern="1200" dirty="0">
                        <a:solidFill>
                          <a:srgbClr val="000000"/>
                        </a:solidFill>
                        <a:latin typeface="Roboto Condensed Light" panose="02000000000000000000" pitchFamily="2" charset="0"/>
                        <a:ea typeface="+mn-ea"/>
                        <a:cs typeface="+mn-cs"/>
                      </a:endParaRPr>
                    </a:p>
                  </a:txBody>
                  <a:tcPr marL="182880" marR="182880" marT="36000" marB="14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10000"/>
                      </a:srgbClr>
                    </a:solidFill>
                  </a:tcPr>
                </a:tc>
                <a:tc>
                  <a:txBody>
                    <a:bodyPr/>
                    <a:lstStyle/>
                    <a:p>
                      <a:pPr marL="184150" indent="-184150" algn="l" defTabSz="914400" rtl="0" eaLnBrk="1" latinLnBrk="0" hangingPunct="1">
                        <a:lnSpc>
                          <a:spcPct val="110000"/>
                        </a:lnSpc>
                        <a:spcBef>
                          <a:spcPts val="1000"/>
                        </a:spcBef>
                        <a:buFont typeface="Arial" panose="020B0604020202020204" pitchFamily="34" charset="0"/>
                        <a:buChar char="•"/>
                      </a:pPr>
                      <a:r>
                        <a:rPr lang="en-CA" sz="1600" b="0" i="0" kern="1200" dirty="0">
                          <a:solidFill>
                            <a:srgbClr val="000000"/>
                          </a:solidFill>
                          <a:latin typeface="Roboto Condensed Light" panose="02000000000000000000" pitchFamily="2" charset="0"/>
                          <a:ea typeface="+mn-ea"/>
                          <a:cs typeface="+mn-cs"/>
                        </a:rPr>
                        <a:t>Reduced cost and downtime in application security incidents through the strengthening of foundational controls, which minimizes breach likelihood.</a:t>
                      </a:r>
                    </a:p>
                    <a:p>
                      <a:pPr marL="184150" indent="-184150" algn="l" defTabSz="914400" rtl="0" eaLnBrk="1" latinLnBrk="0" hangingPunct="1">
                        <a:lnSpc>
                          <a:spcPct val="110000"/>
                        </a:lnSpc>
                        <a:spcBef>
                          <a:spcPts val="1000"/>
                        </a:spcBef>
                        <a:buFont typeface="Arial" panose="020B0604020202020204" pitchFamily="34" charset="0"/>
                        <a:buChar char="•"/>
                      </a:pPr>
                      <a:r>
                        <a:rPr lang="en-CA" sz="1600" b="0" i="0" kern="1200" dirty="0">
                          <a:solidFill>
                            <a:srgbClr val="000000"/>
                          </a:solidFill>
                          <a:latin typeface="Roboto Condensed Light" panose="02000000000000000000" pitchFamily="2" charset="0"/>
                          <a:ea typeface="+mn-ea"/>
                          <a:cs typeface="+mn-cs"/>
                        </a:rPr>
                        <a:t>Improved time to market of solutions through the embedding of scalable and automated security practices that are aligned to business-critical capabilities. </a:t>
                      </a:r>
                    </a:p>
                    <a:p>
                      <a:pPr marL="184150" indent="-184150" algn="l" defTabSz="914400" rtl="0" eaLnBrk="1" latinLnBrk="0" hangingPunct="1">
                        <a:lnSpc>
                          <a:spcPct val="110000"/>
                        </a:lnSpc>
                        <a:spcBef>
                          <a:spcPts val="1000"/>
                        </a:spcBef>
                        <a:buFont typeface="Arial" panose="020B0604020202020204" pitchFamily="34" charset="0"/>
                        <a:buChar char="•"/>
                      </a:pPr>
                      <a:r>
                        <a:rPr lang="en-CA" sz="1600" b="0" i="0" kern="1200" dirty="0">
                          <a:solidFill>
                            <a:srgbClr val="000000"/>
                          </a:solidFill>
                          <a:latin typeface="Roboto Condensed Light" panose="02000000000000000000" pitchFamily="2" charset="0"/>
                          <a:ea typeface="+mn-ea"/>
                          <a:cs typeface="+mn-cs"/>
                        </a:rPr>
                        <a:t>Increased stakeholder confidence and regulatory readiness through the demonstration of a proactive and measurable approach to secure applications.</a:t>
                      </a:r>
                    </a:p>
                    <a:p>
                      <a:pPr marL="184150" indent="-184150" algn="l" defTabSz="914400" rtl="0" eaLnBrk="1" latinLnBrk="0" hangingPunct="1">
                        <a:lnSpc>
                          <a:spcPct val="110000"/>
                        </a:lnSpc>
                        <a:spcBef>
                          <a:spcPts val="1000"/>
                        </a:spcBef>
                        <a:buFont typeface="Arial" panose="020B0604020202020204" pitchFamily="34" charset="0"/>
                        <a:buChar char="•"/>
                      </a:pPr>
                      <a:endParaRPr lang="en-US" sz="1600" b="0" i="0" kern="1200" dirty="0">
                        <a:solidFill>
                          <a:srgbClr val="000000"/>
                        </a:solidFill>
                        <a:latin typeface="Roboto Condensed Light" panose="02000000000000000000" pitchFamily="2" charset="0"/>
                        <a:ea typeface="+mn-ea"/>
                        <a:cs typeface="+mn-cs"/>
                      </a:endParaRPr>
                    </a:p>
                  </a:txBody>
                  <a:tcPr marL="182880" marR="182880" marT="36000" marB="14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C9C9C9"/>
                      </a:solidFill>
                      <a:prstDash val="solid"/>
                      <a:round/>
                      <a:headEnd type="none" w="med" len="med"/>
                      <a:tailEnd type="none" w="med" len="med"/>
                    </a:lnB>
                    <a:lnTlToBr w="12700" cmpd="sng">
                      <a:noFill/>
                      <a:prstDash val="solid"/>
                    </a:lnTlToBr>
                    <a:lnBlToTr w="12700" cmpd="sng">
                      <a:noFill/>
                      <a:prstDash val="solid"/>
                    </a:lnBlToTr>
                    <a:solidFill>
                      <a:srgbClr val="7CADD4">
                        <a:alpha val="20000"/>
                      </a:srgbClr>
                    </a:solidFill>
                  </a:tcPr>
                </a:tc>
                <a:extLst>
                  <a:ext uri="{0D108BD9-81ED-4DB2-BD59-A6C34878D82A}">
                    <a16:rowId xmlns:a16="http://schemas.microsoft.com/office/drawing/2014/main" val="106570360"/>
                  </a:ext>
                </a:extLst>
              </a:tr>
            </a:tbl>
          </a:graphicData>
        </a:graphic>
      </p:graphicFrame>
    </p:spTree>
    <p:extLst>
      <p:ext uri="{BB962C8B-B14F-4D97-AF65-F5344CB8AC3E}">
        <p14:creationId xmlns:p14="http://schemas.microsoft.com/office/powerpoint/2010/main" val="2451459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CC858B0-B199-5AFA-4070-F33A9D03A618}"/>
              </a:ext>
            </a:extLst>
          </p:cNvPr>
          <p:cNvSpPr txBox="1">
            <a:spLocks noGrp="1"/>
          </p:cNvSpPr>
          <p:nvPr>
            <p:ph type="title" idx="4294967295"/>
          </p:nvPr>
        </p:nvSpPr>
        <p:spPr>
          <a:xfrm>
            <a:off x="336885" y="514801"/>
            <a:ext cx="8705515" cy="1032921"/>
          </a:xfrm>
          <a:prstGeom prst="rect">
            <a:avLst/>
          </a:prstGeom>
          <a:noFill/>
          <a:ln>
            <a:noFill/>
            <a:prstDash/>
          </a:ln>
          <a:effectLst/>
        </p:spPr>
        <p:txBody>
          <a:bodyPr rot="0" spcFirstLastPara="0" vertOverflow="overflow" horzOverflow="overflow" vert="horz" wrap="square" lIns="0" tIns="6931" rIns="0" bIns="0" numCol="1" spcCol="0" rtlCol="0" fromWordArt="0" anchor="t" anchorCtr="0" forceAA="0" compatLnSpc="1">
            <a:prstTxWarp prst="textNoShape">
              <a:avLst/>
            </a:prstTxWarp>
            <a:noAutofit/>
          </a:bodyPr>
          <a:lstStyle/>
          <a:p>
            <a:pPr marL="7701" marR="242975" lvl="0" indent="0" algn="l" defTabSz="554492" rtl="0" eaLnBrk="1" fontAlgn="auto" latinLnBrk="0" hangingPunct="1">
              <a:lnSpc>
                <a:spcPct val="90000"/>
              </a:lnSpc>
              <a:spcBef>
                <a:spcPts val="55"/>
              </a:spcBef>
              <a:spcAft>
                <a:spcPts val="0"/>
              </a:spcAft>
              <a:buClrTx/>
              <a:buSzTx/>
              <a:buFontTx/>
              <a:buNone/>
              <a:tabLst/>
              <a:defRPr/>
            </a:pPr>
            <a:r>
              <a:rPr kumimoji="0" lang="en-US" sz="4000" b="1" i="0" u="none" strike="noStrike" kern="1200" cap="none" spc="0" normalizeH="0" baseline="0" noProof="0" dirty="0">
                <a:ln>
                  <a:noFill/>
                </a:ln>
                <a:solidFill>
                  <a:srgbClr val="4A4A4A"/>
                </a:solidFill>
                <a:effectLst/>
                <a:uLnTx/>
                <a:uFillTx/>
                <a:latin typeface="Montserrat SemiBold" pitchFamily="2" charset="77"/>
                <a:ea typeface="+mn-ea"/>
                <a:cs typeface="+mn-cs"/>
              </a:rPr>
              <a:t>Info-Tech offers various levels of support to best suit your needs</a:t>
            </a:r>
            <a:endParaRPr kumimoji="0" lang="en-US" sz="4000" b="1" i="0" u="none" strike="noStrike" kern="1200" cap="none" spc="-30" normalizeH="0" baseline="0" noProof="0" dirty="0">
              <a:ln>
                <a:noFill/>
              </a:ln>
              <a:solidFill>
                <a:srgbClr val="4A4A4A"/>
              </a:solidFill>
              <a:effectLst/>
              <a:uLnTx/>
              <a:uFillTx/>
              <a:latin typeface="Montserrat SemiBold" pitchFamily="2" charset="77"/>
              <a:ea typeface="+mn-ea"/>
              <a:cs typeface="Arial Narrow"/>
            </a:endParaRPr>
          </a:p>
        </p:txBody>
      </p:sp>
      <p:sp>
        <p:nvSpPr>
          <p:cNvPr id="3" name="TextBox 2">
            <a:extLst>
              <a:ext uri="{FF2B5EF4-FFF2-40B4-BE49-F238E27FC236}">
                <a16:creationId xmlns:a16="http://schemas.microsoft.com/office/drawing/2014/main" id="{46FFECB2-2593-7671-1FE9-D6A077278381}"/>
              </a:ext>
            </a:extLst>
          </p:cNvPr>
          <p:cNvSpPr txBox="1"/>
          <p:nvPr/>
        </p:nvSpPr>
        <p:spPr>
          <a:xfrm>
            <a:off x="746493" y="3021264"/>
            <a:ext cx="2621815" cy="283998"/>
          </a:xfrm>
          <a:prstGeom prst="rect">
            <a:avLst/>
          </a:prstGeom>
        </p:spPr>
        <p:txBody>
          <a:bodyPr vert="horz" wrap="square" lIns="0" tIns="6931" rIns="0" bIns="0" rtlCol="0">
            <a:spAutoFit/>
          </a:bodyPr>
          <a:lstStyle/>
          <a:p>
            <a:pPr marL="0" marR="0" lvl="0" indent="0" algn="ctr" defTabSz="554492"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Montserrat SemiBold" pitchFamily="2" charset="77"/>
                <a:ea typeface="+mn-ea"/>
                <a:cs typeface="+mn-cs"/>
              </a:rPr>
              <a:t>DIY Toolkit</a:t>
            </a:r>
          </a:p>
        </p:txBody>
      </p:sp>
      <p:sp>
        <p:nvSpPr>
          <p:cNvPr id="4" name="TextBox 3">
            <a:extLst>
              <a:ext uri="{FF2B5EF4-FFF2-40B4-BE49-F238E27FC236}">
                <a16:creationId xmlns:a16="http://schemas.microsoft.com/office/drawing/2014/main" id="{5241F57F-2655-81EA-5E4A-A4A590891AFA}"/>
              </a:ext>
            </a:extLst>
          </p:cNvPr>
          <p:cNvSpPr txBox="1"/>
          <p:nvPr/>
        </p:nvSpPr>
        <p:spPr>
          <a:xfrm>
            <a:off x="1031240" y="3439160"/>
            <a:ext cx="2052320" cy="1009837"/>
          </a:xfrm>
          <a:prstGeom prst="rect">
            <a:avLst/>
          </a:prstGeom>
        </p:spPr>
        <p:txBody>
          <a:bodyPr vert="horz" wrap="square" lIns="0" tIns="6931" rIns="0" bIns="0" rtlCol="0">
            <a:spAutoFit/>
          </a:bodyPr>
          <a:lstStyle/>
          <a:p>
            <a:pPr marL="0" marR="0" lvl="0" indent="0" algn="ctr" defTabSz="554492" rtl="0" eaLnBrk="1" fontAlgn="auto" latinLnBrk="0" hangingPunct="1">
              <a:lnSpc>
                <a:spcPct val="110000"/>
              </a:lnSpc>
              <a:spcBef>
                <a:spcPts val="0"/>
              </a:spcBef>
              <a:spcAft>
                <a:spcPts val="0"/>
              </a:spcAft>
              <a:buClrTx/>
              <a:buSzTx/>
              <a:buFontTx/>
              <a:buNone/>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“Our team has already made this critical project a priority, and we have the time and capability, but some guidance along the way would be helpful.” </a:t>
            </a:r>
          </a:p>
        </p:txBody>
      </p:sp>
      <p:sp>
        <p:nvSpPr>
          <p:cNvPr id="5" name="TextBox 4">
            <a:extLst>
              <a:ext uri="{FF2B5EF4-FFF2-40B4-BE49-F238E27FC236}">
                <a16:creationId xmlns:a16="http://schemas.microsoft.com/office/drawing/2014/main" id="{807CBF94-170B-2D47-A451-4838C57F0CA0}"/>
              </a:ext>
            </a:extLst>
          </p:cNvPr>
          <p:cNvSpPr txBox="1"/>
          <p:nvPr/>
        </p:nvSpPr>
        <p:spPr>
          <a:xfrm>
            <a:off x="3409207" y="2746944"/>
            <a:ext cx="2621815" cy="560996"/>
          </a:xfrm>
          <a:prstGeom prst="rect">
            <a:avLst/>
          </a:prstGeom>
        </p:spPr>
        <p:txBody>
          <a:bodyPr vert="horz" wrap="square" lIns="0" tIns="6931" rIns="0" bIns="0" rtlCol="0">
            <a:spAutoFit/>
          </a:bodyPr>
          <a:lstStyle/>
          <a:p>
            <a:pPr marL="0" marR="0" lvl="0" indent="0" algn="ctr" defTabSz="554492"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Montserrat SemiBold" pitchFamily="2" charset="77"/>
                <a:ea typeface="+mn-ea"/>
                <a:cs typeface="+mn-cs"/>
              </a:rPr>
              <a:t>Guided Implementation</a:t>
            </a:r>
          </a:p>
        </p:txBody>
      </p:sp>
      <p:sp>
        <p:nvSpPr>
          <p:cNvPr id="6" name="TextBox 5">
            <a:extLst>
              <a:ext uri="{FF2B5EF4-FFF2-40B4-BE49-F238E27FC236}">
                <a16:creationId xmlns:a16="http://schemas.microsoft.com/office/drawing/2014/main" id="{F1BDA89D-6CA7-966A-9954-EFD7CAB8D3A3}"/>
              </a:ext>
            </a:extLst>
          </p:cNvPr>
          <p:cNvSpPr txBox="1"/>
          <p:nvPr/>
        </p:nvSpPr>
        <p:spPr>
          <a:xfrm>
            <a:off x="3693954" y="3439160"/>
            <a:ext cx="2052320" cy="1212970"/>
          </a:xfrm>
          <a:prstGeom prst="rect">
            <a:avLst/>
          </a:prstGeom>
        </p:spPr>
        <p:txBody>
          <a:bodyPr vert="horz" wrap="square" lIns="0" tIns="6931" rIns="0" bIns="0" rtlCol="0">
            <a:spAutoFit/>
          </a:bodyPr>
          <a:lstStyle/>
          <a:p>
            <a:pPr marL="0" marR="0" lvl="0" indent="0" algn="ctr" defTabSz="554492" rtl="0" eaLnBrk="1" fontAlgn="auto" latinLnBrk="0" hangingPunct="1">
              <a:lnSpc>
                <a:spcPct val="110000"/>
              </a:lnSpc>
              <a:spcBef>
                <a:spcPts val="0"/>
              </a:spcBef>
              <a:spcAft>
                <a:spcPts val="0"/>
              </a:spcAft>
              <a:buClrTx/>
              <a:buSzTx/>
              <a:buFontTx/>
              <a:buNone/>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“Our team knows that we need to fix a process, but we need assistance to determine where to focus. Some check-ins along the way would help keep us on track.”</a:t>
            </a:r>
          </a:p>
          <a:p>
            <a:pPr marL="0" marR="0" lvl="0" indent="0" algn="ctr" defTabSz="554492" rtl="0" eaLnBrk="1" fontAlgn="auto" latinLnBrk="0" hangingPunct="1">
              <a:lnSpc>
                <a:spcPct val="110000"/>
              </a:lnSpc>
              <a:spcBef>
                <a:spcPts val="0"/>
              </a:spcBef>
              <a:spcAft>
                <a:spcPts val="0"/>
              </a:spcAft>
              <a:buClrTx/>
              <a:buSzTx/>
              <a:buFontTx/>
              <a:buNone/>
              <a:tabLst/>
              <a:defRPr/>
            </a:pPr>
            <a:endPar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endParaRPr>
          </a:p>
        </p:txBody>
      </p:sp>
      <p:sp>
        <p:nvSpPr>
          <p:cNvPr id="7" name="TextBox 6">
            <a:extLst>
              <a:ext uri="{FF2B5EF4-FFF2-40B4-BE49-F238E27FC236}">
                <a16:creationId xmlns:a16="http://schemas.microsoft.com/office/drawing/2014/main" id="{BD063DE6-B1E4-4D14-E811-C311899E14ED}"/>
              </a:ext>
            </a:extLst>
          </p:cNvPr>
          <p:cNvSpPr txBox="1"/>
          <p:nvPr/>
        </p:nvSpPr>
        <p:spPr>
          <a:xfrm>
            <a:off x="6111767" y="3021264"/>
            <a:ext cx="2621815" cy="283998"/>
          </a:xfrm>
          <a:prstGeom prst="rect">
            <a:avLst/>
          </a:prstGeom>
        </p:spPr>
        <p:txBody>
          <a:bodyPr vert="horz" wrap="square" lIns="0" tIns="6931" rIns="0" bIns="0" rtlCol="0">
            <a:spAutoFit/>
          </a:bodyPr>
          <a:lstStyle/>
          <a:p>
            <a:pPr marL="0" marR="0" lvl="0" indent="0" algn="ctr" defTabSz="554492"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Montserrat SemiBold" pitchFamily="2" charset="77"/>
                <a:ea typeface="+mn-ea"/>
                <a:cs typeface="+mn-cs"/>
              </a:rPr>
              <a:t>Workshop</a:t>
            </a:r>
          </a:p>
        </p:txBody>
      </p:sp>
      <p:sp>
        <p:nvSpPr>
          <p:cNvPr id="8" name="TextBox 7">
            <a:extLst>
              <a:ext uri="{FF2B5EF4-FFF2-40B4-BE49-F238E27FC236}">
                <a16:creationId xmlns:a16="http://schemas.microsoft.com/office/drawing/2014/main" id="{F042212C-1FF9-9393-A5A8-81B80A3822F7}"/>
              </a:ext>
            </a:extLst>
          </p:cNvPr>
          <p:cNvSpPr txBox="1"/>
          <p:nvPr/>
        </p:nvSpPr>
        <p:spPr>
          <a:xfrm>
            <a:off x="6416834" y="3439160"/>
            <a:ext cx="1944846" cy="1212970"/>
          </a:xfrm>
          <a:prstGeom prst="rect">
            <a:avLst/>
          </a:prstGeom>
        </p:spPr>
        <p:txBody>
          <a:bodyPr vert="horz" wrap="square" lIns="0" tIns="6931" rIns="0" bIns="0" rtlCol="0">
            <a:spAutoFit/>
          </a:bodyPr>
          <a:lstStyle/>
          <a:p>
            <a:pPr marL="0" marR="0" lvl="0" indent="0" algn="ctr" defTabSz="554492" rtl="0" eaLnBrk="1" fontAlgn="auto" latinLnBrk="0" hangingPunct="1">
              <a:lnSpc>
                <a:spcPct val="110000"/>
              </a:lnSpc>
              <a:spcBef>
                <a:spcPts val="0"/>
              </a:spcBef>
              <a:spcAft>
                <a:spcPts val="0"/>
              </a:spcAft>
              <a:buClrTx/>
              <a:buSzTx/>
              <a:buFontTx/>
              <a:buNone/>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“We need to hit the ground running and get this project kicked off immediately. Our team has the ability to take this over once we get a framework and strategy in place.”</a:t>
            </a:r>
          </a:p>
        </p:txBody>
      </p:sp>
      <p:sp>
        <p:nvSpPr>
          <p:cNvPr id="9" name="TextBox 8">
            <a:extLst>
              <a:ext uri="{FF2B5EF4-FFF2-40B4-BE49-F238E27FC236}">
                <a16:creationId xmlns:a16="http://schemas.microsoft.com/office/drawing/2014/main" id="{50057C1C-9C77-FD2B-4A34-793FE378282A}"/>
              </a:ext>
            </a:extLst>
          </p:cNvPr>
          <p:cNvSpPr txBox="1"/>
          <p:nvPr/>
        </p:nvSpPr>
        <p:spPr>
          <a:xfrm>
            <a:off x="8773687" y="3021264"/>
            <a:ext cx="2621815" cy="283998"/>
          </a:xfrm>
          <a:prstGeom prst="rect">
            <a:avLst/>
          </a:prstGeom>
        </p:spPr>
        <p:txBody>
          <a:bodyPr vert="horz" wrap="square" lIns="0" tIns="6931" rIns="0" bIns="0" rtlCol="0">
            <a:spAutoFit/>
          </a:bodyPr>
          <a:lstStyle/>
          <a:p>
            <a:pPr marL="0" marR="0" lvl="0" indent="0" algn="ctr" defTabSz="554492" rtl="0" eaLnBrk="1" fontAlgn="auto" latinLnBrk="0" hangingPunct="1">
              <a:lnSpc>
                <a:spcPct val="90000"/>
              </a:lnSpc>
              <a:spcBef>
                <a:spcPts val="0"/>
              </a:spcBef>
              <a:spcAft>
                <a:spcPts val="0"/>
              </a:spcAft>
              <a:buClrTx/>
              <a:buSzPts val="2800"/>
              <a:buFont typeface="Arial" panose="020B0604020202020204" pitchFamily="34" charset="0"/>
              <a:buNone/>
              <a:tabLst/>
              <a:defRPr/>
            </a:pPr>
            <a:r>
              <a:rPr kumimoji="0" lang="en-US" sz="2000" b="1" i="0" u="none" strike="noStrike" kern="1200" cap="none" spc="0" normalizeH="0" baseline="0" noProof="0" dirty="0">
                <a:ln>
                  <a:noFill/>
                </a:ln>
                <a:solidFill>
                  <a:srgbClr val="FFFFFF"/>
                </a:solidFill>
                <a:effectLst/>
                <a:uLnTx/>
                <a:uFillTx/>
                <a:latin typeface="Montserrat SemiBold" pitchFamily="2" charset="77"/>
                <a:ea typeface="+mn-ea"/>
                <a:cs typeface="+mn-cs"/>
              </a:rPr>
              <a:t>Consulting</a:t>
            </a:r>
          </a:p>
        </p:txBody>
      </p:sp>
      <p:sp>
        <p:nvSpPr>
          <p:cNvPr id="10" name="TextBox 9">
            <a:extLst>
              <a:ext uri="{FF2B5EF4-FFF2-40B4-BE49-F238E27FC236}">
                <a16:creationId xmlns:a16="http://schemas.microsoft.com/office/drawing/2014/main" id="{4492148C-93D1-A9B9-7682-1C51FAEE5DAC}"/>
              </a:ext>
            </a:extLst>
          </p:cNvPr>
          <p:cNvSpPr txBox="1"/>
          <p:nvPr/>
        </p:nvSpPr>
        <p:spPr>
          <a:xfrm>
            <a:off x="9058434" y="3439160"/>
            <a:ext cx="2052320" cy="1009837"/>
          </a:xfrm>
          <a:prstGeom prst="rect">
            <a:avLst/>
          </a:prstGeom>
        </p:spPr>
        <p:txBody>
          <a:bodyPr vert="horz" wrap="square" lIns="0" tIns="6931" rIns="0" bIns="0" rtlCol="0">
            <a:spAutoFit/>
          </a:bodyPr>
          <a:lstStyle/>
          <a:p>
            <a:pPr marL="0" marR="0" lvl="0" indent="0" algn="ctr" defTabSz="554492" rtl="0" eaLnBrk="1" fontAlgn="auto" latinLnBrk="0" hangingPunct="1">
              <a:lnSpc>
                <a:spcPct val="110000"/>
              </a:lnSpc>
              <a:spcBef>
                <a:spcPts val="0"/>
              </a:spcBef>
              <a:spcAft>
                <a:spcPts val="0"/>
              </a:spcAft>
              <a:buClrTx/>
              <a:buSzTx/>
              <a:buFontTx/>
              <a:buNone/>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“Our team does not have the time or the knowledge to take this project on. We need assistance through the entirety of this project.”</a:t>
            </a:r>
          </a:p>
          <a:p>
            <a:pPr marL="0" marR="0" lvl="0" indent="0" algn="ctr" defTabSz="554492" rtl="0" eaLnBrk="1" fontAlgn="auto" latinLnBrk="0" hangingPunct="1">
              <a:lnSpc>
                <a:spcPct val="110000"/>
              </a:lnSpc>
              <a:spcBef>
                <a:spcPts val="0"/>
              </a:spcBef>
              <a:spcAft>
                <a:spcPts val="0"/>
              </a:spcAft>
              <a:buClrTx/>
              <a:buSzTx/>
              <a:buFontTx/>
              <a:buNone/>
              <a:tabLst/>
              <a:defRPr/>
            </a:pPr>
            <a:endPar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endParaRPr>
          </a:p>
        </p:txBody>
      </p:sp>
      <p:sp>
        <p:nvSpPr>
          <p:cNvPr id="2" name="TextBox 1">
            <a:extLst>
              <a:ext uri="{FF2B5EF4-FFF2-40B4-BE49-F238E27FC236}">
                <a16:creationId xmlns:a16="http://schemas.microsoft.com/office/drawing/2014/main" id="{1ED48548-AF04-35BE-C418-E329129D2FFB}"/>
              </a:ext>
            </a:extLst>
          </p:cNvPr>
          <p:cNvSpPr txBox="1"/>
          <p:nvPr/>
        </p:nvSpPr>
        <p:spPr>
          <a:xfrm>
            <a:off x="351314" y="5561419"/>
            <a:ext cx="11572240" cy="283998"/>
          </a:xfrm>
          <a:prstGeom prst="rect">
            <a:avLst/>
          </a:prstGeom>
        </p:spPr>
        <p:txBody>
          <a:bodyPr vert="horz" wrap="square" lIns="0" tIns="6931" rIns="0" bIns="0" rtlCol="0">
            <a:spAutoFit/>
          </a:bodyPr>
          <a:lstStyle/>
          <a:p>
            <a:pPr marL="7701" marR="242975" lvl="0" indent="0" algn="ctr" defTabSz="554492" rtl="0" eaLnBrk="1" fontAlgn="auto" latinLnBrk="0" hangingPunct="1">
              <a:lnSpc>
                <a:spcPct val="90000"/>
              </a:lnSpc>
              <a:spcBef>
                <a:spcPts val="1000"/>
              </a:spcBef>
              <a:spcAft>
                <a:spcPts val="0"/>
              </a:spcAft>
              <a:buClrTx/>
              <a:buSzTx/>
              <a:buFontTx/>
              <a:buNone/>
              <a:tabLst/>
              <a:defRPr/>
            </a:pPr>
            <a:r>
              <a:rPr kumimoji="0" lang="en-US" sz="2000" b="1" i="0" u="none" strike="noStrike" kern="1200" cap="none" spc="0" normalizeH="0" baseline="0" noProof="0" dirty="0">
                <a:ln>
                  <a:noFill/>
                </a:ln>
                <a:solidFill>
                  <a:srgbClr val="2576B7"/>
                </a:solidFill>
                <a:effectLst/>
                <a:uLnTx/>
                <a:uFillTx/>
                <a:latin typeface="Montserrat SemiBold" pitchFamily="2" charset="77"/>
                <a:ea typeface="+mn-ea"/>
                <a:cs typeface="+mn-cs"/>
              </a:rPr>
              <a:t>Diagnostics and consistent frameworks are used throughout all four options.</a:t>
            </a:r>
          </a:p>
        </p:txBody>
      </p:sp>
    </p:spTree>
    <p:extLst>
      <p:ext uri="{BB962C8B-B14F-4D97-AF65-F5344CB8AC3E}">
        <p14:creationId xmlns:p14="http://schemas.microsoft.com/office/powerpoint/2010/main" val="1228530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D383AB38-FA35-4D14-B357-1289235E2CF2}"/>
              </a:ext>
              <a:ext uri="{C183D7F6-B498-43B3-948B-1728B52AA6E4}">
                <adec:decorative xmlns:adec="http://schemas.microsoft.com/office/drawing/2017/decorative" val="1"/>
              </a:ext>
            </a:extLst>
          </p:cNvPr>
          <p:cNvSpPr/>
          <p:nvPr>
            <p:custDataLst>
              <p:tags r:id="rId1"/>
            </p:custDataLst>
          </p:nvPr>
        </p:nvSpPr>
        <p:spPr>
          <a:xfrm>
            <a:off x="9162761" y="1"/>
            <a:ext cx="3030827" cy="6857999"/>
          </a:xfrm>
          <a:prstGeom prst="rect">
            <a:avLst/>
          </a:prstGeom>
          <a:gradFill>
            <a:gsLst>
              <a:gs pos="0">
                <a:schemeClr val="accent1">
                  <a:lumMod val="60000"/>
                  <a:lumOff val="40000"/>
                </a:schemeClr>
              </a:gs>
              <a:gs pos="89000">
                <a:srgbClr val="2576B7"/>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37"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1E5E92"/>
              </a:solidFill>
              <a:effectLst/>
              <a:uLnTx/>
              <a:uFillTx/>
              <a:latin typeface="Roboto Condensed Light" panose="02000000000000000000" pitchFamily="2" charset="0"/>
              <a:ea typeface="+mn-ea"/>
              <a:cs typeface="+mn-cs"/>
            </a:endParaRPr>
          </a:p>
        </p:txBody>
      </p:sp>
      <p:sp>
        <p:nvSpPr>
          <p:cNvPr id="3" name="Title 2">
            <a:extLst>
              <a:ext uri="{FF2B5EF4-FFF2-40B4-BE49-F238E27FC236}">
                <a16:creationId xmlns:a16="http://schemas.microsoft.com/office/drawing/2014/main" id="{4A3FF544-102B-48E8-9033-F9A7D5C60557}"/>
              </a:ext>
            </a:extLst>
          </p:cNvPr>
          <p:cNvSpPr txBox="1">
            <a:spLocks noGrp="1"/>
          </p:cNvSpPr>
          <p:nvPr>
            <p:ph type="title" idx="4294967295"/>
            <p:custDataLst>
              <p:tags r:id="rId2"/>
            </p:custDataLst>
          </p:nvPr>
        </p:nvSpPr>
        <p:spPr>
          <a:xfrm>
            <a:off x="354855" y="530400"/>
            <a:ext cx="6674475" cy="59610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000" b="0" i="0" kern="1200">
                <a:solidFill>
                  <a:srgbClr val="717171"/>
                </a:solidFill>
                <a:latin typeface="Montserrat SemiBold" pitchFamily="2" charset="77"/>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srgbClr val="717171"/>
                </a:solidFill>
                <a:effectLst/>
                <a:uLnTx/>
                <a:uFillTx/>
                <a:latin typeface="Montserrat SemiBold" pitchFamily="2" charset="77"/>
                <a:ea typeface="+mj-ea"/>
              </a:rPr>
              <a:t>Guided Implementation</a:t>
            </a:r>
            <a:endParaRPr kumimoji="0" lang="en-CA" sz="4000" b="0" i="0" u="none" strike="noStrike" kern="1200" cap="none" spc="0" normalizeH="0" baseline="0" noProof="0" dirty="0">
              <a:ln>
                <a:noFill/>
              </a:ln>
              <a:solidFill>
                <a:srgbClr val="717171"/>
              </a:solidFill>
              <a:effectLst/>
              <a:uLnTx/>
              <a:uFillTx/>
              <a:latin typeface="Montserrat SemiBold" pitchFamily="2" charset="77"/>
              <a:ea typeface="+mj-ea"/>
            </a:endParaRPr>
          </a:p>
        </p:txBody>
      </p:sp>
      <p:sp>
        <p:nvSpPr>
          <p:cNvPr id="4" name="Text Placeholder 3">
            <a:extLst>
              <a:ext uri="{FF2B5EF4-FFF2-40B4-BE49-F238E27FC236}">
                <a16:creationId xmlns:a16="http://schemas.microsoft.com/office/drawing/2014/main" id="{F73541B2-A2ED-44E7-838B-967AFBDA9C3D}"/>
              </a:ext>
            </a:extLst>
          </p:cNvPr>
          <p:cNvSpPr txBox="1">
            <a:spLocks/>
          </p:cNvSpPr>
          <p:nvPr>
            <p:custDataLst>
              <p:tags r:id="rId3"/>
            </p:custDataLst>
          </p:nvPr>
        </p:nvSpPr>
        <p:spPr>
          <a:xfrm>
            <a:off x="354854" y="1230096"/>
            <a:ext cx="7461054" cy="6699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494949"/>
                </a:solidFill>
                <a:effectLst/>
                <a:uLnTx/>
                <a:uFillTx/>
                <a:latin typeface="Montserrat Medium" pitchFamily="2" charset="77"/>
                <a:ea typeface="+mn-ea"/>
                <a:cs typeface="+mn-cs"/>
              </a:rPr>
              <a:t>What does a typical GI </a:t>
            </a:r>
            <a:r>
              <a:rPr kumimoji="0" lang="en-US" sz="2000" b="0" i="0" u="none" strike="noStrike" kern="1200" cap="none" spc="0" normalizeH="0" baseline="0" noProof="0" dirty="0">
                <a:ln>
                  <a:noFill/>
                </a:ln>
                <a:solidFill>
                  <a:srgbClr val="4A4A4A"/>
                </a:solidFill>
                <a:effectLst/>
                <a:uLnTx/>
                <a:uFillTx/>
                <a:latin typeface="Montserrat Medium" pitchFamily="2" charset="77"/>
                <a:ea typeface="+mn-ea"/>
                <a:cs typeface="+mn-cs"/>
              </a:rPr>
              <a:t>on</a:t>
            </a:r>
            <a:r>
              <a:rPr kumimoji="0" lang="en-US" sz="2000" b="0" i="0" u="none" strike="noStrike" kern="1200" cap="none" spc="0" normalizeH="0" baseline="0" noProof="0" dirty="0">
                <a:ln>
                  <a:noFill/>
                </a:ln>
                <a:solidFill>
                  <a:srgbClr val="494949"/>
                </a:solidFill>
                <a:effectLst/>
                <a:uLnTx/>
                <a:uFillTx/>
                <a:latin typeface="Montserrat Medium" pitchFamily="2" charset="77"/>
                <a:ea typeface="+mn-ea"/>
                <a:cs typeface="+mn-cs"/>
              </a:rPr>
              <a:t> this topic look like?</a:t>
            </a:r>
            <a:endParaRPr kumimoji="0" lang="en-CA" sz="2000" b="0" i="0" u="none" strike="noStrike" kern="1200" cap="none" spc="0" normalizeH="0" baseline="0" noProof="0" dirty="0">
              <a:ln>
                <a:noFill/>
              </a:ln>
              <a:solidFill>
                <a:srgbClr val="494949"/>
              </a:solidFill>
              <a:effectLst/>
              <a:uLnTx/>
              <a:uFillTx/>
              <a:latin typeface="Montserrat Medium" pitchFamily="2" charset="77"/>
              <a:ea typeface="+mn-ea"/>
              <a:cs typeface="+mn-cs"/>
            </a:endParaRPr>
          </a:p>
        </p:txBody>
      </p:sp>
      <p:sp>
        <p:nvSpPr>
          <p:cNvPr id="31" name="TextBox 30">
            <a:extLst>
              <a:ext uri="{FF2B5EF4-FFF2-40B4-BE49-F238E27FC236}">
                <a16:creationId xmlns:a16="http://schemas.microsoft.com/office/drawing/2014/main" id="{3C951CA7-C56F-4944-A437-B07E96483324}"/>
              </a:ext>
            </a:extLst>
          </p:cNvPr>
          <p:cNvSpPr txBox="1"/>
          <p:nvPr>
            <p:custDataLst>
              <p:tags r:id="rId4"/>
            </p:custDataLst>
          </p:nvPr>
        </p:nvSpPr>
        <p:spPr>
          <a:xfrm>
            <a:off x="9423238" y="943806"/>
            <a:ext cx="2693370" cy="4354342"/>
          </a:xfrm>
          <a:prstGeom prst="rect">
            <a:avLst/>
          </a:prstGeom>
        </p:spPr>
        <p:txBody>
          <a:bodyPr vert="horz" wrap="square" lIns="0" tIns="6930" rIns="0" bIns="0" rtlCol="0" anchor="t">
            <a:spAutoFit/>
          </a:bodyPr>
          <a:lstStyle/>
          <a:p>
            <a:pPr marL="7620" marR="242570" lvl="0" indent="0" algn="l" defTabSz="554437" rtl="0" eaLnBrk="1" fontAlgn="auto" latinLnBrk="0" hangingPunct="1">
              <a:lnSpc>
                <a:spcPct val="100000"/>
              </a:lnSpc>
              <a:spcBef>
                <a:spcPts val="55"/>
              </a:spcBef>
              <a:spcAft>
                <a:spcPts val="0"/>
              </a:spcAft>
              <a:buClrTx/>
              <a:buSzTx/>
              <a:buFontTx/>
              <a:buNone/>
              <a:tabLst/>
              <a:defRPr/>
            </a:pPr>
            <a:r>
              <a:rPr kumimoji="0" lang="en-US" sz="2000" b="0" i="0" u="none" strike="noStrike" kern="1200" cap="none" spc="-30" normalizeH="0" baseline="0" noProof="0" dirty="0">
                <a:ln>
                  <a:noFill/>
                </a:ln>
                <a:solidFill>
                  <a:srgbClr val="FFFFFF"/>
                </a:solidFill>
                <a:effectLst/>
                <a:uLnTx/>
                <a:uFillTx/>
                <a:latin typeface="Montserrat Medium" pitchFamily="2" charset="77"/>
                <a:ea typeface="+mn-ea"/>
                <a:cs typeface="Arial Narrow"/>
              </a:rPr>
              <a:t>A Guided Implementation (GI) is a series </a:t>
            </a:r>
            <a:endParaRPr kumimoji="0" lang="en-US" sz="1092" b="0" i="0" u="none" strike="noStrike" kern="1200" cap="none" spc="0" normalizeH="0" baseline="0" noProof="0" dirty="0">
              <a:ln>
                <a:noFill/>
              </a:ln>
              <a:solidFill>
                <a:srgbClr val="494949"/>
              </a:solidFill>
              <a:effectLst/>
              <a:uLnTx/>
              <a:uFillTx/>
              <a:latin typeface="Roboto Condensed Light" panose="02000000000000000000" pitchFamily="2" charset="0"/>
              <a:ea typeface="+mn-ea"/>
              <a:cs typeface="+mn-cs"/>
            </a:endParaRPr>
          </a:p>
          <a:p>
            <a:pPr marL="7620" marR="242570" lvl="0" indent="0" algn="l" defTabSz="554437" rtl="0" eaLnBrk="1" fontAlgn="auto" latinLnBrk="0" hangingPunct="1">
              <a:lnSpc>
                <a:spcPct val="100000"/>
              </a:lnSpc>
              <a:spcBef>
                <a:spcPts val="55"/>
              </a:spcBef>
              <a:spcAft>
                <a:spcPts val="0"/>
              </a:spcAft>
              <a:buClrTx/>
              <a:buSzTx/>
              <a:buFontTx/>
              <a:buNone/>
              <a:tabLst/>
              <a:defRPr/>
            </a:pPr>
            <a:r>
              <a:rPr kumimoji="0" lang="en-US" sz="2000" b="0" i="0" u="none" strike="noStrike" kern="1200" cap="none" spc="-30" normalizeH="0" baseline="0" noProof="0" dirty="0">
                <a:ln>
                  <a:noFill/>
                </a:ln>
                <a:solidFill>
                  <a:srgbClr val="FFFFFF"/>
                </a:solidFill>
                <a:effectLst/>
                <a:uLnTx/>
                <a:uFillTx/>
                <a:latin typeface="Montserrat Medium" pitchFamily="2" charset="77"/>
                <a:ea typeface="+mn-ea"/>
                <a:cs typeface="Arial Narrow"/>
              </a:rPr>
              <a:t>of calls with an Info-Tech analyst to help implement our best practices in your organization.</a:t>
            </a:r>
          </a:p>
          <a:p>
            <a:pPr marL="7620" marR="242570" lvl="0" indent="0" algn="l" defTabSz="554437" rtl="0" eaLnBrk="1" fontAlgn="auto" latinLnBrk="0" hangingPunct="1">
              <a:lnSpc>
                <a:spcPct val="100000"/>
              </a:lnSpc>
              <a:spcBef>
                <a:spcPts val="55"/>
              </a:spcBef>
              <a:spcAft>
                <a:spcPts val="0"/>
              </a:spcAft>
              <a:buClrTx/>
              <a:buSzTx/>
              <a:buFontTx/>
              <a:buNone/>
              <a:tabLst/>
              <a:defRPr/>
            </a:pPr>
            <a:endParaRPr kumimoji="0" lang="en-US" sz="2000" b="0" i="0" u="none" strike="noStrike" kern="1200" cap="none" spc="-30" normalizeH="0" baseline="0" noProof="0" dirty="0">
              <a:ln>
                <a:noFill/>
              </a:ln>
              <a:solidFill>
                <a:srgbClr val="FFFFFF"/>
              </a:solidFill>
              <a:effectLst/>
              <a:uLnTx/>
              <a:uFillTx/>
              <a:latin typeface="Montserrat Medium" pitchFamily="2" charset="77"/>
              <a:ea typeface="+mn-ea"/>
              <a:cs typeface="Arial Narrow"/>
            </a:endParaRPr>
          </a:p>
          <a:p>
            <a:pPr marL="7620" marR="242570" lvl="0" indent="0" algn="l" defTabSz="554437" rtl="0" eaLnBrk="1" fontAlgn="auto" latinLnBrk="0" hangingPunct="1">
              <a:lnSpc>
                <a:spcPct val="100000"/>
              </a:lnSpc>
              <a:spcBef>
                <a:spcPts val="55"/>
              </a:spcBef>
              <a:spcAft>
                <a:spcPts val="0"/>
              </a:spcAft>
              <a:buClrTx/>
              <a:buSzTx/>
              <a:buFontTx/>
              <a:buNone/>
              <a:tabLst/>
              <a:defRPr/>
            </a:pPr>
            <a:r>
              <a:rPr kumimoji="0" lang="en-US" sz="2000" b="0" i="0" u="none" strike="noStrike" kern="1200" cap="none" spc="-30" normalizeH="0" baseline="0" noProof="0" dirty="0">
                <a:ln>
                  <a:noFill/>
                </a:ln>
                <a:solidFill>
                  <a:srgbClr val="FFFFFF"/>
                </a:solidFill>
                <a:effectLst/>
                <a:uLnTx/>
                <a:uFillTx/>
                <a:latin typeface="Montserrat Medium"/>
                <a:ea typeface="+mn-ea"/>
                <a:cs typeface="Arial Narrow"/>
              </a:rPr>
              <a:t>A typical GI is </a:t>
            </a:r>
            <a:br>
              <a:rPr kumimoji="0" lang="en-US" sz="2000" b="0" i="0" u="none" strike="noStrike" kern="1200" cap="none" spc="-30" normalizeH="0" baseline="0" noProof="0" dirty="0">
                <a:ln>
                  <a:noFill/>
                </a:ln>
                <a:solidFill>
                  <a:srgbClr val="FFFFFF"/>
                </a:solidFill>
                <a:effectLst/>
                <a:uLnTx/>
                <a:uFillTx/>
                <a:latin typeface="Montserrat Medium"/>
                <a:ea typeface="+mn-ea"/>
                <a:cs typeface="Arial Narrow"/>
              </a:rPr>
            </a:br>
            <a:r>
              <a:rPr kumimoji="0" lang="en-US" sz="2000" b="0" i="0" u="none" strike="noStrike" kern="1200" cap="none" spc="-30" normalizeH="0" baseline="0" noProof="0" dirty="0">
                <a:ln>
                  <a:noFill/>
                </a:ln>
                <a:solidFill>
                  <a:srgbClr val="FFFFFF"/>
                </a:solidFill>
                <a:effectLst/>
                <a:uLnTx/>
                <a:uFillTx/>
                <a:latin typeface="Montserrat Medium"/>
                <a:ea typeface="+mn-ea"/>
                <a:cs typeface="Arial Narrow"/>
              </a:rPr>
              <a:t>6 to 12 calls over the course of </a:t>
            </a:r>
            <a:br>
              <a:rPr kumimoji="0" lang="en-US" sz="2000" b="0" i="0" u="none" strike="noStrike" kern="1200" cap="none" spc="-30" normalizeH="0" baseline="0" noProof="0" dirty="0">
                <a:ln>
                  <a:noFill/>
                </a:ln>
                <a:solidFill>
                  <a:srgbClr val="FFFFFF"/>
                </a:solidFill>
                <a:effectLst/>
                <a:uLnTx/>
                <a:uFillTx/>
                <a:latin typeface="Montserrat Medium"/>
                <a:ea typeface="+mn-ea"/>
                <a:cs typeface="Arial Narrow"/>
              </a:rPr>
            </a:br>
            <a:r>
              <a:rPr kumimoji="0" lang="en-US" sz="2000" b="0" i="0" u="none" strike="noStrike" kern="1200" cap="none" spc="-30" normalizeH="0" baseline="0" noProof="0" dirty="0">
                <a:ln>
                  <a:noFill/>
                </a:ln>
                <a:solidFill>
                  <a:srgbClr val="FFFFFF"/>
                </a:solidFill>
                <a:effectLst/>
                <a:uLnTx/>
                <a:uFillTx/>
                <a:latin typeface="Montserrat Medium"/>
                <a:ea typeface="+mn-ea"/>
                <a:cs typeface="Arial Narrow"/>
              </a:rPr>
              <a:t>4 to 6 months.</a:t>
            </a:r>
          </a:p>
        </p:txBody>
      </p:sp>
      <p:graphicFrame>
        <p:nvGraphicFramePr>
          <p:cNvPr id="7" name="Diagram 6" descr="Chevron progress bar indicating three phases: 1, 2, and 3.">
            <a:extLst>
              <a:ext uri="{FF2B5EF4-FFF2-40B4-BE49-F238E27FC236}">
                <a16:creationId xmlns:a16="http://schemas.microsoft.com/office/drawing/2014/main" id="{B8CCC49A-D6A3-43EE-9C49-CA6B950D6A07}"/>
              </a:ext>
            </a:extLst>
          </p:cNvPr>
          <p:cNvGraphicFramePr/>
          <p:nvPr>
            <p:custDataLst>
              <p:tags r:id="rId5"/>
            </p:custDataLst>
          </p:nvPr>
        </p:nvGraphicFramePr>
        <p:xfrm>
          <a:off x="309838" y="2092161"/>
          <a:ext cx="8646551" cy="1016192"/>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sp>
        <p:nvSpPr>
          <p:cNvPr id="10" name="Rectangle 9">
            <a:extLst>
              <a:ext uri="{FF2B5EF4-FFF2-40B4-BE49-F238E27FC236}">
                <a16:creationId xmlns:a16="http://schemas.microsoft.com/office/drawing/2014/main" id="{0A3D6A72-FBE2-44C3-BB5A-FF3B8AE94F0A}"/>
              </a:ext>
            </a:extLst>
          </p:cNvPr>
          <p:cNvSpPr/>
          <p:nvPr>
            <p:custDataLst>
              <p:tags r:id="rId6"/>
            </p:custDataLst>
          </p:nvPr>
        </p:nvSpPr>
        <p:spPr>
          <a:xfrm>
            <a:off x="981691" y="3300440"/>
            <a:ext cx="1306641" cy="954107"/>
          </a:xfrm>
          <a:prstGeom prst="rect">
            <a:avLst/>
          </a:prstGeom>
        </p:spPr>
        <p:txBody>
          <a:bodyPr wrap="square">
            <a:spAutoFit/>
          </a:bodyPr>
          <a:lstStyle/>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Call #1:</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 Identify requirements and goals.</a:t>
            </a:r>
          </a:p>
        </p:txBody>
      </p:sp>
      <p:sp>
        <p:nvSpPr>
          <p:cNvPr id="15" name="Rectangle 14">
            <a:extLst>
              <a:ext uri="{FF2B5EF4-FFF2-40B4-BE49-F238E27FC236}">
                <a16:creationId xmlns:a16="http://schemas.microsoft.com/office/drawing/2014/main" id="{F995F532-DAD3-413C-BF05-3C3734A69655}"/>
              </a:ext>
            </a:extLst>
          </p:cNvPr>
          <p:cNvSpPr/>
          <p:nvPr>
            <p:custDataLst>
              <p:tags r:id="rId7"/>
            </p:custDataLst>
          </p:nvPr>
        </p:nvSpPr>
        <p:spPr>
          <a:xfrm>
            <a:off x="3691740" y="3323923"/>
            <a:ext cx="1351485" cy="1600438"/>
          </a:xfrm>
          <a:prstGeom prst="rect">
            <a:avLst/>
          </a:prstGeom>
        </p:spPr>
        <p:txBody>
          <a:bodyPr wrap="square">
            <a:spAutoFit/>
          </a:bodyPr>
          <a:lstStyle/>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Call #3:</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 </a:t>
            </a:r>
          </a:p>
          <a:p>
            <a:pPr marL="0" marR="0" lvl="0" indent="0" algn="l" defTabSz="55443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Conduct capabilities assessment to determine current state.</a:t>
            </a:r>
          </a:p>
          <a:p>
            <a:pPr marL="0" marR="0" lvl="0" indent="0" algn="l" defTabSz="55443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sp>
        <p:nvSpPr>
          <p:cNvPr id="16" name="Rectangle 15">
            <a:extLst>
              <a:ext uri="{FF2B5EF4-FFF2-40B4-BE49-F238E27FC236}">
                <a16:creationId xmlns:a16="http://schemas.microsoft.com/office/drawing/2014/main" id="{6D800CA0-031A-458F-90E4-1C272CCDB6E4}"/>
              </a:ext>
            </a:extLst>
          </p:cNvPr>
          <p:cNvSpPr/>
          <p:nvPr>
            <p:custDataLst>
              <p:tags r:id="rId8"/>
            </p:custDataLst>
          </p:nvPr>
        </p:nvSpPr>
        <p:spPr>
          <a:xfrm>
            <a:off x="3691740" y="4850877"/>
            <a:ext cx="1174220" cy="1600438"/>
          </a:xfrm>
          <a:prstGeom prst="rect">
            <a:avLst/>
          </a:prstGeom>
        </p:spPr>
        <p:txBody>
          <a:bodyPr wrap="square">
            <a:spAutoFit/>
          </a:bodyPr>
          <a:lstStyle/>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Call #4: </a:t>
            </a:r>
            <a:endParaRPr lang="en-CA" sz="1400" dirty="0">
              <a:solidFill>
                <a:srgbClr val="000000"/>
              </a:solidFill>
              <a:latin typeface="Roboto Condensed Light" panose="02000000000000000000" pitchFamily="2" charset="0"/>
              <a:ea typeface="Roboto Condensed Light" panose="02000000000000000000" pitchFamily="2" charset="0"/>
            </a:endParaRPr>
          </a:p>
          <a:p>
            <a:pPr marL="0" marR="0" lvl="0" indent="0" algn="l" defTabSz="55443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Finalize capabilities assessment to determine target state.</a:t>
            </a:r>
          </a:p>
          <a:p>
            <a:pPr marL="0" marR="0" lvl="0" indent="0" algn="l" defTabSz="554437"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sp>
        <p:nvSpPr>
          <p:cNvPr id="20" name="Rectangle 19">
            <a:extLst>
              <a:ext uri="{FF2B5EF4-FFF2-40B4-BE49-F238E27FC236}">
                <a16:creationId xmlns:a16="http://schemas.microsoft.com/office/drawing/2014/main" id="{0D51DD75-BDD9-416B-996F-FBF3F604DDBE}"/>
              </a:ext>
            </a:extLst>
          </p:cNvPr>
          <p:cNvSpPr/>
          <p:nvPr>
            <p:custDataLst>
              <p:tags r:id="rId9"/>
            </p:custDataLst>
          </p:nvPr>
        </p:nvSpPr>
        <p:spPr>
          <a:xfrm>
            <a:off x="6548253" y="3345217"/>
            <a:ext cx="1900043" cy="738664"/>
          </a:xfrm>
          <a:prstGeom prst="rect">
            <a:avLst/>
          </a:prstGeom>
        </p:spPr>
        <p:txBody>
          <a:bodyPr wrap="square">
            <a:spAutoFit/>
          </a:bodyPr>
          <a:lstStyle/>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Call #5:</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 </a:t>
            </a: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Develop and prioritize initiatives.</a:t>
            </a:r>
          </a:p>
          <a:p>
            <a:pPr marL="0" marR="0" lvl="0" indent="0" algn="l" defTabSz="55443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sp>
        <p:nvSpPr>
          <p:cNvPr id="21" name="Rectangle 20">
            <a:extLst>
              <a:ext uri="{FF2B5EF4-FFF2-40B4-BE49-F238E27FC236}">
                <a16:creationId xmlns:a16="http://schemas.microsoft.com/office/drawing/2014/main" id="{0D40DC66-C24E-4113-9799-023CEE0F10C5}"/>
              </a:ext>
            </a:extLst>
          </p:cNvPr>
          <p:cNvSpPr/>
          <p:nvPr>
            <p:custDataLst>
              <p:tags r:id="rId10"/>
            </p:custDataLst>
          </p:nvPr>
        </p:nvSpPr>
        <p:spPr>
          <a:xfrm>
            <a:off x="6548253" y="4666929"/>
            <a:ext cx="1373942" cy="1384995"/>
          </a:xfrm>
          <a:prstGeom prst="rect">
            <a:avLst/>
          </a:prstGeom>
        </p:spPr>
        <p:txBody>
          <a:bodyPr wrap="square">
            <a:spAutoFit/>
          </a:bodyPr>
          <a:lstStyle/>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Call #6: </a:t>
            </a:r>
            <a:endParaRPr lang="en-US" sz="1400" dirty="0">
              <a:solidFill>
                <a:srgbClr val="000000"/>
              </a:solidFill>
              <a:latin typeface="Roboto Condensed Light" panose="02000000000000000000" pitchFamily="2" charset="0"/>
              <a:ea typeface="Roboto Condensed Light" panose="02000000000000000000" pitchFamily="2" charset="0"/>
            </a:endParaRPr>
          </a:p>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Finalize roadmap, develop metrics, and complete strategy deck.</a:t>
            </a:r>
          </a:p>
        </p:txBody>
      </p:sp>
      <p:cxnSp>
        <p:nvCxnSpPr>
          <p:cNvPr id="22" name="Straight Connector 21">
            <a:extLst>
              <a:ext uri="{FF2B5EF4-FFF2-40B4-BE49-F238E27FC236}">
                <a16:creationId xmlns:a16="http://schemas.microsoft.com/office/drawing/2014/main" id="{01A375F6-4276-4357-9BBD-ECB456564305}"/>
              </a:ext>
              <a:ext uri="{C183D7F6-B498-43B3-948B-1728B52AA6E4}">
                <adec:decorative xmlns:adec="http://schemas.microsoft.com/office/drawing/2017/decorative" val="1"/>
              </a:ext>
            </a:extLst>
          </p:cNvPr>
          <p:cNvCxnSpPr>
            <a:cxnSpLocks/>
            <a:stCxn id="19" idx="2"/>
            <a:endCxn id="23" idx="0"/>
          </p:cNvCxnSpPr>
          <p:nvPr>
            <p:custDataLst>
              <p:tags r:id="rId11"/>
            </p:custDataLst>
          </p:nvPr>
        </p:nvCxnSpPr>
        <p:spPr>
          <a:xfrm flipH="1">
            <a:off x="6314865" y="3819213"/>
            <a:ext cx="7912" cy="836274"/>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C841EA5F-C7CE-4EE6-8CAB-638CE452BC69}"/>
              </a:ext>
              <a:ext uri="{C183D7F6-B498-43B3-948B-1728B52AA6E4}">
                <adec:decorative xmlns:adec="http://schemas.microsoft.com/office/drawing/2017/decorative" val="1"/>
              </a:ext>
            </a:extLst>
          </p:cNvPr>
          <p:cNvPicPr>
            <a:picLocks noChangeAspect="1"/>
          </p:cNvPicPr>
          <p:nvPr>
            <p:custDataLst>
              <p:tags r:id="rId12"/>
            </p:custDataLst>
          </p:nvPr>
        </p:nvPicPr>
        <p:blipFill>
          <a:blip r:embed="rId29" cstate="screen">
            <a:extLst>
              <a:ext uri="{28A0092B-C50C-407E-A947-70E740481C1C}">
                <a14:useLocalDpi xmlns:a14="http://schemas.microsoft.com/office/drawing/2010/main"/>
              </a:ext>
            </a:extLst>
          </a:blip>
          <a:stretch>
            <a:fillRect/>
          </a:stretch>
        </p:blipFill>
        <p:spPr>
          <a:xfrm>
            <a:off x="6054389" y="4655488"/>
            <a:ext cx="520953" cy="520953"/>
          </a:xfrm>
          <a:prstGeom prst="rect">
            <a:avLst/>
          </a:prstGeom>
        </p:spPr>
      </p:pic>
      <p:sp>
        <p:nvSpPr>
          <p:cNvPr id="2" name="Slide Number Placeholder 1">
            <a:extLst>
              <a:ext uri="{FF2B5EF4-FFF2-40B4-BE49-F238E27FC236}">
                <a16:creationId xmlns:a16="http://schemas.microsoft.com/office/drawing/2014/main" id="{C97A6139-8636-49C9-AC94-29F3DD54AD18}"/>
              </a:ext>
              <a:ext uri="{C183D7F6-B498-43B3-948B-1728B52AA6E4}">
                <adec:decorative xmlns:adec="http://schemas.microsoft.com/office/drawing/2017/decorative" val="1"/>
              </a:ext>
            </a:extLst>
          </p:cNvPr>
          <p:cNvSpPr txBox="1">
            <a:spLocks/>
          </p:cNvSpPr>
          <p:nvPr>
            <p:custDataLst>
              <p:tags r:id="rId13"/>
            </p:custDataLst>
          </p:nvPr>
        </p:nvSpPr>
        <p:spPr>
          <a:xfrm>
            <a:off x="9649144" y="6453854"/>
            <a:ext cx="2240414" cy="121252"/>
          </a:xfrm>
          <a:prstGeom prst="rect">
            <a:avLst/>
          </a:prstGeom>
        </p:spPr>
        <p:txBody>
          <a:bodyPr/>
          <a:lstStyle>
            <a:defPPr>
              <a:defRPr lang="en-US"/>
            </a:defPPr>
            <a:lvl1pPr marL="0" algn="l" defTabSz="554492" rtl="0" eaLnBrk="1" latinLnBrk="0" hangingPunct="1">
              <a:defRPr sz="1092" kern="1200">
                <a:solidFill>
                  <a:schemeClr val="tx1"/>
                </a:solidFill>
                <a:latin typeface="+mn-lt"/>
                <a:ea typeface="+mn-ea"/>
                <a:cs typeface="+mn-cs"/>
              </a:defRPr>
            </a:lvl1pPr>
            <a:lvl2pPr marL="277246" algn="l" defTabSz="554492" rtl="0" eaLnBrk="1" latinLnBrk="0" hangingPunct="1">
              <a:defRPr sz="1092" kern="1200">
                <a:solidFill>
                  <a:schemeClr val="tx1"/>
                </a:solidFill>
                <a:latin typeface="+mn-lt"/>
                <a:ea typeface="+mn-ea"/>
                <a:cs typeface="+mn-cs"/>
              </a:defRPr>
            </a:lvl2pPr>
            <a:lvl3pPr marL="554492" algn="l" defTabSz="554492" rtl="0" eaLnBrk="1" latinLnBrk="0" hangingPunct="1">
              <a:defRPr sz="1092" kern="1200">
                <a:solidFill>
                  <a:schemeClr val="tx1"/>
                </a:solidFill>
                <a:latin typeface="+mn-lt"/>
                <a:ea typeface="+mn-ea"/>
                <a:cs typeface="+mn-cs"/>
              </a:defRPr>
            </a:lvl3pPr>
            <a:lvl4pPr marL="831738" algn="l" defTabSz="554492" rtl="0" eaLnBrk="1" latinLnBrk="0" hangingPunct="1">
              <a:defRPr sz="1092" kern="1200">
                <a:solidFill>
                  <a:schemeClr val="tx1"/>
                </a:solidFill>
                <a:latin typeface="+mn-lt"/>
                <a:ea typeface="+mn-ea"/>
                <a:cs typeface="+mn-cs"/>
              </a:defRPr>
            </a:lvl4pPr>
            <a:lvl5pPr marL="1108984" algn="l" defTabSz="554492" rtl="0" eaLnBrk="1" latinLnBrk="0" hangingPunct="1">
              <a:defRPr sz="1092" kern="1200">
                <a:solidFill>
                  <a:schemeClr val="tx1"/>
                </a:solidFill>
                <a:latin typeface="+mn-lt"/>
                <a:ea typeface="+mn-ea"/>
                <a:cs typeface="+mn-cs"/>
              </a:defRPr>
            </a:lvl5pPr>
            <a:lvl6pPr marL="1386230" algn="l" defTabSz="554492" rtl="0" eaLnBrk="1" latinLnBrk="0" hangingPunct="1">
              <a:defRPr sz="1092" kern="1200">
                <a:solidFill>
                  <a:schemeClr val="tx1"/>
                </a:solidFill>
                <a:latin typeface="+mn-lt"/>
                <a:ea typeface="+mn-ea"/>
                <a:cs typeface="+mn-cs"/>
              </a:defRPr>
            </a:lvl6pPr>
            <a:lvl7pPr marL="1663476" algn="l" defTabSz="554492" rtl="0" eaLnBrk="1" latinLnBrk="0" hangingPunct="1">
              <a:defRPr sz="1092" kern="1200">
                <a:solidFill>
                  <a:schemeClr val="tx1"/>
                </a:solidFill>
                <a:latin typeface="+mn-lt"/>
                <a:ea typeface="+mn-ea"/>
                <a:cs typeface="+mn-cs"/>
              </a:defRPr>
            </a:lvl7pPr>
            <a:lvl8pPr marL="1940723" algn="l" defTabSz="554492" rtl="0" eaLnBrk="1" latinLnBrk="0" hangingPunct="1">
              <a:defRPr sz="1092" kern="1200">
                <a:solidFill>
                  <a:schemeClr val="tx1"/>
                </a:solidFill>
                <a:latin typeface="+mn-lt"/>
                <a:ea typeface="+mn-ea"/>
                <a:cs typeface="+mn-cs"/>
              </a:defRPr>
            </a:lvl8pPr>
            <a:lvl9pPr marL="2217969" algn="l" defTabSz="554492" rtl="0" eaLnBrk="1" latinLnBrk="0" hangingPunct="1">
              <a:defRPr sz="1092" kern="1200">
                <a:solidFill>
                  <a:schemeClr val="tx1"/>
                </a:solidFill>
                <a:latin typeface="+mn-lt"/>
                <a:ea typeface="+mn-ea"/>
                <a:cs typeface="+mn-cs"/>
              </a:defRPr>
            </a:lvl9pPr>
          </a:lstStyle>
          <a:p>
            <a:pPr marL="7700" marR="0" lvl="0" indent="0" algn="r" defTabSz="914400" rtl="0" eaLnBrk="1" fontAlgn="auto" latinLnBrk="0" hangingPunct="1">
              <a:lnSpc>
                <a:spcPct val="100000"/>
              </a:lnSpc>
              <a:spcBef>
                <a:spcPts val="161"/>
              </a:spcBef>
              <a:spcAft>
                <a:spcPts val="0"/>
              </a:spcAft>
              <a:buClrTx/>
              <a:buSzTx/>
              <a:buFontTx/>
              <a:buNone/>
              <a:tabLst>
                <a:tab pos="1309472" algn="l"/>
              </a:tabLst>
              <a:defRPr/>
            </a:pPr>
            <a:r>
              <a:rPr kumimoji="0" lang="en-CA" sz="788" b="0" i="0" u="none" strike="noStrike" kern="1200" cap="none" spc="-18" normalizeH="0" baseline="0" noProof="0" dirty="0">
                <a:ln>
                  <a:noFill/>
                </a:ln>
                <a:solidFill>
                  <a:srgbClr val="FFFFFF"/>
                </a:solidFill>
                <a:effectLst/>
                <a:uLnTx/>
                <a:uFillTx/>
                <a:latin typeface="Exo" pitchFamily="2" charset="77"/>
                <a:ea typeface="+mn-ea"/>
                <a:cs typeface="Arial"/>
              </a:rPr>
              <a:t>Info-</a:t>
            </a:r>
            <a:r>
              <a:rPr kumimoji="0" lang="en-CA" sz="788" b="0" i="0" u="none" strike="noStrike" kern="1200" cap="none" spc="-103" normalizeH="0" baseline="0" noProof="0" dirty="0">
                <a:ln>
                  <a:noFill/>
                </a:ln>
                <a:solidFill>
                  <a:srgbClr val="FFFFFF"/>
                </a:solidFill>
                <a:effectLst/>
                <a:uLnTx/>
                <a:uFillTx/>
                <a:latin typeface="Exo" pitchFamily="2" charset="77"/>
                <a:ea typeface="+mn-ea"/>
                <a:cs typeface="Arial"/>
              </a:rPr>
              <a:t>T</a:t>
            </a:r>
            <a:r>
              <a:rPr kumimoji="0" lang="en-CA" sz="788" b="0" i="0" u="none" strike="noStrike" kern="1200" cap="none" spc="-15" normalizeH="0" baseline="0" noProof="0" dirty="0">
                <a:ln>
                  <a:noFill/>
                </a:ln>
                <a:solidFill>
                  <a:srgbClr val="FFFFFF"/>
                </a:solidFill>
                <a:effectLst/>
                <a:uLnTx/>
                <a:uFillTx/>
                <a:latin typeface="Exo" pitchFamily="2" charset="77"/>
                <a:ea typeface="+mn-ea"/>
                <a:cs typeface="Arial"/>
              </a:rPr>
              <a:t>ec</a:t>
            </a:r>
            <a:r>
              <a:rPr kumimoji="0" lang="en-CA" sz="788" b="0" i="0" u="none" strike="noStrike" kern="1200" cap="none" spc="6" normalizeH="0" baseline="0" noProof="0" dirty="0">
                <a:ln>
                  <a:noFill/>
                </a:ln>
                <a:solidFill>
                  <a:srgbClr val="FFFFFF"/>
                </a:solidFill>
                <a:effectLst/>
                <a:uLnTx/>
                <a:uFillTx/>
                <a:latin typeface="Exo" pitchFamily="2" charset="77"/>
                <a:ea typeface="+mn-ea"/>
                <a:cs typeface="Arial"/>
              </a:rPr>
              <a:t>h</a:t>
            </a:r>
            <a:r>
              <a:rPr kumimoji="0" lang="en-CA" sz="788" b="0" i="0" u="none" strike="noStrike" kern="1200" cap="none" spc="-39" normalizeH="0" baseline="0" noProof="0" dirty="0">
                <a:ln>
                  <a:noFill/>
                </a:ln>
                <a:solidFill>
                  <a:srgbClr val="FFFFFF"/>
                </a:solidFill>
                <a:effectLst/>
                <a:uLnTx/>
                <a:uFillTx/>
                <a:latin typeface="Exo" pitchFamily="2" charset="77"/>
                <a:ea typeface="+mn-ea"/>
                <a:cs typeface="Arial"/>
              </a:rPr>
              <a:t> </a:t>
            </a:r>
            <a:r>
              <a:rPr kumimoji="0" lang="en-CA" sz="788" b="0" i="0" u="none" strike="noStrike" kern="1200" cap="none" spc="-15" normalizeH="0" baseline="0" noProof="0" dirty="0">
                <a:ln>
                  <a:noFill/>
                </a:ln>
                <a:solidFill>
                  <a:srgbClr val="FFFFFF"/>
                </a:solidFill>
                <a:effectLst/>
                <a:uLnTx/>
                <a:uFillTx/>
                <a:latin typeface="Exo" pitchFamily="2" charset="77"/>
                <a:ea typeface="+mn-ea"/>
                <a:cs typeface="Arial"/>
              </a:rPr>
              <a:t>Researc</a:t>
            </a:r>
            <a:r>
              <a:rPr kumimoji="0" lang="en-CA" sz="788" b="0" i="0" u="none" strike="noStrike" kern="1200" cap="none" spc="6" normalizeH="0" baseline="0" noProof="0" dirty="0">
                <a:ln>
                  <a:noFill/>
                </a:ln>
                <a:solidFill>
                  <a:srgbClr val="FFFFFF"/>
                </a:solidFill>
                <a:effectLst/>
                <a:uLnTx/>
                <a:uFillTx/>
                <a:latin typeface="Exo" pitchFamily="2" charset="77"/>
                <a:ea typeface="+mn-ea"/>
                <a:cs typeface="Arial"/>
              </a:rPr>
              <a:t>h</a:t>
            </a:r>
            <a:r>
              <a:rPr kumimoji="0" lang="en-CA" sz="788" b="0" i="0" u="none" strike="noStrike" kern="1200" cap="none" spc="-39" normalizeH="0" baseline="0" noProof="0" dirty="0">
                <a:ln>
                  <a:noFill/>
                </a:ln>
                <a:solidFill>
                  <a:srgbClr val="FFFFFF"/>
                </a:solidFill>
                <a:effectLst/>
                <a:uLnTx/>
                <a:uFillTx/>
                <a:latin typeface="Exo" pitchFamily="2" charset="77"/>
                <a:ea typeface="+mn-ea"/>
                <a:cs typeface="Arial"/>
              </a:rPr>
              <a:t> </a:t>
            </a:r>
            <a:r>
              <a:rPr kumimoji="0" lang="en-CA" sz="788" b="0" i="0" u="none" strike="noStrike" kern="1200" cap="none" spc="-15" normalizeH="0" baseline="0" noProof="0" dirty="0">
                <a:ln>
                  <a:noFill/>
                </a:ln>
                <a:solidFill>
                  <a:srgbClr val="FFFFFF"/>
                </a:solidFill>
                <a:effectLst/>
                <a:uLnTx/>
                <a:uFillTx/>
                <a:latin typeface="Exo" pitchFamily="2" charset="77"/>
                <a:ea typeface="+mn-ea"/>
                <a:cs typeface="Arial"/>
              </a:rPr>
              <a:t>Grou</a:t>
            </a:r>
            <a:r>
              <a:rPr kumimoji="0" lang="en-CA" sz="788" b="0" i="0" u="none" strike="noStrike" kern="1200" cap="none" spc="6" normalizeH="0" baseline="0" noProof="0" dirty="0">
                <a:ln>
                  <a:noFill/>
                </a:ln>
                <a:solidFill>
                  <a:srgbClr val="FFFFFF"/>
                </a:solidFill>
                <a:effectLst/>
                <a:uLnTx/>
                <a:uFillTx/>
                <a:latin typeface="Exo" pitchFamily="2" charset="77"/>
                <a:ea typeface="+mn-ea"/>
                <a:cs typeface="Arial"/>
              </a:rPr>
              <a:t>p   |   </a:t>
            </a:r>
            <a:fld id="{81D60167-4931-47E6-BA6A-407CBD079E47}" type="slidenum">
              <a:rPr kumimoji="0" sz="788" b="0" i="0" u="none" strike="noStrike" kern="1200" cap="none" spc="6" normalizeH="0" baseline="0" noProof="0" smtClean="0">
                <a:ln>
                  <a:noFill/>
                </a:ln>
                <a:solidFill>
                  <a:srgbClr val="FFFFFF"/>
                </a:solidFill>
                <a:effectLst/>
                <a:uLnTx/>
                <a:uFillTx/>
                <a:latin typeface="Exo" pitchFamily="2" charset="77"/>
                <a:ea typeface="+mn-ea"/>
                <a:cs typeface="Arial" panose="020B0604020202020204" pitchFamily="34" charset="0"/>
              </a:rPr>
              <a:pPr marL="7700" marR="0" lvl="0" indent="0" algn="r" defTabSz="914400" rtl="0" eaLnBrk="1" fontAlgn="auto" latinLnBrk="0" hangingPunct="1">
                <a:lnSpc>
                  <a:spcPct val="100000"/>
                </a:lnSpc>
                <a:spcBef>
                  <a:spcPts val="161"/>
                </a:spcBef>
                <a:spcAft>
                  <a:spcPts val="0"/>
                </a:spcAft>
                <a:buClrTx/>
                <a:buSzTx/>
                <a:buFontTx/>
                <a:buNone/>
                <a:tabLst>
                  <a:tab pos="1309472" algn="l"/>
                </a:tabLst>
                <a:defRPr/>
              </a:pPr>
              <a:t>12</a:t>
            </a:fld>
            <a:endParaRPr kumimoji="0" sz="788" b="0" i="0" u="none" strike="noStrike" kern="1200" cap="none" spc="6" normalizeH="0" baseline="0" noProof="0" dirty="0">
              <a:ln>
                <a:noFill/>
              </a:ln>
              <a:solidFill>
                <a:srgbClr val="FFFFFF"/>
              </a:solidFill>
              <a:effectLst/>
              <a:uLnTx/>
              <a:uFillTx/>
              <a:latin typeface="Exo" pitchFamily="2" charset="77"/>
              <a:ea typeface="+mn-ea"/>
              <a:cs typeface="Arial" panose="020B0604020202020204" pitchFamily="34" charset="0"/>
            </a:endParaRPr>
          </a:p>
        </p:txBody>
      </p:sp>
      <p:pic>
        <p:nvPicPr>
          <p:cNvPr id="9" name="Picture 8">
            <a:extLst>
              <a:ext uri="{FF2B5EF4-FFF2-40B4-BE49-F238E27FC236}">
                <a16:creationId xmlns:a16="http://schemas.microsoft.com/office/drawing/2014/main" id="{C0706F1E-A435-4E93-8FC5-B8319B197A71}"/>
              </a:ext>
              <a:ext uri="{C183D7F6-B498-43B3-948B-1728B52AA6E4}">
                <adec:decorative xmlns:adec="http://schemas.microsoft.com/office/drawing/2017/decorative" val="1"/>
              </a:ext>
            </a:extLst>
          </p:cNvPr>
          <p:cNvPicPr>
            <a:picLocks noChangeAspect="1"/>
          </p:cNvPicPr>
          <p:nvPr>
            <p:custDataLst>
              <p:tags r:id="rId14"/>
            </p:custDataLst>
          </p:nvPr>
        </p:nvPicPr>
        <p:blipFill>
          <a:blip r:embed="rId29" cstate="screen">
            <a:extLst>
              <a:ext uri="{28A0092B-C50C-407E-A947-70E740481C1C}">
                <a14:useLocalDpi xmlns:a14="http://schemas.microsoft.com/office/drawing/2010/main"/>
              </a:ext>
            </a:extLst>
          </a:blip>
          <a:stretch>
            <a:fillRect/>
          </a:stretch>
        </p:blipFill>
        <p:spPr>
          <a:xfrm>
            <a:off x="495740" y="3253484"/>
            <a:ext cx="520953" cy="520953"/>
          </a:xfrm>
          <a:prstGeom prst="rect">
            <a:avLst/>
          </a:prstGeom>
        </p:spPr>
      </p:pic>
      <p:pic>
        <p:nvPicPr>
          <p:cNvPr id="14" name="Picture 13">
            <a:extLst>
              <a:ext uri="{FF2B5EF4-FFF2-40B4-BE49-F238E27FC236}">
                <a16:creationId xmlns:a16="http://schemas.microsoft.com/office/drawing/2014/main" id="{F3EADD81-E9B1-4D37-B4F5-B9C527649DDC}"/>
              </a:ext>
              <a:ext uri="{C183D7F6-B498-43B3-948B-1728B52AA6E4}">
                <adec:decorative xmlns:adec="http://schemas.microsoft.com/office/drawing/2017/decorative" val="1"/>
              </a:ext>
            </a:extLst>
          </p:cNvPr>
          <p:cNvPicPr>
            <a:picLocks noChangeAspect="1"/>
          </p:cNvPicPr>
          <p:nvPr>
            <p:custDataLst>
              <p:tags r:id="rId15"/>
            </p:custDataLst>
          </p:nvPr>
        </p:nvPicPr>
        <p:blipFill>
          <a:blip r:embed="rId29" cstate="screen">
            <a:extLst>
              <a:ext uri="{28A0092B-C50C-407E-A947-70E740481C1C}">
                <a14:useLocalDpi xmlns:a14="http://schemas.microsoft.com/office/drawing/2010/main"/>
              </a:ext>
            </a:extLst>
          </a:blip>
          <a:stretch>
            <a:fillRect/>
          </a:stretch>
        </p:blipFill>
        <p:spPr>
          <a:xfrm>
            <a:off x="3205788" y="3276967"/>
            <a:ext cx="520953" cy="520953"/>
          </a:xfrm>
          <a:prstGeom prst="rect">
            <a:avLst/>
          </a:prstGeom>
        </p:spPr>
      </p:pic>
      <p:cxnSp>
        <p:nvCxnSpPr>
          <p:cNvPr id="17" name="Straight Connector 16">
            <a:extLst>
              <a:ext uri="{FF2B5EF4-FFF2-40B4-BE49-F238E27FC236}">
                <a16:creationId xmlns:a16="http://schemas.microsoft.com/office/drawing/2014/main" id="{43795F84-DBA5-4611-AFF5-08BD5AB31DA7}"/>
              </a:ext>
              <a:ext uri="{C183D7F6-B498-43B3-948B-1728B52AA6E4}">
                <adec:decorative xmlns:adec="http://schemas.microsoft.com/office/drawing/2017/decorative" val="1"/>
              </a:ext>
            </a:extLst>
          </p:cNvPr>
          <p:cNvCxnSpPr>
            <a:stCxn id="14" idx="2"/>
            <a:endCxn id="18" idx="0"/>
          </p:cNvCxnSpPr>
          <p:nvPr>
            <p:custDataLst>
              <p:tags r:id="rId16"/>
            </p:custDataLst>
          </p:nvPr>
        </p:nvCxnSpPr>
        <p:spPr>
          <a:xfrm flipH="1">
            <a:off x="3458353" y="3797920"/>
            <a:ext cx="7912" cy="1041516"/>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9E229D89-0003-4F5C-8E9E-C7C880A7FA8F}"/>
              </a:ext>
              <a:ext uri="{C183D7F6-B498-43B3-948B-1728B52AA6E4}">
                <adec:decorative xmlns:adec="http://schemas.microsoft.com/office/drawing/2017/decorative" val="1"/>
              </a:ext>
            </a:extLst>
          </p:cNvPr>
          <p:cNvPicPr>
            <a:picLocks noChangeAspect="1"/>
          </p:cNvPicPr>
          <p:nvPr>
            <p:custDataLst>
              <p:tags r:id="rId17"/>
            </p:custDataLst>
          </p:nvPr>
        </p:nvPicPr>
        <p:blipFill>
          <a:blip r:embed="rId29" cstate="screen">
            <a:extLst>
              <a:ext uri="{28A0092B-C50C-407E-A947-70E740481C1C}">
                <a14:useLocalDpi xmlns:a14="http://schemas.microsoft.com/office/drawing/2010/main"/>
              </a:ext>
            </a:extLst>
          </a:blip>
          <a:stretch>
            <a:fillRect/>
          </a:stretch>
        </p:blipFill>
        <p:spPr>
          <a:xfrm>
            <a:off x="3197876" y="4839436"/>
            <a:ext cx="520953" cy="520953"/>
          </a:xfrm>
          <a:prstGeom prst="rect">
            <a:avLst/>
          </a:prstGeom>
        </p:spPr>
      </p:pic>
      <p:pic>
        <p:nvPicPr>
          <p:cNvPr id="19" name="Picture 18">
            <a:extLst>
              <a:ext uri="{FF2B5EF4-FFF2-40B4-BE49-F238E27FC236}">
                <a16:creationId xmlns:a16="http://schemas.microsoft.com/office/drawing/2014/main" id="{02B68E01-79DA-4B1C-AD8C-903D8F9A8CE5}"/>
              </a:ext>
              <a:ext uri="{C183D7F6-B498-43B3-948B-1728B52AA6E4}">
                <adec:decorative xmlns:adec="http://schemas.microsoft.com/office/drawing/2017/decorative" val="1"/>
              </a:ext>
            </a:extLst>
          </p:cNvPr>
          <p:cNvPicPr>
            <a:picLocks noChangeAspect="1"/>
          </p:cNvPicPr>
          <p:nvPr>
            <p:custDataLst>
              <p:tags r:id="rId18"/>
            </p:custDataLst>
          </p:nvPr>
        </p:nvPicPr>
        <p:blipFill>
          <a:blip r:embed="rId29" cstate="screen">
            <a:extLst>
              <a:ext uri="{28A0092B-C50C-407E-A947-70E740481C1C}">
                <a14:useLocalDpi xmlns:a14="http://schemas.microsoft.com/office/drawing/2010/main"/>
              </a:ext>
            </a:extLst>
          </a:blip>
          <a:stretch>
            <a:fillRect/>
          </a:stretch>
        </p:blipFill>
        <p:spPr>
          <a:xfrm>
            <a:off x="6062301" y="3298261"/>
            <a:ext cx="520953" cy="520953"/>
          </a:xfrm>
          <a:prstGeom prst="rect">
            <a:avLst/>
          </a:prstGeom>
        </p:spPr>
      </p:pic>
      <p:sp>
        <p:nvSpPr>
          <p:cNvPr id="5" name="Rectangle 4">
            <a:extLst>
              <a:ext uri="{FF2B5EF4-FFF2-40B4-BE49-F238E27FC236}">
                <a16:creationId xmlns:a16="http://schemas.microsoft.com/office/drawing/2014/main" id="{B7815718-CD37-32D4-3E82-D4E0DC585EC1}"/>
              </a:ext>
            </a:extLst>
          </p:cNvPr>
          <p:cNvSpPr/>
          <p:nvPr>
            <p:custDataLst>
              <p:tags r:id="rId19"/>
            </p:custDataLst>
          </p:nvPr>
        </p:nvSpPr>
        <p:spPr>
          <a:xfrm>
            <a:off x="1010052" y="4802605"/>
            <a:ext cx="1373942" cy="1600438"/>
          </a:xfrm>
          <a:prstGeom prst="rect">
            <a:avLst/>
          </a:prstGeom>
        </p:spPr>
        <p:txBody>
          <a:bodyPr wrap="square">
            <a:spAutoFit/>
          </a:bodyPr>
          <a:lstStyle/>
          <a:p>
            <a:pPr marL="0" marR="0" lvl="0" indent="0" algn="l" defTabSz="55443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Call #2: </a:t>
            </a:r>
            <a:endParaRPr lang="en-CA" sz="1400" dirty="0">
              <a:solidFill>
                <a:srgbClr val="000000"/>
              </a:solidFill>
              <a:latin typeface="Roboto Condensed Light" panose="02000000000000000000" pitchFamily="2" charset="0"/>
              <a:ea typeface="Roboto Condensed Light" panose="02000000000000000000" pitchFamily="2" charset="0"/>
            </a:endParaRPr>
          </a:p>
          <a:p>
            <a:pPr marL="0" marR="0" lvl="0" indent="0" algn="l" defTabSz="554437"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Review pain points and policies and establish metrics.</a:t>
            </a:r>
          </a:p>
          <a:p>
            <a:pPr marL="0" marR="0" lvl="0" indent="0" algn="l" defTabSz="554437"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cxnSp>
        <p:nvCxnSpPr>
          <p:cNvPr id="6" name="Straight Connector 5">
            <a:extLst>
              <a:ext uri="{FF2B5EF4-FFF2-40B4-BE49-F238E27FC236}">
                <a16:creationId xmlns:a16="http://schemas.microsoft.com/office/drawing/2014/main" id="{EEAC2FD9-D247-1BA4-545A-9CE32134FAAA}"/>
              </a:ext>
              <a:ext uri="{C183D7F6-B498-43B3-948B-1728B52AA6E4}">
                <adec:decorative xmlns:adec="http://schemas.microsoft.com/office/drawing/2017/decorative" val="1"/>
              </a:ext>
            </a:extLst>
          </p:cNvPr>
          <p:cNvCxnSpPr>
            <a:endCxn id="8" idx="0"/>
          </p:cNvCxnSpPr>
          <p:nvPr>
            <p:custDataLst>
              <p:tags r:id="rId20"/>
            </p:custDataLst>
          </p:nvPr>
        </p:nvCxnSpPr>
        <p:spPr>
          <a:xfrm flipH="1">
            <a:off x="776665" y="3749648"/>
            <a:ext cx="7912" cy="1041516"/>
          </a:xfrm>
          <a:prstGeom prst="line">
            <a:avLst/>
          </a:prstGeom>
          <a:ln w="12700"/>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1F491C45-9E28-46E1-726C-F6792D96B5E8}"/>
              </a:ext>
              <a:ext uri="{C183D7F6-B498-43B3-948B-1728B52AA6E4}">
                <adec:decorative xmlns:adec="http://schemas.microsoft.com/office/drawing/2017/decorative" val="1"/>
              </a:ext>
            </a:extLst>
          </p:cNvPr>
          <p:cNvPicPr>
            <a:picLocks noChangeAspect="1"/>
          </p:cNvPicPr>
          <p:nvPr>
            <p:custDataLst>
              <p:tags r:id="rId21"/>
            </p:custDataLst>
          </p:nvPr>
        </p:nvPicPr>
        <p:blipFill>
          <a:blip r:embed="rId29" cstate="screen">
            <a:extLst>
              <a:ext uri="{28A0092B-C50C-407E-A947-70E740481C1C}">
                <a14:useLocalDpi xmlns:a14="http://schemas.microsoft.com/office/drawing/2010/main"/>
              </a:ext>
            </a:extLst>
          </a:blip>
          <a:stretch>
            <a:fillRect/>
          </a:stretch>
        </p:blipFill>
        <p:spPr>
          <a:xfrm>
            <a:off x="516188" y="4791164"/>
            <a:ext cx="520953" cy="520953"/>
          </a:xfrm>
          <a:prstGeom prst="rect">
            <a:avLst/>
          </a:prstGeom>
        </p:spPr>
      </p:pic>
    </p:spTree>
    <p:extLst>
      <p:ext uri="{BB962C8B-B14F-4D97-AF65-F5344CB8AC3E}">
        <p14:creationId xmlns:p14="http://schemas.microsoft.com/office/powerpoint/2010/main" val="3224521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7EA4694C-54A6-46F0-8E70-B717AA3158DE}"/>
              </a:ext>
            </a:extLst>
          </p:cNvPr>
          <p:cNvSpPr txBox="1">
            <a:spLocks noGrp="1"/>
          </p:cNvSpPr>
          <p:nvPr>
            <p:ph type="title" idx="4294967295"/>
          </p:nvPr>
        </p:nvSpPr>
        <p:spPr>
          <a:xfrm>
            <a:off x="354106" y="528985"/>
            <a:ext cx="8623208" cy="54271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algn="l" defTabSz="914400" rtl="0" eaLnBrk="1" latinLnBrk="0" hangingPunct="1">
              <a:lnSpc>
                <a:spcPct val="90000"/>
              </a:lnSpc>
              <a:spcBef>
                <a:spcPct val="0"/>
              </a:spcBef>
              <a:buNone/>
              <a:defRPr sz="4000" b="0" i="0" kern="1200">
                <a:solidFill>
                  <a:srgbClr val="717171"/>
                </a:solidFill>
                <a:latin typeface="Montserrat SemiBold" pitchFamily="2" charset="77"/>
                <a:ea typeface="+mj-ea"/>
                <a:cs typeface="Arial" panose="020B0604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CA" sz="4000" b="0" i="0" u="none" strike="noStrike" kern="1200" cap="none" spc="0" normalizeH="0" baseline="0" noProof="0" dirty="0">
                <a:ln>
                  <a:noFill/>
                </a:ln>
                <a:solidFill>
                  <a:srgbClr val="4A4A4A"/>
                </a:solidFill>
                <a:effectLst/>
                <a:uLnTx/>
                <a:uFillTx/>
                <a:latin typeface="Montserrat SemiBold" pitchFamily="2" charset="77"/>
                <a:ea typeface="+mj-ea"/>
              </a:rPr>
              <a:t>Workshop overview</a:t>
            </a:r>
          </a:p>
        </p:txBody>
      </p:sp>
      <p:sp>
        <p:nvSpPr>
          <p:cNvPr id="6" name="Text Placeholder 29">
            <a:extLst>
              <a:ext uri="{FF2B5EF4-FFF2-40B4-BE49-F238E27FC236}">
                <a16:creationId xmlns:a16="http://schemas.microsoft.com/office/drawing/2014/main" id="{237E9D5F-7F5E-48E1-80EF-8DF1F5E7936B}"/>
              </a:ext>
            </a:extLst>
          </p:cNvPr>
          <p:cNvSpPr txBox="1">
            <a:spLocks/>
          </p:cNvSpPr>
          <p:nvPr/>
        </p:nvSpPr>
        <p:spPr>
          <a:xfrm>
            <a:off x="7237226" y="581657"/>
            <a:ext cx="4656325" cy="43737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CA" sz="1200" b="0" i="0" u="none" strike="noStrike" kern="1200" cap="none" spc="0" normalizeH="0" baseline="0" noProof="0" dirty="0">
                <a:ln>
                  <a:noFill/>
                </a:ln>
                <a:solidFill>
                  <a:srgbClr val="2576B7"/>
                </a:solidFill>
                <a:effectLst/>
                <a:uLnTx/>
                <a:uFillTx/>
                <a:latin typeface="Montserrat Medium" pitchFamily="2" charset="77"/>
                <a:ea typeface="+mn-ea"/>
                <a:cs typeface="Arial"/>
              </a:rPr>
              <a:t>Contact your account representative for more information.</a:t>
            </a:r>
            <a:br>
              <a:rPr kumimoji="0" lang="en-CA" sz="2800" b="0" i="0" u="none" strike="noStrike" kern="1200" cap="none" spc="0" normalizeH="0" baseline="0" noProof="0" dirty="0">
                <a:ln>
                  <a:noFill/>
                </a:ln>
                <a:solidFill>
                  <a:srgbClr val="494949"/>
                </a:solidFill>
                <a:effectLst/>
                <a:uLnTx/>
                <a:uFillTx/>
                <a:latin typeface="Roboto Condensed Light" panose="02000000000000000000" pitchFamily="2" charset="0"/>
                <a:ea typeface="+mn-ea"/>
                <a:cs typeface="Arial"/>
              </a:rPr>
            </a:br>
            <a:r>
              <a:rPr kumimoji="0" lang="en-CA" sz="1200" b="1" i="0" u="none" strike="noStrike" kern="1200" cap="none" spc="0" normalizeH="0" baseline="0" noProof="0" dirty="0">
                <a:ln>
                  <a:noFill/>
                </a:ln>
                <a:solidFill>
                  <a:srgbClr val="2576B7"/>
                </a:solidFill>
                <a:effectLst/>
                <a:uLnTx/>
                <a:uFillTx/>
                <a:latin typeface="Montserrat SemiBold" pitchFamily="2" charset="77"/>
                <a:ea typeface="+mn-ea"/>
                <a:cs typeface="Arial" panose="020B0604020202020204" pitchFamily="34" charset="0"/>
                <a:hlinkClick r:id="rId3">
                  <a:extLst>
                    <a:ext uri="{A12FA001-AC4F-418D-AE19-62706E023703}">
                      <ahyp:hlinkClr xmlns:ahyp="http://schemas.microsoft.com/office/drawing/2018/hyperlinkcolor" val="tx"/>
                    </a:ext>
                  </a:extLst>
                </a:hlinkClick>
              </a:rPr>
              <a:t>workshops@infotech.com</a:t>
            </a:r>
            <a:r>
              <a:rPr kumimoji="0" lang="en-CA" sz="1200" b="1" i="0" u="none" strike="noStrike" kern="1200" cap="none" spc="0" normalizeH="0" baseline="0" noProof="0" dirty="0">
                <a:ln>
                  <a:noFill/>
                </a:ln>
                <a:solidFill>
                  <a:srgbClr val="2576B7"/>
                </a:solidFill>
                <a:effectLst/>
                <a:uLnTx/>
                <a:uFillTx/>
                <a:latin typeface="Montserrat SemiBold" pitchFamily="2" charset="77"/>
                <a:ea typeface="+mn-ea"/>
                <a:cs typeface="Arial" panose="020B0604020202020204" pitchFamily="34" charset="0"/>
              </a:rPr>
              <a:t>   1-888-670-8889</a:t>
            </a:r>
          </a:p>
        </p:txBody>
      </p:sp>
      <p:graphicFrame>
        <p:nvGraphicFramePr>
          <p:cNvPr id="5" name="Table 2">
            <a:extLst>
              <a:ext uri="{FF2B5EF4-FFF2-40B4-BE49-F238E27FC236}">
                <a16:creationId xmlns:a16="http://schemas.microsoft.com/office/drawing/2014/main" id="{A2C116FC-287E-48F3-B2A5-369EDCD091AC}"/>
              </a:ext>
            </a:extLst>
          </p:cNvPr>
          <p:cNvGraphicFramePr>
            <a:graphicFrameLocks noGrp="1"/>
          </p:cNvGraphicFramePr>
          <p:nvPr>
            <p:extLst>
              <p:ext uri="{D42A27DB-BD31-4B8C-83A1-F6EECF244321}">
                <p14:modId xmlns:p14="http://schemas.microsoft.com/office/powerpoint/2010/main" val="3849153036"/>
              </p:ext>
            </p:extLst>
          </p:nvPr>
        </p:nvGraphicFramePr>
        <p:xfrm>
          <a:off x="352044" y="1406118"/>
          <a:ext cx="11175012" cy="4990109"/>
        </p:xfrm>
        <a:graphic>
          <a:graphicData uri="http://schemas.openxmlformats.org/drawingml/2006/table">
            <a:tbl>
              <a:tblPr firstRow="1" bandRow="1">
                <a:tableStyleId>{5C22544A-7EE6-4342-B048-85BDC9FD1C3A}</a:tableStyleId>
              </a:tblPr>
              <a:tblGrid>
                <a:gridCol w="452628">
                  <a:extLst>
                    <a:ext uri="{9D8B030D-6E8A-4147-A177-3AD203B41FA5}">
                      <a16:colId xmlns:a16="http://schemas.microsoft.com/office/drawing/2014/main" val="4134586911"/>
                    </a:ext>
                  </a:extLst>
                </a:gridCol>
                <a:gridCol w="2148840">
                  <a:extLst>
                    <a:ext uri="{9D8B030D-6E8A-4147-A177-3AD203B41FA5}">
                      <a16:colId xmlns:a16="http://schemas.microsoft.com/office/drawing/2014/main" val="20001"/>
                    </a:ext>
                  </a:extLst>
                </a:gridCol>
                <a:gridCol w="2034540">
                  <a:extLst>
                    <a:ext uri="{9D8B030D-6E8A-4147-A177-3AD203B41FA5}">
                      <a16:colId xmlns:a16="http://schemas.microsoft.com/office/drawing/2014/main" val="20002"/>
                    </a:ext>
                  </a:extLst>
                </a:gridCol>
                <a:gridCol w="2244852">
                  <a:extLst>
                    <a:ext uri="{9D8B030D-6E8A-4147-A177-3AD203B41FA5}">
                      <a16:colId xmlns:a16="http://schemas.microsoft.com/office/drawing/2014/main" val="20003"/>
                    </a:ext>
                  </a:extLst>
                </a:gridCol>
                <a:gridCol w="2114296">
                  <a:extLst>
                    <a:ext uri="{9D8B030D-6E8A-4147-A177-3AD203B41FA5}">
                      <a16:colId xmlns:a16="http://schemas.microsoft.com/office/drawing/2014/main" val="20004"/>
                    </a:ext>
                  </a:extLst>
                </a:gridCol>
                <a:gridCol w="2179856">
                  <a:extLst>
                    <a:ext uri="{9D8B030D-6E8A-4147-A177-3AD203B41FA5}">
                      <a16:colId xmlns:a16="http://schemas.microsoft.com/office/drawing/2014/main" val="20005"/>
                    </a:ext>
                  </a:extLst>
                </a:gridCol>
              </a:tblGrid>
              <a:tr h="421164">
                <a:tc>
                  <a:txBody>
                    <a:bodyPr/>
                    <a:lstStyle/>
                    <a:p>
                      <a:pPr algn="ctr"/>
                      <a:endParaRPr lang="en-CA" sz="2000" b="1" i="0" dirty="0">
                        <a:solidFill>
                          <a:schemeClr val="bg1"/>
                        </a:solidFill>
                        <a:latin typeface="Montserrat SemiBold"/>
                        <a:ea typeface="Roboto"/>
                      </a:endParaRPr>
                    </a:p>
                  </a:txBody>
                  <a:tcPr anchor="ctr">
                    <a:lnL w="12700"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CA" sz="2000" b="1" i="0" dirty="0">
                          <a:solidFill>
                            <a:schemeClr val="bg1"/>
                          </a:solidFill>
                          <a:latin typeface="Montserrat SemiBold"/>
                          <a:ea typeface="Roboto"/>
                        </a:rPr>
                        <a:t>Day 1</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7CAED4"/>
                    </a:solidFill>
                  </a:tcPr>
                </a:tc>
                <a:tc>
                  <a:txBody>
                    <a:bodyPr/>
                    <a:lstStyle/>
                    <a:p>
                      <a:pPr algn="ctr"/>
                      <a:r>
                        <a:rPr lang="en-CA" sz="2000" b="1" i="0" dirty="0">
                          <a:solidFill>
                            <a:schemeClr val="bg1"/>
                          </a:solidFill>
                          <a:latin typeface="Montserrat SemiBold"/>
                          <a:ea typeface="Roboto"/>
                        </a:rPr>
                        <a:t>Day 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5191C5"/>
                    </a:solidFill>
                  </a:tcPr>
                </a:tc>
                <a:tc>
                  <a:txBody>
                    <a:bodyPr/>
                    <a:lstStyle/>
                    <a:p>
                      <a:pPr algn="ctr"/>
                      <a:r>
                        <a:rPr lang="en-CA" sz="2000" b="1" i="0" dirty="0">
                          <a:solidFill>
                            <a:schemeClr val="bg1"/>
                          </a:solidFill>
                          <a:latin typeface="Montserrat SemiBold"/>
                          <a:ea typeface="Roboto"/>
                        </a:rPr>
                        <a:t>Day 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2576B7"/>
                    </a:solidFill>
                  </a:tcPr>
                </a:tc>
                <a:tc>
                  <a:txBody>
                    <a:bodyPr/>
                    <a:lstStyle/>
                    <a:p>
                      <a:pPr algn="ctr"/>
                      <a:r>
                        <a:rPr lang="en-CA" sz="2000" b="1" i="0" dirty="0">
                          <a:solidFill>
                            <a:schemeClr val="bg1"/>
                          </a:solidFill>
                          <a:latin typeface="Montserrat SemiBold"/>
                          <a:ea typeface="Roboto"/>
                        </a:rPr>
                        <a:t>Day 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1E5E92"/>
                    </a:solidFill>
                  </a:tcPr>
                </a:tc>
                <a:tc>
                  <a:txBody>
                    <a:bodyPr/>
                    <a:lstStyle/>
                    <a:p>
                      <a:pPr algn="ctr"/>
                      <a:r>
                        <a:rPr lang="en-CA" sz="2000" b="1" i="0" baseline="0" dirty="0">
                          <a:solidFill>
                            <a:schemeClr val="bg1"/>
                          </a:solidFill>
                          <a:latin typeface="Montserrat SemiBold"/>
                          <a:ea typeface="Roboto"/>
                        </a:rPr>
                        <a:t>Day 5</a:t>
                      </a:r>
                      <a:endParaRPr lang="en-CA" sz="2000" b="1" i="0" dirty="0">
                        <a:solidFill>
                          <a:schemeClr val="bg1"/>
                        </a:solidFill>
                        <a:latin typeface="Montserrat SemiBold"/>
                        <a:ea typeface="Roboto"/>
                      </a:endParaRPr>
                    </a:p>
                  </a:txBody>
                  <a:tcPr anchor="ctr">
                    <a:lnL w="31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16476E"/>
                    </a:solidFill>
                  </a:tcPr>
                </a:tc>
                <a:extLst>
                  <a:ext uri="{0D108BD9-81ED-4DB2-BD59-A6C34878D82A}">
                    <a16:rowId xmlns:a16="http://schemas.microsoft.com/office/drawing/2014/main" val="10000"/>
                  </a:ext>
                </a:extLst>
              </a:tr>
              <a:tr h="699627">
                <a:tc>
                  <a:txBody>
                    <a:bodyPr/>
                    <a:lstStyle/>
                    <a:p>
                      <a:pPr marL="12700" marR="0" lvl="0" indent="0" algn="ctr" defTabSz="914400" rtl="0" eaLnBrk="1" fontAlgn="auto" latinLnBrk="0" hangingPunct="1">
                        <a:lnSpc>
                          <a:spcPct val="100000"/>
                        </a:lnSpc>
                        <a:spcBef>
                          <a:spcPts val="0"/>
                        </a:spcBef>
                        <a:spcAft>
                          <a:spcPts val="0"/>
                        </a:spcAft>
                        <a:buClrTx/>
                        <a:buSzTx/>
                        <a:buFontTx/>
                        <a:buNone/>
                        <a:tabLst/>
                        <a:defRPr/>
                      </a:pPr>
                      <a:endParaRPr lang="en-CA" sz="1200" b="1" i="0" dirty="0">
                        <a:solidFill>
                          <a:srgbClr val="7CAED4"/>
                        </a:solidFill>
                        <a:latin typeface="Montserrat SemiBold"/>
                        <a:ea typeface="Roboto"/>
                      </a:endParaRPr>
                    </a:p>
                  </a:txBody>
                  <a:tcPr marL="108000" marR="108000" marT="144000" marB="0">
                    <a:lnL w="12700"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marR="0" lvl="0" indent="0" algn="ctr" defTabSz="914400" rtl="0" eaLnBrk="1" fontAlgn="auto" latinLnBrk="0" hangingPunct="1">
                        <a:lnSpc>
                          <a:spcPct val="100000"/>
                        </a:lnSpc>
                        <a:spcBef>
                          <a:spcPts val="0"/>
                        </a:spcBef>
                        <a:spcAft>
                          <a:spcPts val="0"/>
                        </a:spcAft>
                        <a:buClrTx/>
                        <a:buSzTx/>
                        <a:buFontTx/>
                        <a:buNone/>
                        <a:tabLst/>
                        <a:defRPr/>
                      </a:pPr>
                      <a:r>
                        <a:rPr lang="en-CA" sz="1200" b="1" i="0" baseline="0" dirty="0">
                          <a:solidFill>
                            <a:srgbClr val="7CAED4"/>
                          </a:solidFill>
                          <a:latin typeface="Montserrat SemiBold"/>
                          <a:ea typeface="Roboto"/>
                        </a:rPr>
                        <a:t>Prioritize </a:t>
                      </a:r>
                      <a:r>
                        <a:rPr lang="en-CA" sz="1200" b="1" i="0" baseline="0" dirty="0" err="1">
                          <a:solidFill>
                            <a:srgbClr val="7CAED4"/>
                          </a:solidFill>
                          <a:latin typeface="Montserrat SemiBold"/>
                          <a:ea typeface="Roboto"/>
                        </a:rPr>
                        <a:t>iSSDLC</a:t>
                      </a:r>
                      <a:r>
                        <a:rPr lang="en-CA" sz="1200" b="1" i="0" baseline="0" dirty="0">
                          <a:solidFill>
                            <a:srgbClr val="7CAED4"/>
                          </a:solidFill>
                          <a:latin typeface="Montserrat SemiBold"/>
                          <a:ea typeface="Roboto"/>
                        </a:rPr>
                        <a:t> capabilities.</a:t>
                      </a:r>
                      <a:endParaRPr lang="en-CA" sz="1200" b="1" i="0" dirty="0">
                        <a:solidFill>
                          <a:srgbClr val="7CAED4"/>
                        </a:solidFill>
                        <a:latin typeface="Montserrat SemiBold"/>
                        <a:ea typeface="Roboto"/>
                      </a:endParaRPr>
                    </a:p>
                  </a:txBody>
                  <a:tcPr marL="108000" marR="108000" marT="144000" marB="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marR="0" lvl="0" indent="0" algn="ctr" defTabSz="914400" rtl="0" eaLnBrk="1" fontAlgn="auto" latinLnBrk="0" hangingPunct="1">
                        <a:lnSpc>
                          <a:spcPts val="1500"/>
                        </a:lnSpc>
                        <a:spcBef>
                          <a:spcPts val="0"/>
                        </a:spcBef>
                        <a:spcAft>
                          <a:spcPts val="0"/>
                        </a:spcAft>
                        <a:buClrTx/>
                        <a:buSzTx/>
                        <a:buFontTx/>
                        <a:buNone/>
                        <a:tabLst/>
                        <a:defRPr/>
                      </a:pPr>
                      <a:r>
                        <a:rPr lang="en-CA" sz="1200" b="1" i="0" dirty="0">
                          <a:solidFill>
                            <a:srgbClr val="5191C5"/>
                          </a:solidFill>
                          <a:latin typeface="Montserrat SemiBold"/>
                          <a:ea typeface="Roboto"/>
                        </a:rPr>
                        <a:t>Assess application security maturity.</a:t>
                      </a:r>
                    </a:p>
                  </a:txBody>
                  <a:tcPr marL="108000" marR="108000" marT="144000" marB="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marR="0" lvl="0" indent="0" algn="ctr" defTabSz="914400" rtl="0" eaLnBrk="1" fontAlgn="auto" latinLnBrk="0" hangingPunct="1">
                        <a:lnSpc>
                          <a:spcPct val="100000"/>
                        </a:lnSpc>
                        <a:spcBef>
                          <a:spcPts val="0"/>
                        </a:spcBef>
                        <a:spcAft>
                          <a:spcPts val="0"/>
                        </a:spcAft>
                        <a:buClrTx/>
                        <a:buSzTx/>
                        <a:buFontTx/>
                        <a:buNone/>
                        <a:tabLst/>
                        <a:defRPr/>
                      </a:pPr>
                      <a:r>
                        <a:rPr lang="en-CA" sz="1200" b="1" i="0" dirty="0">
                          <a:solidFill>
                            <a:srgbClr val="2576B7"/>
                          </a:solidFill>
                          <a:latin typeface="Montserrat SemiBold"/>
                          <a:ea typeface="Roboto"/>
                        </a:rPr>
                        <a:t>Develop initiatives.</a:t>
                      </a:r>
                    </a:p>
                  </a:txBody>
                  <a:tcPr marL="108000" marR="108000" marT="144000" marB="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marR="0" lvl="0" indent="0" algn="ctr" defTabSz="914400" rtl="0" eaLnBrk="1" fontAlgn="auto" latinLnBrk="0" hangingPunct="1">
                        <a:lnSpc>
                          <a:spcPct val="100000"/>
                        </a:lnSpc>
                        <a:spcBef>
                          <a:spcPts val="0"/>
                        </a:spcBef>
                        <a:spcAft>
                          <a:spcPts val="0"/>
                        </a:spcAft>
                        <a:buClrTx/>
                        <a:buSzTx/>
                        <a:buFontTx/>
                        <a:buNone/>
                        <a:tabLst/>
                        <a:defRPr/>
                      </a:pPr>
                      <a:r>
                        <a:rPr lang="en-CA" sz="1200" b="1" i="0" dirty="0">
                          <a:solidFill>
                            <a:srgbClr val="1E5E92"/>
                          </a:solidFill>
                          <a:latin typeface="Montserrat SemiBold"/>
                          <a:ea typeface="Roboto"/>
                        </a:rPr>
                        <a:t>Finalize strategy.</a:t>
                      </a:r>
                    </a:p>
                  </a:txBody>
                  <a:tcPr marL="108000" marR="108000" marT="144000" marB="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2700" marR="0" lvl="0" indent="0" algn="ctr" defTabSz="914400" rtl="0" eaLnBrk="1" fontAlgn="auto" latinLnBrk="0" hangingPunct="1">
                        <a:lnSpc>
                          <a:spcPct val="100000"/>
                        </a:lnSpc>
                        <a:spcBef>
                          <a:spcPts val="0"/>
                        </a:spcBef>
                        <a:spcAft>
                          <a:spcPts val="0"/>
                        </a:spcAft>
                        <a:buClrTx/>
                        <a:buSzTx/>
                        <a:buFontTx/>
                        <a:buNone/>
                        <a:tabLst/>
                        <a:defRPr/>
                      </a:pPr>
                      <a:r>
                        <a:rPr lang="en-CA" sz="1200" b="1" i="0" dirty="0">
                          <a:solidFill>
                            <a:srgbClr val="16476E"/>
                          </a:solidFill>
                          <a:latin typeface="Montserrat SemiBold"/>
                          <a:ea typeface="Roboto"/>
                        </a:rPr>
                        <a:t>Complete next steps and </a:t>
                      </a:r>
                      <a:br>
                        <a:rPr lang="en-CA" sz="1200" b="1" i="0" dirty="0">
                          <a:solidFill>
                            <a:srgbClr val="16476E"/>
                          </a:solidFill>
                          <a:latin typeface="Montserrat SemiBold"/>
                          <a:ea typeface="Roboto"/>
                        </a:rPr>
                      </a:br>
                      <a:r>
                        <a:rPr lang="en-CA" sz="1200" b="1" i="0" dirty="0">
                          <a:solidFill>
                            <a:srgbClr val="16476E"/>
                          </a:solidFill>
                          <a:latin typeface="Montserrat SemiBold"/>
                          <a:ea typeface="Roboto"/>
                        </a:rPr>
                        <a:t>wrap-up (offsite).</a:t>
                      </a:r>
                    </a:p>
                  </a:txBody>
                  <a:tcPr marL="108000" marR="108000" marT="144000" marB="0">
                    <a:lnL w="3175" cap="flat" cmpd="sng" algn="ctr">
                      <a:solidFill>
                        <a:schemeClr val="bg1">
                          <a:lumMod val="75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7225850"/>
                  </a:ext>
                </a:extLst>
              </a:tr>
              <a:tr h="2388252">
                <a:tc>
                  <a:txBody>
                    <a:bodyPr/>
                    <a:lstStyle/>
                    <a:p>
                      <a:pPr marL="216000" indent="-457200" algn="ctr">
                        <a:lnSpc>
                          <a:spcPts val="1300"/>
                        </a:lnSpc>
                        <a:spcBef>
                          <a:spcPts val="600"/>
                        </a:spcBef>
                        <a:spcAft>
                          <a:spcPts val="0"/>
                        </a:spcAft>
                      </a:pPr>
                      <a:r>
                        <a:rPr kumimoji="0" lang="en-CA" sz="1600" b="1" i="0" u="none" strike="noStrike" kern="1200" cap="none" spc="0" normalizeH="0" baseline="0" noProof="0" dirty="0">
                          <a:ln>
                            <a:noFill/>
                          </a:ln>
                          <a:solidFill>
                            <a:srgbClr val="2576B7"/>
                          </a:solidFill>
                          <a:effectLst/>
                          <a:uLnTx/>
                          <a:uFillTx/>
                          <a:latin typeface="Montserrat SemiBold"/>
                          <a:ea typeface="Roboto"/>
                          <a:cs typeface="+mn-cs"/>
                        </a:rPr>
                        <a:t>Activities</a:t>
                      </a:r>
                      <a:endParaRPr lang="en-CA" sz="1200" b="0" i="0" baseline="0" dirty="0">
                        <a:solidFill>
                          <a:srgbClr val="000000"/>
                        </a:solidFill>
                        <a:latin typeface="Roboto Condensed Light" panose="02000000000000000000" pitchFamily="2" charset="0"/>
                        <a:ea typeface="Roboto Condensed Light" panose="02000000000000000000" pitchFamily="2" charset="0"/>
                      </a:endParaRPr>
                    </a:p>
                  </a:txBody>
                  <a:tcPr marL="144000" marR="144000" marT="72000" marB="108000" vert="vert270">
                    <a:lnL w="12700"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1.1 Identify business opportunities.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1.2​ Identify security threats.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1.3 Identify compliance requirements.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1.4 Review pain points and existing policies.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1.5  Review and establish metrics. </a:t>
                      </a: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2.1 Review capability prioritization.</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2.2 Assess current state.</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2.3 Determine target state.</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2.4 Assign roles and responsibilities.</a:t>
                      </a: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3.1 Develop gap closure action initiatives.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3.2 Conduct cost-benefit analysis to prioritize initiatives.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3.3 Develop one-pagers for high-priority initiatives.</a:t>
                      </a: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4.1 Finalize prioritization of initiatives.</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4.2 Develop roadmap.</a:t>
                      </a:r>
                    </a:p>
                    <a:p>
                      <a:pPr marL="216000" marR="0" indent="-457200" algn="l" defTabSz="914400" rtl="0" eaLnBrk="1" fontAlgn="auto" latinLnBrk="0" hangingPunct="1">
                        <a:lnSpc>
                          <a:spcPts val="1300"/>
                        </a:lnSpc>
                        <a:spcBef>
                          <a:spcPts val="600"/>
                        </a:spcBef>
                        <a:spcAft>
                          <a:spcPts val="0"/>
                        </a:spcAft>
                        <a:buClrTx/>
                        <a:buSzTx/>
                        <a:buFont typeface="Arial" panose="020B0604020202020204" pitchFamily="34" charset="0"/>
                        <a:buNone/>
                        <a:tabLst/>
                        <a:defRPr/>
                      </a:pPr>
                      <a:r>
                        <a:rPr lang="en-CA" sz="1200" b="0" i="0" kern="1200" dirty="0">
                          <a:solidFill>
                            <a:srgbClr val="000000"/>
                          </a:solidFill>
                          <a:latin typeface="Roboto Condensed Light" panose="02000000000000000000" pitchFamily="2" charset="0"/>
                          <a:ea typeface="Roboto Condensed Light" panose="02000000000000000000" pitchFamily="2" charset="0"/>
                          <a:cs typeface="+mn-cs"/>
                        </a:rPr>
                        <a:t>4.3 Develop strategy deck.</a:t>
                      </a: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15900" indent="-457200">
                        <a:lnSpc>
                          <a:spcPts val="1300"/>
                        </a:lnSpc>
                        <a:spcBef>
                          <a:spcPts val="600"/>
                        </a:spcBef>
                        <a:spcAft>
                          <a:spcPts val="0"/>
                        </a:spcAft>
                      </a:pPr>
                      <a:r>
                        <a:rPr lang="en-CA" sz="1200" b="0" i="0" baseline="0" dirty="0">
                          <a:solidFill>
                            <a:srgbClr val="000000"/>
                          </a:solidFill>
                          <a:latin typeface="Roboto Condensed Light"/>
                          <a:ea typeface="Roboto Condensed Light"/>
                        </a:rPr>
                        <a:t>5.1 Finalize deliverables.</a:t>
                      </a:r>
                    </a:p>
                    <a:p>
                      <a:pPr marL="215900" indent="-457200">
                        <a:lnSpc>
                          <a:spcPts val="1300"/>
                        </a:lnSpc>
                        <a:spcBef>
                          <a:spcPts val="600"/>
                        </a:spcBef>
                        <a:spcAft>
                          <a:spcPts val="0"/>
                        </a:spcAft>
                      </a:pPr>
                      <a:r>
                        <a:rPr lang="en-CA" sz="1200" b="0" i="0" baseline="0" dirty="0">
                          <a:solidFill>
                            <a:srgbClr val="000000"/>
                          </a:solidFill>
                          <a:latin typeface="Roboto Condensed Light"/>
                          <a:ea typeface="Roboto Condensed Light"/>
                        </a:rPr>
                        <a:t>5.2 Review implementation strategy and communications as required.</a:t>
                      </a:r>
                    </a:p>
                    <a:p>
                      <a:pPr marL="215900" indent="-457200">
                        <a:lnSpc>
                          <a:spcPts val="1300"/>
                        </a:lnSpc>
                        <a:spcBef>
                          <a:spcPts val="600"/>
                        </a:spcBef>
                        <a:spcAft>
                          <a:spcPts val="0"/>
                        </a:spcAft>
                      </a:pPr>
                      <a:endParaRPr lang="en-CA" sz="1200" b="0" i="0" baseline="0" dirty="0">
                        <a:solidFill>
                          <a:srgbClr val="000000"/>
                        </a:solidFill>
                        <a:latin typeface="Roboto Condensed Light"/>
                        <a:ea typeface="Roboto Condensed Light"/>
                      </a:endParaRPr>
                    </a:p>
                  </a:txBody>
                  <a:tcPr marL="144000" marR="144000" marT="72000" marB="108000">
                    <a:lnL w="3175" cap="flat" cmpd="sng" algn="ctr">
                      <a:solidFill>
                        <a:schemeClr val="bg1">
                          <a:lumMod val="75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481066">
                <a:tc>
                  <a: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sz="1600" b="1" i="0" dirty="0">
                          <a:solidFill>
                            <a:srgbClr val="2576B7"/>
                          </a:solidFill>
                          <a:latin typeface="Montserrat SemiBold"/>
                          <a:ea typeface="Roboto"/>
                        </a:rPr>
                        <a:t>Deliverables</a:t>
                      </a:r>
                      <a:endParaRPr lang="en-CA" sz="1200" b="0" i="0" baseline="0" dirty="0">
                        <a:solidFill>
                          <a:srgbClr val="000000"/>
                        </a:solidFill>
                        <a:latin typeface="Roboto Condensed Light" panose="02000000000000000000" pitchFamily="2" charset="0"/>
                        <a:ea typeface="Roboto Condensed Light" panose="02000000000000000000" pitchFamily="2" charset="0"/>
                      </a:endParaRPr>
                    </a:p>
                  </a:txBody>
                  <a:tcPr marL="144000" marR="144000" marT="72000" marB="108000" vert="vert270">
                    <a:lnL w="12700"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1" baseline="0" dirty="0">
                          <a:solidFill>
                            <a:srgbClr val="000000"/>
                          </a:solidFill>
                          <a:latin typeface="Roboto Condensed Light" panose="02000000000000000000" pitchFamily="2" charset="0"/>
                          <a:ea typeface="Roboto Condensed Light" panose="02000000000000000000" pitchFamily="2" charset="0"/>
                        </a:rPr>
                        <a:t>iSSDLC Capabilities Assessment Tool</a:t>
                      </a:r>
                    </a:p>
                    <a:p>
                      <a: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iSSDLC Strategic Plan Template</a:t>
                      </a:r>
                      <a:endParaRPr lang="en-CA" sz="1200" b="0" i="1" baseline="0" dirty="0">
                        <a:solidFill>
                          <a:srgbClr val="000000"/>
                        </a:solidFill>
                        <a:highlight>
                          <a:srgbClr val="FFFF00"/>
                        </a:highlight>
                        <a:latin typeface="Roboto Condensed Light" panose="02000000000000000000" pitchFamily="2" charset="0"/>
                        <a:ea typeface="Roboto Condensed Light" panose="02000000000000000000" pitchFamily="2" charset="0"/>
                      </a:endParaRP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1" baseline="0" dirty="0">
                          <a:solidFill>
                            <a:srgbClr val="000000"/>
                          </a:solidFill>
                          <a:latin typeface="Roboto Condensed Light" panose="02000000000000000000" pitchFamily="2" charset="0"/>
                          <a:ea typeface="Roboto Condensed Light" panose="02000000000000000000" pitchFamily="2" charset="0"/>
                        </a:rPr>
                        <a:t>iSSDLC Capabilities Assessment Tool</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2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1" baseline="0" dirty="0">
                          <a:solidFill>
                            <a:srgbClr val="000000"/>
                          </a:solidFill>
                          <a:latin typeface="Roboto Condensed Light" panose="02000000000000000000" pitchFamily="2" charset="0"/>
                          <a:ea typeface="Roboto Condensed Light" panose="02000000000000000000" pitchFamily="2" charset="0"/>
                        </a:rPr>
                        <a:t>iSSDLC Capabilities Assessment Tool</a:t>
                      </a:r>
                    </a:p>
                    <a:p>
                      <a: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iSSDLC Strategic Plan Template</a:t>
                      </a:r>
                      <a:endParaRPr lang="en-CA" sz="1200" b="0" i="1" baseline="0" dirty="0">
                        <a:solidFill>
                          <a:srgbClr val="000000"/>
                        </a:solidFill>
                        <a:latin typeface="Roboto Condensed Light" panose="02000000000000000000" pitchFamily="2" charset="0"/>
                        <a:ea typeface="Roboto Condensed Light"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2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1" baseline="0" dirty="0">
                          <a:solidFill>
                            <a:srgbClr val="000000"/>
                          </a:solidFill>
                          <a:latin typeface="Roboto Condensed Light" panose="02000000000000000000" pitchFamily="2" charset="0"/>
                          <a:ea typeface="Roboto Condensed Light" panose="02000000000000000000" pitchFamily="2" charset="0"/>
                        </a:rPr>
                        <a:t>iSSDLC Capabilities Assessment Tool</a:t>
                      </a:r>
                    </a:p>
                    <a:p>
                      <a:pPr marL="228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iSSDLC Strategic Plan Template</a:t>
                      </a:r>
                      <a:endParaRPr lang="en-CA" sz="1200" b="0" i="1" baseline="0" dirty="0">
                        <a:solidFill>
                          <a:srgbClr val="000000"/>
                        </a:solidFill>
                        <a:latin typeface="Roboto Condensed Light" panose="02000000000000000000" pitchFamily="2" charset="0"/>
                        <a:ea typeface="Roboto Condensed Light" panose="02000000000000000000" pitchFamily="2" charset="0"/>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2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txBody>
                  <a:tcPr marL="144000" marR="144000" marT="72000" marB="108000">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nSpc>
                          <a:spcPts val="1300"/>
                        </a:lnSpc>
                        <a:spcBef>
                          <a:spcPts val="600"/>
                        </a:spcBef>
                        <a:spcAft>
                          <a:spcPts val="0"/>
                        </a:spcAft>
                        <a:buClrTx/>
                        <a:buFont typeface="Arial" panose="020B0604020202020204" pitchFamily="34" charset="0"/>
                        <a:buChar char="•"/>
                      </a:pPr>
                      <a:r>
                        <a:rPr lang="en-CA" sz="1200" b="0" i="0" baseline="0" dirty="0">
                          <a:solidFill>
                            <a:srgbClr val="000000"/>
                          </a:solidFill>
                          <a:latin typeface="Roboto Condensed Light" panose="02000000000000000000" pitchFamily="2" charset="0"/>
                          <a:ea typeface="Roboto Condensed Light" panose="02000000000000000000" pitchFamily="2" charset="0"/>
                        </a:rPr>
                        <a:t>Final deliverables</a:t>
                      </a:r>
                    </a:p>
                  </a:txBody>
                  <a:tcPr marL="144000" marR="144000" marT="72000" marB="108000">
                    <a:lnL w="3175" cap="flat" cmpd="sng" algn="ctr">
                      <a:solidFill>
                        <a:schemeClr val="bg1">
                          <a:lumMod val="75000"/>
                        </a:schemeClr>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71099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EC539-C2BF-BDC8-2F7F-41A9851B179C}"/>
            </a:ext>
          </a:extLst>
        </p:cNvPr>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52D86B44-C227-8323-4893-5B7D18AE11F1}"/>
              </a:ext>
            </a:extLst>
          </p:cNvPr>
          <p:cNvGraphicFramePr/>
          <p:nvPr>
            <p:extLst>
              <p:ext uri="{D42A27DB-BD31-4B8C-83A1-F6EECF244321}">
                <p14:modId xmlns:p14="http://schemas.microsoft.com/office/powerpoint/2010/main" val="3808438306"/>
              </p:ext>
            </p:extLst>
          </p:nvPr>
        </p:nvGraphicFramePr>
        <p:xfrm>
          <a:off x="7379426" y="177500"/>
          <a:ext cx="4228404" cy="223315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C1C44787-880B-D370-4AD7-73AEB0FC0E68}"/>
              </a:ext>
            </a:extLst>
          </p:cNvPr>
          <p:cNvGraphicFramePr/>
          <p:nvPr>
            <p:extLst>
              <p:ext uri="{D42A27DB-BD31-4B8C-83A1-F6EECF244321}">
                <p14:modId xmlns:p14="http://schemas.microsoft.com/office/powerpoint/2010/main" val="1839325110"/>
              </p:ext>
            </p:extLst>
          </p:nvPr>
        </p:nvGraphicFramePr>
        <p:xfrm>
          <a:off x="7634428" y="2465835"/>
          <a:ext cx="3973402" cy="20984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AA5C23EE-8685-C1AD-3446-325AE5091DFB}"/>
              </a:ext>
            </a:extLst>
          </p:cNvPr>
          <p:cNvGraphicFramePr/>
          <p:nvPr>
            <p:extLst>
              <p:ext uri="{D42A27DB-BD31-4B8C-83A1-F6EECF244321}">
                <p14:modId xmlns:p14="http://schemas.microsoft.com/office/powerpoint/2010/main" val="1358941839"/>
              </p:ext>
            </p:extLst>
          </p:nvPr>
        </p:nvGraphicFramePr>
        <p:xfrm>
          <a:off x="7823614" y="4632044"/>
          <a:ext cx="3784216" cy="2048455"/>
        </p:xfrm>
        <a:graphic>
          <a:graphicData uri="http://schemas.openxmlformats.org/drawingml/2006/chart">
            <c:chart xmlns:c="http://schemas.openxmlformats.org/drawingml/2006/chart" xmlns:r="http://schemas.openxmlformats.org/officeDocument/2006/relationships" r:id="rId5"/>
          </a:graphicData>
        </a:graphic>
      </p:graphicFrame>
      <p:sp>
        <p:nvSpPr>
          <p:cNvPr id="2" name="Title 5">
            <a:extLst>
              <a:ext uri="{FF2B5EF4-FFF2-40B4-BE49-F238E27FC236}">
                <a16:creationId xmlns:a16="http://schemas.microsoft.com/office/drawing/2014/main" id="{1C1FD80B-5E01-13BC-1B5D-B998B7A9CE15}"/>
              </a:ext>
            </a:extLst>
          </p:cNvPr>
          <p:cNvSpPr txBox="1">
            <a:spLocks/>
          </p:cNvSpPr>
          <p:nvPr/>
        </p:nvSpPr>
        <p:spPr>
          <a:xfrm>
            <a:off x="385637" y="506047"/>
            <a:ext cx="4848089" cy="113018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000" b="0" i="0" kern="1200">
                <a:solidFill>
                  <a:srgbClr val="4A4A4A"/>
                </a:solidFill>
                <a:latin typeface="Montserrat SemiBold" pitchFamily="2" charset="77"/>
                <a:ea typeface="+mj-ea"/>
                <a:cs typeface="Arial" panose="020B0604020202020204" pitchFamily="34" charset="0"/>
              </a:defRPr>
            </a:lvl1pPr>
          </a:lstStyle>
          <a:p>
            <a:r>
              <a:rPr lang="en-CA" dirty="0">
                <a:solidFill>
                  <a:srgbClr val="2576B7"/>
                </a:solidFill>
              </a:rPr>
              <a:t>Measure the value of this blueprint</a:t>
            </a:r>
            <a:endParaRPr lang="en-US" dirty="0">
              <a:solidFill>
                <a:srgbClr val="2576B7"/>
              </a:solidFill>
            </a:endParaRPr>
          </a:p>
        </p:txBody>
      </p:sp>
      <p:sp>
        <p:nvSpPr>
          <p:cNvPr id="9" name="TextBox 8">
            <a:extLst>
              <a:ext uri="{FF2B5EF4-FFF2-40B4-BE49-F238E27FC236}">
                <a16:creationId xmlns:a16="http://schemas.microsoft.com/office/drawing/2014/main" id="{2C824155-C290-FE51-81CD-4D59A7F849EA}"/>
              </a:ext>
            </a:extLst>
          </p:cNvPr>
          <p:cNvSpPr txBox="1"/>
          <p:nvPr/>
        </p:nvSpPr>
        <p:spPr>
          <a:xfrm>
            <a:off x="385637" y="1723697"/>
            <a:ext cx="5711157" cy="872359"/>
          </a:xfrm>
          <a:prstGeom prst="rect">
            <a:avLst/>
          </a:prstGeom>
        </p:spPr>
        <p:txBody>
          <a:bodyPr wrap="square" lIns="0" tIns="0" rIns="0" bIns="0" numCol="1" spcCol="360000" rtlCol="0">
            <a:noAutofit/>
          </a:bodyPr>
          <a:lstStyle/>
          <a:p>
            <a:pPr algn="l">
              <a:lnSpc>
                <a:spcPct val="110000"/>
              </a:lnSpc>
              <a:tabLst/>
            </a:pPr>
            <a:r>
              <a:rPr lang="en-US" sz="1400" dirty="0">
                <a:solidFill>
                  <a:schemeClr val="tx1">
                    <a:lumMod val="50000"/>
                  </a:schemeClr>
                </a:solidFill>
                <a:latin typeface="Roboto Condensed Light" panose="02000000000000000000" pitchFamily="2" charset="0"/>
                <a:ea typeface="Roboto Condensed Light" panose="02000000000000000000" pitchFamily="2" charset="0"/>
              </a:rPr>
              <a:t>The value of this research can be measured by considering key application security metrics, as identified in step 1.3. These metrics should improve after implementation of the research, with examples shown to the right. Potential metrics can include:</a:t>
            </a:r>
          </a:p>
        </p:txBody>
      </p:sp>
      <p:graphicFrame>
        <p:nvGraphicFramePr>
          <p:cNvPr id="10" name="Table 9">
            <a:extLst>
              <a:ext uri="{FF2B5EF4-FFF2-40B4-BE49-F238E27FC236}">
                <a16:creationId xmlns:a16="http://schemas.microsoft.com/office/drawing/2014/main" id="{770A6EFE-A7CD-4C7C-65CA-0343FF5375AC}"/>
              </a:ext>
            </a:extLst>
          </p:cNvPr>
          <p:cNvGraphicFramePr>
            <a:graphicFrameLocks noGrp="1"/>
          </p:cNvGraphicFramePr>
          <p:nvPr>
            <p:extLst>
              <p:ext uri="{D42A27DB-BD31-4B8C-83A1-F6EECF244321}">
                <p14:modId xmlns:p14="http://schemas.microsoft.com/office/powerpoint/2010/main" val="31239446"/>
              </p:ext>
            </p:extLst>
          </p:nvPr>
        </p:nvGraphicFramePr>
        <p:xfrm>
          <a:off x="981554" y="2683518"/>
          <a:ext cx="4368493" cy="3804742"/>
        </p:xfrm>
        <a:graphic>
          <a:graphicData uri="http://schemas.openxmlformats.org/drawingml/2006/table">
            <a:tbl>
              <a:tblPr firstRow="1" bandRow="1">
                <a:tableStyleId>{5C22544A-7EE6-4342-B048-85BDC9FD1C3A}</a:tableStyleId>
              </a:tblPr>
              <a:tblGrid>
                <a:gridCol w="4368493">
                  <a:extLst>
                    <a:ext uri="{9D8B030D-6E8A-4147-A177-3AD203B41FA5}">
                      <a16:colId xmlns:a16="http://schemas.microsoft.com/office/drawing/2014/main" val="4211586766"/>
                    </a:ext>
                  </a:extLst>
                </a:gridCol>
              </a:tblGrid>
              <a:tr h="339543">
                <a:tc>
                  <a:txBody>
                    <a:bodyPr/>
                    <a:lstStyle/>
                    <a:p>
                      <a:r>
                        <a:rPr lang="en-US" sz="1200" dirty="0">
                          <a:latin typeface="Montserrat Medium" panose="00000600000000000000" pitchFamily="2" charset="0"/>
                        </a:rPr>
                        <a:t>Security metrics</a:t>
                      </a:r>
                    </a:p>
                  </a:txBody>
                  <a:tcPr/>
                </a:tc>
                <a:extLst>
                  <a:ext uri="{0D108BD9-81ED-4DB2-BD59-A6C34878D82A}">
                    <a16:rowId xmlns:a16="http://schemas.microsoft.com/office/drawing/2014/main" val="1016400015"/>
                  </a:ext>
                </a:extLst>
              </a:tr>
              <a:tr h="339543">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Mean time to remediate (MTTR) critical vulnerabilities</a:t>
                      </a:r>
                    </a:p>
                  </a:txBody>
                  <a:tcPr marL="0" marR="0" marT="0" marB="0" anchor="ctr"/>
                </a:tc>
                <a:extLst>
                  <a:ext uri="{0D108BD9-81ED-4DB2-BD59-A6C34878D82A}">
                    <a16:rowId xmlns:a16="http://schemas.microsoft.com/office/drawing/2014/main" val="3645165003"/>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Percentage of third-party components without known vulnerabilities</a:t>
                      </a:r>
                    </a:p>
                  </a:txBody>
                  <a:tcPr marL="0" marR="0" marT="0" marB="0" anchor="ctr"/>
                </a:tc>
                <a:extLst>
                  <a:ext uri="{0D108BD9-81ED-4DB2-BD59-A6C34878D82A}">
                    <a16:rowId xmlns:a16="http://schemas.microsoft.com/office/drawing/2014/main" val="3728418913"/>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Credential stuffing detection rate</a:t>
                      </a:r>
                    </a:p>
                  </a:txBody>
                  <a:tcPr marL="0" marR="0" marT="0" marB="0" anchor="ctr"/>
                </a:tc>
                <a:extLst>
                  <a:ext uri="{0D108BD9-81ED-4DB2-BD59-A6C34878D82A}">
                    <a16:rowId xmlns:a16="http://schemas.microsoft.com/office/drawing/2014/main" val="3130996767"/>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Security coverage in CI/CD pipeline</a:t>
                      </a:r>
                    </a:p>
                  </a:txBody>
                  <a:tcPr marL="0" marR="0" marT="0" marB="0" anchor="ctr"/>
                </a:tc>
                <a:extLst>
                  <a:ext uri="{0D108BD9-81ED-4DB2-BD59-A6C34878D82A}">
                    <a16:rowId xmlns:a16="http://schemas.microsoft.com/office/drawing/2014/main" val="1753131391"/>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Time to patch zero-day vulnerabilities</a:t>
                      </a:r>
                    </a:p>
                  </a:txBody>
                  <a:tcPr marL="0" marR="0" marT="0" marB="0" anchor="ctr"/>
                </a:tc>
                <a:extLst>
                  <a:ext uri="{0D108BD9-81ED-4DB2-BD59-A6C34878D82A}">
                    <a16:rowId xmlns:a16="http://schemas.microsoft.com/office/drawing/2014/main" val="2122573204"/>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Percentage of APIs with business logic testing</a:t>
                      </a:r>
                    </a:p>
                  </a:txBody>
                  <a:tcPr marL="0" marR="0" marT="0" marB="0" anchor="ctr"/>
                </a:tc>
                <a:extLst>
                  <a:ext uri="{0D108BD9-81ED-4DB2-BD59-A6C34878D82A}">
                    <a16:rowId xmlns:a16="http://schemas.microsoft.com/office/drawing/2014/main" val="739599812"/>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Data exposure events from AI workloads</a:t>
                      </a:r>
                    </a:p>
                  </a:txBody>
                  <a:tcPr marL="0" marR="0" marT="0" marB="0" anchor="ctr"/>
                </a:tc>
                <a:extLst>
                  <a:ext uri="{0D108BD9-81ED-4DB2-BD59-A6C34878D82A}">
                    <a16:rowId xmlns:a16="http://schemas.microsoft.com/office/drawing/2014/main" val="2738808895"/>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Quantum resilience readiness</a:t>
                      </a:r>
                    </a:p>
                  </a:txBody>
                  <a:tcPr marL="0" marR="0" marT="0" marB="0" anchor="ctr"/>
                </a:tc>
                <a:extLst>
                  <a:ext uri="{0D108BD9-81ED-4DB2-BD59-A6C34878D82A}">
                    <a16:rowId xmlns:a16="http://schemas.microsoft.com/office/drawing/2014/main" val="2640798822"/>
                  </a:ext>
                </a:extLst>
              </a:tr>
              <a:tr h="390707">
                <a:tc>
                  <a:txBody>
                    <a:bodyPr/>
                    <a:lstStyle/>
                    <a:p>
                      <a:pPr algn="l" fontAlgn="ctr">
                        <a:buNone/>
                      </a:pPr>
                      <a:r>
                        <a:rPr lang="en-US" sz="1200" b="0" i="0" u="none" strike="noStrike" dirty="0">
                          <a:solidFill>
                            <a:srgbClr val="333333"/>
                          </a:solidFill>
                          <a:effectLst/>
                          <a:latin typeface="Roboto Condensed Light" panose="02000000000000000000" pitchFamily="2" charset="0"/>
                          <a:ea typeface="Roboto Condensed Light" panose="02000000000000000000" pitchFamily="2" charset="0"/>
                        </a:rPr>
                        <a:t>Insider threat detections</a:t>
                      </a:r>
                    </a:p>
                  </a:txBody>
                  <a:tcPr marL="0" marR="0" marT="0" marB="0" anchor="ctr"/>
                </a:tc>
                <a:extLst>
                  <a:ext uri="{0D108BD9-81ED-4DB2-BD59-A6C34878D82A}">
                    <a16:rowId xmlns:a16="http://schemas.microsoft.com/office/drawing/2014/main" val="484816428"/>
                  </a:ext>
                </a:extLst>
              </a:tr>
            </a:tbl>
          </a:graphicData>
        </a:graphic>
      </p:graphicFrame>
    </p:spTree>
    <p:extLst>
      <p:ext uri="{BB962C8B-B14F-4D97-AF65-F5344CB8AC3E}">
        <p14:creationId xmlns:p14="http://schemas.microsoft.com/office/powerpoint/2010/main" val="2526081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5D1050F2-5B4B-2D4A-81D8-89C8175EA2CB}"/>
              </a:ext>
            </a:extLst>
          </p:cNvPr>
          <p:cNvSpPr>
            <a:spLocks noGrp="1"/>
          </p:cNvSpPr>
          <p:nvPr>
            <p:ph type="title"/>
          </p:nvPr>
        </p:nvSpPr>
        <p:spPr>
          <a:xfrm>
            <a:off x="354106" y="547913"/>
            <a:ext cx="4983207" cy="631182"/>
          </a:xfrm>
        </p:spPr>
        <p:txBody>
          <a:bodyPr/>
          <a:lstStyle/>
          <a:p>
            <a:r>
              <a:rPr lang="en-US" dirty="0"/>
              <a:t>Case study</a:t>
            </a:r>
          </a:p>
        </p:txBody>
      </p:sp>
      <p:sp>
        <p:nvSpPr>
          <p:cNvPr id="2" name="Text Placeholder 1"/>
          <p:cNvSpPr>
            <a:spLocks noGrp="1"/>
          </p:cNvSpPr>
          <p:nvPr>
            <p:ph type="body" sz="quarter" idx="31"/>
          </p:nvPr>
        </p:nvSpPr>
        <p:spPr>
          <a:xfrm>
            <a:off x="381793" y="1351869"/>
            <a:ext cx="5182427" cy="466166"/>
          </a:xfrm>
        </p:spPr>
        <p:txBody>
          <a:bodyPr/>
          <a:lstStyle/>
          <a:p>
            <a:r>
              <a:rPr lang="en-CA" dirty="0">
                <a:solidFill>
                  <a:srgbClr val="4A4A4A"/>
                </a:solidFill>
                <a:cs typeface="Arial"/>
              </a:rPr>
              <a:t>Reducing risk, improving visibility, and empowering developers with a modernized secure coding practice.</a:t>
            </a:r>
            <a:endParaRPr lang="en-US" dirty="0">
              <a:solidFill>
                <a:srgbClr val="4A4A4A"/>
              </a:solidFill>
            </a:endParaRPr>
          </a:p>
        </p:txBody>
      </p:sp>
      <p:sp>
        <p:nvSpPr>
          <p:cNvPr id="4" name="Text Placeholder 3">
            <a:extLst>
              <a:ext uri="{FF2B5EF4-FFF2-40B4-BE49-F238E27FC236}">
                <a16:creationId xmlns:a16="http://schemas.microsoft.com/office/drawing/2014/main" id="{DDF58630-2D94-E24B-BECE-61D1A0368170}"/>
              </a:ext>
            </a:extLst>
          </p:cNvPr>
          <p:cNvSpPr>
            <a:spLocks noGrp="1"/>
          </p:cNvSpPr>
          <p:nvPr>
            <p:ph type="body" sz="quarter" idx="16"/>
          </p:nvPr>
        </p:nvSpPr>
        <p:spPr>
          <a:prstGeom prst="rect">
            <a:avLst/>
          </a:prstGeom>
        </p:spPr>
        <p:txBody>
          <a:bodyPr>
            <a:noAutofit/>
          </a:bodyPr>
          <a:lstStyle/>
          <a:p>
            <a:r>
              <a:rPr lang="en-US" dirty="0"/>
              <a:t>INDUSTRY</a:t>
            </a:r>
          </a:p>
        </p:txBody>
      </p:sp>
      <p:sp>
        <p:nvSpPr>
          <p:cNvPr id="3" name="Text Placeholder 2">
            <a:extLst>
              <a:ext uri="{FF2B5EF4-FFF2-40B4-BE49-F238E27FC236}">
                <a16:creationId xmlns:a16="http://schemas.microsoft.com/office/drawing/2014/main" id="{618E0930-2CCB-5E4C-82F7-FE73774A412C}"/>
              </a:ext>
            </a:extLst>
          </p:cNvPr>
          <p:cNvSpPr>
            <a:spLocks noGrp="1"/>
          </p:cNvSpPr>
          <p:nvPr>
            <p:ph type="body" sz="quarter" idx="15"/>
          </p:nvPr>
        </p:nvSpPr>
        <p:spPr>
          <a:xfrm>
            <a:off x="7995991" y="1227458"/>
            <a:ext cx="1220521" cy="381201"/>
          </a:xfrm>
          <a:prstGeom prst="rect">
            <a:avLst/>
          </a:prstGeom>
        </p:spPr>
        <p:txBody>
          <a:bodyPr>
            <a:noAutofit/>
          </a:bodyPr>
          <a:lstStyle/>
          <a:p>
            <a:r>
              <a:rPr lang="en-US" dirty="0"/>
              <a:t>Banking</a:t>
            </a:r>
          </a:p>
        </p:txBody>
      </p:sp>
      <p:sp>
        <p:nvSpPr>
          <p:cNvPr id="6" name="Text Placeholder 5">
            <a:extLst>
              <a:ext uri="{FF2B5EF4-FFF2-40B4-BE49-F238E27FC236}">
                <a16:creationId xmlns:a16="http://schemas.microsoft.com/office/drawing/2014/main" id="{576FBF61-885F-3048-9096-393115DDD803}"/>
              </a:ext>
            </a:extLst>
          </p:cNvPr>
          <p:cNvSpPr>
            <a:spLocks noGrp="1"/>
          </p:cNvSpPr>
          <p:nvPr>
            <p:ph type="body" sz="quarter" idx="18"/>
          </p:nvPr>
        </p:nvSpPr>
        <p:spPr>
          <a:prstGeom prst="rect">
            <a:avLst/>
          </a:prstGeom>
        </p:spPr>
        <p:txBody>
          <a:bodyPr>
            <a:noAutofit/>
          </a:bodyPr>
          <a:lstStyle/>
          <a:p>
            <a:r>
              <a:rPr lang="en-US" dirty="0"/>
              <a:t>SOURCE</a:t>
            </a:r>
          </a:p>
        </p:txBody>
      </p:sp>
      <p:sp>
        <p:nvSpPr>
          <p:cNvPr id="5" name="Text Placeholder 4">
            <a:extLst>
              <a:ext uri="{FF2B5EF4-FFF2-40B4-BE49-F238E27FC236}">
                <a16:creationId xmlns:a16="http://schemas.microsoft.com/office/drawing/2014/main" id="{6F66D35F-FCBE-AC43-974A-38E7F3DE8015}"/>
              </a:ext>
            </a:extLst>
          </p:cNvPr>
          <p:cNvSpPr>
            <a:spLocks noGrp="1"/>
          </p:cNvSpPr>
          <p:nvPr>
            <p:ph type="body" sz="quarter" idx="17"/>
          </p:nvPr>
        </p:nvSpPr>
        <p:spPr>
          <a:xfrm>
            <a:off x="9443419" y="1227458"/>
            <a:ext cx="2470158" cy="871884"/>
          </a:xfrm>
          <a:prstGeom prst="rect">
            <a:avLst/>
          </a:prstGeom>
        </p:spPr>
        <p:txBody>
          <a:bodyPr>
            <a:noAutofit/>
          </a:bodyPr>
          <a:lstStyle/>
          <a:p>
            <a:pPr fontAlgn="base"/>
            <a:r>
              <a:rPr lang="en-CA" spc="-33" dirty="0">
                <a:cs typeface="Arial"/>
              </a:rPr>
              <a:t>“</a:t>
            </a:r>
            <a:r>
              <a:rPr lang="en-US" b="1" dirty="0"/>
              <a:t>Case Study: How Escape enhanced Shine's application security</a:t>
            </a:r>
            <a:r>
              <a:rPr lang="en-CA" spc="-33" dirty="0">
                <a:cs typeface="Arial"/>
              </a:rPr>
              <a:t>”, Escape, 2024</a:t>
            </a:r>
            <a:endParaRPr lang="en-CA" dirty="0">
              <a:cs typeface="Arial"/>
            </a:endParaRPr>
          </a:p>
        </p:txBody>
      </p:sp>
      <p:sp>
        <p:nvSpPr>
          <p:cNvPr id="38" name="Text Placeholder 37">
            <a:extLst>
              <a:ext uri="{FF2B5EF4-FFF2-40B4-BE49-F238E27FC236}">
                <a16:creationId xmlns:a16="http://schemas.microsoft.com/office/drawing/2014/main" id="{A4405161-182F-DF42-AFC0-E2BB1CD3B11B}"/>
              </a:ext>
            </a:extLst>
          </p:cNvPr>
          <p:cNvSpPr>
            <a:spLocks noGrp="1"/>
          </p:cNvSpPr>
          <p:nvPr>
            <p:ph type="body" sz="quarter" idx="11"/>
          </p:nvPr>
        </p:nvSpPr>
        <p:spPr>
          <a:xfrm>
            <a:off x="882007" y="2478200"/>
            <a:ext cx="2777181" cy="346816"/>
          </a:xfrm>
        </p:spPr>
        <p:txBody>
          <a:bodyPr>
            <a:noAutofit/>
          </a:bodyPr>
          <a:lstStyle/>
          <a:p>
            <a:r>
              <a:rPr lang="en-US" dirty="0"/>
              <a:t>Challenge</a:t>
            </a:r>
          </a:p>
        </p:txBody>
      </p:sp>
      <p:sp>
        <p:nvSpPr>
          <p:cNvPr id="39" name="Text Placeholder 38">
            <a:extLst>
              <a:ext uri="{FF2B5EF4-FFF2-40B4-BE49-F238E27FC236}">
                <a16:creationId xmlns:a16="http://schemas.microsoft.com/office/drawing/2014/main" id="{C075DF3F-9EF6-2543-8486-B3264E787D4C}"/>
              </a:ext>
            </a:extLst>
          </p:cNvPr>
          <p:cNvSpPr>
            <a:spLocks noGrp="1"/>
          </p:cNvSpPr>
          <p:nvPr>
            <p:ph type="body" sz="quarter" idx="36"/>
          </p:nvPr>
        </p:nvSpPr>
        <p:spPr>
          <a:xfrm>
            <a:off x="655501" y="2913179"/>
            <a:ext cx="3509093" cy="3084411"/>
          </a:xfrm>
          <a:prstGeom prst="rect">
            <a:avLst/>
          </a:prstGeom>
        </p:spPr>
        <p:txBody>
          <a:bodyPr>
            <a:noAutofit/>
          </a:bodyPr>
          <a:lstStyle/>
          <a:p>
            <a:pPr marL="0" indent="0">
              <a:buNone/>
            </a:pPr>
            <a:r>
              <a:rPr lang="en-US" dirty="0">
                <a:solidFill>
                  <a:srgbClr val="000000"/>
                </a:solidFill>
              </a:rPr>
              <a:t>Shine, an online banking subsidiary of one of the leading financial services groups in Europe, Société Générale, </a:t>
            </a:r>
            <a:r>
              <a:rPr lang="en-US" dirty="0"/>
              <a:t>faced</a:t>
            </a:r>
            <a:r>
              <a:rPr lang="en-US" dirty="0">
                <a:solidFill>
                  <a:srgbClr val="000000"/>
                </a:solidFill>
              </a:rPr>
              <a:t> challenges handling escalating application security threats. This included a lack of visibility in identifying all exposed APIs, limited ability in assessing the associated security risks of APIs, inefficient remediation process within the SDLC, and the challenge of meeting stringent security standards. This left Shine’s application security in a reactive state that lacked a unified, proactive security practice within the SDLC.</a:t>
            </a:r>
          </a:p>
        </p:txBody>
      </p:sp>
      <p:sp>
        <p:nvSpPr>
          <p:cNvPr id="42" name="Text Placeholder 41">
            <a:extLst>
              <a:ext uri="{FF2B5EF4-FFF2-40B4-BE49-F238E27FC236}">
                <a16:creationId xmlns:a16="http://schemas.microsoft.com/office/drawing/2014/main" id="{44D43461-A8CF-FD40-B52E-30D38F15834E}"/>
              </a:ext>
            </a:extLst>
          </p:cNvPr>
          <p:cNvSpPr>
            <a:spLocks noGrp="1"/>
          </p:cNvSpPr>
          <p:nvPr>
            <p:ph type="body" sz="quarter" idx="33"/>
          </p:nvPr>
        </p:nvSpPr>
        <p:spPr>
          <a:xfrm>
            <a:off x="4782344" y="2478200"/>
            <a:ext cx="2777181" cy="346816"/>
          </a:xfrm>
        </p:spPr>
        <p:txBody>
          <a:bodyPr>
            <a:noAutofit/>
          </a:bodyPr>
          <a:lstStyle/>
          <a:p>
            <a:r>
              <a:rPr lang="en-US" dirty="0"/>
              <a:t>Solution</a:t>
            </a:r>
          </a:p>
        </p:txBody>
      </p:sp>
      <p:sp>
        <p:nvSpPr>
          <p:cNvPr id="41" name="Text Placeholder 40">
            <a:extLst>
              <a:ext uri="{FF2B5EF4-FFF2-40B4-BE49-F238E27FC236}">
                <a16:creationId xmlns:a16="http://schemas.microsoft.com/office/drawing/2014/main" id="{768205AD-13FF-FB47-B315-7451D3762DD3}"/>
              </a:ext>
            </a:extLst>
          </p:cNvPr>
          <p:cNvSpPr>
            <a:spLocks noGrp="1"/>
          </p:cNvSpPr>
          <p:nvPr>
            <p:ph type="body" sz="quarter" idx="37"/>
          </p:nvPr>
        </p:nvSpPr>
        <p:spPr>
          <a:xfrm>
            <a:off x="4436198" y="2913179"/>
            <a:ext cx="3509093" cy="3170750"/>
          </a:xfrm>
          <a:prstGeom prst="rect">
            <a:avLst/>
          </a:prstGeom>
        </p:spPr>
        <p:txBody>
          <a:bodyPr>
            <a:noAutofit/>
          </a:bodyPr>
          <a:lstStyle/>
          <a:p>
            <a:pPr marL="0" indent="0">
              <a:buNone/>
            </a:pPr>
            <a:r>
              <a:rPr lang="en-US" dirty="0"/>
              <a:t>To address the various challenges, Shine implemented an AI-driven secure SDLC platform that will integrate into their development pipeline. A modern DAST solution was implemented, which included such innovative features as:</a:t>
            </a:r>
          </a:p>
          <a:p>
            <a:pPr lvl="1">
              <a:spcBef>
                <a:spcPts val="0"/>
              </a:spcBef>
            </a:pPr>
            <a:r>
              <a:rPr lang="en-US" dirty="0"/>
              <a:t>Automated API discovery</a:t>
            </a:r>
          </a:p>
          <a:p>
            <a:pPr lvl="1">
              <a:spcBef>
                <a:spcPts val="0"/>
              </a:spcBef>
            </a:pPr>
            <a:r>
              <a:rPr lang="en-US" dirty="0"/>
              <a:t>Continuous vulnerability scanning</a:t>
            </a:r>
          </a:p>
          <a:p>
            <a:pPr lvl="1">
              <a:spcBef>
                <a:spcPts val="0"/>
              </a:spcBef>
            </a:pPr>
            <a:r>
              <a:rPr lang="en-US" dirty="0"/>
              <a:t>CI/CD integration</a:t>
            </a:r>
          </a:p>
          <a:p>
            <a:pPr lvl="1">
              <a:spcBef>
                <a:spcPts val="0"/>
              </a:spcBef>
            </a:pPr>
            <a:r>
              <a:rPr lang="en-US" dirty="0"/>
              <a:t>Developer-friendly remediation</a:t>
            </a:r>
          </a:p>
          <a:p>
            <a:pPr lvl="1">
              <a:spcBef>
                <a:spcPts val="0"/>
              </a:spcBef>
            </a:pPr>
            <a:r>
              <a:rPr lang="en-US" dirty="0" err="1"/>
              <a:t>GraphQL</a:t>
            </a:r>
            <a:r>
              <a:rPr lang="en-US" dirty="0"/>
              <a:t> security support</a:t>
            </a:r>
          </a:p>
          <a:p>
            <a:pPr marL="0" indent="0">
              <a:buNone/>
            </a:pPr>
            <a:r>
              <a:rPr lang="en-US" dirty="0"/>
              <a:t>These capabilities will become the pillar of modernizing Shine’s DevSecOps practice.</a:t>
            </a:r>
          </a:p>
        </p:txBody>
      </p:sp>
      <p:sp>
        <p:nvSpPr>
          <p:cNvPr id="44" name="Text Placeholder 43">
            <a:extLst>
              <a:ext uri="{FF2B5EF4-FFF2-40B4-BE49-F238E27FC236}">
                <a16:creationId xmlns:a16="http://schemas.microsoft.com/office/drawing/2014/main" id="{544E203F-D4CE-D740-A617-96E69CD74363}"/>
              </a:ext>
            </a:extLst>
          </p:cNvPr>
          <p:cNvSpPr>
            <a:spLocks noGrp="1"/>
          </p:cNvSpPr>
          <p:nvPr>
            <p:ph type="body" sz="quarter" idx="35"/>
          </p:nvPr>
        </p:nvSpPr>
        <p:spPr>
          <a:xfrm>
            <a:off x="8497094" y="2478199"/>
            <a:ext cx="2777181" cy="346817"/>
          </a:xfrm>
        </p:spPr>
        <p:txBody>
          <a:bodyPr>
            <a:noAutofit/>
          </a:bodyPr>
          <a:lstStyle/>
          <a:p>
            <a:r>
              <a:rPr lang="en-US" dirty="0"/>
              <a:t>Results</a:t>
            </a:r>
          </a:p>
        </p:txBody>
      </p:sp>
      <p:sp>
        <p:nvSpPr>
          <p:cNvPr id="43" name="Text Placeholder 42">
            <a:extLst>
              <a:ext uri="{FF2B5EF4-FFF2-40B4-BE49-F238E27FC236}">
                <a16:creationId xmlns:a16="http://schemas.microsoft.com/office/drawing/2014/main" id="{97577EB0-ABD3-8748-9EF6-93308190EA98}"/>
              </a:ext>
            </a:extLst>
          </p:cNvPr>
          <p:cNvSpPr>
            <a:spLocks noGrp="1"/>
          </p:cNvSpPr>
          <p:nvPr>
            <p:ph type="body" sz="quarter" idx="38"/>
          </p:nvPr>
        </p:nvSpPr>
        <p:spPr>
          <a:xfrm>
            <a:off x="8148119" y="2913179"/>
            <a:ext cx="3732256" cy="3270338"/>
          </a:xfrm>
          <a:prstGeom prst="rect">
            <a:avLst/>
          </a:prstGeom>
        </p:spPr>
        <p:txBody>
          <a:bodyPr>
            <a:noAutofit/>
          </a:bodyPr>
          <a:lstStyle/>
          <a:p>
            <a:pPr marL="0" indent="0">
              <a:buNone/>
            </a:pPr>
            <a:r>
              <a:rPr lang="en-US" dirty="0"/>
              <a:t>Shine’s application security modernization efforts through advanced secure SDLC resulted in improvements to their security, risk mitigation, and development efficiency. Achieving full visibility into their API and attack surface controls helped prioritize initiatives to protect their assets. Continuous scanning and AI-driven analysis enable Shine’s security team to quickly assess and address emerging vulnerabilities and threats. Overall, Shine’s embrace of automation and collaboration transformed its application security while supporting innovation across the organization.</a:t>
            </a:r>
          </a:p>
          <a:p>
            <a:pPr marL="0" indent="0">
              <a:buNone/>
            </a:pPr>
            <a:endParaRPr lang="en-US" dirty="0"/>
          </a:p>
        </p:txBody>
      </p:sp>
    </p:spTree>
    <p:extLst>
      <p:ext uri="{BB962C8B-B14F-4D97-AF65-F5344CB8AC3E}">
        <p14:creationId xmlns:p14="http://schemas.microsoft.com/office/powerpoint/2010/main" val="1591605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A9EB671C-0F6A-CF42-8E3C-8155D709DD51}"/>
              </a:ext>
            </a:extLst>
          </p:cNvPr>
          <p:cNvSpPr>
            <a:spLocks noGrp="1"/>
          </p:cNvSpPr>
          <p:nvPr>
            <p:ph type="title"/>
          </p:nvPr>
        </p:nvSpPr>
        <p:spPr>
          <a:xfrm>
            <a:off x="354106" y="530021"/>
            <a:ext cx="8480612" cy="519691"/>
          </a:xfrm>
        </p:spPr>
        <p:txBody>
          <a:bodyPr/>
          <a:lstStyle/>
          <a:p>
            <a:r>
              <a:rPr lang="en-CA" dirty="0"/>
              <a:t>Phase 1</a:t>
            </a:r>
            <a:endParaRPr lang="en-US" dirty="0"/>
          </a:p>
        </p:txBody>
      </p:sp>
      <p:sp>
        <p:nvSpPr>
          <p:cNvPr id="34" name="Text Placeholder 33">
            <a:extLst>
              <a:ext uri="{FF2B5EF4-FFF2-40B4-BE49-F238E27FC236}">
                <a16:creationId xmlns:a16="http://schemas.microsoft.com/office/drawing/2014/main" id="{6D284C46-39FD-3547-8CBC-FB0074A653CD}"/>
              </a:ext>
            </a:extLst>
          </p:cNvPr>
          <p:cNvSpPr>
            <a:spLocks noGrp="1"/>
          </p:cNvSpPr>
          <p:nvPr>
            <p:ph type="body" sz="quarter" idx="11"/>
          </p:nvPr>
        </p:nvSpPr>
        <p:spPr>
          <a:prstGeom prst="rect">
            <a:avLst/>
          </a:prstGeom>
        </p:spPr>
        <p:txBody>
          <a:bodyPr/>
          <a:lstStyle/>
          <a:p>
            <a:r>
              <a:rPr lang="en-CA" dirty="0"/>
              <a:t>Prioritize </a:t>
            </a:r>
            <a:r>
              <a:rPr lang="en-CA" dirty="0" err="1"/>
              <a:t>iSSDLC</a:t>
            </a:r>
            <a:r>
              <a:rPr lang="en-CA" dirty="0"/>
              <a:t> Capabilities</a:t>
            </a:r>
          </a:p>
        </p:txBody>
      </p:sp>
      <p:sp>
        <p:nvSpPr>
          <p:cNvPr id="3" name="Text Placeholder 2">
            <a:extLst>
              <a:ext uri="{FF2B5EF4-FFF2-40B4-BE49-F238E27FC236}">
                <a16:creationId xmlns:a16="http://schemas.microsoft.com/office/drawing/2014/main" id="{43FC5E92-3258-B141-9B16-8D931C50C7BB}"/>
              </a:ext>
            </a:extLst>
          </p:cNvPr>
          <p:cNvSpPr>
            <a:spLocks noGrp="1"/>
          </p:cNvSpPr>
          <p:nvPr>
            <p:ph type="body" sz="quarter" idx="16"/>
          </p:nvPr>
        </p:nvSpPr>
        <p:spPr>
          <a:xfrm>
            <a:off x="845910" y="3057098"/>
            <a:ext cx="2076769" cy="371902"/>
          </a:xfrm>
          <a:prstGeom prst="rect">
            <a:avLst/>
          </a:prstGeom>
        </p:spPr>
        <p:txBody>
          <a:bodyPr/>
          <a:lstStyle/>
          <a:p>
            <a:r>
              <a:rPr lang="en-US" dirty="0"/>
              <a:t>Phase 1</a:t>
            </a:r>
          </a:p>
        </p:txBody>
      </p:sp>
      <p:sp>
        <p:nvSpPr>
          <p:cNvPr id="4" name="Text Placeholder 3">
            <a:extLst>
              <a:ext uri="{FF2B5EF4-FFF2-40B4-BE49-F238E27FC236}">
                <a16:creationId xmlns:a16="http://schemas.microsoft.com/office/drawing/2014/main" id="{AA3A9E8A-A027-E54A-A308-80BBCB6D46DD}"/>
              </a:ext>
            </a:extLst>
          </p:cNvPr>
          <p:cNvSpPr>
            <a:spLocks noGrp="1"/>
          </p:cNvSpPr>
          <p:nvPr>
            <p:ph type="body" sz="quarter" idx="17"/>
          </p:nvPr>
        </p:nvSpPr>
        <p:spPr>
          <a:xfrm>
            <a:off x="974974" y="3400673"/>
            <a:ext cx="1818640" cy="1048604"/>
          </a:xfrm>
          <a:prstGeom prst="rect">
            <a:avLst/>
          </a:prstGeom>
        </p:spPr>
        <p:txBody>
          <a:bodyPr/>
          <a:lstStyle/>
          <a:p>
            <a:r>
              <a:rPr lang="en-US" dirty="0"/>
              <a:t>1.1 Identify business and security requirements.</a:t>
            </a:r>
          </a:p>
          <a:p>
            <a:r>
              <a:rPr lang="en-US" dirty="0"/>
              <a:t>1.2 Identify goals.</a:t>
            </a:r>
          </a:p>
          <a:p>
            <a:r>
              <a:rPr lang="en-US" dirty="0"/>
              <a:t>1.3 Establish metrics.</a:t>
            </a:r>
          </a:p>
          <a:p>
            <a:r>
              <a:rPr lang="en-US" dirty="0"/>
              <a:t>1.4 Assign roles and responsibilities.</a:t>
            </a:r>
          </a:p>
        </p:txBody>
      </p:sp>
      <p:sp>
        <p:nvSpPr>
          <p:cNvPr id="15" name="Text Placeholder 103">
            <a:extLst>
              <a:ext uri="{FF2B5EF4-FFF2-40B4-BE49-F238E27FC236}">
                <a16:creationId xmlns:a16="http://schemas.microsoft.com/office/drawing/2014/main" id="{CA1EE2DD-430F-3AC9-EA78-B44A825762ED}"/>
              </a:ext>
            </a:extLst>
          </p:cNvPr>
          <p:cNvSpPr txBox="1">
            <a:spLocks/>
          </p:cNvSpPr>
          <p:nvPr/>
        </p:nvSpPr>
        <p:spPr>
          <a:xfrm>
            <a:off x="9362364" y="466165"/>
            <a:ext cx="2531187" cy="4893486"/>
          </a:xfrm>
          <a:prstGeom prst="rect">
            <a:avLst/>
          </a:prstGeom>
        </p:spPr>
        <p:txBody>
          <a:bodyPr lIns="0" tIns="0" rIns="0" bIns="0" numCol="1" spcCol="360000">
            <a:noAutofit/>
          </a:bodyPr>
          <a:lstStyle>
            <a:lvl1pPr marL="0" indent="0" algn="l" defTabSz="914400" rtl="0" eaLnBrk="1" latinLnBrk="0" hangingPunct="1">
              <a:lnSpc>
                <a:spcPct val="110000"/>
              </a:lnSpc>
              <a:spcBef>
                <a:spcPts val="1000"/>
              </a:spcBef>
              <a:buFont typeface="Arial" panose="020B0604020202020204" pitchFamily="34" charset="0"/>
              <a:buNone/>
              <a:defRPr sz="1200" b="0" i="0" kern="1200">
                <a:solidFill>
                  <a:schemeClr val="bg1"/>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CA"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This phase will walk you through the following activities:</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1.1 Identify business and security requirements.</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1.2 Identify g</a:t>
            </a:r>
            <a:r>
              <a:rPr lang="en-US" dirty="0" err="1">
                <a:solidFill>
                  <a:srgbClr val="FFFFFF"/>
                </a:solidFill>
              </a:rPr>
              <a:t>oals</a:t>
            </a:r>
            <a:r>
              <a:rPr lang="en-US" dirty="0">
                <a:solidFill>
                  <a:srgbClr val="FFFFFF"/>
                </a:solidFill>
              </a:rPr>
              <a:t>.</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1.3 Establish metrics.</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lang="en-US" dirty="0">
                <a:solidFill>
                  <a:srgbClr val="FFFFFF"/>
                </a:solidFill>
              </a:rPr>
              <a:t>1.4 Assign roles and responsibilities.</a:t>
            </a:r>
            <a:endPar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endParaRP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Outcome:</a:t>
            </a: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  </a:t>
            </a:r>
          </a:p>
          <a:p>
            <a:pPr marL="171450" marR="0" lvl="0" indent="-1714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US" dirty="0">
                <a:solidFill>
                  <a:srgbClr val="FFFFFF"/>
                </a:solidFill>
              </a:rPr>
              <a:t>Defined security requirements</a:t>
            </a:r>
          </a:p>
          <a:p>
            <a:pPr marL="171450" marR="0" lvl="0" indent="-1714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Defined priority business opportunity and security threats</a:t>
            </a:r>
          </a:p>
          <a:p>
            <a:pPr marL="171450" marR="0" lvl="0" indent="-1714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US" dirty="0">
                <a:solidFill>
                  <a:srgbClr val="FFFFFF"/>
                </a:solidFill>
              </a:rPr>
              <a:t>Established metrics</a:t>
            </a:r>
          </a:p>
          <a:p>
            <a:pPr marL="171450" marR="0" lvl="0" indent="-1714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Established governance </a:t>
            </a:r>
          </a:p>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CA"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This phase involves the following participants:</a:t>
            </a:r>
          </a:p>
          <a:p>
            <a:pPr marL="171450" lvl="0" indent="-171450">
              <a:lnSpc>
                <a:spcPct val="100000"/>
              </a:lnSpc>
              <a:spcBef>
                <a:spcPts val="600"/>
              </a:spcBef>
              <a:buFont typeface="Arial" panose="020B0604020202020204" pitchFamily="34" charset="0"/>
              <a:buChar char="•"/>
              <a:defRPr/>
            </a:pPr>
            <a:r>
              <a:rPr lang="en-CA" dirty="0">
                <a:solidFill>
                  <a:srgbClr val="FFFFFF"/>
                </a:solidFill>
              </a:rPr>
              <a:t>Information security</a:t>
            </a:r>
          </a:p>
          <a:p>
            <a:pPr marL="171450" lvl="0" indent="-171450">
              <a:lnSpc>
                <a:spcPct val="100000"/>
              </a:lnSpc>
              <a:spcBef>
                <a:spcPts val="600"/>
              </a:spcBef>
              <a:buFont typeface="Arial" panose="020B0604020202020204" pitchFamily="34" charset="0"/>
              <a:buChar char="•"/>
              <a:defRPr/>
            </a:pPr>
            <a:r>
              <a:rPr lang="en-CA" dirty="0">
                <a:solidFill>
                  <a:srgbClr val="FFFFFF"/>
                </a:solidFill>
              </a:rPr>
              <a:t>Application/delivery managers</a:t>
            </a:r>
          </a:p>
          <a:p>
            <a:pPr marL="171450" lvl="0" indent="-171450">
              <a:lnSpc>
                <a:spcPct val="100000"/>
              </a:lnSpc>
              <a:spcBef>
                <a:spcPts val="600"/>
              </a:spcBef>
              <a:buFont typeface="Arial" panose="020B0604020202020204" pitchFamily="34" charset="0"/>
              <a:buChar char="•"/>
              <a:defRPr/>
            </a:pPr>
            <a:r>
              <a:rPr lang="en-CA" dirty="0">
                <a:solidFill>
                  <a:srgbClr val="FFFFFF"/>
                </a:solidFill>
              </a:rPr>
              <a:t>Business</a:t>
            </a:r>
          </a:p>
        </p:txBody>
      </p:sp>
      <p:sp>
        <p:nvSpPr>
          <p:cNvPr id="14" name="Text Placeholder 90">
            <a:extLst>
              <a:ext uri="{FF2B5EF4-FFF2-40B4-BE49-F238E27FC236}">
                <a16:creationId xmlns:a16="http://schemas.microsoft.com/office/drawing/2014/main" id="{2025C4C7-058F-FA07-AABE-C96CCC8495F5}"/>
              </a:ext>
            </a:extLst>
          </p:cNvPr>
          <p:cNvSpPr txBox="1">
            <a:spLocks/>
          </p:cNvSpPr>
          <p:nvPr/>
        </p:nvSpPr>
        <p:spPr>
          <a:xfrm>
            <a:off x="9362364" y="5596673"/>
            <a:ext cx="2542732" cy="473616"/>
          </a:xfrm>
          <a:prstGeom prst="rect">
            <a:avLst/>
          </a:prstGeom>
        </p:spPr>
        <p:txBody>
          <a:bodyPr lIns="0" tIns="0" rIns="0" bIns="0">
            <a:noAutofit/>
          </a:bodyPr>
          <a:lstStyle>
            <a:lvl1pPr marL="0" indent="0" algn="l" defTabSz="914400" rtl="0" eaLnBrk="1" latinLnBrk="0" hangingPunct="1">
              <a:lnSpc>
                <a:spcPct val="110000"/>
              </a:lnSpc>
              <a:spcBef>
                <a:spcPts val="1000"/>
              </a:spcBef>
              <a:buFont typeface="Arial" panose="020B0604020202020204" pitchFamily="34" charset="0"/>
              <a:buNone/>
              <a:defRPr sz="1600" b="0" i="0" kern="1200">
                <a:solidFill>
                  <a:schemeClr val="bg1"/>
                </a:solidFill>
                <a:latin typeface="Exo" panose="02000503000000000000"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Arial" panose="020B0604020202020204" pitchFamily="34" charset="0"/>
              </a:rPr>
              <a:t>Develop a strategic plan for intelligent application security.</a:t>
            </a:r>
          </a:p>
        </p:txBody>
      </p:sp>
      <p:sp>
        <p:nvSpPr>
          <p:cNvPr id="22" name="Text Placeholder 4">
            <a:extLst>
              <a:ext uri="{FF2B5EF4-FFF2-40B4-BE49-F238E27FC236}">
                <a16:creationId xmlns:a16="http://schemas.microsoft.com/office/drawing/2014/main" id="{678223E1-A811-DC44-55D5-FAA39CFD4E2D}"/>
              </a:ext>
            </a:extLst>
          </p:cNvPr>
          <p:cNvSpPr txBox="1">
            <a:spLocks/>
          </p:cNvSpPr>
          <p:nvPr/>
        </p:nvSpPr>
        <p:spPr>
          <a:xfrm>
            <a:off x="3457030" y="3057098"/>
            <a:ext cx="2076769" cy="371902"/>
          </a:xfrm>
          <a:prstGeom prst="rect">
            <a:avLst/>
          </a:prstGeom>
        </p:spPr>
        <p:txBody>
          <a:bodyPr lIns="0" tIns="0" rIns="0" bIns="0">
            <a:noAutofit/>
          </a:bodyPr>
          <a:lstStyle>
            <a:lvl1pPr marL="0" indent="0" algn="ctr" defTabSz="914400" rtl="0" eaLnBrk="1" latinLnBrk="0" hangingPunct="1">
              <a:lnSpc>
                <a:spcPct val="110000"/>
              </a:lnSpc>
              <a:spcBef>
                <a:spcPts val="1000"/>
              </a:spcBef>
              <a:buFont typeface="Arial" panose="020B0604020202020204" pitchFamily="34" charset="0"/>
              <a:buNone/>
              <a:defRPr sz="2000" b="0" i="0" kern="1200">
                <a:solidFill>
                  <a:srgbClr val="2576B7"/>
                </a:solidFill>
                <a:latin typeface="Montserrat SemiBold"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Phase 2</a:t>
            </a:r>
          </a:p>
        </p:txBody>
      </p:sp>
      <p:sp>
        <p:nvSpPr>
          <p:cNvPr id="23" name="Text Placeholder 5">
            <a:extLst>
              <a:ext uri="{FF2B5EF4-FFF2-40B4-BE49-F238E27FC236}">
                <a16:creationId xmlns:a16="http://schemas.microsoft.com/office/drawing/2014/main" id="{8B0077AB-A366-E6E0-97F4-FE100D040B05}"/>
              </a:ext>
            </a:extLst>
          </p:cNvPr>
          <p:cNvSpPr txBox="1">
            <a:spLocks/>
          </p:cNvSpPr>
          <p:nvPr/>
        </p:nvSpPr>
        <p:spPr>
          <a:xfrm>
            <a:off x="3586094" y="3400673"/>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rPr>
              <a:t>2.1 Assess current  application security state.</a:t>
            </a:r>
          </a:p>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dirty="0"/>
              <a:t>2.2 Determine target state.</a:t>
            </a:r>
          </a:p>
        </p:txBody>
      </p:sp>
      <p:sp>
        <p:nvSpPr>
          <p:cNvPr id="24" name="Text Placeholder 6">
            <a:extLst>
              <a:ext uri="{FF2B5EF4-FFF2-40B4-BE49-F238E27FC236}">
                <a16:creationId xmlns:a16="http://schemas.microsoft.com/office/drawing/2014/main" id="{236972EF-D646-EA17-5128-3712D978043B}"/>
              </a:ext>
            </a:extLst>
          </p:cNvPr>
          <p:cNvSpPr txBox="1">
            <a:spLocks/>
          </p:cNvSpPr>
          <p:nvPr/>
        </p:nvSpPr>
        <p:spPr>
          <a:xfrm>
            <a:off x="6068150" y="3057098"/>
            <a:ext cx="2076769" cy="371902"/>
          </a:xfrm>
          <a:prstGeom prst="rect">
            <a:avLst/>
          </a:prstGeom>
        </p:spPr>
        <p:txBody>
          <a:bodyPr lIns="0" tIns="0" rIns="0" bIns="0">
            <a:noAutofit/>
          </a:bodyPr>
          <a:lstStyle>
            <a:lvl1pPr marL="0" indent="0" algn="ctr" defTabSz="914400" rtl="0" eaLnBrk="1" latinLnBrk="0" hangingPunct="1">
              <a:lnSpc>
                <a:spcPct val="110000"/>
              </a:lnSpc>
              <a:spcBef>
                <a:spcPts val="1000"/>
              </a:spcBef>
              <a:buFont typeface="Arial" panose="020B0604020202020204" pitchFamily="34" charset="0"/>
              <a:buNone/>
              <a:defRPr sz="2000" b="0" i="0" kern="1200">
                <a:solidFill>
                  <a:srgbClr val="2576B7"/>
                </a:solidFill>
                <a:latin typeface="Montserrat SemiBold"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Phase 3</a:t>
            </a:r>
          </a:p>
        </p:txBody>
      </p:sp>
      <p:sp>
        <p:nvSpPr>
          <p:cNvPr id="25" name="Text Placeholder 7">
            <a:extLst>
              <a:ext uri="{FF2B5EF4-FFF2-40B4-BE49-F238E27FC236}">
                <a16:creationId xmlns:a16="http://schemas.microsoft.com/office/drawing/2014/main" id="{3AAE67B6-A23E-2839-9B48-299FC8921151}"/>
              </a:ext>
            </a:extLst>
          </p:cNvPr>
          <p:cNvSpPr txBox="1">
            <a:spLocks/>
          </p:cNvSpPr>
          <p:nvPr/>
        </p:nvSpPr>
        <p:spPr>
          <a:xfrm>
            <a:off x="6197214" y="3403208"/>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rPr>
              <a:t>3.1 Develop </a:t>
            </a:r>
            <a:r>
              <a:rPr lang="en-US" dirty="0"/>
              <a:t>and p</a:t>
            </a:r>
            <a:r>
              <a:rPr kumimoji="0" lang="en-US" sz="1200" b="0" i="0" u="none" strike="noStrike" kern="1200" cap="none" spc="0" normalizeH="0" baseline="0" noProof="0" dirty="0" err="1">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rPr>
              <a:t>rioritize</a:t>
            </a:r>
            <a:r>
              <a:rPr kumimoji="0" lang="en-US" sz="12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rPr>
              <a:t> initiatives.</a:t>
            </a:r>
          </a:p>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lang="en-US" dirty="0"/>
              <a:t>3.2 Develop roadmap.</a:t>
            </a:r>
          </a:p>
          <a:p>
            <a:pPr marL="0" marR="0" lvl="0" indent="0" algn="ctr"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rPr>
              <a:t>3.3 </a:t>
            </a:r>
            <a:r>
              <a:rPr lang="en-US" dirty="0"/>
              <a:t>Develop strategy deck.</a:t>
            </a:r>
            <a:endParaRPr kumimoji="0" lang="en-US" sz="12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Arial" panose="020B0604020202020204" pitchFamily="34" charset="0"/>
            </a:endParaRPr>
          </a:p>
        </p:txBody>
      </p:sp>
    </p:spTree>
    <p:extLst>
      <p:ext uri="{BB962C8B-B14F-4D97-AF65-F5344CB8AC3E}">
        <p14:creationId xmlns:p14="http://schemas.microsoft.com/office/powerpoint/2010/main" val="3286575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08BE-F5EE-A36C-0570-F6BCEDBC1E4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06EF87-ADA5-B50E-9F70-7ACC9A3A0918}"/>
              </a:ext>
            </a:extLst>
          </p:cNvPr>
          <p:cNvSpPr>
            <a:spLocks noGrp="1"/>
          </p:cNvSpPr>
          <p:nvPr>
            <p:ph type="title"/>
          </p:nvPr>
        </p:nvSpPr>
        <p:spPr>
          <a:xfrm>
            <a:off x="371475" y="544769"/>
            <a:ext cx="6651494" cy="1130188"/>
          </a:xfrm>
        </p:spPr>
        <p:txBody>
          <a:bodyPr/>
          <a:lstStyle/>
          <a:p>
            <a:r>
              <a:rPr lang="en-US" dirty="0">
                <a:solidFill>
                  <a:srgbClr val="2576B7"/>
                </a:solidFill>
              </a:rPr>
              <a:t>1.1 </a:t>
            </a:r>
            <a:r>
              <a:rPr lang="en-CA" dirty="0">
                <a:solidFill>
                  <a:schemeClr val="tx1"/>
                </a:solidFill>
              </a:rPr>
              <a:t>Define requirements for application security</a:t>
            </a:r>
            <a:endParaRPr lang="en-US" dirty="0">
              <a:solidFill>
                <a:schemeClr val="tx1"/>
              </a:solidFill>
            </a:endParaRPr>
          </a:p>
        </p:txBody>
      </p:sp>
      <p:sp>
        <p:nvSpPr>
          <p:cNvPr id="4" name="Text Placeholder 3">
            <a:extLst>
              <a:ext uri="{FF2B5EF4-FFF2-40B4-BE49-F238E27FC236}">
                <a16:creationId xmlns:a16="http://schemas.microsoft.com/office/drawing/2014/main" id="{2E79B44E-894E-DD25-5BF7-446E8ED8D8F7}"/>
              </a:ext>
            </a:extLst>
          </p:cNvPr>
          <p:cNvSpPr>
            <a:spLocks noGrp="1"/>
          </p:cNvSpPr>
          <p:nvPr>
            <p:ph type="body" sz="quarter" idx="11"/>
          </p:nvPr>
        </p:nvSpPr>
        <p:spPr>
          <a:xfrm>
            <a:off x="371475" y="1900919"/>
            <a:ext cx="4116208" cy="304974"/>
          </a:xfrm>
        </p:spPr>
        <p:txBody>
          <a:bodyPr/>
          <a:lstStyle/>
          <a:p>
            <a:r>
              <a:rPr lang="en-US" sz="1600" dirty="0">
                <a:latin typeface="Exo" panose="02000503000000000000" pitchFamily="2" charset="77"/>
              </a:rPr>
              <a:t>30 minutes</a:t>
            </a:r>
          </a:p>
        </p:txBody>
      </p:sp>
      <p:sp>
        <p:nvSpPr>
          <p:cNvPr id="2" name="Rectangle 1">
            <a:extLst>
              <a:ext uri="{FF2B5EF4-FFF2-40B4-BE49-F238E27FC236}">
                <a16:creationId xmlns:a16="http://schemas.microsoft.com/office/drawing/2014/main" id="{D460C859-DEA0-AB01-69E6-8612BBAAF08D}"/>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graphicFrame>
        <p:nvGraphicFramePr>
          <p:cNvPr id="38" name="Table 37">
            <a:extLst>
              <a:ext uri="{FF2B5EF4-FFF2-40B4-BE49-F238E27FC236}">
                <a16:creationId xmlns:a16="http://schemas.microsoft.com/office/drawing/2014/main" id="{4D17610F-24B8-9C0C-FD21-A14B20C7D0AF}"/>
              </a:ext>
            </a:extLst>
          </p:cNvPr>
          <p:cNvGraphicFramePr>
            <a:graphicFrameLocks noGrp="1"/>
          </p:cNvGraphicFramePr>
          <p:nvPr>
            <p:extLst>
              <p:ext uri="{D42A27DB-BD31-4B8C-83A1-F6EECF244321}">
                <p14:modId xmlns:p14="http://schemas.microsoft.com/office/powerpoint/2010/main" val="4000677358"/>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Brainstorm stakeholders</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Regulations</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Customer contracts</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Identified requirements​</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Whiteboard</a:t>
                      </a:r>
                    </a:p>
                    <a:p>
                      <a:pPr marL="173038" indent="-173038" rtl="0">
                        <a:lnSpc>
                          <a:spcPts val="1600"/>
                        </a:lnSpc>
                        <a:spcBef>
                          <a:spcPts val="800"/>
                        </a:spcBef>
                        <a:buSzPts val="1100"/>
                        <a:buFont typeface="Arial" panose="020B0604020202020204" pitchFamily="34" charset="0"/>
                        <a:buChar char="•"/>
                        <a:tabLst/>
                      </a:pPr>
                      <a:r>
                        <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Capabilities Assessment Tool</a:t>
                      </a: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Business</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Privacy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Compliance</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42" name="Rectangle 41">
            <a:extLst>
              <a:ext uri="{FF2B5EF4-FFF2-40B4-BE49-F238E27FC236}">
                <a16:creationId xmlns:a16="http://schemas.microsoft.com/office/drawing/2014/main" id="{3A7BC59C-48CC-776D-8FDB-D83E1DECCBBD}"/>
              </a:ext>
            </a:extLst>
          </p:cNvPr>
          <p:cNvSpPr/>
          <p:nvPr/>
        </p:nvSpPr>
        <p:spPr>
          <a:xfrm>
            <a:off x="1029454" y="5505139"/>
            <a:ext cx="36979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a:ea typeface="+mn-ea"/>
                <a:cs typeface="+mn-cs"/>
              </a:rPr>
              <a:t>Download the </a:t>
            </a:r>
            <a:r>
              <a:rPr kumimoji="0" lang="en-US" sz="1200" b="0" i="1" u="none" strike="noStrike" kern="1200" cap="none" spc="0" normalizeH="0" baseline="0" noProof="0" dirty="0">
                <a:ln>
                  <a:noFill/>
                </a:ln>
                <a:solidFill>
                  <a:schemeClr val="bg1"/>
                </a:solidFill>
                <a:effectLst/>
                <a:uLnTx/>
                <a:uFillTx/>
                <a:latin typeface="Exo"/>
                <a:ea typeface="+mn-ea"/>
                <a:cs typeface="+mn-cs"/>
                <a:hlinkClick r:id="rId3">
                  <a:extLst>
                    <a:ext uri="{A12FA001-AC4F-418D-AE19-62706E023703}">
                      <ahyp:hlinkClr xmlns:ahyp="http://schemas.microsoft.com/office/drawing/2018/hyperlinkcolor" val="tx"/>
                    </a:ext>
                  </a:extLst>
                </a:hlinkClick>
              </a:rPr>
              <a:t>Capabilities Assessment Tool</a:t>
            </a:r>
            <a:endParaRPr kumimoji="0" lang="en-US" sz="1200" b="0" i="1" u="none" strike="noStrike" kern="1200" cap="none" spc="0" normalizeH="0" baseline="0" noProof="0" dirty="0">
              <a:ln>
                <a:noFill/>
              </a:ln>
              <a:solidFill>
                <a:schemeClr val="bg1"/>
              </a:solidFill>
              <a:effectLst/>
              <a:uLnTx/>
              <a:uFillTx/>
              <a:latin typeface="Exo"/>
              <a:ea typeface="+mn-ea"/>
              <a:cs typeface="+mn-cs"/>
            </a:endParaRPr>
          </a:p>
        </p:txBody>
      </p:sp>
      <p:sp>
        <p:nvSpPr>
          <p:cNvPr id="43" name="Rectangle 42">
            <a:extLst>
              <a:ext uri="{FF2B5EF4-FFF2-40B4-BE49-F238E27FC236}">
                <a16:creationId xmlns:a16="http://schemas.microsoft.com/office/drawing/2014/main" id="{060629F8-B592-B7AD-088B-42699C461C19}"/>
              </a:ext>
              <a:ext uri="{C183D7F6-B498-43B3-948B-1728B52AA6E4}">
                <adec:decorative xmlns:adec="http://schemas.microsoft.com/office/drawing/2017/decorative" val="1"/>
              </a:ext>
            </a:extLst>
          </p:cNvPr>
          <p:cNvSpPr>
            <a:spLocks noChangeAspect="1"/>
          </p:cNvSpPr>
          <p:nvPr/>
        </p:nvSpPr>
        <p:spPr>
          <a:xfrm>
            <a:off x="559631" y="5505141"/>
            <a:ext cx="470369"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44" name="Picture 43">
            <a:extLst>
              <a:ext uri="{FF2B5EF4-FFF2-40B4-BE49-F238E27FC236}">
                <a16:creationId xmlns:a16="http://schemas.microsoft.com/office/drawing/2014/main" id="{4E094552-B4D3-AF71-9823-8A39B3D4A284}"/>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669937" y="5605303"/>
            <a:ext cx="260883" cy="262205"/>
          </a:xfrm>
          <a:prstGeom prst="rect">
            <a:avLst/>
          </a:prstGeom>
        </p:spPr>
      </p:pic>
      <p:sp>
        <p:nvSpPr>
          <p:cNvPr id="11" name="TextBox 10">
            <a:extLst>
              <a:ext uri="{FF2B5EF4-FFF2-40B4-BE49-F238E27FC236}">
                <a16:creationId xmlns:a16="http://schemas.microsoft.com/office/drawing/2014/main" id="{47D60EDE-E1FA-8711-7061-B67B5F14051F}"/>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17</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6" name="TextBox 5">
            <a:extLst>
              <a:ext uri="{FF2B5EF4-FFF2-40B4-BE49-F238E27FC236}">
                <a16:creationId xmlns:a16="http://schemas.microsoft.com/office/drawing/2014/main" id="{05EE24D3-73AE-280E-0F2D-AB868A734C06}"/>
              </a:ext>
            </a:extLst>
          </p:cNvPr>
          <p:cNvSpPr txBox="1"/>
          <p:nvPr/>
        </p:nvSpPr>
        <p:spPr>
          <a:xfrm>
            <a:off x="5728138" y="3983421"/>
            <a:ext cx="5905819" cy="2669627"/>
          </a:xfrm>
          <a:prstGeom prst="rect">
            <a:avLst/>
          </a:prstGeom>
        </p:spPr>
        <p:txBody>
          <a:bodyPr wrap="square" lIns="0" tIns="0" rIns="0" bIns="0" numCol="1" spcCol="360000" rtlCol="0">
            <a:noAutofit/>
          </a:bodyPr>
          <a:lstStyle/>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
        <p:nvSpPr>
          <p:cNvPr id="7" name="TextBox 6">
            <a:extLst>
              <a:ext uri="{FF2B5EF4-FFF2-40B4-BE49-F238E27FC236}">
                <a16:creationId xmlns:a16="http://schemas.microsoft.com/office/drawing/2014/main" id="{DC5DD1BC-A33A-58AF-76DD-303E7DB17BF0}"/>
              </a:ext>
            </a:extLst>
          </p:cNvPr>
          <p:cNvSpPr txBox="1"/>
          <p:nvPr/>
        </p:nvSpPr>
        <p:spPr>
          <a:xfrm>
            <a:off x="371475" y="2416073"/>
            <a:ext cx="5725319" cy="2276960"/>
          </a:xfrm>
          <a:prstGeom prst="rect">
            <a:avLst/>
          </a:prstGeom>
        </p:spPr>
        <p:txBody>
          <a:bodyPr wrap="square" lIns="0" tIns="0" rIns="0" bIns="0" numCol="1" spcCol="360000" rtlCol="0">
            <a:noAutofit/>
          </a:bodyPr>
          <a:lstStyle/>
          <a:p>
            <a:pPr lvl="0" defTabSz="914400">
              <a:spcBef>
                <a:spcPts val="300"/>
              </a:spcBef>
              <a:spcAft>
                <a:spcPts val="1200"/>
              </a:spcAft>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Gather the required participants and use the </a:t>
            </a:r>
            <a:r>
              <a:rPr lang="en-CA" sz="1400" b="1" i="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Capabilities Assessment Tool </a:t>
            </a:r>
            <a:r>
              <a:rPr lang="en-CA"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to  configure the tool within the following categories:</a:t>
            </a: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Initiative cost estimation: </a:t>
            </a: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estimated ranges for initial and ongoing cost and staffing hours.</a:t>
            </a: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Security initiative benefit: </a:t>
            </a: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categorization of alignment to business and security benefits.</a:t>
            </a: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FTE equivalent and roadmap start year</a:t>
            </a: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 full-time equivalent hours defined by your organization, along with the estimated start year for your iSSDLC roadmap.</a:t>
            </a:r>
            <a:endPar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a:spcBef>
                <a:spcPts val="1200"/>
              </a:spcBef>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The following slides provide more information on this step.</a:t>
            </a:r>
            <a:endParaRPr lang="en-US"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8237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1AAF-7A29-1545-5640-637D765890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10065C-874B-753C-7593-F1F7AE5DD9FF}"/>
              </a:ext>
            </a:extLst>
          </p:cNvPr>
          <p:cNvSpPr>
            <a:spLocks noGrp="1"/>
          </p:cNvSpPr>
          <p:nvPr>
            <p:ph type="title"/>
          </p:nvPr>
        </p:nvSpPr>
        <p:spPr>
          <a:xfrm>
            <a:off x="371475" y="544769"/>
            <a:ext cx="10403362" cy="661862"/>
          </a:xfrm>
        </p:spPr>
        <p:txBody>
          <a:bodyPr/>
          <a:lstStyle/>
          <a:p>
            <a:r>
              <a:rPr lang="en-US" dirty="0"/>
              <a:t>Define requirements</a:t>
            </a:r>
            <a:endParaRPr lang="en-US" dirty="0">
              <a:solidFill>
                <a:schemeClr val="tx1"/>
              </a:solidFill>
            </a:endParaRPr>
          </a:p>
        </p:txBody>
      </p:sp>
      <p:sp>
        <p:nvSpPr>
          <p:cNvPr id="11" name="TextBox 10">
            <a:extLst>
              <a:ext uri="{FF2B5EF4-FFF2-40B4-BE49-F238E27FC236}">
                <a16:creationId xmlns:a16="http://schemas.microsoft.com/office/drawing/2014/main" id="{8441F41D-6333-188F-4D4D-96CBABF473D1}"/>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18</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2" name="TextBox 8">
            <a:extLst>
              <a:ext uri="{FF2B5EF4-FFF2-40B4-BE49-F238E27FC236}">
                <a16:creationId xmlns:a16="http://schemas.microsoft.com/office/drawing/2014/main" id="{406C0F09-7507-1579-7952-C3B5CCF35C20}"/>
              </a:ext>
            </a:extLst>
          </p:cNvPr>
          <p:cNvSpPr txBox="1"/>
          <p:nvPr/>
        </p:nvSpPr>
        <p:spPr>
          <a:xfrm>
            <a:off x="475918" y="1457394"/>
            <a:ext cx="5125113" cy="4824398"/>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Tab 2 of the </a:t>
            </a:r>
            <a:r>
              <a:rPr lang="en-CA" sz="1400" i="1" dirty="0">
                <a:solidFill>
                  <a:srgbClr val="000000"/>
                </a:solidFill>
                <a:latin typeface="Roboto Condensed Light" panose="02000000000000000000" pitchFamily="2" charset="0"/>
                <a:ea typeface="Roboto Condensed Light" panose="02000000000000000000" pitchFamily="2" charset="0"/>
              </a:rPr>
              <a:t>iSSDLC Capabilities Assessment Tool, </a:t>
            </a:r>
            <a:r>
              <a:rPr lang="en-CA" sz="1400" dirty="0">
                <a:solidFill>
                  <a:srgbClr val="000000"/>
                </a:solidFill>
                <a:latin typeface="Roboto Condensed Light" panose="02000000000000000000" pitchFamily="2" charset="0"/>
                <a:ea typeface="Roboto Condensed Light" panose="02000000000000000000" pitchFamily="2" charset="0"/>
              </a:rPr>
              <a:t>configure the tool for your organization by estimating the initial and ongoing cost, the staffing hours, the security benefits of the initiative, and the estimated year to commence the roadmap. </a:t>
            </a:r>
            <a:endParaRPr lang="en-CA" sz="1400" i="1"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i="1"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E9:E20, define the ranges for your initial and ongoing cost and staffing hours.</a:t>
            </a:r>
          </a:p>
          <a:p>
            <a:pPr lvl="0" defTabSz="914400">
              <a:spcBef>
                <a:spcPts val="300"/>
              </a:spcBef>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F26:F28, define your ranges for alignment with business benefit in terms of supporting business opportunities.</a:t>
            </a:r>
          </a:p>
          <a:p>
            <a:pPr lvl="0" defTabSz="914400">
              <a:spcBef>
                <a:spcPts val="300"/>
              </a:spcBef>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F29:F31, define the ranges for the security benefits of your roadmap in terms of mitigating priority threats.</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 D36, enter the number of hours per year used to define a full-time equivalent (FTE).</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 D42, enter the starting year for your application security roadmap.</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
        <p:nvSpPr>
          <p:cNvPr id="9" name="Right Arrow 18">
            <a:extLst>
              <a:ext uri="{FF2B5EF4-FFF2-40B4-BE49-F238E27FC236}">
                <a16:creationId xmlns:a16="http://schemas.microsoft.com/office/drawing/2014/main" id="{499A3353-1865-A1C1-DF7A-45BD110E3F2B}"/>
              </a:ext>
              <a:ext uri="{C183D7F6-B498-43B3-948B-1728B52AA6E4}">
                <adec:decorative xmlns:adec="http://schemas.microsoft.com/office/drawing/2017/decorative" val="1"/>
              </a:ext>
            </a:extLst>
          </p:cNvPr>
          <p:cNvSpPr/>
          <p:nvPr/>
        </p:nvSpPr>
        <p:spPr>
          <a:xfrm>
            <a:off x="5825059" y="4889073"/>
            <a:ext cx="681301"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0" name="Right Arrow 18">
            <a:extLst>
              <a:ext uri="{FF2B5EF4-FFF2-40B4-BE49-F238E27FC236}">
                <a16:creationId xmlns:a16="http://schemas.microsoft.com/office/drawing/2014/main" id="{38872044-F525-3FE5-5EFC-4AA2C0835BDC}"/>
              </a:ext>
              <a:ext uri="{C183D7F6-B498-43B3-948B-1728B52AA6E4}">
                <adec:decorative xmlns:adec="http://schemas.microsoft.com/office/drawing/2017/decorative" val="1"/>
              </a:ext>
            </a:extLst>
          </p:cNvPr>
          <p:cNvSpPr/>
          <p:nvPr/>
        </p:nvSpPr>
        <p:spPr>
          <a:xfrm>
            <a:off x="5780517" y="5943087"/>
            <a:ext cx="681301"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2" name="Right Arrow 18">
            <a:extLst>
              <a:ext uri="{FF2B5EF4-FFF2-40B4-BE49-F238E27FC236}">
                <a16:creationId xmlns:a16="http://schemas.microsoft.com/office/drawing/2014/main" id="{C77F2576-0F64-772B-4C16-ED076D0DEA5B}"/>
              </a:ext>
              <a:ext uri="{C183D7F6-B498-43B3-948B-1728B52AA6E4}">
                <adec:decorative xmlns:adec="http://schemas.microsoft.com/office/drawing/2017/decorative" val="1"/>
              </a:ext>
            </a:extLst>
          </p:cNvPr>
          <p:cNvSpPr/>
          <p:nvPr/>
        </p:nvSpPr>
        <p:spPr>
          <a:xfrm>
            <a:off x="5737273" y="3574859"/>
            <a:ext cx="681301"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3" name="Right Arrow 18">
            <a:extLst>
              <a:ext uri="{FF2B5EF4-FFF2-40B4-BE49-F238E27FC236}">
                <a16:creationId xmlns:a16="http://schemas.microsoft.com/office/drawing/2014/main" id="{0771D9EC-DC27-BFA3-2A2E-46F54CEE6498}"/>
              </a:ext>
              <a:ext uri="{C183D7F6-B498-43B3-948B-1728B52AA6E4}">
                <adec:decorative xmlns:adec="http://schemas.microsoft.com/office/drawing/2017/decorative" val="1"/>
              </a:ext>
            </a:extLst>
          </p:cNvPr>
          <p:cNvSpPr/>
          <p:nvPr/>
        </p:nvSpPr>
        <p:spPr>
          <a:xfrm>
            <a:off x="5824265" y="1946220"/>
            <a:ext cx="681301"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pic>
        <p:nvPicPr>
          <p:cNvPr id="15" name="Picture 14">
            <a:extLst>
              <a:ext uri="{FF2B5EF4-FFF2-40B4-BE49-F238E27FC236}">
                <a16:creationId xmlns:a16="http://schemas.microsoft.com/office/drawing/2014/main" id="{8A31A20F-00B5-C223-FDE0-7E4C03AD43A6}"/>
              </a:ext>
            </a:extLst>
          </p:cNvPr>
          <p:cNvPicPr>
            <a:picLocks noChangeAspect="1"/>
          </p:cNvPicPr>
          <p:nvPr/>
        </p:nvPicPr>
        <p:blipFill>
          <a:blip r:embed="rId3"/>
          <a:stretch>
            <a:fillRect/>
          </a:stretch>
        </p:blipFill>
        <p:spPr>
          <a:xfrm>
            <a:off x="6498826" y="720577"/>
            <a:ext cx="5323287" cy="3535541"/>
          </a:xfrm>
          <a:prstGeom prst="rect">
            <a:avLst/>
          </a:prstGeom>
        </p:spPr>
      </p:pic>
      <p:pic>
        <p:nvPicPr>
          <p:cNvPr id="17" name="Picture 16">
            <a:extLst>
              <a:ext uri="{FF2B5EF4-FFF2-40B4-BE49-F238E27FC236}">
                <a16:creationId xmlns:a16="http://schemas.microsoft.com/office/drawing/2014/main" id="{EB5CA9A1-0117-2FCC-4729-B568D4BDB61F}"/>
              </a:ext>
            </a:extLst>
          </p:cNvPr>
          <p:cNvPicPr>
            <a:picLocks noChangeAspect="1"/>
          </p:cNvPicPr>
          <p:nvPr/>
        </p:nvPicPr>
        <p:blipFill>
          <a:blip r:embed="rId4"/>
          <a:stretch>
            <a:fillRect/>
          </a:stretch>
        </p:blipFill>
        <p:spPr>
          <a:xfrm>
            <a:off x="6592559" y="4431926"/>
            <a:ext cx="5422330" cy="1954501"/>
          </a:xfrm>
          <a:prstGeom prst="rect">
            <a:avLst/>
          </a:prstGeom>
        </p:spPr>
      </p:pic>
    </p:spTree>
    <p:extLst>
      <p:ext uri="{BB962C8B-B14F-4D97-AF65-F5344CB8AC3E}">
        <p14:creationId xmlns:p14="http://schemas.microsoft.com/office/powerpoint/2010/main" val="15639792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75BB4F-3BD6-3E47-844A-0D1C1B77ED32}"/>
              </a:ext>
            </a:extLst>
          </p:cNvPr>
          <p:cNvSpPr>
            <a:spLocks noGrp="1"/>
          </p:cNvSpPr>
          <p:nvPr>
            <p:ph type="title"/>
          </p:nvPr>
        </p:nvSpPr>
        <p:spPr>
          <a:xfrm>
            <a:off x="371475" y="544769"/>
            <a:ext cx="6651494" cy="1130188"/>
          </a:xfrm>
        </p:spPr>
        <p:txBody>
          <a:bodyPr/>
          <a:lstStyle/>
          <a:p>
            <a:r>
              <a:rPr lang="en-US" dirty="0">
                <a:solidFill>
                  <a:srgbClr val="2576B7"/>
                </a:solidFill>
              </a:rPr>
              <a:t>1.2 </a:t>
            </a:r>
            <a:r>
              <a:rPr lang="en-CA" dirty="0">
                <a:solidFill>
                  <a:schemeClr val="tx1"/>
                </a:solidFill>
              </a:rPr>
              <a:t>Define goals for the iSSDLC​</a:t>
            </a:r>
            <a:endParaRPr lang="en-US" dirty="0">
              <a:solidFill>
                <a:schemeClr val="tx1"/>
              </a:solidFill>
            </a:endParaRPr>
          </a:p>
        </p:txBody>
      </p:sp>
      <p:sp>
        <p:nvSpPr>
          <p:cNvPr id="4" name="Text Placeholder 3">
            <a:extLst>
              <a:ext uri="{FF2B5EF4-FFF2-40B4-BE49-F238E27FC236}">
                <a16:creationId xmlns:a16="http://schemas.microsoft.com/office/drawing/2014/main" id="{7E6D4A53-04AD-4347-B2E1-D571EE0378C6}"/>
              </a:ext>
            </a:extLst>
          </p:cNvPr>
          <p:cNvSpPr>
            <a:spLocks noGrp="1"/>
          </p:cNvSpPr>
          <p:nvPr>
            <p:ph type="body" sz="quarter" idx="11"/>
          </p:nvPr>
        </p:nvSpPr>
        <p:spPr>
          <a:xfrm>
            <a:off x="371475" y="1900919"/>
            <a:ext cx="4116208" cy="304974"/>
          </a:xfrm>
        </p:spPr>
        <p:txBody>
          <a:bodyPr/>
          <a:lstStyle/>
          <a:p>
            <a:r>
              <a:rPr lang="en-US" sz="1600" dirty="0">
                <a:latin typeface="Exo" panose="02000503000000000000" pitchFamily="2" charset="77"/>
              </a:rPr>
              <a:t>60 minutes</a:t>
            </a:r>
          </a:p>
        </p:txBody>
      </p:sp>
      <p:sp>
        <p:nvSpPr>
          <p:cNvPr id="2" name="Rectangle 1">
            <a:extLst>
              <a:ext uri="{FF2B5EF4-FFF2-40B4-BE49-F238E27FC236}">
                <a16:creationId xmlns:a16="http://schemas.microsoft.com/office/drawing/2014/main" id="{490F4220-8530-3646-AD71-C1DA0270D955}"/>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graphicFrame>
        <p:nvGraphicFramePr>
          <p:cNvPr id="38" name="Table 37">
            <a:extLst>
              <a:ext uri="{FF2B5EF4-FFF2-40B4-BE49-F238E27FC236}">
                <a16:creationId xmlns:a16="http://schemas.microsoft.com/office/drawing/2014/main" id="{855E0152-6164-974F-9E73-8275AEFEEE0A}"/>
              </a:ext>
            </a:extLst>
          </p:cNvPr>
          <p:cNvGraphicFramePr>
            <a:graphicFrameLocks noGrp="1"/>
          </p:cNvGraphicFramePr>
          <p:nvPr>
            <p:extLst>
              <p:ext uri="{D42A27DB-BD31-4B8C-83A1-F6EECF244321}">
                <p14:modId xmlns:p14="http://schemas.microsoft.com/office/powerpoint/2010/main" val="2316029609"/>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Brainstorm stakeholders</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Regulations</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Customer contracts</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Identified requirements​</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Whiteboard</a:t>
                      </a:r>
                    </a:p>
                    <a:p>
                      <a:pPr marL="173038" indent="-173038" rtl="0">
                        <a:lnSpc>
                          <a:spcPts val="1600"/>
                        </a:lnSpc>
                        <a:spcBef>
                          <a:spcPts val="800"/>
                        </a:spcBef>
                        <a:buSzPts val="1100"/>
                        <a:buFont typeface="Arial" panose="020B0604020202020204" pitchFamily="34" charset="0"/>
                        <a:buChar char="•"/>
                        <a:tabLst/>
                      </a:pPr>
                      <a:r>
                        <a:rPr lang="en-CA" sz="1200" i="1" dirty="0" err="1">
                          <a:solidFill>
                            <a:srgbClr val="000000"/>
                          </a:solidFill>
                          <a:latin typeface="Roboto Condensed Light" panose="02000000000000000000" pitchFamily="2" charset="0"/>
                          <a:ea typeface="Roboto Condensed Light" panose="02000000000000000000" pitchFamily="2" charset="0"/>
                        </a:rPr>
                        <a:t>iSSDLC</a:t>
                      </a:r>
                      <a:r>
                        <a:rPr lang="en-CA" sz="1200" i="1" dirty="0">
                          <a:solidFill>
                            <a:srgbClr val="000000"/>
                          </a:solidFill>
                          <a:latin typeface="Roboto Condensed Light" panose="02000000000000000000" pitchFamily="2" charset="0"/>
                          <a:ea typeface="Roboto Condensed Light" panose="02000000000000000000" pitchFamily="2" charset="0"/>
                        </a:rPr>
                        <a:t> </a:t>
                      </a:r>
                      <a:r>
                        <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Capabilities Assessment Tool</a:t>
                      </a: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Business</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Privacy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Compliance</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42" name="Rectangle 41">
            <a:extLst>
              <a:ext uri="{FF2B5EF4-FFF2-40B4-BE49-F238E27FC236}">
                <a16:creationId xmlns:a16="http://schemas.microsoft.com/office/drawing/2014/main" id="{A000B179-89C7-724D-8FA3-FA0977082975}"/>
              </a:ext>
            </a:extLst>
          </p:cNvPr>
          <p:cNvSpPr/>
          <p:nvPr/>
        </p:nvSpPr>
        <p:spPr>
          <a:xfrm>
            <a:off x="1029454" y="5505139"/>
            <a:ext cx="36979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a:ea typeface="+mn-ea"/>
                <a:cs typeface="+mn-cs"/>
              </a:rPr>
              <a:t>iSSDLC</a:t>
            </a:r>
            <a:r>
              <a:rPr kumimoji="0" lang="en-US" sz="1200" b="0" i="0" u="none" strike="noStrike" kern="1200" cap="none" spc="0" normalizeH="0" baseline="0" noProof="0" dirty="0">
                <a:ln>
                  <a:noFill/>
                </a:ln>
                <a:solidFill>
                  <a:srgbClr val="FFFFFF"/>
                </a:solidFill>
                <a:effectLst/>
                <a:uLnTx/>
                <a:uFillTx/>
                <a:latin typeface="Exo"/>
                <a:ea typeface="+mn-ea"/>
                <a:cs typeface="+mn-cs"/>
              </a:rPr>
              <a:t> </a:t>
            </a:r>
            <a:r>
              <a:rPr kumimoji="0" lang="en-US" sz="1200" b="0" i="1" u="none" strike="noStrike" kern="1200" cap="none" spc="0" normalizeH="0" baseline="0" noProof="0" dirty="0">
                <a:ln>
                  <a:noFill/>
                </a:ln>
                <a:solidFill>
                  <a:srgbClr val="FFFFFF"/>
                </a:solidFill>
                <a:effectLst/>
                <a:uLnTx/>
                <a:uFillTx/>
                <a:latin typeface="Exo"/>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a:ea typeface="+mn-ea"/>
              <a:cs typeface="+mn-cs"/>
            </a:endParaRPr>
          </a:p>
        </p:txBody>
      </p:sp>
      <p:sp>
        <p:nvSpPr>
          <p:cNvPr id="43" name="Rectangle 42">
            <a:extLst>
              <a:ext uri="{FF2B5EF4-FFF2-40B4-BE49-F238E27FC236}">
                <a16:creationId xmlns:a16="http://schemas.microsoft.com/office/drawing/2014/main" id="{13D0E41C-A640-D04F-A9CB-65F81949503A}"/>
              </a:ext>
              <a:ext uri="{C183D7F6-B498-43B3-948B-1728B52AA6E4}">
                <adec:decorative xmlns:adec="http://schemas.microsoft.com/office/drawing/2017/decorative" val="1"/>
              </a:ext>
            </a:extLst>
          </p:cNvPr>
          <p:cNvSpPr>
            <a:spLocks noChangeAspect="1"/>
          </p:cNvSpPr>
          <p:nvPr/>
        </p:nvSpPr>
        <p:spPr>
          <a:xfrm>
            <a:off x="559631" y="5505141"/>
            <a:ext cx="470369"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44" name="Picture 43">
            <a:extLst>
              <a:ext uri="{FF2B5EF4-FFF2-40B4-BE49-F238E27FC236}">
                <a16:creationId xmlns:a16="http://schemas.microsoft.com/office/drawing/2014/main" id="{BAB8D2D5-A0FD-6249-92ED-396170EB909D}"/>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669937" y="5605303"/>
            <a:ext cx="260883" cy="262205"/>
          </a:xfrm>
          <a:prstGeom prst="rect">
            <a:avLst/>
          </a:prstGeom>
        </p:spPr>
      </p:pic>
      <p:sp>
        <p:nvSpPr>
          <p:cNvPr id="11" name="TextBox 10">
            <a:extLst>
              <a:ext uri="{FF2B5EF4-FFF2-40B4-BE49-F238E27FC236}">
                <a16:creationId xmlns:a16="http://schemas.microsoft.com/office/drawing/2014/main" id="{022399C1-710B-4BE4-BB5F-E1D40237D850}"/>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19</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6" name="TextBox 5">
            <a:extLst>
              <a:ext uri="{FF2B5EF4-FFF2-40B4-BE49-F238E27FC236}">
                <a16:creationId xmlns:a16="http://schemas.microsoft.com/office/drawing/2014/main" id="{552648E8-2A1A-9AFD-AA8E-7F11A51C74F9}"/>
              </a:ext>
            </a:extLst>
          </p:cNvPr>
          <p:cNvSpPr txBox="1"/>
          <p:nvPr/>
        </p:nvSpPr>
        <p:spPr>
          <a:xfrm>
            <a:off x="371475" y="2504554"/>
            <a:ext cx="5725319" cy="2276960"/>
          </a:xfrm>
          <a:prstGeom prst="rect">
            <a:avLst/>
          </a:prstGeom>
        </p:spPr>
        <p:txBody>
          <a:bodyPr wrap="square" lIns="0" tIns="0" rIns="0" bIns="0" numCol="1" spcCol="360000" rtlCol="0">
            <a:noAutofit/>
          </a:bodyPr>
          <a:lstStyle/>
          <a:p>
            <a:pPr lvl="0" defTabSz="914400">
              <a:spcBef>
                <a:spcPts val="300"/>
              </a:spcBef>
              <a:spcAft>
                <a:spcPts val="1200"/>
              </a:spcAft>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Gather the required participants and leverage the </a:t>
            </a:r>
            <a:r>
              <a:rPr lang="en-CA" sz="1400" b="1" i="1" dirty="0" err="1">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iSSDLC</a:t>
            </a:r>
            <a:r>
              <a:rPr lang="en-CA" sz="1400" i="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 </a:t>
            </a:r>
            <a:r>
              <a:rPr lang="en-CA" sz="1400" b="1" i="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Capabilities Assessment Tool</a:t>
            </a:r>
            <a:r>
              <a:rPr lang="en-CA"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 to capture the following application security goals.</a:t>
            </a: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Business opportunities: Develop strategic enterprise goals that can be supported by  improvements to the organization</a:t>
            </a:r>
            <a:r>
              <a:rPr lang="en-CA" sz="1400" dirty="0">
                <a:latin typeface="Roboto Condensed Light" panose="02000000000000000000" pitchFamily="2" charset="0"/>
                <a:ea typeface="Roboto Condensed Light" panose="02000000000000000000" pitchFamily="2" charset="0"/>
                <a:cs typeface="Roboto Condensed Light" panose="02000000000000000000" pitchFamily="2" charset="0"/>
              </a:rPr>
              <a:t>’s application security program.</a:t>
            </a:r>
            <a:endPar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Security threats:</a:t>
            </a:r>
            <a:r>
              <a:rPr lang="en-US" sz="1400" b="1" dirty="0">
                <a:latin typeface="Roboto Condensed Light" panose="02000000000000000000" pitchFamily="2" charset="0"/>
                <a:ea typeface="Roboto Condensed Light" panose="02000000000000000000" pitchFamily="2" charset="0"/>
                <a:cs typeface="Roboto Condensed Light" panose="02000000000000000000" pitchFamily="2" charset="0"/>
              </a:rPr>
              <a:t> </a:t>
            </a: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List highest priority security threats that can be mitigated through improvements to the organization’s application security program.</a:t>
            </a:r>
            <a:endPar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Application security metrics: KPIs measure the effectiveness of initiatives and alignment with business opportunities and security threats.</a:t>
            </a:r>
          </a:p>
          <a:p>
            <a:pPr>
              <a:spcBef>
                <a:spcPts val="1200"/>
              </a:spcBef>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The following slides provide more information on this step.</a:t>
            </a:r>
            <a:endParaRPr lang="en-US"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179388" indent="-179388" algn="l">
              <a:lnSpc>
                <a:spcPct val="110000"/>
              </a:lnSpc>
              <a:buFont typeface="Arial" panose="020B0604020202020204" pitchFamily="34" charset="0"/>
              <a:buChar char="•"/>
              <a:tabLst/>
            </a:pPr>
            <a:endParaRPr lang="en-US" sz="1400" dirty="0">
              <a:solidFill>
                <a:schemeClr val="tx1">
                  <a:lumMod val="5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304409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41B0FD8-9855-8E6A-14EE-9B4503A28596}"/>
              </a:ext>
            </a:extLst>
          </p:cNvPr>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a:fillRect/>
          </a:stretch>
        </p:blipFill>
        <p:spPr bwMode="auto">
          <a:xfrm>
            <a:off x="7402285" y="0"/>
            <a:ext cx="479130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8C2FD82-4ABF-9624-9C8C-1A974407F01C}"/>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FFFFFF"/>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FFFFFF"/>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FFFFFF"/>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FFFFFF"/>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FFFFFF"/>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FFFFFF"/>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FFFFFF"/>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FFFFFF"/>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FFFFFF"/>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FFFFFF"/>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FFFFFF"/>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20</a:t>
            </a:fld>
            <a:endParaRPr kumimoji="0" sz="800" b="0" i="0" u="none" strike="noStrike" kern="1200" cap="none" spc="6" normalizeH="0" baseline="0" noProof="0" dirty="0">
              <a:ln>
                <a:noFill/>
              </a:ln>
              <a:solidFill>
                <a:srgbClr val="FFFFFF"/>
              </a:solidFill>
              <a:effectLst/>
              <a:uLnTx/>
              <a:uFillTx/>
              <a:latin typeface="Exo" panose="02000503000000000000" pitchFamily="2" charset="77"/>
              <a:ea typeface="+mn-ea"/>
              <a:cs typeface="Arial" panose="020B0604020202020204" pitchFamily="34" charset="0"/>
            </a:endParaRPr>
          </a:p>
        </p:txBody>
      </p:sp>
      <p:sp>
        <p:nvSpPr>
          <p:cNvPr id="9" name="Title 2">
            <a:extLst>
              <a:ext uri="{FF2B5EF4-FFF2-40B4-BE49-F238E27FC236}">
                <a16:creationId xmlns:a16="http://schemas.microsoft.com/office/drawing/2014/main" id="{52AF6A3E-0BCD-6220-8CA2-CB1B066F0295}"/>
              </a:ext>
            </a:extLst>
          </p:cNvPr>
          <p:cNvSpPr>
            <a:spLocks noGrp="1"/>
          </p:cNvSpPr>
          <p:nvPr>
            <p:ph type="title"/>
          </p:nvPr>
        </p:nvSpPr>
        <p:spPr>
          <a:xfrm>
            <a:off x="371475" y="544769"/>
            <a:ext cx="6943725" cy="661862"/>
          </a:xfrm>
        </p:spPr>
        <p:txBody>
          <a:bodyPr>
            <a:normAutofit fontScale="90000"/>
          </a:bodyPr>
          <a:lstStyle/>
          <a:p>
            <a:r>
              <a:rPr lang="en-US" dirty="0">
                <a:solidFill>
                  <a:schemeClr val="accent1"/>
                </a:solidFill>
              </a:rPr>
              <a:t>1.2.1 </a:t>
            </a:r>
            <a:r>
              <a:rPr lang="en-US" dirty="0"/>
              <a:t>Identify business opportunities</a:t>
            </a:r>
            <a:r>
              <a:rPr lang="en-CA" dirty="0">
                <a:solidFill>
                  <a:schemeClr val="tx1"/>
                </a:solidFill>
              </a:rPr>
              <a:t>​</a:t>
            </a:r>
            <a:endParaRPr lang="en-US" dirty="0">
              <a:solidFill>
                <a:schemeClr val="tx1"/>
              </a:solidFill>
            </a:endParaRPr>
          </a:p>
        </p:txBody>
      </p:sp>
      <p:sp>
        <p:nvSpPr>
          <p:cNvPr id="10" name="TextBox 8">
            <a:extLst>
              <a:ext uri="{FF2B5EF4-FFF2-40B4-BE49-F238E27FC236}">
                <a16:creationId xmlns:a16="http://schemas.microsoft.com/office/drawing/2014/main" id="{BDA0D581-7B33-72AF-DF6F-FC1B11FA9F16}"/>
              </a:ext>
            </a:extLst>
          </p:cNvPr>
          <p:cNvSpPr txBox="1"/>
          <p:nvPr/>
        </p:nvSpPr>
        <p:spPr>
          <a:xfrm>
            <a:off x="276222" y="1870163"/>
            <a:ext cx="6353688" cy="2808461"/>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Improving an organization’s application security program should focus not only on the technical components but also on the business impact and its alignment to the enterprise goals. </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Identifying business opportunities that could be supported through an application security strategy will demonstrate strategic alignment and ROI to executives.</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Business opportunities help influence prioritization of security capabilities.</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Application security capabilities can support multiple business opportunities, which shows greater alignment with the business. </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6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600" dirty="0">
              <a:solidFill>
                <a:srgbClr val="000000"/>
              </a:solidFill>
              <a:latin typeface="Roboto Condensed Light" panose="02000000000000000000" pitchFamily="2" charset="0"/>
              <a:ea typeface="Roboto Condensed Light" panose="02000000000000000000" pitchFamily="2" charset="0"/>
            </a:endParaRPr>
          </a:p>
        </p:txBody>
      </p:sp>
      <p:sp>
        <p:nvSpPr>
          <p:cNvPr id="12" name="Rectangle 11">
            <a:extLst>
              <a:ext uri="{FF2B5EF4-FFF2-40B4-BE49-F238E27FC236}">
                <a16:creationId xmlns:a16="http://schemas.microsoft.com/office/drawing/2014/main" id="{6F8CE188-39F9-6F17-EC86-267639DCF523}"/>
              </a:ext>
              <a:ext uri="{C183D7F6-B498-43B3-948B-1728B52AA6E4}">
                <adec:decorative xmlns:adec="http://schemas.microsoft.com/office/drawing/2017/decorative" val="1"/>
              </a:ext>
            </a:extLst>
          </p:cNvPr>
          <p:cNvSpPr/>
          <p:nvPr/>
        </p:nvSpPr>
        <p:spPr>
          <a:xfrm>
            <a:off x="519239" y="5148953"/>
            <a:ext cx="6669837" cy="1423726"/>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4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
        <p:nvSpPr>
          <p:cNvPr id="13" name="Rectangle 12">
            <a:extLst>
              <a:ext uri="{FF2B5EF4-FFF2-40B4-BE49-F238E27FC236}">
                <a16:creationId xmlns:a16="http://schemas.microsoft.com/office/drawing/2014/main" id="{C45AFED0-88C4-DF57-ADE4-5D68BE88C613}"/>
              </a:ext>
            </a:extLst>
          </p:cNvPr>
          <p:cNvSpPr/>
          <p:nvPr/>
        </p:nvSpPr>
        <p:spPr>
          <a:xfrm>
            <a:off x="605010" y="5227657"/>
            <a:ext cx="6525455" cy="1228449"/>
          </a:xfrm>
          <a:prstGeom prst="rect">
            <a:avLst/>
          </a:prstGeom>
          <a:gradFill>
            <a:gsLst>
              <a:gs pos="0">
                <a:srgbClr val="2576B7"/>
              </a:gs>
              <a:gs pos="100000">
                <a:schemeClr val="accent1">
                  <a:lumMod val="60000"/>
                  <a:lumOff val="40000"/>
                </a:schemeClr>
              </a:gs>
            </a:gsLst>
            <a:lin ang="2700000" scaled="0"/>
          </a:gradFill>
          <a:ln w="187325" cmpd="thinThick">
            <a:no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bIns="27432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marL="0" marR="0" lvl="0" indent="0" algn="l" defTabSz="554492"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Business-aligned security enables speed without foregoing trust. By focusing on what drives business goals, organizations can innovate securely and confidently.</a:t>
            </a:r>
          </a:p>
        </p:txBody>
      </p:sp>
    </p:spTree>
    <p:extLst>
      <p:ext uri="{BB962C8B-B14F-4D97-AF65-F5344CB8AC3E}">
        <p14:creationId xmlns:p14="http://schemas.microsoft.com/office/powerpoint/2010/main" val="3092528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0C80-2882-38D1-33B8-1B2F4C471C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DDB38B-4FBD-547A-6AC3-1E19DADE49D6}"/>
              </a:ext>
            </a:extLst>
          </p:cNvPr>
          <p:cNvSpPr>
            <a:spLocks noGrp="1"/>
          </p:cNvSpPr>
          <p:nvPr>
            <p:ph type="title"/>
          </p:nvPr>
        </p:nvSpPr>
        <p:spPr>
          <a:xfrm>
            <a:off x="371475" y="544769"/>
            <a:ext cx="10403362" cy="661862"/>
          </a:xfrm>
        </p:spPr>
        <p:txBody>
          <a:bodyPr/>
          <a:lstStyle/>
          <a:p>
            <a:r>
              <a:rPr lang="en-US" dirty="0"/>
              <a:t>Examples of business opportunities</a:t>
            </a:r>
            <a:r>
              <a:rPr lang="en-CA" dirty="0">
                <a:solidFill>
                  <a:schemeClr val="tx1"/>
                </a:solidFill>
              </a:rPr>
              <a:t>​</a:t>
            </a:r>
            <a:endParaRPr lang="en-US" dirty="0">
              <a:solidFill>
                <a:schemeClr val="tx1"/>
              </a:solidFill>
            </a:endParaRPr>
          </a:p>
        </p:txBody>
      </p:sp>
      <p:sp>
        <p:nvSpPr>
          <p:cNvPr id="11" name="TextBox 10">
            <a:extLst>
              <a:ext uri="{FF2B5EF4-FFF2-40B4-BE49-F238E27FC236}">
                <a16:creationId xmlns:a16="http://schemas.microsoft.com/office/drawing/2014/main" id="{0192730F-AC00-FDD7-43F5-16D2817C57B2}"/>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21</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4" name="TextBox 8">
            <a:extLst>
              <a:ext uri="{FF2B5EF4-FFF2-40B4-BE49-F238E27FC236}">
                <a16:creationId xmlns:a16="http://schemas.microsoft.com/office/drawing/2014/main" id="{09EC1057-8EBF-1CFB-7329-9691CED36E7A}"/>
              </a:ext>
            </a:extLst>
          </p:cNvPr>
          <p:cNvSpPr txBox="1"/>
          <p:nvPr/>
        </p:nvSpPr>
        <p:spPr>
          <a:xfrm>
            <a:off x="461893" y="1159455"/>
            <a:ext cx="9796662" cy="307777"/>
          </a:xfrm>
          <a:prstGeom prst="rect">
            <a:avLst/>
          </a:prstGeom>
          <a:noFill/>
          <a:ln cap="flat">
            <a:noFill/>
          </a:ln>
        </p:spPr>
        <p:txBody>
          <a:bodyPr vert="horz" wrap="square" lIns="91440" tIns="45720" rIns="91440" bIns="45720" anchor="t" anchorCtr="0" compatLnSpc="1">
            <a:spAutoFit/>
          </a:bodyPr>
          <a:lstStyle/>
          <a:p>
            <a:pPr lvl="0" defTabSz="914400">
              <a:spcBef>
                <a:spcPts val="300"/>
              </a:spcBef>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Below are examples of business opportunities and their relation to application security capabilities.</a:t>
            </a:r>
            <a:endParaRPr lang="en-CA" sz="1400" b="1" dirty="0">
              <a:solidFill>
                <a:srgbClr val="2576B7"/>
              </a:solidFill>
              <a:latin typeface="Roboto Condensed Light" panose="02000000000000000000" pitchFamily="2" charset="0"/>
              <a:ea typeface="Roboto Condensed Light" panose="02000000000000000000" pitchFamily="2" charset="0"/>
            </a:endParaRPr>
          </a:p>
        </p:txBody>
      </p:sp>
      <p:graphicFrame>
        <p:nvGraphicFramePr>
          <p:cNvPr id="5" name="Table 4">
            <a:extLst>
              <a:ext uri="{FF2B5EF4-FFF2-40B4-BE49-F238E27FC236}">
                <a16:creationId xmlns:a16="http://schemas.microsoft.com/office/drawing/2014/main" id="{C04D78B8-3625-4072-6CD3-D2612ADE0A69}"/>
              </a:ext>
            </a:extLst>
          </p:cNvPr>
          <p:cNvGraphicFramePr>
            <a:graphicFrameLocks noGrp="1"/>
          </p:cNvGraphicFramePr>
          <p:nvPr>
            <p:extLst>
              <p:ext uri="{D42A27DB-BD31-4B8C-83A1-F6EECF244321}">
                <p14:modId xmlns:p14="http://schemas.microsoft.com/office/powerpoint/2010/main" val="1175487370"/>
              </p:ext>
            </p:extLst>
          </p:nvPr>
        </p:nvGraphicFramePr>
        <p:xfrm>
          <a:off x="550583" y="1615759"/>
          <a:ext cx="10224254" cy="4424680"/>
        </p:xfrm>
        <a:graphic>
          <a:graphicData uri="http://schemas.openxmlformats.org/drawingml/2006/table">
            <a:tbl>
              <a:tblPr firstRow="1" bandRow="1">
                <a:tableStyleId>{5C22544A-7EE6-4342-B048-85BDC9FD1C3A}</a:tableStyleId>
              </a:tblPr>
              <a:tblGrid>
                <a:gridCol w="5112127">
                  <a:extLst>
                    <a:ext uri="{9D8B030D-6E8A-4147-A177-3AD203B41FA5}">
                      <a16:colId xmlns:a16="http://schemas.microsoft.com/office/drawing/2014/main" val="4211586766"/>
                    </a:ext>
                  </a:extLst>
                </a:gridCol>
                <a:gridCol w="5112127">
                  <a:extLst>
                    <a:ext uri="{9D8B030D-6E8A-4147-A177-3AD203B41FA5}">
                      <a16:colId xmlns:a16="http://schemas.microsoft.com/office/drawing/2014/main" val="3296165356"/>
                    </a:ext>
                  </a:extLst>
                </a:gridCol>
              </a:tblGrid>
              <a:tr h="370840">
                <a:tc>
                  <a:txBody>
                    <a:bodyPr/>
                    <a:lstStyle/>
                    <a:p>
                      <a:r>
                        <a:rPr lang="en-US" sz="1400" dirty="0">
                          <a:latin typeface="Montserrat Medium" panose="00000600000000000000" pitchFamily="2" charset="0"/>
                        </a:rPr>
                        <a:t>Business opportunity</a:t>
                      </a:r>
                    </a:p>
                  </a:txBody>
                  <a:tcPr/>
                </a:tc>
                <a:tc>
                  <a:txBody>
                    <a:bodyPr/>
                    <a:lstStyle/>
                    <a:p>
                      <a:r>
                        <a:rPr lang="en-US" sz="1400" dirty="0">
                          <a:latin typeface="Montserrat Medium" panose="00000600000000000000" pitchFamily="2" charset="0"/>
                        </a:rPr>
                        <a:t>Definition</a:t>
                      </a:r>
                    </a:p>
                  </a:txBody>
                  <a:tcPr/>
                </a:tc>
                <a:extLst>
                  <a:ext uri="{0D108BD9-81ED-4DB2-BD59-A6C34878D82A}">
                    <a16:rowId xmlns:a16="http://schemas.microsoft.com/office/drawing/2014/main" val="1016400015"/>
                  </a:ext>
                </a:extLst>
              </a:tr>
              <a:tr h="25448">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Monetize data and services through premium APIs.</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Safely enable new revenue streams for your data and services by providing secure application programming interface (API) capabilities for your </a:t>
                      </a: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customers</a:t>
                      </a: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t>
                      </a:r>
                    </a:p>
                  </a:txBody>
                  <a:tcPr marL="0" marR="0" marT="0" marB="0" anchor="ctr"/>
                </a:tc>
                <a:extLst>
                  <a:ext uri="{0D108BD9-81ED-4DB2-BD59-A6C34878D82A}">
                    <a16:rowId xmlns:a16="http://schemas.microsoft.com/office/drawing/2014/main" val="3645165003"/>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Faster time to value for new products.</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Bring new products and services to market faster by collapsing lengthy security checkpoints.</a:t>
                      </a:r>
                    </a:p>
                  </a:txBody>
                  <a:tcPr marL="0" marR="0" marT="0" marB="0" anchor="ctr"/>
                </a:tc>
                <a:extLst>
                  <a:ext uri="{0D108BD9-81ED-4DB2-BD59-A6C34878D82A}">
                    <a16:rowId xmlns:a16="http://schemas.microsoft.com/office/drawing/2014/main" val="3728418913"/>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Reduce compliance costs and enter new regulated markets faster.</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Cut audit preparation effort, turning compliance from a go/no‑go barrier into a predictable, budgeted line item when entering new regulated markets.</a:t>
                      </a:r>
                    </a:p>
                  </a:txBody>
                  <a:tcPr marL="0" marR="0" marT="0" marB="0" anchor="ctr"/>
                </a:tc>
                <a:extLst>
                  <a:ext uri="{0D108BD9-81ED-4DB2-BD59-A6C34878D82A}">
                    <a16:rowId xmlns:a16="http://schemas.microsoft.com/office/drawing/2014/main" val="3130996767"/>
                  </a:ext>
                </a:extLst>
              </a:tr>
              <a:tr h="370840">
                <a:tc>
                  <a:txBody>
                    <a:bodyPr/>
                    <a:lstStyle/>
                    <a:p>
                      <a:pPr marL="0" algn="l" defTabSz="914400" rtl="0" eaLnBrk="1" fontAlgn="t" latinLnBrk="0" hangingPunct="1">
                        <a:buNone/>
                      </a:pPr>
                      <a:r>
                        <a:rPr lang="en-US" sz="1400" b="0" i="0" u="none" strike="noStrike" kern="1200">
                          <a:solidFill>
                            <a:srgbClr val="333333"/>
                          </a:solidFill>
                          <a:effectLst/>
                          <a:latin typeface="Roboto Condensed Light" panose="02000000000000000000" pitchFamily="2" charset="0"/>
                          <a:ea typeface="Roboto Condensed Light" panose="02000000000000000000" pitchFamily="2" charset="0"/>
                          <a:cs typeface="+mn-cs"/>
                        </a:rPr>
                        <a:t>Reduce cyberinsurance premiums and borrowing costs.</a:t>
                      </a:r>
                      <a:endPar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endParaRP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Verified controls translate directly into lower insurance rates and better debt covenants.</a:t>
                      </a:r>
                    </a:p>
                  </a:txBody>
                  <a:tcPr marL="0" marR="0" marT="0" marB="0" anchor="ctr"/>
                </a:tc>
                <a:extLst>
                  <a:ext uri="{0D108BD9-81ED-4DB2-BD59-A6C34878D82A}">
                    <a16:rowId xmlns:a16="http://schemas.microsoft.com/office/drawing/2014/main" val="1753131391"/>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Accelerate AI and advanced analytics initiatives.</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Ensure models and applications do not </a:t>
                      </a:r>
                      <a:r>
                        <a:rPr lang="en-US" sz="1400" b="0" i="0" u="none" strike="noStrike">
                          <a:solidFill>
                            <a:srgbClr val="333333"/>
                          </a:solidFill>
                          <a:effectLst/>
                          <a:latin typeface="Roboto Condensed Light" panose="02000000000000000000" pitchFamily="2" charset="0"/>
                          <a:ea typeface="Roboto Condensed Light" panose="02000000000000000000" pitchFamily="2" charset="0"/>
                        </a:rPr>
                        <a:t>leak personally identifiable information (PII), </a:t>
                      </a: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allowing unrestricted exploitation of high‑value data sets.</a:t>
                      </a:r>
                    </a:p>
                  </a:txBody>
                  <a:tcPr marL="0" marR="0" marT="0" marB="0" anchor="ctr"/>
                </a:tc>
                <a:extLst>
                  <a:ext uri="{0D108BD9-81ED-4DB2-BD59-A6C34878D82A}">
                    <a16:rowId xmlns:a16="http://schemas.microsoft.com/office/drawing/2014/main" val="2122573204"/>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Complete technology M&amp;A integrations faster.</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Provide instant visibility into inherited risk, avoiding lengthy manual code reviews that stall deal synergies.</a:t>
                      </a:r>
                    </a:p>
                  </a:txBody>
                  <a:tcPr marL="0" marR="0" marT="0" marB="0" anchor="ctr"/>
                </a:tc>
                <a:extLst>
                  <a:ext uri="{0D108BD9-81ED-4DB2-BD59-A6C34878D82A}">
                    <a16:rowId xmlns:a16="http://schemas.microsoft.com/office/drawing/2014/main" val="739599812"/>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Increase uptime for digital revenue channels.</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Maintain customer transactions during security incidents, protecting revenue and brand in real time.</a:t>
                      </a:r>
                    </a:p>
                  </a:txBody>
                  <a:tcPr marL="0" marR="0" marT="0" marB="0" anchor="ctr"/>
                </a:tc>
                <a:extLst>
                  <a:ext uri="{0D108BD9-81ED-4DB2-BD59-A6C34878D82A}">
                    <a16:rowId xmlns:a16="http://schemas.microsoft.com/office/drawing/2014/main" val="2738808895"/>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Scale partner ecosystems without expanding the attack surface.</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Add partners rapidly while keeping every integration compartmentalized and auditable.</a:t>
                      </a:r>
                    </a:p>
                  </a:txBody>
                  <a:tcPr marL="0" marR="0" marT="0" marB="0" anchor="ctr"/>
                </a:tc>
                <a:extLst>
                  <a:ext uri="{0D108BD9-81ED-4DB2-BD59-A6C34878D82A}">
                    <a16:rowId xmlns:a16="http://schemas.microsoft.com/office/drawing/2014/main" val="2640798822"/>
                  </a:ext>
                </a:extLst>
              </a:tr>
              <a:tr h="370840">
                <a:tc>
                  <a:txBody>
                    <a:bodyPr/>
                    <a:lstStyle/>
                    <a:p>
                      <a:pPr marL="0" algn="l" defTabSz="914400" rtl="0" eaLnBrk="1" fontAlgn="t" latinLnBrk="0" hangingPunct="1">
                        <a:buNone/>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Strengthen brand loyalty and customer trust.</a:t>
                      </a:r>
                    </a:p>
                  </a:txBody>
                  <a:tcPr marL="0" marR="0" marT="0" marB="0" anchor="ctr"/>
                </a:tc>
                <a:tc>
                  <a:txBody>
                    <a:bodyPr/>
                    <a:lstStyle/>
                    <a:p>
                      <a:pPr algn="l" fontAlgn="b">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Build digital trust by safeguarding customer journeys that shape digital experience and perception.</a:t>
                      </a:r>
                    </a:p>
                  </a:txBody>
                  <a:tcPr marL="0" marR="0" marT="0" marB="0" anchor="ctr"/>
                </a:tc>
                <a:extLst>
                  <a:ext uri="{0D108BD9-81ED-4DB2-BD59-A6C34878D82A}">
                    <a16:rowId xmlns:a16="http://schemas.microsoft.com/office/drawing/2014/main" val="484816428"/>
                  </a:ext>
                </a:extLst>
              </a:tr>
            </a:tbl>
          </a:graphicData>
        </a:graphic>
      </p:graphicFrame>
    </p:spTree>
    <p:extLst>
      <p:ext uri="{BB962C8B-B14F-4D97-AF65-F5344CB8AC3E}">
        <p14:creationId xmlns:p14="http://schemas.microsoft.com/office/powerpoint/2010/main" val="2381561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77789-2EE0-8AE1-4F0A-1FA7828F7B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045CEC-A6D2-2DDB-0424-ADF852CC6631}"/>
              </a:ext>
            </a:extLst>
          </p:cNvPr>
          <p:cNvSpPr>
            <a:spLocks noGrp="1"/>
          </p:cNvSpPr>
          <p:nvPr>
            <p:ph type="title"/>
          </p:nvPr>
        </p:nvSpPr>
        <p:spPr>
          <a:xfrm>
            <a:off x="371475" y="544769"/>
            <a:ext cx="10403362" cy="661862"/>
          </a:xfrm>
        </p:spPr>
        <p:txBody>
          <a:bodyPr/>
          <a:lstStyle/>
          <a:p>
            <a:r>
              <a:rPr lang="en-US" dirty="0"/>
              <a:t>Select business opportunities</a:t>
            </a:r>
            <a:r>
              <a:rPr lang="en-CA" dirty="0">
                <a:solidFill>
                  <a:schemeClr val="tx1"/>
                </a:solidFill>
              </a:rPr>
              <a:t>​</a:t>
            </a:r>
            <a:endParaRPr lang="en-US" dirty="0">
              <a:solidFill>
                <a:schemeClr val="tx1"/>
              </a:solidFill>
            </a:endParaRPr>
          </a:p>
        </p:txBody>
      </p:sp>
      <p:sp>
        <p:nvSpPr>
          <p:cNvPr id="11" name="TextBox 10">
            <a:extLst>
              <a:ext uri="{FF2B5EF4-FFF2-40B4-BE49-F238E27FC236}">
                <a16:creationId xmlns:a16="http://schemas.microsoft.com/office/drawing/2014/main" id="{64F670E9-F464-17BD-84BE-30B5B28C58E0}"/>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22</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4" name="TextBox 8">
            <a:extLst>
              <a:ext uri="{FF2B5EF4-FFF2-40B4-BE49-F238E27FC236}">
                <a16:creationId xmlns:a16="http://schemas.microsoft.com/office/drawing/2014/main" id="{639F19F7-DC63-AEC1-5587-A922DE92757E}"/>
              </a:ext>
            </a:extLst>
          </p:cNvPr>
          <p:cNvSpPr txBox="1"/>
          <p:nvPr/>
        </p:nvSpPr>
        <p:spPr>
          <a:xfrm>
            <a:off x="371475" y="1420758"/>
            <a:ext cx="6223371" cy="2008242"/>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dirty="0">
                <a:solidFill>
                  <a:srgbClr val="000000"/>
                </a:solidFill>
                <a:latin typeface="Roboto Condensed Light" panose="02000000000000000000" pitchFamily="2" charset="0"/>
                <a:ea typeface="Roboto Condensed Light" panose="02000000000000000000" pitchFamily="2" charset="0"/>
              </a:rPr>
              <a:t> </a:t>
            </a:r>
            <a:r>
              <a:rPr lang="en-CA" sz="1400" i="1" dirty="0">
                <a:solidFill>
                  <a:srgbClr val="000000"/>
                </a:solidFill>
                <a:latin typeface="Roboto Condensed Light" panose="02000000000000000000" pitchFamily="2" charset="0"/>
                <a:ea typeface="Roboto Condensed Light" panose="02000000000000000000" pitchFamily="2" charset="0"/>
              </a:rPr>
              <a:t>Capabilities Assessment tool</a:t>
            </a:r>
            <a:r>
              <a:rPr lang="en-CA" sz="1400" dirty="0">
                <a:solidFill>
                  <a:srgbClr val="000000"/>
                </a:solidFill>
                <a:latin typeface="Roboto Condensed Light" panose="02000000000000000000" pitchFamily="2" charset="0"/>
                <a:ea typeface="Roboto Condensed Light" panose="02000000000000000000" pitchFamily="2" charset="0"/>
              </a:rPr>
              <a:t>, select the Goals tab (Tab 3) to view the list of business opportunities in cells G6:H14.</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C9:C11, select your three top-priority business opportunities. Consider some of the following factors to assist in selecting your top business opportunities: </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Strategic alignment with business objectives.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Urgency and timing of business opportunity.</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Potential ROI and impact across multiple priorities.</a:t>
            </a:r>
          </a:p>
        </p:txBody>
      </p:sp>
      <p:pic>
        <p:nvPicPr>
          <p:cNvPr id="6" name="Picture 5">
            <a:extLst>
              <a:ext uri="{FF2B5EF4-FFF2-40B4-BE49-F238E27FC236}">
                <a16:creationId xmlns:a16="http://schemas.microsoft.com/office/drawing/2014/main" id="{CCFDC39A-7726-1D7C-7835-227DBAF5A522}"/>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6720385" y="1307454"/>
            <a:ext cx="4666269" cy="3532002"/>
          </a:xfrm>
          <a:prstGeom prst="rect">
            <a:avLst/>
          </a:prstGeom>
        </p:spPr>
      </p:pic>
      <p:pic>
        <p:nvPicPr>
          <p:cNvPr id="7" name="Picture 6">
            <a:extLst>
              <a:ext uri="{FF2B5EF4-FFF2-40B4-BE49-F238E27FC236}">
                <a16:creationId xmlns:a16="http://schemas.microsoft.com/office/drawing/2014/main" id="{23597E90-683D-58BC-9424-D4FB17593202}"/>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1242228" y="3959832"/>
            <a:ext cx="4481864" cy="2717503"/>
          </a:xfrm>
          <a:prstGeom prst="rect">
            <a:avLst/>
          </a:prstGeom>
        </p:spPr>
      </p:pic>
      <p:sp>
        <p:nvSpPr>
          <p:cNvPr id="18" name="Rectangle 17">
            <a:extLst>
              <a:ext uri="{FF2B5EF4-FFF2-40B4-BE49-F238E27FC236}">
                <a16:creationId xmlns:a16="http://schemas.microsoft.com/office/drawing/2014/main" id="{9C28D05B-20D9-4008-159A-01C08943799C}"/>
              </a:ext>
            </a:extLst>
          </p:cNvPr>
          <p:cNvSpPr/>
          <p:nvPr/>
        </p:nvSpPr>
        <p:spPr>
          <a:xfrm>
            <a:off x="6955024" y="5463276"/>
            <a:ext cx="36979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a:ea typeface="+mn-ea"/>
                <a:cs typeface="+mn-cs"/>
              </a:rPr>
              <a:t>iSSDLC</a:t>
            </a:r>
            <a:r>
              <a:rPr kumimoji="0" lang="en-US" sz="1200" b="0" i="0" u="none" strike="noStrike" kern="1200" cap="none" spc="0" normalizeH="0" baseline="0" noProof="0" dirty="0">
                <a:ln>
                  <a:noFill/>
                </a:ln>
                <a:solidFill>
                  <a:srgbClr val="FFFFFF"/>
                </a:solidFill>
                <a:effectLst/>
                <a:uLnTx/>
                <a:uFillTx/>
                <a:latin typeface="Exo"/>
                <a:ea typeface="+mn-ea"/>
                <a:cs typeface="+mn-cs"/>
              </a:rPr>
              <a:t> </a:t>
            </a:r>
            <a:r>
              <a:rPr kumimoji="0" lang="en-US" sz="1200" b="0" i="1" u="none" strike="noStrike" kern="1200" cap="none" spc="0" normalizeH="0" baseline="0" noProof="0" dirty="0">
                <a:ln>
                  <a:noFill/>
                </a:ln>
                <a:solidFill>
                  <a:srgbClr val="FFFFFF"/>
                </a:solidFill>
                <a:effectLst/>
                <a:uLnTx/>
                <a:uFillTx/>
                <a:latin typeface="Exo"/>
                <a:ea typeface="+mn-ea"/>
                <a:cs typeface="+mn-cs"/>
                <a:hlinkClick r:id="rId5"/>
              </a:rPr>
              <a:t>Capabilities Assessment Tool</a:t>
            </a:r>
            <a:endParaRPr kumimoji="0" lang="en-US" sz="1200" b="0" i="1" u="none" strike="noStrike" kern="1200" cap="none" spc="0" normalizeH="0" baseline="0" noProof="0" dirty="0">
              <a:ln>
                <a:noFill/>
              </a:ln>
              <a:solidFill>
                <a:srgbClr val="FFFFFF"/>
              </a:solidFill>
              <a:effectLst/>
              <a:uLnTx/>
              <a:uFillTx/>
              <a:latin typeface="Exo"/>
              <a:ea typeface="+mn-ea"/>
              <a:cs typeface="+mn-cs"/>
            </a:endParaRPr>
          </a:p>
        </p:txBody>
      </p:sp>
      <p:sp>
        <p:nvSpPr>
          <p:cNvPr id="19" name="Rectangle 18">
            <a:extLst>
              <a:ext uri="{FF2B5EF4-FFF2-40B4-BE49-F238E27FC236}">
                <a16:creationId xmlns:a16="http://schemas.microsoft.com/office/drawing/2014/main" id="{C3FA41F5-9223-25A1-DB6C-06E727D65383}"/>
              </a:ext>
              <a:ext uri="{C183D7F6-B498-43B3-948B-1728B52AA6E4}">
                <adec:decorative xmlns:adec="http://schemas.microsoft.com/office/drawing/2017/decorative" val="1"/>
              </a:ext>
            </a:extLst>
          </p:cNvPr>
          <p:cNvSpPr>
            <a:spLocks noChangeAspect="1"/>
          </p:cNvSpPr>
          <p:nvPr/>
        </p:nvSpPr>
        <p:spPr>
          <a:xfrm>
            <a:off x="6485201" y="5463278"/>
            <a:ext cx="470369"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20" name="Picture 19">
            <a:extLst>
              <a:ext uri="{FF2B5EF4-FFF2-40B4-BE49-F238E27FC236}">
                <a16:creationId xmlns:a16="http://schemas.microsoft.com/office/drawing/2014/main" id="{F9DEF9C8-D9D3-D2DF-0B42-B421F3D69268}"/>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rot="5400000">
            <a:off x="6595507" y="5563440"/>
            <a:ext cx="260883" cy="262205"/>
          </a:xfrm>
          <a:prstGeom prst="rect">
            <a:avLst/>
          </a:prstGeom>
        </p:spPr>
      </p:pic>
      <p:sp>
        <p:nvSpPr>
          <p:cNvPr id="21" name="Right Arrow 18">
            <a:extLst>
              <a:ext uri="{FF2B5EF4-FFF2-40B4-BE49-F238E27FC236}">
                <a16:creationId xmlns:a16="http://schemas.microsoft.com/office/drawing/2014/main" id="{FBED5D79-E6C5-5496-EEA2-26B8D72B2C68}"/>
              </a:ext>
              <a:ext uri="{C183D7F6-B498-43B3-948B-1728B52AA6E4}">
                <adec:decorative xmlns:adec="http://schemas.microsoft.com/office/drawing/2017/decorative" val="1"/>
              </a:ext>
            </a:extLst>
          </p:cNvPr>
          <p:cNvSpPr/>
          <p:nvPr/>
        </p:nvSpPr>
        <p:spPr>
          <a:xfrm>
            <a:off x="481119" y="4776455"/>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912224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78FD2-18ED-3803-582B-DE8372F214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A462A-48DE-E05A-1062-EF2F889B9B06}"/>
              </a:ext>
            </a:extLst>
          </p:cNvPr>
          <p:cNvSpPr>
            <a:spLocks noGrp="1"/>
          </p:cNvSpPr>
          <p:nvPr>
            <p:ph type="title"/>
          </p:nvPr>
        </p:nvSpPr>
        <p:spPr>
          <a:xfrm>
            <a:off x="371474" y="544769"/>
            <a:ext cx="10052685" cy="661862"/>
          </a:xfrm>
        </p:spPr>
        <p:txBody>
          <a:bodyPr/>
          <a:lstStyle/>
          <a:p>
            <a:r>
              <a:rPr lang="en-US" dirty="0">
                <a:solidFill>
                  <a:schemeClr val="accent1"/>
                </a:solidFill>
              </a:rPr>
              <a:t>1.2.2 </a:t>
            </a:r>
            <a:r>
              <a:rPr lang="en-US" dirty="0"/>
              <a:t>Identify security threats</a:t>
            </a:r>
            <a:endParaRPr lang="en-US" dirty="0">
              <a:solidFill>
                <a:schemeClr val="tx1"/>
              </a:solidFill>
            </a:endParaRPr>
          </a:p>
        </p:txBody>
      </p:sp>
      <p:sp>
        <p:nvSpPr>
          <p:cNvPr id="5" name="Rectangle 4">
            <a:extLst>
              <a:ext uri="{FF2B5EF4-FFF2-40B4-BE49-F238E27FC236}">
                <a16:creationId xmlns:a16="http://schemas.microsoft.com/office/drawing/2014/main" id="{50096BAE-0DCD-F35A-9B1F-EAA795D565CB}"/>
              </a:ext>
            </a:extLst>
          </p:cNvPr>
          <p:cNvSpPr/>
          <p:nvPr/>
        </p:nvSpPr>
        <p:spPr>
          <a:xfrm>
            <a:off x="478786" y="5142429"/>
            <a:ext cx="7050424" cy="1430250"/>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marL="0" marR="0" lvl="0" indent="0" algn="l" defTabSz="554492"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Security threats define urgency. Knowing which attack vectors would cause the most impact to your business will help in prioritizing your capabilities initiatives. </a:t>
            </a:r>
          </a:p>
        </p:txBody>
      </p:sp>
      <p:sp>
        <p:nvSpPr>
          <p:cNvPr id="6" name="Rectangle 5">
            <a:extLst>
              <a:ext uri="{FF2B5EF4-FFF2-40B4-BE49-F238E27FC236}">
                <a16:creationId xmlns:a16="http://schemas.microsoft.com/office/drawing/2014/main" id="{0D3AD740-1F56-8929-435D-F05B2D0956EA}"/>
              </a:ext>
              <a:ext uri="{C183D7F6-B498-43B3-948B-1728B52AA6E4}">
                <adec:decorative xmlns:adec="http://schemas.microsoft.com/office/drawing/2017/decorative" val="1"/>
              </a:ext>
            </a:extLst>
          </p:cNvPr>
          <p:cNvSpPr/>
          <p:nvPr/>
        </p:nvSpPr>
        <p:spPr>
          <a:xfrm>
            <a:off x="478787" y="5142429"/>
            <a:ext cx="7050423" cy="1430250"/>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4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
        <p:nvSpPr>
          <p:cNvPr id="11" name="TextBox 10">
            <a:extLst>
              <a:ext uri="{FF2B5EF4-FFF2-40B4-BE49-F238E27FC236}">
                <a16:creationId xmlns:a16="http://schemas.microsoft.com/office/drawing/2014/main" id="{2C1D81DB-0720-7F6D-03A8-2664CCC77753}"/>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23</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4" name="TextBox 8">
            <a:extLst>
              <a:ext uri="{FF2B5EF4-FFF2-40B4-BE49-F238E27FC236}">
                <a16:creationId xmlns:a16="http://schemas.microsoft.com/office/drawing/2014/main" id="{58615612-C2B2-6C74-FD62-E9B5A77942A7}"/>
              </a:ext>
            </a:extLst>
          </p:cNvPr>
          <p:cNvSpPr txBox="1"/>
          <p:nvPr/>
        </p:nvSpPr>
        <p:spPr>
          <a:xfrm>
            <a:off x="478785" y="1629351"/>
            <a:ext cx="6563145" cy="2300630"/>
          </a:xfrm>
          <a:prstGeom prst="rect">
            <a:avLst/>
          </a:prstGeom>
          <a:noFill/>
          <a:ln cap="flat">
            <a:noFill/>
          </a:ln>
        </p:spPr>
        <p:txBody>
          <a:bodyPr vert="horz" wrap="square" lIns="91440" tIns="45720" rIns="91440" bIns="45720" anchor="t" anchorCtr="0" compatLnSpc="1">
            <a:spAutoFit/>
          </a:bodyPr>
          <a:lstStyle/>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sz="1800" b="0" i="0" u="none" strike="noStrike" kern="0" cap="none" spc="0" baseline="0">
                <a:solidFill>
                  <a:srgbClr val="000000"/>
                </a:solidFill>
                <a:uFillTx/>
              </a:defRPr>
            </a:pP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Prioritizing the right capabilities to address begins with not only understanding the potential business opportunities but also recognizing the most pressing threats that can be mitigated.</a:t>
            </a:r>
          </a:p>
          <a:p>
            <a:pPr marL="285750" marR="0" lvl="0" indent="-285750" algn="l" defTabSz="914400" rtl="0" eaLnBrk="1" fontAlgn="auto" latinLnBrk="0" hangingPunct="1">
              <a:lnSpc>
                <a:spcPct val="100000"/>
              </a:lnSpc>
              <a:spcBef>
                <a:spcPts val="300"/>
              </a:spcBef>
              <a:spcAft>
                <a:spcPts val="600"/>
              </a:spcAft>
              <a:buClrTx/>
              <a:buSzTx/>
              <a:buFont typeface="Arial" panose="020B0604020202020204" pitchFamily="34" charset="0"/>
              <a:buChar char="•"/>
              <a:tabLst/>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Security threats are business risks shown in a technical form, which could affect the organization’s reputation, revenue, and customer trust. Focusing on security threats that can be mitigated by business-aligned capabilities will increase executive buy-in and support. </a:t>
            </a:r>
          </a:p>
          <a:p>
            <a:pPr marL="285750" marR="0" lvl="0" indent="-2857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1800" b="0" i="0" u="none" strike="noStrike" kern="0" cap="none" spc="0" baseline="0">
                <a:solidFill>
                  <a:srgbClr val="000000"/>
                </a:solidFill>
                <a:uFillTx/>
              </a:defRPr>
            </a:pP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By framing threats at an executive level in terms of business outcomes, driving capability improvement plans becomes a strategic roadmap, not just technical.</a:t>
            </a:r>
          </a:p>
        </p:txBody>
      </p:sp>
      <p:pic>
        <p:nvPicPr>
          <p:cNvPr id="2" name="Picture 1" descr="A close-up of a circuit board&#10;&#10;AI-generated content may be incorrect.">
            <a:extLst>
              <a:ext uri="{FF2B5EF4-FFF2-40B4-BE49-F238E27FC236}">
                <a16:creationId xmlns:a16="http://schemas.microsoft.com/office/drawing/2014/main" id="{0AB04544-5910-62F3-4BA6-F7982A0314CA}"/>
              </a:ext>
            </a:extLst>
          </p:cNvPr>
          <p:cNvPicPr/>
          <p:nvPr/>
        </p:nvPicPr>
        <p:blipFill>
          <a:blip r:embed="rId3" cstate="print">
            <a:extLst>
              <a:ext uri="{28A0092B-C50C-407E-A947-70E740481C1C}">
                <a14:useLocalDpi xmlns:a14="http://schemas.microsoft.com/office/drawing/2010/main"/>
              </a:ext>
            </a:extLst>
          </a:blip>
          <a:srcRect t="-664"/>
          <a:stretch>
            <a:fillRect/>
          </a:stretch>
        </p:blipFill>
        <p:spPr>
          <a:xfrm>
            <a:off x="8144540" y="-69338"/>
            <a:ext cx="4049048" cy="6927338"/>
          </a:xfrm>
          <a:prstGeom prst="rect">
            <a:avLst/>
          </a:prstGeom>
        </p:spPr>
      </p:pic>
    </p:spTree>
    <p:extLst>
      <p:ext uri="{BB962C8B-B14F-4D97-AF65-F5344CB8AC3E}">
        <p14:creationId xmlns:p14="http://schemas.microsoft.com/office/powerpoint/2010/main" val="2117586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EB9D3-0C05-F67F-654D-21B42A84CFE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127B5F-49B1-F8F4-A051-816AE1F00D7B}"/>
              </a:ext>
            </a:extLst>
          </p:cNvPr>
          <p:cNvSpPr>
            <a:spLocks noGrp="1"/>
          </p:cNvSpPr>
          <p:nvPr>
            <p:ph type="title"/>
          </p:nvPr>
        </p:nvSpPr>
        <p:spPr>
          <a:xfrm>
            <a:off x="550583" y="544769"/>
            <a:ext cx="9873576" cy="661862"/>
          </a:xfrm>
        </p:spPr>
        <p:txBody>
          <a:bodyPr/>
          <a:lstStyle/>
          <a:p>
            <a:r>
              <a:rPr lang="en-US" dirty="0"/>
              <a:t>Security threats</a:t>
            </a:r>
            <a:endParaRPr lang="en-US" dirty="0">
              <a:solidFill>
                <a:schemeClr val="tx1"/>
              </a:solidFill>
            </a:endParaRPr>
          </a:p>
        </p:txBody>
      </p:sp>
      <p:sp>
        <p:nvSpPr>
          <p:cNvPr id="2" name="TextBox 8">
            <a:extLst>
              <a:ext uri="{FF2B5EF4-FFF2-40B4-BE49-F238E27FC236}">
                <a16:creationId xmlns:a16="http://schemas.microsoft.com/office/drawing/2014/main" id="{88BC297B-6357-57B2-B916-3D2875DF19A0}"/>
              </a:ext>
            </a:extLst>
          </p:cNvPr>
          <p:cNvSpPr txBox="1"/>
          <p:nvPr/>
        </p:nvSpPr>
        <p:spPr>
          <a:xfrm>
            <a:off x="550583" y="1206630"/>
            <a:ext cx="9544685"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sz="1800" b="0" i="0" u="none" strike="noStrike" kern="0" cap="none" spc="0" baseline="0">
                <a:solidFill>
                  <a:srgbClr val="000000"/>
                </a:solidFill>
                <a:uFillTx/>
              </a:defRPr>
            </a:pPr>
            <a:r>
              <a:rPr kumimoji="0" lang="en-CA"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Below </a:t>
            </a:r>
            <a:r>
              <a:rPr lang="en-CA" sz="1400" dirty="0">
                <a:solidFill>
                  <a:srgbClr val="000000"/>
                </a:solidFill>
                <a:latin typeface="Roboto Condensed Light" panose="02000000000000000000" pitchFamily="2" charset="0"/>
                <a:ea typeface="Roboto Condensed Light" panose="02000000000000000000" pitchFamily="2" charset="0"/>
              </a:rPr>
              <a:t>is a</a:t>
            </a:r>
            <a:r>
              <a:rPr kumimoji="0" lang="en-CA"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 list of security threats along with their importance from an executive level.</a:t>
            </a:r>
          </a:p>
        </p:txBody>
      </p:sp>
      <p:sp>
        <p:nvSpPr>
          <p:cNvPr id="11" name="TextBox 10">
            <a:extLst>
              <a:ext uri="{FF2B5EF4-FFF2-40B4-BE49-F238E27FC236}">
                <a16:creationId xmlns:a16="http://schemas.microsoft.com/office/drawing/2014/main" id="{0BFA439D-1B88-8CE2-0C5C-FEAEC4C8A7FF}"/>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24</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graphicFrame>
        <p:nvGraphicFramePr>
          <p:cNvPr id="7" name="Table 6">
            <a:extLst>
              <a:ext uri="{FF2B5EF4-FFF2-40B4-BE49-F238E27FC236}">
                <a16:creationId xmlns:a16="http://schemas.microsoft.com/office/drawing/2014/main" id="{47E62AEB-D729-12C6-1A86-2C175C0893BF}"/>
              </a:ext>
            </a:extLst>
          </p:cNvPr>
          <p:cNvGraphicFramePr>
            <a:graphicFrameLocks noGrp="1"/>
          </p:cNvGraphicFramePr>
          <p:nvPr>
            <p:extLst>
              <p:ext uri="{D42A27DB-BD31-4B8C-83A1-F6EECF244321}">
                <p14:modId xmlns:p14="http://schemas.microsoft.com/office/powerpoint/2010/main" val="2407585654"/>
              </p:ext>
            </p:extLst>
          </p:nvPr>
        </p:nvGraphicFramePr>
        <p:xfrm>
          <a:off x="550583" y="1615759"/>
          <a:ext cx="10808716" cy="4697472"/>
        </p:xfrm>
        <a:graphic>
          <a:graphicData uri="http://schemas.openxmlformats.org/drawingml/2006/table">
            <a:tbl>
              <a:tblPr firstRow="1" bandRow="1">
                <a:tableStyleId>{5C22544A-7EE6-4342-B048-85BDC9FD1C3A}</a:tableStyleId>
              </a:tblPr>
              <a:tblGrid>
                <a:gridCol w="4935817">
                  <a:extLst>
                    <a:ext uri="{9D8B030D-6E8A-4147-A177-3AD203B41FA5}">
                      <a16:colId xmlns:a16="http://schemas.microsoft.com/office/drawing/2014/main" val="4211586766"/>
                    </a:ext>
                  </a:extLst>
                </a:gridCol>
                <a:gridCol w="5872899">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Security threat</a:t>
                      </a:r>
                    </a:p>
                  </a:txBody>
                  <a:tcPr/>
                </a:tc>
                <a:tc>
                  <a:txBody>
                    <a:bodyPr/>
                    <a:lstStyle/>
                    <a:p>
                      <a:r>
                        <a:rPr lang="en-US" sz="1400" dirty="0">
                          <a:latin typeface="Montserrat Medium" panose="00000600000000000000" pitchFamily="2" charset="0"/>
                        </a:rPr>
                        <a:t>Importance</a:t>
                      </a:r>
                    </a:p>
                  </a:txBody>
                  <a:tcPr/>
                </a:tc>
                <a:extLst>
                  <a:ext uri="{0D108BD9-81ED-4DB2-BD59-A6C34878D82A}">
                    <a16:rowId xmlns:a16="http://schemas.microsoft.com/office/drawing/2014/main" val="1016400015"/>
                  </a:ext>
                </a:extLst>
              </a:tr>
              <a:tr h="419212">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Software supply chain compromise</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Reduce risk of business impacts due to compromised software supply chains.</a:t>
                      </a:r>
                    </a:p>
                  </a:txBody>
                  <a:tcPr marL="0" marR="0" marT="0" marB="0" anchor="ctr"/>
                </a:tc>
                <a:extLst>
                  <a:ext uri="{0D108BD9-81ED-4DB2-BD59-A6C34878D82A}">
                    <a16:rowId xmlns:a16="http://schemas.microsoft.com/office/drawing/2014/main" val="3645165003"/>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Mass credential stuffing and account takeover</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Protect the company’s revenue channels and brand trust by preventing fraudulent transactions.</a:t>
                      </a:r>
                    </a:p>
                  </a:txBody>
                  <a:tcPr marL="0" marR="0" marT="0" marB="0" anchor="ctr"/>
                </a:tc>
                <a:extLst>
                  <a:ext uri="{0D108BD9-81ED-4DB2-BD59-A6C34878D82A}">
                    <a16:rowId xmlns:a16="http://schemas.microsoft.com/office/drawing/2014/main" val="3728418913"/>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Business logic abuse through exposed APIs</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Turn APIs from a liability into a controlled asset, preserving digital revenues and preventing competitor access to your data.</a:t>
                      </a:r>
                    </a:p>
                  </a:txBody>
                  <a:tcPr marL="0" marR="0" marT="0" marB="0" anchor="ctr"/>
                </a:tc>
                <a:extLst>
                  <a:ext uri="{0D108BD9-81ED-4DB2-BD59-A6C34878D82A}">
                    <a16:rowId xmlns:a16="http://schemas.microsoft.com/office/drawing/2014/main" val="3130996767"/>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Ransomware beachhead via vulnerable web apps</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Shrink attack window from weeks to hours, denying cybercriminals the foothold they need to disrupt revenue‑producing systems.</a:t>
                      </a:r>
                    </a:p>
                  </a:txBody>
                  <a:tcPr marL="0" marR="0" marT="0" marB="0" anchor="ctr"/>
                </a:tc>
                <a:extLst>
                  <a:ext uri="{0D108BD9-81ED-4DB2-BD59-A6C34878D82A}">
                    <a16:rowId xmlns:a16="http://schemas.microsoft.com/office/drawing/2014/main" val="1753131391"/>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Prolonged service outage due to zero-day attacks</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Keep critical digital services online even when patching is impossible, preserving daily revenue and market confidence.</a:t>
                      </a:r>
                    </a:p>
                  </a:txBody>
                  <a:tcPr marL="0" marR="0" marT="0" marB="0" anchor="ctr"/>
                </a:tc>
                <a:extLst>
                  <a:ext uri="{0D108BD9-81ED-4DB2-BD59-A6C34878D82A}">
                    <a16:rowId xmlns:a16="http://schemas.microsoft.com/office/drawing/2014/main" val="2122573204"/>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Sensitive data leakage in AI‑enabled apps</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Enable aggressive AI adoption without triggering privacy fines or IP loss, safeguarding future growth bets.</a:t>
                      </a:r>
                    </a:p>
                  </a:txBody>
                  <a:tcPr marL="0" marR="0" marT="0" marB="0" anchor="ctr"/>
                </a:tc>
                <a:extLst>
                  <a:ext uri="{0D108BD9-81ED-4DB2-BD59-A6C34878D82A}">
                    <a16:rowId xmlns:a16="http://schemas.microsoft.com/office/drawing/2014/main" val="739599812"/>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Insider misuse or privileged‑user abuse of critical functions</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Turn insider risk into a detectable, auditable event, limiting impact and demonstrating diligence to shareholders.</a:t>
                      </a:r>
                    </a:p>
                  </a:txBody>
                  <a:tcPr marL="0" marR="0" marT="0" marB="0" anchor="ctr"/>
                </a:tc>
                <a:extLst>
                  <a:ext uri="{0D108BD9-81ED-4DB2-BD59-A6C34878D82A}">
                    <a16:rowId xmlns:a16="http://schemas.microsoft.com/office/drawing/2014/main" val="2738808895"/>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Quantum computing rendering legacy encryption obsolete</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Safeguard crown jewel data when current generation encryption fails under attack by quantum computers.</a:t>
                      </a:r>
                    </a:p>
                  </a:txBody>
                  <a:tcPr marL="0" marR="0" marT="0" marB="0" anchor="ctr"/>
                </a:tc>
                <a:extLst>
                  <a:ext uri="{0D108BD9-81ED-4DB2-BD59-A6C34878D82A}">
                    <a16:rowId xmlns:a16="http://schemas.microsoft.com/office/drawing/2014/main" val="2640798822"/>
                  </a:ext>
                </a:extLst>
              </a:tr>
              <a:tr h="482381">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Nation state attack on critical infrastructure via sleeper accounts</a:t>
                      </a:r>
                    </a:p>
                  </a:txBody>
                  <a:tcPr marL="0" marR="0" marT="0" marB="0" anchor="ctr"/>
                </a:tc>
                <a:tc>
                  <a:txBody>
                    <a:bodyPr/>
                    <a:lstStyle/>
                    <a:p>
                      <a:pPr algn="l" fontAlgn="t">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Protect critical infrastructure from advanced persistent threats using long-term account compromise.</a:t>
                      </a:r>
                    </a:p>
                  </a:txBody>
                  <a:tcPr marL="0" marR="0" marT="0" marB="0" anchor="ctr"/>
                </a:tc>
                <a:extLst>
                  <a:ext uri="{0D108BD9-81ED-4DB2-BD59-A6C34878D82A}">
                    <a16:rowId xmlns:a16="http://schemas.microsoft.com/office/drawing/2014/main" val="484816428"/>
                  </a:ext>
                </a:extLst>
              </a:tr>
            </a:tbl>
          </a:graphicData>
        </a:graphic>
      </p:graphicFrame>
    </p:spTree>
    <p:extLst>
      <p:ext uri="{BB962C8B-B14F-4D97-AF65-F5344CB8AC3E}">
        <p14:creationId xmlns:p14="http://schemas.microsoft.com/office/powerpoint/2010/main" val="802260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018F0-BB43-7EFA-926E-ED6B37F33F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E555D8-58B2-BAF0-3486-8536879C8789}"/>
              </a:ext>
            </a:extLst>
          </p:cNvPr>
          <p:cNvSpPr>
            <a:spLocks noGrp="1"/>
          </p:cNvSpPr>
          <p:nvPr>
            <p:ph type="title"/>
          </p:nvPr>
        </p:nvSpPr>
        <p:spPr>
          <a:xfrm>
            <a:off x="371474" y="544769"/>
            <a:ext cx="10052685" cy="661862"/>
          </a:xfrm>
        </p:spPr>
        <p:txBody>
          <a:bodyPr/>
          <a:lstStyle/>
          <a:p>
            <a:r>
              <a:rPr lang="en-US" dirty="0">
                <a:solidFill>
                  <a:schemeClr val="accent1"/>
                </a:solidFill>
              </a:rPr>
              <a:t>1.2.3 </a:t>
            </a:r>
            <a:r>
              <a:rPr lang="en-US" dirty="0"/>
              <a:t>Identify threat impacts</a:t>
            </a:r>
            <a:endParaRPr lang="en-US" dirty="0">
              <a:solidFill>
                <a:schemeClr val="tx1"/>
              </a:solidFill>
            </a:endParaRPr>
          </a:p>
        </p:txBody>
      </p:sp>
      <p:sp>
        <p:nvSpPr>
          <p:cNvPr id="11" name="TextBox 10">
            <a:extLst>
              <a:ext uri="{FF2B5EF4-FFF2-40B4-BE49-F238E27FC236}">
                <a16:creationId xmlns:a16="http://schemas.microsoft.com/office/drawing/2014/main" id="{8711267C-C831-CFC0-3A1E-9DB5EBB835E1}"/>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25</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graphicFrame>
        <p:nvGraphicFramePr>
          <p:cNvPr id="2" name="Table 1">
            <a:extLst>
              <a:ext uri="{FF2B5EF4-FFF2-40B4-BE49-F238E27FC236}">
                <a16:creationId xmlns:a16="http://schemas.microsoft.com/office/drawing/2014/main" id="{3A063071-095D-D0DA-345A-B14D8AD7CE3A}"/>
              </a:ext>
            </a:extLst>
          </p:cNvPr>
          <p:cNvGraphicFramePr>
            <a:graphicFrameLocks noGrp="1"/>
          </p:cNvGraphicFramePr>
          <p:nvPr>
            <p:extLst>
              <p:ext uri="{D42A27DB-BD31-4B8C-83A1-F6EECF244321}">
                <p14:modId xmlns:p14="http://schemas.microsoft.com/office/powerpoint/2010/main" val="2539480281"/>
              </p:ext>
            </p:extLst>
          </p:nvPr>
        </p:nvGraphicFramePr>
        <p:xfrm>
          <a:off x="4322415" y="1844903"/>
          <a:ext cx="7609680" cy="3017530"/>
        </p:xfrm>
        <a:graphic>
          <a:graphicData uri="http://schemas.openxmlformats.org/drawingml/2006/table">
            <a:tbl>
              <a:tblPr firstRow="1" bandRow="1">
                <a:tableStyleId>{5C22544A-7EE6-4342-B048-85BDC9FD1C3A}</a:tableStyleId>
              </a:tblPr>
              <a:tblGrid>
                <a:gridCol w="2335931">
                  <a:extLst>
                    <a:ext uri="{9D8B030D-6E8A-4147-A177-3AD203B41FA5}">
                      <a16:colId xmlns:a16="http://schemas.microsoft.com/office/drawing/2014/main" val="1209083333"/>
                    </a:ext>
                  </a:extLst>
                </a:gridCol>
                <a:gridCol w="5273749">
                  <a:extLst>
                    <a:ext uri="{9D8B030D-6E8A-4147-A177-3AD203B41FA5}">
                      <a16:colId xmlns:a16="http://schemas.microsoft.com/office/drawing/2014/main" val="3367694333"/>
                    </a:ext>
                  </a:extLst>
                </a:gridCol>
              </a:tblGrid>
              <a:tr h="254389">
                <a:tc>
                  <a:txBody>
                    <a:bodyPr/>
                    <a:lstStyle/>
                    <a:p>
                      <a:r>
                        <a:rPr lang="en-US" sz="1400" b="1" kern="1200" dirty="0">
                          <a:solidFill>
                            <a:schemeClr val="lt1"/>
                          </a:solidFill>
                          <a:latin typeface="Montserrat Medium" panose="00000600000000000000" pitchFamily="2" charset="0"/>
                          <a:ea typeface="+mn-ea"/>
                          <a:cs typeface="+mn-cs"/>
                        </a:rPr>
                        <a:t>Security threat</a:t>
                      </a:r>
                    </a:p>
                  </a:txBody>
                  <a:tcPr/>
                </a:tc>
                <a:tc>
                  <a:txBody>
                    <a:bodyPr/>
                    <a:lstStyle/>
                    <a:p>
                      <a:r>
                        <a:rPr lang="en-US" sz="1400" b="1" kern="1200" dirty="0">
                          <a:solidFill>
                            <a:schemeClr val="lt1"/>
                          </a:solidFill>
                          <a:latin typeface="Montserrat Medium" panose="00000600000000000000" pitchFamily="2" charset="0"/>
                          <a:ea typeface="+mn-ea"/>
                          <a:cs typeface="+mn-cs"/>
                        </a:rPr>
                        <a:t>Potential business impacts</a:t>
                      </a:r>
                    </a:p>
                  </a:txBody>
                  <a:tcPr/>
                </a:tc>
                <a:extLst>
                  <a:ext uri="{0D108BD9-81ED-4DB2-BD59-A6C34878D82A}">
                    <a16:rowId xmlns:a16="http://schemas.microsoft.com/office/drawing/2014/main" val="1758759600"/>
                  </a:ext>
                </a:extLst>
              </a:tr>
              <a:tr h="788606">
                <a:tc>
                  <a:txBody>
                    <a:bodyPr/>
                    <a:lstStyle/>
                    <a:p>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Mass credential stuffing and account takeover</a:t>
                      </a:r>
                    </a:p>
                  </a:txBody>
                  <a:tcPr/>
                </a:tc>
                <a:tc>
                  <a:txBody>
                    <a:bodyPr/>
                    <a:lstStyle/>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Erosion of customer trust</a:t>
                      </a:r>
                    </a:p>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Expenses related to customer redress due to cyberfraud</a:t>
                      </a:r>
                    </a:p>
                    <a:p>
                      <a:pPr marL="171450" indent="-171450">
                        <a:buFont typeface="Arial" panose="020B0604020202020204" pitchFamily="34" charset="0"/>
                        <a:buChar char="•"/>
                      </a:pPr>
                      <a:r>
                        <a:rPr lang="en-US" sz="1400" b="0" i="0" u="none" strike="noStrike" kern="1200">
                          <a:solidFill>
                            <a:srgbClr val="333333"/>
                          </a:solidFill>
                          <a:effectLst/>
                          <a:latin typeface="Roboto Condensed Light" panose="02000000000000000000" pitchFamily="2" charset="0"/>
                          <a:ea typeface="Roboto Condensed Light" panose="02000000000000000000" pitchFamily="2" charset="0"/>
                          <a:cs typeface="+mn-cs"/>
                        </a:rPr>
                        <a:t>Increased cyberinsurance premiums</a:t>
                      </a:r>
                      <a:endPar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endParaRPr>
                    </a:p>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Pollution in customer identity databases</a:t>
                      </a:r>
                    </a:p>
                  </a:txBody>
                  <a:tcPr/>
                </a:tc>
                <a:extLst>
                  <a:ext uri="{0D108BD9-81ED-4DB2-BD59-A6C34878D82A}">
                    <a16:rowId xmlns:a16="http://schemas.microsoft.com/office/drawing/2014/main" val="1488129223"/>
                  </a:ext>
                </a:extLst>
              </a:tr>
              <a:tr h="788606">
                <a:tc>
                  <a:txBody>
                    <a:bodyPr/>
                    <a:lstStyle/>
                    <a:p>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Software supply chain compromise</a:t>
                      </a:r>
                    </a:p>
                    <a:p>
                      <a:endPar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endParaRPr>
                    </a:p>
                  </a:txBody>
                  <a:tcPr/>
                </a:tc>
                <a:tc>
                  <a:txBody>
                    <a:bodyPr/>
                    <a:lstStyle/>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Delayed product launches due to security concerns with software components</a:t>
                      </a:r>
                    </a:p>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Increased liability of redistributing compromised software</a:t>
                      </a:r>
                    </a:p>
                    <a:p>
                      <a:endPar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endParaRPr>
                    </a:p>
                  </a:txBody>
                  <a:tcPr/>
                </a:tc>
                <a:extLst>
                  <a:ext uri="{0D108BD9-81ED-4DB2-BD59-A6C34878D82A}">
                    <a16:rowId xmlns:a16="http://schemas.microsoft.com/office/drawing/2014/main" val="1037813076"/>
                  </a:ext>
                </a:extLst>
              </a:tr>
              <a:tr h="822970">
                <a:tc>
                  <a:txBody>
                    <a:bodyPr/>
                    <a:lstStyle/>
                    <a:p>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Sensitive data leakage in AI‑enabled apps</a:t>
                      </a:r>
                    </a:p>
                    <a:p>
                      <a:endPar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endParaRPr>
                    </a:p>
                  </a:txBody>
                  <a:tcPr/>
                </a:tc>
                <a:tc>
                  <a:txBody>
                    <a:bodyPr/>
                    <a:lstStyle/>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Erosion of customer trust</a:t>
                      </a:r>
                    </a:p>
                    <a:p>
                      <a:pPr marL="171450" indent="-171450">
                        <a:buFont typeface="Arial" panose="020B0604020202020204" pitchFamily="34" charset="0"/>
                        <a:buChar char="•"/>
                      </a:pPr>
                      <a:r>
                        <a:rPr lang="en-US" sz="1400" b="0" i="0" u="none" strike="noStrike" kern="1200" dirty="0">
                          <a:solidFill>
                            <a:srgbClr val="333333"/>
                          </a:solidFill>
                          <a:effectLst/>
                          <a:latin typeface="Roboto Condensed Light" panose="02000000000000000000" pitchFamily="2" charset="0"/>
                          <a:ea typeface="Roboto Condensed Light" panose="02000000000000000000" pitchFamily="2" charset="0"/>
                          <a:cs typeface="+mn-cs"/>
                        </a:rPr>
                        <a:t>Potential regulatory fines</a:t>
                      </a:r>
                    </a:p>
                  </a:txBody>
                  <a:tcPr/>
                </a:tc>
                <a:extLst>
                  <a:ext uri="{0D108BD9-81ED-4DB2-BD59-A6C34878D82A}">
                    <a16:rowId xmlns:a16="http://schemas.microsoft.com/office/drawing/2014/main" val="3541708987"/>
                  </a:ext>
                </a:extLst>
              </a:tr>
            </a:tbl>
          </a:graphicData>
        </a:graphic>
      </p:graphicFrame>
      <p:sp>
        <p:nvSpPr>
          <p:cNvPr id="7" name="TextBox 8">
            <a:extLst>
              <a:ext uri="{FF2B5EF4-FFF2-40B4-BE49-F238E27FC236}">
                <a16:creationId xmlns:a16="http://schemas.microsoft.com/office/drawing/2014/main" id="{2FF6F8D5-BDDC-BBAA-1C05-960B8BC6E59B}"/>
              </a:ext>
            </a:extLst>
          </p:cNvPr>
          <p:cNvSpPr txBox="1"/>
          <p:nvPr/>
        </p:nvSpPr>
        <p:spPr>
          <a:xfrm>
            <a:off x="371474" y="1718151"/>
            <a:ext cx="3694861" cy="3085460"/>
          </a:xfrm>
          <a:prstGeom prst="rect">
            <a:avLst/>
          </a:prstGeom>
          <a:noFill/>
          <a:ln cap="flat">
            <a:noFill/>
          </a:ln>
        </p:spPr>
        <p:txBody>
          <a:bodyPr vert="horz" wrap="square" lIns="91440" tIns="45720" rIns="91440" bIns="45720" anchor="t" anchorCtr="0" compatLnSpc="1">
            <a:spAutoFit/>
          </a:bodyPr>
          <a:lstStyle/>
          <a:p>
            <a:pPr marL="285750" marR="0" lvl="0" indent="-285750" algn="l" defTabSz="914400" rtl="0" eaLnBrk="1" fontAlgn="auto" latinLnBrk="0" hangingPunct="1">
              <a:lnSpc>
                <a:spcPct val="100000"/>
              </a:lnSpc>
              <a:spcBef>
                <a:spcPts val="300"/>
              </a:spcBef>
              <a:buClrTx/>
              <a:buSzTx/>
              <a:buFont typeface="Arial" panose="020B0604020202020204" pitchFamily="34" charset="0"/>
              <a:buChar char="•"/>
              <a:tabLst/>
              <a:defRPr sz="1800" b="0" i="0" u="none" strike="noStrike" kern="0" cap="none" spc="0" baseline="0">
                <a:solidFill>
                  <a:srgbClr val="000000"/>
                </a:solidFill>
                <a:uFillTx/>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When selecting the threats most crucial for your organization to mitigate, it is important to identify the potential business impacts that will influence your selection.</a:t>
            </a:r>
          </a:p>
          <a:p>
            <a:pPr marL="285750" marR="0" lvl="0" indent="-285750" algn="l" defTabSz="914400" rtl="0" eaLnBrk="1" fontAlgn="auto" latinLnBrk="0" hangingPunct="1">
              <a:lnSpc>
                <a:spcPct val="100000"/>
              </a:lnSpc>
              <a:spcBef>
                <a:spcPts val="300"/>
              </a:spcBef>
              <a:buClrTx/>
              <a:buSzTx/>
              <a:buFont typeface="Arial" panose="020B0604020202020204" pitchFamily="34" charset="0"/>
              <a:buChar char="•"/>
              <a:tabLst/>
              <a:defRPr sz="1800" b="0" i="0" u="none" strike="noStrike" kern="0" cap="none" spc="0" baseline="0">
                <a:solidFill>
                  <a:srgbClr val="000000"/>
                </a:solidFill>
                <a:uFillTx/>
              </a:defRPr>
            </a:pPr>
            <a:endPar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p>
            <a:pPr marL="285750" marR="0" lvl="0" indent="-285750" algn="l" defTabSz="914400" rtl="0" eaLnBrk="1" fontAlgn="auto" latinLnBrk="0" hangingPunct="1">
              <a:lnSpc>
                <a:spcPct val="100000"/>
              </a:lnSpc>
              <a:spcBef>
                <a:spcPts val="300"/>
              </a:spcBef>
              <a:buClrTx/>
              <a:buSzTx/>
              <a:buFont typeface="Arial" panose="020B0604020202020204" pitchFamily="34" charset="0"/>
              <a:buChar char="•"/>
              <a:tabLst/>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Consider some of the following factors when assessing the potential business impacts: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customer, financial, and/or operational damage caused by the threat.</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Delays to product delivery that could affect your competitive advantage.</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Compromised data that could violate compliance obligations.</a:t>
            </a:r>
          </a:p>
        </p:txBody>
      </p:sp>
      <p:sp>
        <p:nvSpPr>
          <p:cNvPr id="9" name="TextBox 8">
            <a:extLst>
              <a:ext uri="{FF2B5EF4-FFF2-40B4-BE49-F238E27FC236}">
                <a16:creationId xmlns:a16="http://schemas.microsoft.com/office/drawing/2014/main" id="{23AB0AD8-59CE-247B-C0C8-DAD4AEBB5DAC}"/>
              </a:ext>
            </a:extLst>
          </p:cNvPr>
          <p:cNvSpPr txBox="1"/>
          <p:nvPr/>
        </p:nvSpPr>
        <p:spPr>
          <a:xfrm>
            <a:off x="4304017" y="1456541"/>
            <a:ext cx="612014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sz="1800" b="0" i="0" u="none" strike="noStrike" kern="0" cap="none" spc="0" baseline="0">
                <a:solidFill>
                  <a:srgbClr val="000000"/>
                </a:solidFill>
                <a:uFillTx/>
              </a:defRPr>
            </a:pPr>
            <a:r>
              <a:rPr kumimoji="0" lang="en-CA"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Examples of security threats and associated potential business impacts</a:t>
            </a:r>
            <a:r>
              <a:rPr lang="en-CA" sz="1400" b="1" dirty="0">
                <a:solidFill>
                  <a:srgbClr val="000000"/>
                </a:solidFill>
                <a:latin typeface="Roboto Condensed Light" panose="02000000000000000000" pitchFamily="2" charset="0"/>
                <a:ea typeface="Roboto Condensed Light" panose="02000000000000000000" pitchFamily="2" charset="0"/>
              </a:rPr>
              <a:t>:</a:t>
            </a:r>
            <a:endParaRPr kumimoji="0" lang="en-CA" sz="1400" b="1"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sp>
        <p:nvSpPr>
          <p:cNvPr id="12" name="Rectangle 11">
            <a:extLst>
              <a:ext uri="{FF2B5EF4-FFF2-40B4-BE49-F238E27FC236}">
                <a16:creationId xmlns:a16="http://schemas.microsoft.com/office/drawing/2014/main" id="{B7D0CE76-0929-2D8C-ADA8-9ACB82829E1F}"/>
              </a:ext>
            </a:extLst>
          </p:cNvPr>
          <p:cNvSpPr/>
          <p:nvPr/>
        </p:nvSpPr>
        <p:spPr>
          <a:xfrm>
            <a:off x="478785" y="5142429"/>
            <a:ext cx="10276731" cy="1166138"/>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lvl="0">
              <a:spcBef>
                <a:spcPts val="600"/>
              </a:spcBef>
              <a:defRPr/>
            </a:pPr>
            <a:r>
              <a:rPr lang="en-US" sz="1200" dirty="0">
                <a:solidFill>
                  <a:srgbClr val="FFFFFF"/>
                </a:solidFill>
                <a:latin typeface="Roboto Condensed Light" panose="02000000000000000000" pitchFamily="2" charset="0"/>
                <a:ea typeface="Roboto Condensed Light" panose="02000000000000000000" pitchFamily="2" charset="0"/>
              </a:rPr>
              <a:t>Conceptualizing the impact of a security threat is more than a technical analysis; it requires a business lens to assess the impact to critical operations, potential data leakage, as well as the financial and reputational risks that could hinder an organization’s growth.</a:t>
            </a:r>
          </a:p>
        </p:txBody>
      </p:sp>
      <p:sp>
        <p:nvSpPr>
          <p:cNvPr id="13" name="Rectangle 12">
            <a:extLst>
              <a:ext uri="{FF2B5EF4-FFF2-40B4-BE49-F238E27FC236}">
                <a16:creationId xmlns:a16="http://schemas.microsoft.com/office/drawing/2014/main" id="{2EA05B47-F7B8-B3A9-33CF-D3963EC1017C}"/>
              </a:ext>
              <a:ext uri="{C183D7F6-B498-43B3-948B-1728B52AA6E4}">
                <adec:decorative xmlns:adec="http://schemas.microsoft.com/office/drawing/2017/decorative" val="1"/>
              </a:ext>
            </a:extLst>
          </p:cNvPr>
          <p:cNvSpPr/>
          <p:nvPr/>
        </p:nvSpPr>
        <p:spPr>
          <a:xfrm>
            <a:off x="478787" y="5142429"/>
            <a:ext cx="10276730" cy="1166138"/>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4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32311808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514B-90A3-FBF7-3124-19813AF390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0ED92E-2432-A735-8243-85461E6A9963}"/>
              </a:ext>
            </a:extLst>
          </p:cNvPr>
          <p:cNvSpPr>
            <a:spLocks noGrp="1"/>
          </p:cNvSpPr>
          <p:nvPr>
            <p:ph type="title"/>
          </p:nvPr>
        </p:nvSpPr>
        <p:spPr>
          <a:xfrm>
            <a:off x="371474" y="544769"/>
            <a:ext cx="10052685" cy="661862"/>
          </a:xfrm>
        </p:spPr>
        <p:txBody>
          <a:bodyPr/>
          <a:lstStyle/>
          <a:p>
            <a:r>
              <a:rPr lang="en-US" dirty="0"/>
              <a:t>Selecting security threats</a:t>
            </a:r>
            <a:endParaRPr lang="en-US" dirty="0">
              <a:solidFill>
                <a:schemeClr val="tx1"/>
              </a:solidFill>
            </a:endParaRPr>
          </a:p>
        </p:txBody>
      </p:sp>
      <p:sp>
        <p:nvSpPr>
          <p:cNvPr id="11" name="TextBox 10">
            <a:extLst>
              <a:ext uri="{FF2B5EF4-FFF2-40B4-BE49-F238E27FC236}">
                <a16:creationId xmlns:a16="http://schemas.microsoft.com/office/drawing/2014/main" id="{3477230D-DE93-17C6-1AA2-66D1DF884E70}"/>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26</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9" name="Rectangle 8">
            <a:extLst>
              <a:ext uri="{FF2B5EF4-FFF2-40B4-BE49-F238E27FC236}">
                <a16:creationId xmlns:a16="http://schemas.microsoft.com/office/drawing/2014/main" id="{BFEE725A-D76F-0A75-3795-A1DE013A2907}"/>
              </a:ext>
            </a:extLst>
          </p:cNvPr>
          <p:cNvSpPr/>
          <p:nvPr/>
        </p:nvSpPr>
        <p:spPr>
          <a:xfrm>
            <a:off x="7684776" y="5651369"/>
            <a:ext cx="36979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a:ea typeface="+mn-ea"/>
                <a:cs typeface="+mn-cs"/>
              </a:rPr>
              <a:t>iSSDLC</a:t>
            </a:r>
            <a:r>
              <a:rPr kumimoji="0" lang="en-US" sz="1200" b="0" i="0" u="none" strike="noStrike" kern="1200" cap="none" spc="0" normalizeH="0" baseline="0" noProof="0" dirty="0">
                <a:ln>
                  <a:noFill/>
                </a:ln>
                <a:solidFill>
                  <a:srgbClr val="FFFFFF"/>
                </a:solidFill>
                <a:effectLst/>
                <a:uLnTx/>
                <a:uFillTx/>
                <a:latin typeface="Exo"/>
                <a:ea typeface="+mn-ea"/>
                <a:cs typeface="+mn-cs"/>
              </a:rPr>
              <a:t> </a:t>
            </a:r>
            <a:r>
              <a:rPr kumimoji="0" lang="en-US" sz="1200" b="0" i="1" u="none" strike="noStrike" kern="1200" cap="none" spc="0" normalizeH="0" baseline="0" noProof="0" dirty="0">
                <a:ln>
                  <a:noFill/>
                </a:ln>
                <a:solidFill>
                  <a:srgbClr val="FFFFFF"/>
                </a:solidFill>
                <a:effectLst/>
                <a:uLnTx/>
                <a:uFillTx/>
                <a:latin typeface="Exo"/>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a:ea typeface="+mn-ea"/>
              <a:cs typeface="+mn-cs"/>
            </a:endParaRPr>
          </a:p>
        </p:txBody>
      </p:sp>
      <p:sp>
        <p:nvSpPr>
          <p:cNvPr id="10" name="Rectangle 9">
            <a:extLst>
              <a:ext uri="{FF2B5EF4-FFF2-40B4-BE49-F238E27FC236}">
                <a16:creationId xmlns:a16="http://schemas.microsoft.com/office/drawing/2014/main" id="{50F86310-3FB5-DBC2-BB93-1A55A631763D}"/>
              </a:ext>
              <a:ext uri="{C183D7F6-B498-43B3-948B-1728B52AA6E4}">
                <adec:decorative xmlns:adec="http://schemas.microsoft.com/office/drawing/2017/decorative" val="1"/>
              </a:ext>
            </a:extLst>
          </p:cNvPr>
          <p:cNvSpPr>
            <a:spLocks noChangeAspect="1"/>
          </p:cNvSpPr>
          <p:nvPr/>
        </p:nvSpPr>
        <p:spPr>
          <a:xfrm>
            <a:off x="7214953" y="5651371"/>
            <a:ext cx="470369"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12" name="Picture 11">
            <a:extLst>
              <a:ext uri="{FF2B5EF4-FFF2-40B4-BE49-F238E27FC236}">
                <a16:creationId xmlns:a16="http://schemas.microsoft.com/office/drawing/2014/main" id="{697ED3EC-2546-E636-6570-4ED0AAF48542}"/>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7325259" y="5751533"/>
            <a:ext cx="260883" cy="262205"/>
          </a:xfrm>
          <a:prstGeom prst="rect">
            <a:avLst/>
          </a:prstGeom>
        </p:spPr>
      </p:pic>
      <p:pic>
        <p:nvPicPr>
          <p:cNvPr id="8" name="Picture 7">
            <a:extLst>
              <a:ext uri="{FF2B5EF4-FFF2-40B4-BE49-F238E27FC236}">
                <a16:creationId xmlns:a16="http://schemas.microsoft.com/office/drawing/2014/main" id="{24354056-2C5D-33CC-C775-68C34ACF7C73}"/>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534216" y="1201689"/>
            <a:ext cx="5659372" cy="4119481"/>
          </a:xfrm>
          <a:prstGeom prst="rect">
            <a:avLst/>
          </a:prstGeom>
        </p:spPr>
      </p:pic>
      <p:pic>
        <p:nvPicPr>
          <p:cNvPr id="13" name="Picture 12">
            <a:extLst>
              <a:ext uri="{FF2B5EF4-FFF2-40B4-BE49-F238E27FC236}">
                <a16:creationId xmlns:a16="http://schemas.microsoft.com/office/drawing/2014/main" id="{E7EBFD89-52A2-152E-8545-9A927D0211DC}"/>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a:off x="1349019" y="4090715"/>
            <a:ext cx="4747775" cy="2035393"/>
          </a:xfrm>
          <a:prstGeom prst="rect">
            <a:avLst/>
          </a:prstGeom>
        </p:spPr>
      </p:pic>
      <p:sp>
        <p:nvSpPr>
          <p:cNvPr id="14" name="TextBox 8">
            <a:extLst>
              <a:ext uri="{FF2B5EF4-FFF2-40B4-BE49-F238E27FC236}">
                <a16:creationId xmlns:a16="http://schemas.microsoft.com/office/drawing/2014/main" id="{234510AE-E47A-74CB-3F60-18DFBC14557F}"/>
              </a:ext>
            </a:extLst>
          </p:cNvPr>
          <p:cNvSpPr txBox="1"/>
          <p:nvPr/>
        </p:nvSpPr>
        <p:spPr>
          <a:xfrm>
            <a:off x="310845" y="1536830"/>
            <a:ext cx="6223371" cy="2223686"/>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i="1" dirty="0">
                <a:solidFill>
                  <a:srgbClr val="000000"/>
                </a:solidFill>
                <a:latin typeface="Roboto Condensed Light" panose="02000000000000000000" pitchFamily="2" charset="0"/>
                <a:ea typeface="Roboto Condensed Light" panose="02000000000000000000" pitchFamily="2" charset="0"/>
              </a:rPr>
              <a:t> Capabilities Assessment Tool</a:t>
            </a:r>
            <a:r>
              <a:rPr lang="en-CA" sz="1400" dirty="0">
                <a:solidFill>
                  <a:srgbClr val="000000"/>
                </a:solidFill>
                <a:latin typeface="Roboto Condensed Light" panose="02000000000000000000" pitchFamily="2" charset="0"/>
                <a:ea typeface="Roboto Condensed Light" panose="02000000000000000000" pitchFamily="2" charset="0"/>
              </a:rPr>
              <a:t>, select the Goals tab (Tab 3) to view the list of security threats in cells G17:H25.</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C20:C22, select the top three security threats that your executives would be the most concerned about. Consider some of the following factors to assist in selecting your top security threats: </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Strategic alignment with business objectives.</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Urgency and timing of business opportunity.</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Potential ROI and impact across multiple priorities.</a:t>
            </a:r>
          </a:p>
        </p:txBody>
      </p:sp>
      <p:sp>
        <p:nvSpPr>
          <p:cNvPr id="15" name="Right Arrow 18">
            <a:extLst>
              <a:ext uri="{FF2B5EF4-FFF2-40B4-BE49-F238E27FC236}">
                <a16:creationId xmlns:a16="http://schemas.microsoft.com/office/drawing/2014/main" id="{62F24C6E-0EC9-ACB7-6E06-8CA0004A15D3}"/>
              </a:ext>
              <a:ext uri="{C183D7F6-B498-43B3-948B-1728B52AA6E4}">
                <adec:decorative xmlns:adec="http://schemas.microsoft.com/office/drawing/2017/decorative" val="1"/>
              </a:ext>
            </a:extLst>
          </p:cNvPr>
          <p:cNvSpPr/>
          <p:nvPr/>
        </p:nvSpPr>
        <p:spPr>
          <a:xfrm>
            <a:off x="390525" y="4703997"/>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138570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48D81-8CAC-3A8B-59BD-AC9885343E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81FFF6-5D90-74AF-5E7F-CF69CB79016B}"/>
              </a:ext>
            </a:extLst>
          </p:cNvPr>
          <p:cNvSpPr>
            <a:spLocks noGrp="1"/>
          </p:cNvSpPr>
          <p:nvPr>
            <p:ph type="title"/>
          </p:nvPr>
        </p:nvSpPr>
        <p:spPr>
          <a:xfrm>
            <a:off x="371474" y="544769"/>
            <a:ext cx="10052685" cy="661862"/>
          </a:xfrm>
        </p:spPr>
        <p:txBody>
          <a:bodyPr/>
          <a:lstStyle/>
          <a:p>
            <a:r>
              <a:rPr lang="en-US" dirty="0"/>
              <a:t>Prioritize capabilities</a:t>
            </a:r>
            <a:endParaRPr lang="en-US" dirty="0">
              <a:solidFill>
                <a:schemeClr val="tx1"/>
              </a:solidFill>
            </a:endParaRPr>
          </a:p>
        </p:txBody>
      </p:sp>
      <p:sp>
        <p:nvSpPr>
          <p:cNvPr id="11" name="TextBox 10">
            <a:extLst>
              <a:ext uri="{FF2B5EF4-FFF2-40B4-BE49-F238E27FC236}">
                <a16:creationId xmlns:a16="http://schemas.microsoft.com/office/drawing/2014/main" id="{4CA55608-AE47-65A5-6E9B-6ED5DB2CB60A}"/>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27</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14" name="TextBox 8">
            <a:extLst>
              <a:ext uri="{FF2B5EF4-FFF2-40B4-BE49-F238E27FC236}">
                <a16:creationId xmlns:a16="http://schemas.microsoft.com/office/drawing/2014/main" id="{B88DC07B-8304-4898-55D2-E72313AD4B62}"/>
              </a:ext>
            </a:extLst>
          </p:cNvPr>
          <p:cNvSpPr txBox="1"/>
          <p:nvPr/>
        </p:nvSpPr>
        <p:spPr>
          <a:xfrm>
            <a:off x="310845" y="1536830"/>
            <a:ext cx="6223371" cy="4670509"/>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Once the business opportunities and security threats are defined in the Goals tab (Tab 3), a prioritization of the capabilities will be depicted in the Capability column (Column D) of the Capabilities Assessment tab (Tab 4). </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capabilities are prioritized based on the number of business opportunities and security threats they are aligned to, with the prioritization legend depicted on cells G6:G8</a:t>
            </a:r>
            <a:r>
              <a:rPr lang="en-CA" sz="1400" b="1" dirty="0">
                <a:solidFill>
                  <a:srgbClr val="000000"/>
                </a:solidFill>
                <a:latin typeface="Roboto Condensed Light" panose="02000000000000000000" pitchFamily="2" charset="0"/>
                <a:ea typeface="Roboto Condensed Light" panose="02000000000000000000" pitchFamily="2" charset="0"/>
              </a:rPr>
              <a:t>.</a:t>
            </a: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Prioritizing capabilities based on their alignment to enterprise goals that will support application security initiatives ensures that organizations can mature their program more efficiently by:</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Maximizing ROI.</a:t>
            </a:r>
            <a:r>
              <a:rPr lang="en-CA" sz="1400" dirty="0">
                <a:solidFill>
                  <a:srgbClr val="000000"/>
                </a:solidFill>
                <a:latin typeface="Roboto Condensed Light" panose="02000000000000000000" pitchFamily="2" charset="0"/>
                <a:ea typeface="Roboto Condensed Light" panose="02000000000000000000" pitchFamily="2" charset="0"/>
              </a:rPr>
              <a:t> Focusing on capabilities that support multiple business opportunities and/or mitigate multiple security threats ensures investments will deliver meaningful value across the organization.</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Allocating resources strategically.</a:t>
            </a:r>
            <a:r>
              <a:rPr lang="en-CA" sz="1400" dirty="0">
                <a:solidFill>
                  <a:srgbClr val="000000"/>
                </a:solidFill>
                <a:latin typeface="Roboto Condensed Light" panose="02000000000000000000" pitchFamily="2" charset="0"/>
                <a:ea typeface="Roboto Condensed Light" panose="02000000000000000000" pitchFamily="2" charset="0"/>
              </a:rPr>
              <a:t> With limited time and budget, organizations can prioritize capabilities that will ensure the most critical areas are addressed.</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Gaining more executive buy-in. </a:t>
            </a:r>
            <a:r>
              <a:rPr lang="en-CA" sz="1400" dirty="0">
                <a:solidFill>
                  <a:srgbClr val="000000"/>
                </a:solidFill>
                <a:latin typeface="Roboto Condensed Light" panose="02000000000000000000" pitchFamily="2" charset="0"/>
                <a:ea typeface="Roboto Condensed Light" panose="02000000000000000000" pitchFamily="2" charset="0"/>
              </a:rPr>
              <a:t>Aligning capabilities to multiple business opportunities and security threats helps security leaders better communicate the value of initiatives to stakeholders, justify investments, and gain support for future application security modernization initiatives. </a:t>
            </a:r>
            <a:endParaRPr lang="en-CA" sz="1400" b="1" dirty="0">
              <a:solidFill>
                <a:srgbClr val="000000"/>
              </a:solidFill>
              <a:latin typeface="Roboto Condensed Light" panose="02000000000000000000" pitchFamily="2" charset="0"/>
              <a:ea typeface="Roboto Condensed Light" panose="02000000000000000000" pitchFamily="2" charset="0"/>
            </a:endParaRPr>
          </a:p>
        </p:txBody>
      </p:sp>
      <p:pic>
        <p:nvPicPr>
          <p:cNvPr id="6" name="Picture 5">
            <a:extLst>
              <a:ext uri="{FF2B5EF4-FFF2-40B4-BE49-F238E27FC236}">
                <a16:creationId xmlns:a16="http://schemas.microsoft.com/office/drawing/2014/main" id="{1CEACDC8-FD03-24B9-EFD0-E75448EE797A}"/>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7586803" y="1206631"/>
            <a:ext cx="3495214" cy="1391055"/>
          </a:xfrm>
          <a:prstGeom prst="rect">
            <a:avLst/>
          </a:prstGeom>
        </p:spPr>
      </p:pic>
      <p:pic>
        <p:nvPicPr>
          <p:cNvPr id="16" name="Picture 15">
            <a:extLst>
              <a:ext uri="{FF2B5EF4-FFF2-40B4-BE49-F238E27FC236}">
                <a16:creationId xmlns:a16="http://schemas.microsoft.com/office/drawing/2014/main" id="{06E50859-88C3-F940-8C64-941B94E3BC8F}"/>
              </a:ext>
            </a:extLst>
          </p:cNvPr>
          <p:cNvPicPr>
            <a:picLocks noChangeAspect="1"/>
          </p:cNvPicPr>
          <p:nvPr/>
        </p:nvPicPr>
        <p:blipFill>
          <a:blip r:embed="rId4"/>
          <a:stretch>
            <a:fillRect/>
          </a:stretch>
        </p:blipFill>
        <p:spPr>
          <a:xfrm>
            <a:off x="7297102" y="2597686"/>
            <a:ext cx="4274245" cy="3491139"/>
          </a:xfrm>
          <a:prstGeom prst="rect">
            <a:avLst/>
          </a:prstGeom>
        </p:spPr>
      </p:pic>
    </p:spTree>
    <p:extLst>
      <p:ext uri="{BB962C8B-B14F-4D97-AF65-F5344CB8AC3E}">
        <p14:creationId xmlns:p14="http://schemas.microsoft.com/office/powerpoint/2010/main" val="1895786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E326F-1ED3-7E77-E09F-41E083E571AE}"/>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8392CA78-F453-93CB-F526-28DF33F55C59}"/>
              </a:ext>
            </a:extLst>
          </p:cNvPr>
          <p:cNvPicPr>
            <a:picLocks noChangeAspect="1" noChangeArrowheads="1"/>
          </p:cNvPicPr>
          <p:nvPr/>
        </p:nvPicPr>
        <p:blipFill>
          <a:blip r:embed="rId2" cstate="print">
            <a:extLst>
              <a:ext uri="{28A0092B-C50C-407E-A947-70E740481C1C}">
                <a14:useLocalDpi xmlns:a14="http://schemas.microsoft.com/office/drawing/2010/main"/>
              </a:ext>
            </a:extLst>
          </a:blip>
          <a:srcRect/>
          <a:stretch/>
        </p:blipFill>
        <p:spPr bwMode="auto">
          <a:xfrm>
            <a:off x="7402285" y="0"/>
            <a:ext cx="4791303"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328A4BD-7A8F-0C86-CD39-49E1B2B30678}"/>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FFFFFF"/>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FFFFFF"/>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FFFFFF"/>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FFFFFF"/>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FFFFFF"/>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FFFFFF"/>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FFFFFF"/>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FFFFFF"/>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FFFFFF"/>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FFFFFF"/>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FFFFFF"/>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28</a:t>
            </a:fld>
            <a:endParaRPr kumimoji="0" sz="800" b="0" i="0" u="none" strike="noStrike" kern="1200" cap="none" spc="6" normalizeH="0" baseline="0" noProof="0" dirty="0">
              <a:ln>
                <a:noFill/>
              </a:ln>
              <a:solidFill>
                <a:srgbClr val="FFFFFF"/>
              </a:solidFill>
              <a:effectLst/>
              <a:uLnTx/>
              <a:uFillTx/>
              <a:latin typeface="Exo" panose="02000503000000000000" pitchFamily="2" charset="77"/>
              <a:ea typeface="+mn-ea"/>
              <a:cs typeface="Arial" panose="020B0604020202020204" pitchFamily="34" charset="0"/>
            </a:endParaRPr>
          </a:p>
        </p:txBody>
      </p:sp>
      <p:sp>
        <p:nvSpPr>
          <p:cNvPr id="5" name="Title 2">
            <a:extLst>
              <a:ext uri="{FF2B5EF4-FFF2-40B4-BE49-F238E27FC236}">
                <a16:creationId xmlns:a16="http://schemas.microsoft.com/office/drawing/2014/main" id="{439C21E5-7938-8EEA-8B35-0697806D905B}"/>
              </a:ext>
            </a:extLst>
          </p:cNvPr>
          <p:cNvSpPr>
            <a:spLocks noGrp="1"/>
          </p:cNvSpPr>
          <p:nvPr>
            <p:ph type="title"/>
          </p:nvPr>
        </p:nvSpPr>
        <p:spPr>
          <a:xfrm>
            <a:off x="371475" y="544769"/>
            <a:ext cx="6898458" cy="661862"/>
          </a:xfrm>
        </p:spPr>
        <p:txBody>
          <a:bodyPr/>
          <a:lstStyle/>
          <a:p>
            <a:r>
              <a:rPr lang="en-US" dirty="0">
                <a:solidFill>
                  <a:schemeClr val="accent1"/>
                </a:solidFill>
              </a:rPr>
              <a:t>1.3 </a:t>
            </a:r>
            <a:r>
              <a:rPr lang="en-US" b="0" dirty="0">
                <a:solidFill>
                  <a:srgbClr val="4A4A4A"/>
                </a:solidFill>
              </a:rPr>
              <a:t>Establish metrics​</a:t>
            </a:r>
          </a:p>
        </p:txBody>
      </p:sp>
      <p:sp>
        <p:nvSpPr>
          <p:cNvPr id="6" name="TextBox 8">
            <a:extLst>
              <a:ext uri="{FF2B5EF4-FFF2-40B4-BE49-F238E27FC236}">
                <a16:creationId xmlns:a16="http://schemas.microsoft.com/office/drawing/2014/main" id="{1C7A8018-1C98-BC0F-ACD5-448B1B304F0E}"/>
              </a:ext>
            </a:extLst>
          </p:cNvPr>
          <p:cNvSpPr txBox="1"/>
          <p:nvPr/>
        </p:nvSpPr>
        <p:spPr>
          <a:xfrm>
            <a:off x="478785" y="1407794"/>
            <a:ext cx="6436365" cy="2669962"/>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Prioritizing the right capabilities requires establishing effective metrics to showcase security’s ability to enable business goals and growth and manage risks.</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Establishing metrics must reflect the business opportunities and risks, rather than just the technical activity. It should enable progress assessments to identify bottlenecks and justify future investments.</a:t>
            </a:r>
          </a:p>
          <a:p>
            <a:pPr marL="285750" lvl="0" indent="-285750" defTabSz="914400">
              <a:spcBef>
                <a:spcPts val="6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By framing threats at an executive level and in terms of business outcomes, driving capability improvement plans becomes a strategic roadmap, not just a technical one.</a:t>
            </a:r>
          </a:p>
          <a:p>
            <a:pPr marL="285750" lvl="0" indent="-285750" defTabSz="914400">
              <a:spcBef>
                <a:spcPts val="6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metrics should focus on minimizing vulnerabilities, demonstrating operational efficiency, and reducing the organization’s third-party risk exposure while ensuring alignment to business outcomes.</a:t>
            </a:r>
          </a:p>
        </p:txBody>
      </p:sp>
      <p:sp>
        <p:nvSpPr>
          <p:cNvPr id="7" name="Rectangle 6">
            <a:extLst>
              <a:ext uri="{FF2B5EF4-FFF2-40B4-BE49-F238E27FC236}">
                <a16:creationId xmlns:a16="http://schemas.microsoft.com/office/drawing/2014/main" id="{2042367F-05AA-D67D-722A-912FFC28638E}"/>
              </a:ext>
            </a:extLst>
          </p:cNvPr>
          <p:cNvSpPr/>
          <p:nvPr/>
        </p:nvSpPr>
        <p:spPr>
          <a:xfrm>
            <a:off x="478786" y="5142429"/>
            <a:ext cx="6436364" cy="1430250"/>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marL="0" marR="0" lvl="0" indent="0" algn="l" defTabSz="554492"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Roboto Condensed Light" panose="02000000000000000000" pitchFamily="2" charset="0"/>
                <a:ea typeface="Roboto Condensed Light" panose="02000000000000000000" pitchFamily="2" charset="0"/>
                <a:cs typeface="+mn-cs"/>
              </a:rPr>
              <a:t>Define metrics and KPIs early to ensure alignment with business drivers and prioritization of capabilities-based initiatives.</a:t>
            </a:r>
          </a:p>
        </p:txBody>
      </p:sp>
      <p:sp>
        <p:nvSpPr>
          <p:cNvPr id="8" name="Rectangle 7">
            <a:extLst>
              <a:ext uri="{FF2B5EF4-FFF2-40B4-BE49-F238E27FC236}">
                <a16:creationId xmlns:a16="http://schemas.microsoft.com/office/drawing/2014/main" id="{AA8B6E5E-BE25-B113-45FB-A472BD9C65E6}"/>
              </a:ext>
              <a:ext uri="{C183D7F6-B498-43B3-948B-1728B52AA6E4}">
                <adec:decorative xmlns:adec="http://schemas.microsoft.com/office/drawing/2017/decorative" val="1"/>
              </a:ext>
            </a:extLst>
          </p:cNvPr>
          <p:cNvSpPr/>
          <p:nvPr/>
        </p:nvSpPr>
        <p:spPr>
          <a:xfrm>
            <a:off x="478787" y="5142429"/>
            <a:ext cx="6436363" cy="1430250"/>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4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1118082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E9FB1-70C4-4FD5-8460-5C2A52DCAB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B38E8E-BF47-7457-1BB4-8B496748A562}"/>
              </a:ext>
            </a:extLst>
          </p:cNvPr>
          <p:cNvSpPr>
            <a:spLocks noGrp="1"/>
          </p:cNvSpPr>
          <p:nvPr>
            <p:ph type="title"/>
          </p:nvPr>
        </p:nvSpPr>
        <p:spPr>
          <a:xfrm>
            <a:off x="550583" y="544769"/>
            <a:ext cx="10243108" cy="661862"/>
          </a:xfrm>
        </p:spPr>
        <p:txBody>
          <a:bodyPr/>
          <a:lstStyle/>
          <a:p>
            <a:r>
              <a:rPr lang="en-US" dirty="0"/>
              <a:t>Sample metrics</a:t>
            </a:r>
            <a:endParaRPr lang="en-US" dirty="0">
              <a:solidFill>
                <a:schemeClr val="tx1"/>
              </a:solidFill>
            </a:endParaRPr>
          </a:p>
        </p:txBody>
      </p:sp>
      <p:sp>
        <p:nvSpPr>
          <p:cNvPr id="12" name="TextBox 8">
            <a:extLst>
              <a:ext uri="{FF2B5EF4-FFF2-40B4-BE49-F238E27FC236}">
                <a16:creationId xmlns:a16="http://schemas.microsoft.com/office/drawing/2014/main" id="{DD5EF59F-50D9-2EC4-C3E5-F1B76E06ED52}"/>
              </a:ext>
            </a:extLst>
          </p:cNvPr>
          <p:cNvSpPr txBox="1"/>
          <p:nvPr/>
        </p:nvSpPr>
        <p:spPr>
          <a:xfrm>
            <a:off x="459833" y="1171645"/>
            <a:ext cx="9928407" cy="307777"/>
          </a:xfrm>
          <a:prstGeom prst="rect">
            <a:avLst/>
          </a:prstGeom>
          <a:noFill/>
          <a:ln cap="flat">
            <a:noFill/>
          </a:ln>
        </p:spPr>
        <p:txBody>
          <a:bodyPr vert="horz" wrap="square" lIns="91440" tIns="45720" rIns="91440" bIns="45720" anchor="t" anchorCtr="0" compatLnSpc="1">
            <a:spAutoFit/>
          </a:bodyPr>
          <a:lstStyle/>
          <a:p>
            <a:pPr marL="0" marR="0" lvl="0" indent="0" algn="l" defTabSz="914400" rtl="0" eaLnBrk="1" fontAlgn="auto" latinLnBrk="0" hangingPunct="1">
              <a:lnSpc>
                <a:spcPct val="100000"/>
              </a:lnSpc>
              <a:spcBef>
                <a:spcPts val="300"/>
              </a:spcBef>
              <a:spcAft>
                <a:spcPts val="0"/>
              </a:spcAft>
              <a:buClrTx/>
              <a:buSzTx/>
              <a:buFontTx/>
              <a:buNone/>
              <a:tabLst/>
              <a:defRPr sz="1800" b="0" i="0" u="none" strike="noStrike" kern="0" cap="none" spc="0" baseline="0">
                <a:solidFill>
                  <a:srgbClr val="000000"/>
                </a:solidFill>
                <a:uFillTx/>
              </a:defRPr>
            </a:pPr>
            <a:r>
              <a:rPr kumimoji="0" lang="en-CA"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Below are examples of some of the metrics that can be selected to guide the implementation of the iSSDLC.</a:t>
            </a:r>
          </a:p>
        </p:txBody>
      </p:sp>
      <p:sp>
        <p:nvSpPr>
          <p:cNvPr id="11" name="TextBox 10">
            <a:extLst>
              <a:ext uri="{FF2B5EF4-FFF2-40B4-BE49-F238E27FC236}">
                <a16:creationId xmlns:a16="http://schemas.microsoft.com/office/drawing/2014/main" id="{1E7429B3-763F-5743-9E3E-2E78CF1D852E}"/>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29</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graphicFrame>
        <p:nvGraphicFramePr>
          <p:cNvPr id="4" name="Table 3">
            <a:extLst>
              <a:ext uri="{FF2B5EF4-FFF2-40B4-BE49-F238E27FC236}">
                <a16:creationId xmlns:a16="http://schemas.microsoft.com/office/drawing/2014/main" id="{0A68599D-B6F9-24AE-50F3-519A07BC4AD7}"/>
              </a:ext>
            </a:extLst>
          </p:cNvPr>
          <p:cNvGraphicFramePr>
            <a:graphicFrameLocks noGrp="1"/>
          </p:cNvGraphicFramePr>
          <p:nvPr>
            <p:extLst>
              <p:ext uri="{D42A27DB-BD31-4B8C-83A1-F6EECF244321}">
                <p14:modId xmlns:p14="http://schemas.microsoft.com/office/powerpoint/2010/main" val="3280152877"/>
              </p:ext>
            </p:extLst>
          </p:nvPr>
        </p:nvGraphicFramePr>
        <p:xfrm>
          <a:off x="550583" y="1615759"/>
          <a:ext cx="11191762" cy="4704980"/>
        </p:xfrm>
        <a:graphic>
          <a:graphicData uri="http://schemas.openxmlformats.org/drawingml/2006/table">
            <a:tbl>
              <a:tblPr firstRow="1" bandRow="1">
                <a:tableStyleId>{5C22544A-7EE6-4342-B048-85BDC9FD1C3A}</a:tableStyleId>
              </a:tblPr>
              <a:tblGrid>
                <a:gridCol w="5129484">
                  <a:extLst>
                    <a:ext uri="{9D8B030D-6E8A-4147-A177-3AD203B41FA5}">
                      <a16:colId xmlns:a16="http://schemas.microsoft.com/office/drawing/2014/main" val="4211586766"/>
                    </a:ext>
                  </a:extLst>
                </a:gridCol>
                <a:gridCol w="6062278">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Security metric</a:t>
                      </a:r>
                    </a:p>
                  </a:txBody>
                  <a:tcPr/>
                </a:tc>
                <a:tc>
                  <a:txBody>
                    <a:bodyPr/>
                    <a:lstStyle/>
                    <a:p>
                      <a:r>
                        <a:rPr lang="en-US" sz="1400" dirty="0">
                          <a:latin typeface="Montserrat Medium" panose="00000600000000000000" pitchFamily="2" charset="0"/>
                        </a:rPr>
                        <a:t>How to measure</a:t>
                      </a:r>
                    </a:p>
                  </a:txBody>
                  <a:tcPr/>
                </a:tc>
                <a:extLst>
                  <a:ext uri="{0D108BD9-81ED-4DB2-BD59-A6C34878D82A}">
                    <a16:rowId xmlns:a16="http://schemas.microsoft.com/office/drawing/2014/main" val="1016400015"/>
                  </a:ext>
                </a:extLst>
              </a:tr>
              <a:tr h="419212">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Mean time to remediate (MTTR) critical vulnerabilities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Average number of days from detection to remediation for CVEs rated critical or high (track via SAST/DAST/SCA tools + ticketing system).</a:t>
                      </a: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Percentage of third-party components without known vulnerabilities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Count of external libraries/packages scanned by SCA tools with zero </a:t>
                      </a:r>
                      <a:r>
                        <a:rPr lang="en-US" sz="1400" b="0" i="0" u="none" strike="noStrike">
                          <a:solidFill>
                            <a:srgbClr val="333333"/>
                          </a:solidFill>
                          <a:effectLst/>
                          <a:latin typeface="Roboto Condensed Light" panose="02000000000000000000" pitchFamily="2" charset="0"/>
                          <a:ea typeface="Roboto Condensed Light" panose="02000000000000000000" pitchFamily="2" charset="0"/>
                        </a:rPr>
                        <a:t>known CVEs or </a:t>
                      </a: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total components used.</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Credential stuffing detection rate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Number of credential stuffing attempts detected per month, tracked via WAF logs, SIEM, or identity provider analytics.</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Security coverage in CI/CD pipeline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Percentage of CI/CD jobs that include SAST, DAST, SCA, secrets scanning, or IaC scanning.</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Time to patch zero-day vulnerabilities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Measure time from vendor disclosure of zero day to patch deployment in production.</a:t>
                      </a:r>
                    </a:p>
                  </a:txBody>
                  <a:tcPr marL="0" marR="0" marT="0" marB="0" anchor="ctr"/>
                </a:tc>
                <a:extLst>
                  <a:ext uri="{0D108BD9-81ED-4DB2-BD59-A6C34878D82A}">
                    <a16:rowId xmlns:a16="http://schemas.microsoft.com/office/drawing/2014/main" val="2122573204"/>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Percentage of APIs with business logic testing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Number of APIs with completed business logic abuse </a:t>
                      </a:r>
                      <a:r>
                        <a:rPr lang="en-US" sz="1400" b="0" i="0" u="none" strike="noStrike">
                          <a:solidFill>
                            <a:srgbClr val="333333"/>
                          </a:solidFill>
                          <a:effectLst/>
                          <a:latin typeface="Roboto Condensed Light" panose="02000000000000000000" pitchFamily="2" charset="0"/>
                          <a:ea typeface="Roboto Condensed Light" panose="02000000000000000000" pitchFamily="2" charset="0"/>
                        </a:rPr>
                        <a:t>tests and </a:t>
                      </a: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total APIs in production.</a:t>
                      </a:r>
                    </a:p>
                  </a:txBody>
                  <a:tcPr marL="0" marR="0" marT="0" marB="0" anchor="ctr"/>
                </a:tc>
                <a:extLst>
                  <a:ext uri="{0D108BD9-81ED-4DB2-BD59-A6C34878D82A}">
                    <a16:rowId xmlns:a16="http://schemas.microsoft.com/office/drawing/2014/main" val="739599812"/>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Data exposure events from AI workloads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Count of security events involving PII or sensitive data leaks from AI features, tracked via DLP tools or incident logs.</a:t>
                      </a:r>
                    </a:p>
                  </a:txBody>
                  <a:tcPr marL="0" marR="0" marT="0" marB="0" anchor="ctr"/>
                </a:tc>
                <a:extLst>
                  <a:ext uri="{0D108BD9-81ED-4DB2-BD59-A6C34878D82A}">
                    <a16:rowId xmlns:a16="http://schemas.microsoft.com/office/drawing/2014/main" val="2738808895"/>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Quantum resilience readiness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Percentage of crypto assets inventoried and evaluated for post-quantum readiness.</a:t>
                      </a:r>
                    </a:p>
                  </a:txBody>
                  <a:tcPr marL="0" marR="0" marT="0" marB="0" anchor="ctr"/>
                </a:tc>
                <a:extLst>
                  <a:ext uri="{0D108BD9-81ED-4DB2-BD59-A6C34878D82A}">
                    <a16:rowId xmlns:a16="http://schemas.microsoft.com/office/drawing/2014/main" val="2640798822"/>
                  </a:ext>
                </a:extLst>
              </a:tr>
              <a:tr h="482381">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Insider threat detections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Number of suspicious privileged actions or misuse attempts logged and investigated.</a:t>
                      </a:r>
                    </a:p>
                  </a:txBody>
                  <a:tcPr marL="0" marR="0" marT="0" marB="0" anchor="ctr"/>
                </a:tc>
                <a:extLst>
                  <a:ext uri="{0D108BD9-81ED-4DB2-BD59-A6C34878D82A}">
                    <a16:rowId xmlns:a16="http://schemas.microsoft.com/office/drawing/2014/main" val="484816428"/>
                  </a:ext>
                </a:extLst>
              </a:tr>
            </a:tbl>
          </a:graphicData>
        </a:graphic>
      </p:graphicFrame>
    </p:spTree>
    <p:extLst>
      <p:ext uri="{BB962C8B-B14F-4D97-AF65-F5344CB8AC3E}">
        <p14:creationId xmlns:p14="http://schemas.microsoft.com/office/powerpoint/2010/main" val="2362727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844F4-AC5C-D45B-12F7-8AA8105C87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F80C59-1AA8-D18F-8F08-6B406959B8AB}"/>
              </a:ext>
            </a:extLst>
          </p:cNvPr>
          <p:cNvSpPr>
            <a:spLocks noGrp="1"/>
          </p:cNvSpPr>
          <p:nvPr>
            <p:ph type="title"/>
          </p:nvPr>
        </p:nvSpPr>
        <p:spPr>
          <a:xfrm>
            <a:off x="371474" y="544769"/>
            <a:ext cx="10052685" cy="661862"/>
          </a:xfrm>
        </p:spPr>
        <p:txBody>
          <a:bodyPr/>
          <a:lstStyle/>
          <a:p>
            <a:r>
              <a:rPr lang="en-US" dirty="0"/>
              <a:t>Select metrics</a:t>
            </a:r>
            <a:endParaRPr lang="en-US" dirty="0">
              <a:solidFill>
                <a:schemeClr val="tx1"/>
              </a:solidFill>
            </a:endParaRPr>
          </a:p>
        </p:txBody>
      </p:sp>
      <p:sp>
        <p:nvSpPr>
          <p:cNvPr id="11" name="TextBox 10">
            <a:extLst>
              <a:ext uri="{FF2B5EF4-FFF2-40B4-BE49-F238E27FC236}">
                <a16:creationId xmlns:a16="http://schemas.microsoft.com/office/drawing/2014/main" id="{8BABE32A-C154-4AC8-9D41-2CE997A2CC79}"/>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30</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9" name="Rectangle 8">
            <a:extLst>
              <a:ext uri="{FF2B5EF4-FFF2-40B4-BE49-F238E27FC236}">
                <a16:creationId xmlns:a16="http://schemas.microsoft.com/office/drawing/2014/main" id="{874F66D2-58E1-7611-B14F-05C4B73C843E}"/>
              </a:ext>
            </a:extLst>
          </p:cNvPr>
          <p:cNvSpPr/>
          <p:nvPr/>
        </p:nvSpPr>
        <p:spPr>
          <a:xfrm>
            <a:off x="7684776" y="5651369"/>
            <a:ext cx="36979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a:ea typeface="+mn-ea"/>
                <a:cs typeface="+mn-cs"/>
              </a:rPr>
              <a:t>iSSDLC</a:t>
            </a:r>
            <a:r>
              <a:rPr kumimoji="0" lang="en-US" sz="1200" b="0" i="0" u="none" strike="noStrike" kern="1200" cap="none" spc="0" normalizeH="0" baseline="0" noProof="0" dirty="0">
                <a:ln>
                  <a:noFill/>
                </a:ln>
                <a:solidFill>
                  <a:srgbClr val="FFFFFF"/>
                </a:solidFill>
                <a:effectLst/>
                <a:uLnTx/>
                <a:uFillTx/>
                <a:latin typeface="Exo"/>
                <a:ea typeface="+mn-ea"/>
                <a:cs typeface="+mn-cs"/>
              </a:rPr>
              <a:t> </a:t>
            </a:r>
            <a:r>
              <a:rPr kumimoji="0" lang="en-US" sz="1200" b="0" i="1" u="none" strike="noStrike" kern="1200" cap="none" spc="0" normalizeH="0" baseline="0" noProof="0" dirty="0">
                <a:ln>
                  <a:noFill/>
                </a:ln>
                <a:solidFill>
                  <a:srgbClr val="FFFFFF"/>
                </a:solidFill>
                <a:effectLst/>
                <a:uLnTx/>
                <a:uFillTx/>
                <a:latin typeface="Exo"/>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a:ea typeface="+mn-ea"/>
              <a:cs typeface="+mn-cs"/>
            </a:endParaRPr>
          </a:p>
        </p:txBody>
      </p:sp>
      <p:sp>
        <p:nvSpPr>
          <p:cNvPr id="10" name="Rectangle 9">
            <a:extLst>
              <a:ext uri="{FF2B5EF4-FFF2-40B4-BE49-F238E27FC236}">
                <a16:creationId xmlns:a16="http://schemas.microsoft.com/office/drawing/2014/main" id="{56FD1ED6-5634-B86A-2BA8-420FD337E457}"/>
              </a:ext>
              <a:ext uri="{C183D7F6-B498-43B3-948B-1728B52AA6E4}">
                <adec:decorative xmlns:adec="http://schemas.microsoft.com/office/drawing/2017/decorative" val="1"/>
              </a:ext>
            </a:extLst>
          </p:cNvPr>
          <p:cNvSpPr>
            <a:spLocks noChangeAspect="1"/>
          </p:cNvSpPr>
          <p:nvPr/>
        </p:nvSpPr>
        <p:spPr>
          <a:xfrm>
            <a:off x="7214953" y="5651371"/>
            <a:ext cx="470369"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12" name="Picture 11">
            <a:extLst>
              <a:ext uri="{FF2B5EF4-FFF2-40B4-BE49-F238E27FC236}">
                <a16:creationId xmlns:a16="http://schemas.microsoft.com/office/drawing/2014/main" id="{875B6D88-4D2E-ECBB-9BD1-40F542911D3C}"/>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7325259" y="5751533"/>
            <a:ext cx="260883" cy="262205"/>
          </a:xfrm>
          <a:prstGeom prst="rect">
            <a:avLst/>
          </a:prstGeom>
        </p:spPr>
      </p:pic>
      <p:sp>
        <p:nvSpPr>
          <p:cNvPr id="14" name="TextBox 8">
            <a:extLst>
              <a:ext uri="{FF2B5EF4-FFF2-40B4-BE49-F238E27FC236}">
                <a16:creationId xmlns:a16="http://schemas.microsoft.com/office/drawing/2014/main" id="{6742CF3A-1340-AE0E-C738-9D2AC5DD7C0A}"/>
              </a:ext>
            </a:extLst>
          </p:cNvPr>
          <p:cNvSpPr txBox="1"/>
          <p:nvPr/>
        </p:nvSpPr>
        <p:spPr>
          <a:xfrm>
            <a:off x="310845" y="1536830"/>
            <a:ext cx="6223371" cy="2223686"/>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i="1" dirty="0">
                <a:solidFill>
                  <a:srgbClr val="000000"/>
                </a:solidFill>
                <a:latin typeface="Roboto Condensed Light" panose="02000000000000000000" pitchFamily="2" charset="0"/>
                <a:ea typeface="Roboto Condensed Light" panose="02000000000000000000" pitchFamily="2" charset="0"/>
              </a:rPr>
              <a:t> Capabilities Assessment Tool</a:t>
            </a:r>
            <a:r>
              <a:rPr lang="en-CA" sz="1400" dirty="0">
                <a:solidFill>
                  <a:srgbClr val="000000"/>
                </a:solidFill>
                <a:latin typeface="Roboto Condensed Light" panose="02000000000000000000" pitchFamily="2" charset="0"/>
                <a:ea typeface="Roboto Condensed Light" panose="02000000000000000000" pitchFamily="2" charset="0"/>
              </a:rPr>
              <a:t>,</a:t>
            </a:r>
            <a:r>
              <a:rPr lang="en-CA" sz="1400" i="1" dirty="0">
                <a:solidFill>
                  <a:srgbClr val="000000"/>
                </a:solidFill>
                <a:latin typeface="Roboto Condensed Light" panose="02000000000000000000" pitchFamily="2" charset="0"/>
                <a:ea typeface="Roboto Condensed Light" panose="02000000000000000000" pitchFamily="2" charset="0"/>
              </a:rPr>
              <a:t> </a:t>
            </a:r>
            <a:r>
              <a:rPr lang="en-CA" sz="1400" dirty="0">
                <a:solidFill>
                  <a:srgbClr val="000000"/>
                </a:solidFill>
                <a:latin typeface="Roboto Condensed Light" panose="02000000000000000000" pitchFamily="2" charset="0"/>
                <a:ea typeface="Roboto Condensed Light" panose="02000000000000000000" pitchFamily="2" charset="0"/>
              </a:rPr>
              <a:t>select the Goals tab (Tab 3) to view the list of metrics in cells G28:H42.</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C31:C35, select up to five metrics that can measure the effectiveness of your application security strategic roadmap. Consider some of the following factors to assist in selecting your metrics:</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Strategic alignment with business objectives.</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Urgency and timing of business opportunity.</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Potential ROI and impact across multiple priorities.</a:t>
            </a:r>
          </a:p>
        </p:txBody>
      </p:sp>
      <p:sp>
        <p:nvSpPr>
          <p:cNvPr id="15" name="Right Arrow 18">
            <a:extLst>
              <a:ext uri="{FF2B5EF4-FFF2-40B4-BE49-F238E27FC236}">
                <a16:creationId xmlns:a16="http://schemas.microsoft.com/office/drawing/2014/main" id="{981BE27E-29D2-E948-690D-A567D3E99B63}"/>
              </a:ext>
              <a:ext uri="{C183D7F6-B498-43B3-948B-1728B52AA6E4}">
                <adec:decorative xmlns:adec="http://schemas.microsoft.com/office/drawing/2017/decorative" val="1"/>
              </a:ext>
            </a:extLst>
          </p:cNvPr>
          <p:cNvSpPr/>
          <p:nvPr/>
        </p:nvSpPr>
        <p:spPr>
          <a:xfrm>
            <a:off x="390525" y="4703997"/>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pic>
        <p:nvPicPr>
          <p:cNvPr id="2" name="Picture 1">
            <a:extLst>
              <a:ext uri="{FF2B5EF4-FFF2-40B4-BE49-F238E27FC236}">
                <a16:creationId xmlns:a16="http://schemas.microsoft.com/office/drawing/2014/main" id="{10DD5C7D-3E74-A171-9D87-36FA044DC621}"/>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6905625" y="1118571"/>
            <a:ext cx="4671598" cy="4159464"/>
          </a:xfrm>
          <a:prstGeom prst="rect">
            <a:avLst/>
          </a:prstGeom>
        </p:spPr>
      </p:pic>
      <p:pic>
        <p:nvPicPr>
          <p:cNvPr id="4" name="Picture 3">
            <a:extLst>
              <a:ext uri="{FF2B5EF4-FFF2-40B4-BE49-F238E27FC236}">
                <a16:creationId xmlns:a16="http://schemas.microsoft.com/office/drawing/2014/main" id="{0601BBD2-E654-A4F2-BE41-0BC2778BA196}"/>
              </a:ext>
            </a:extLst>
          </p:cNvPr>
          <p:cNvPicPr>
            <a:picLocks noChangeAspect="1"/>
          </p:cNvPicPr>
          <p:nvPr/>
        </p:nvPicPr>
        <p:blipFill>
          <a:blip r:embed="rId6" cstate="print">
            <a:extLst>
              <a:ext uri="{28A0092B-C50C-407E-A947-70E740481C1C}">
                <a14:useLocalDpi xmlns:a14="http://schemas.microsoft.com/office/drawing/2010/main"/>
              </a:ext>
            </a:extLst>
          </a:blip>
          <a:srcRect/>
          <a:stretch>
            <a:fillRect/>
          </a:stretch>
        </p:blipFill>
        <p:spPr>
          <a:xfrm>
            <a:off x="1488516" y="3902403"/>
            <a:ext cx="3854173" cy="2751264"/>
          </a:xfrm>
          <a:prstGeom prst="rect">
            <a:avLst/>
          </a:prstGeom>
        </p:spPr>
      </p:pic>
    </p:spTree>
    <p:extLst>
      <p:ext uri="{BB962C8B-B14F-4D97-AF65-F5344CB8AC3E}">
        <p14:creationId xmlns:p14="http://schemas.microsoft.com/office/powerpoint/2010/main" val="15834415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5EF4E-B068-0D68-E727-2C88F66D9B2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C2F2DC-6238-4326-0EC0-DCC8065A881C}"/>
              </a:ext>
            </a:extLst>
          </p:cNvPr>
          <p:cNvSpPr>
            <a:spLocks noGrp="1"/>
          </p:cNvSpPr>
          <p:nvPr>
            <p:ph type="title"/>
          </p:nvPr>
        </p:nvSpPr>
        <p:spPr>
          <a:xfrm>
            <a:off x="371475" y="544769"/>
            <a:ext cx="10422216" cy="661862"/>
          </a:xfrm>
        </p:spPr>
        <p:txBody>
          <a:bodyPr/>
          <a:lstStyle/>
          <a:p>
            <a:r>
              <a:rPr lang="en-US" dirty="0">
                <a:solidFill>
                  <a:schemeClr val="accent1"/>
                </a:solidFill>
              </a:rPr>
              <a:t>1.3.1 </a:t>
            </a:r>
            <a:r>
              <a:rPr lang="en-US" dirty="0">
                <a:solidFill>
                  <a:schemeClr val="tx1"/>
                </a:solidFill>
              </a:rPr>
              <a:t>Document baseline metrics</a:t>
            </a:r>
            <a:r>
              <a:rPr lang="en-US" dirty="0"/>
              <a:t>​</a:t>
            </a:r>
            <a:endParaRPr lang="en-US" dirty="0">
              <a:solidFill>
                <a:schemeClr val="tx1"/>
              </a:solidFill>
            </a:endParaRPr>
          </a:p>
        </p:txBody>
      </p:sp>
      <p:sp>
        <p:nvSpPr>
          <p:cNvPr id="11" name="TextBox 10">
            <a:extLst>
              <a:ext uri="{FF2B5EF4-FFF2-40B4-BE49-F238E27FC236}">
                <a16:creationId xmlns:a16="http://schemas.microsoft.com/office/drawing/2014/main" id="{1A623C87-2DB4-8777-7340-E6C60A4E2C16}"/>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31</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6" name="TextBox 8">
            <a:extLst>
              <a:ext uri="{FF2B5EF4-FFF2-40B4-BE49-F238E27FC236}">
                <a16:creationId xmlns:a16="http://schemas.microsoft.com/office/drawing/2014/main" id="{247CBF7D-1AE3-FD1A-E87C-7D041DE3FEDF}"/>
              </a:ext>
            </a:extLst>
          </p:cNvPr>
          <p:cNvSpPr txBox="1"/>
          <p:nvPr/>
        </p:nvSpPr>
        <p:spPr>
          <a:xfrm>
            <a:off x="371475" y="1863976"/>
            <a:ext cx="4368691" cy="3239348"/>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US" sz="1600" dirty="0">
                <a:solidFill>
                  <a:srgbClr val="000000"/>
                </a:solidFill>
                <a:latin typeface="Roboto Condensed Light" panose="02000000000000000000" pitchFamily="2" charset="0"/>
                <a:ea typeface="Roboto Condensed Light" panose="02000000000000000000" pitchFamily="2" charset="0"/>
              </a:rPr>
              <a:t>Along with establishing key metrics to assess the effectiveness of your iSSDLC strategic initiatives, it is important to develop their baseline metrics to assess your improvements.</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6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600" dirty="0">
                <a:solidFill>
                  <a:srgbClr val="000000"/>
                </a:solidFill>
                <a:latin typeface="Roboto Condensed Light" panose="02000000000000000000" pitchFamily="2" charset="0"/>
                <a:ea typeface="Roboto Condensed Light" panose="02000000000000000000" pitchFamily="2" charset="0"/>
              </a:rPr>
              <a:t>In the </a:t>
            </a:r>
            <a:r>
              <a:rPr lang="en-CA" sz="1600" i="1" dirty="0">
                <a:solidFill>
                  <a:srgbClr val="000000"/>
                </a:solidFill>
                <a:latin typeface="Roboto Condensed Light" panose="02000000000000000000" pitchFamily="2" charset="0"/>
                <a:ea typeface="Roboto Condensed Light" panose="02000000000000000000" pitchFamily="2" charset="0"/>
              </a:rPr>
              <a:t>iSSDLC Strategic Plan Template, </a:t>
            </a:r>
            <a:r>
              <a:rPr lang="en-CA" sz="1600" dirty="0">
                <a:solidFill>
                  <a:srgbClr val="000000"/>
                </a:solidFill>
                <a:latin typeface="Roboto Condensed Light" panose="02000000000000000000" pitchFamily="2" charset="0"/>
                <a:ea typeface="Roboto Condensed Light" panose="02000000000000000000" pitchFamily="2" charset="0"/>
              </a:rPr>
              <a:t>slide 13 provides examples of charts that can be leveraged to visualize your metrics.</a:t>
            </a:r>
          </a:p>
          <a:p>
            <a:pPr lvl="0" defTabSz="914400">
              <a:spcBef>
                <a:spcPts val="300"/>
              </a:spcBef>
              <a:defRPr sz="1800" b="0" i="0" u="none" strike="noStrike" kern="0" cap="none" spc="0" baseline="0">
                <a:solidFill>
                  <a:srgbClr val="000000"/>
                </a:solidFill>
                <a:uFillTx/>
              </a:defRPr>
            </a:pPr>
            <a:endParaRPr lang="en-CA" sz="16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6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600" dirty="0">
                <a:solidFill>
                  <a:srgbClr val="000000"/>
                </a:solidFill>
                <a:latin typeface="Roboto Condensed Light" panose="02000000000000000000" pitchFamily="2" charset="0"/>
                <a:ea typeface="Roboto Condensed Light" panose="02000000000000000000" pitchFamily="2" charset="0"/>
              </a:rPr>
              <a:t>To customize the chart, right-click on it and select “Edit data” to update the figures, titles, and chart type.</a:t>
            </a:r>
          </a:p>
        </p:txBody>
      </p:sp>
      <p:pic>
        <p:nvPicPr>
          <p:cNvPr id="5" name="Picture 4">
            <a:extLst>
              <a:ext uri="{FF2B5EF4-FFF2-40B4-BE49-F238E27FC236}">
                <a16:creationId xmlns:a16="http://schemas.microsoft.com/office/drawing/2014/main" id="{91AAA8D9-F4F3-C2D9-4879-D6ECBB6E9BA8}"/>
              </a:ext>
            </a:extLst>
          </p:cNvPr>
          <p:cNvPicPr>
            <a:picLocks noChangeAspect="1"/>
          </p:cNvPicPr>
          <p:nvPr/>
        </p:nvPicPr>
        <p:blipFill>
          <a:blip r:embed="rId3"/>
          <a:stretch>
            <a:fillRect/>
          </a:stretch>
        </p:blipFill>
        <p:spPr>
          <a:xfrm>
            <a:off x="4740166" y="1663516"/>
            <a:ext cx="7404792" cy="4329166"/>
          </a:xfrm>
          <a:prstGeom prst="rect">
            <a:avLst/>
          </a:prstGeom>
        </p:spPr>
      </p:pic>
    </p:spTree>
    <p:extLst>
      <p:ext uri="{BB962C8B-B14F-4D97-AF65-F5344CB8AC3E}">
        <p14:creationId xmlns:p14="http://schemas.microsoft.com/office/powerpoint/2010/main" val="3486274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E17BE-F4CC-D427-6340-A4FB0513AE0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D18285-7FB6-B376-2A54-EBDD827BF3EC}"/>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sp>
        <p:nvSpPr>
          <p:cNvPr id="3" name="Title 2">
            <a:extLst>
              <a:ext uri="{FF2B5EF4-FFF2-40B4-BE49-F238E27FC236}">
                <a16:creationId xmlns:a16="http://schemas.microsoft.com/office/drawing/2014/main" id="{6AD0F367-D0C3-92E1-47C7-9D893A6CD674}"/>
              </a:ext>
            </a:extLst>
          </p:cNvPr>
          <p:cNvSpPr>
            <a:spLocks noGrp="1"/>
          </p:cNvSpPr>
          <p:nvPr>
            <p:ph type="title"/>
          </p:nvPr>
        </p:nvSpPr>
        <p:spPr>
          <a:xfrm>
            <a:off x="354106" y="544769"/>
            <a:ext cx="6668863" cy="1130188"/>
          </a:xfrm>
        </p:spPr>
        <p:txBody>
          <a:bodyPr/>
          <a:lstStyle/>
          <a:p>
            <a:r>
              <a:rPr lang="en-US" dirty="0">
                <a:solidFill>
                  <a:srgbClr val="2576B7"/>
                </a:solidFill>
              </a:rPr>
              <a:t>1.4 </a:t>
            </a:r>
            <a:r>
              <a:rPr lang="en-CA" dirty="0">
                <a:solidFill>
                  <a:schemeClr val="tx1"/>
                </a:solidFill>
              </a:rPr>
              <a:t>Assign roles and responsibilities</a:t>
            </a:r>
            <a:endParaRPr lang="en-US" dirty="0">
              <a:solidFill>
                <a:schemeClr val="tx1"/>
              </a:solidFill>
            </a:endParaRPr>
          </a:p>
        </p:txBody>
      </p:sp>
      <p:sp>
        <p:nvSpPr>
          <p:cNvPr id="4" name="Text Placeholder 3">
            <a:extLst>
              <a:ext uri="{FF2B5EF4-FFF2-40B4-BE49-F238E27FC236}">
                <a16:creationId xmlns:a16="http://schemas.microsoft.com/office/drawing/2014/main" id="{A2BA5B00-8DA6-4200-6FFD-F15C12FE147E}"/>
              </a:ext>
            </a:extLst>
          </p:cNvPr>
          <p:cNvSpPr>
            <a:spLocks noGrp="1"/>
          </p:cNvSpPr>
          <p:nvPr>
            <p:ph type="body" sz="quarter" idx="11"/>
          </p:nvPr>
        </p:nvSpPr>
        <p:spPr>
          <a:xfrm>
            <a:off x="354106" y="1706043"/>
            <a:ext cx="4116208" cy="304974"/>
          </a:xfrm>
        </p:spPr>
        <p:txBody>
          <a:bodyPr/>
          <a:lstStyle/>
          <a:p>
            <a:r>
              <a:rPr lang="en-US" sz="1600" dirty="0">
                <a:latin typeface="Exo" panose="02000503000000000000" pitchFamily="2" charset="77"/>
              </a:rPr>
              <a:t>3 hours</a:t>
            </a:r>
          </a:p>
        </p:txBody>
      </p:sp>
      <p:graphicFrame>
        <p:nvGraphicFramePr>
          <p:cNvPr id="38" name="Table 37">
            <a:extLst>
              <a:ext uri="{FF2B5EF4-FFF2-40B4-BE49-F238E27FC236}">
                <a16:creationId xmlns:a16="http://schemas.microsoft.com/office/drawing/2014/main" id="{A44F9D2C-98A7-D0AE-20AC-B2B4A3452704}"/>
              </a:ext>
            </a:extLst>
          </p:cNvPr>
          <p:cNvGraphicFramePr>
            <a:graphicFrameLocks noGrp="1"/>
          </p:cNvGraphicFramePr>
          <p:nvPr>
            <p:extLst>
              <p:ext uri="{D42A27DB-BD31-4B8C-83A1-F6EECF244321}">
                <p14:modId xmlns:p14="http://schemas.microsoft.com/office/powerpoint/2010/main" val="1031389899"/>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Brainstorm stakeholders</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Define roles and responsibilities across governance functions</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RACI chart</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Whiteboard</a:t>
                      </a:r>
                    </a:p>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err="1">
                          <a:solidFill>
                            <a:srgbClr val="000000"/>
                          </a:solidFill>
                          <a:uFillTx/>
                          <a:latin typeface="Roboto Condensed Light" panose="02000000000000000000" pitchFamily="2" charset="0"/>
                          <a:ea typeface="Roboto Condensed Light" panose="02000000000000000000" pitchFamily="2" charset="0"/>
                        </a:rPr>
                        <a:t>iSSDLC</a:t>
                      </a: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 strategy deck</a:t>
                      </a: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Others to be determined</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11" name="TextBox 10">
            <a:extLst>
              <a:ext uri="{FF2B5EF4-FFF2-40B4-BE49-F238E27FC236}">
                <a16:creationId xmlns:a16="http://schemas.microsoft.com/office/drawing/2014/main" id="{12783EA5-DA21-D172-4686-1FF003EA05BD}"/>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32</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5" name="Rectangle 4">
            <a:extLst>
              <a:ext uri="{FF2B5EF4-FFF2-40B4-BE49-F238E27FC236}">
                <a16:creationId xmlns:a16="http://schemas.microsoft.com/office/drawing/2014/main" id="{4B943D7B-33A4-A478-F6E9-31C9624A5DD2}"/>
              </a:ext>
            </a:extLst>
          </p:cNvPr>
          <p:cNvSpPr/>
          <p:nvPr/>
        </p:nvSpPr>
        <p:spPr>
          <a:xfrm>
            <a:off x="958156" y="5845229"/>
            <a:ext cx="36979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a:ea typeface="+mn-ea"/>
                <a:cs typeface="+mn-cs"/>
              </a:rPr>
              <a:t>iSSDLC</a:t>
            </a:r>
            <a:r>
              <a:rPr kumimoji="0" lang="en-US" sz="1200" b="0" i="0" u="none" strike="noStrike" kern="1200" cap="none" spc="0" normalizeH="0" baseline="0" noProof="0" dirty="0">
                <a:ln>
                  <a:noFill/>
                </a:ln>
                <a:solidFill>
                  <a:srgbClr val="FFFFFF"/>
                </a:solidFill>
                <a:effectLst/>
                <a:uLnTx/>
                <a:uFillTx/>
                <a:latin typeface="Exo"/>
                <a:ea typeface="+mn-ea"/>
                <a:cs typeface="+mn-cs"/>
              </a:rPr>
              <a:t> </a:t>
            </a:r>
            <a:r>
              <a:rPr kumimoji="0" lang="en-US" sz="1200" b="0" i="1" u="none" strike="noStrike" kern="1200" cap="none" spc="0" normalizeH="0" baseline="0" noProof="0" dirty="0">
                <a:ln>
                  <a:noFill/>
                </a:ln>
                <a:solidFill>
                  <a:srgbClr val="FFFFFF"/>
                </a:solidFill>
                <a:effectLst/>
                <a:uLnTx/>
                <a:uFillTx/>
                <a:latin typeface="Exo"/>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a:ea typeface="+mn-ea"/>
              <a:cs typeface="+mn-cs"/>
            </a:endParaRPr>
          </a:p>
        </p:txBody>
      </p:sp>
      <p:sp>
        <p:nvSpPr>
          <p:cNvPr id="6" name="Rectangle 5">
            <a:extLst>
              <a:ext uri="{FF2B5EF4-FFF2-40B4-BE49-F238E27FC236}">
                <a16:creationId xmlns:a16="http://schemas.microsoft.com/office/drawing/2014/main" id="{40B1B2B9-FC0B-58F8-7551-F7AD69B8A35D}"/>
              </a:ext>
              <a:ext uri="{C183D7F6-B498-43B3-948B-1728B52AA6E4}">
                <adec:decorative xmlns:adec="http://schemas.microsoft.com/office/drawing/2017/decorative" val="1"/>
              </a:ext>
            </a:extLst>
          </p:cNvPr>
          <p:cNvSpPr>
            <a:spLocks noChangeAspect="1"/>
          </p:cNvSpPr>
          <p:nvPr/>
        </p:nvSpPr>
        <p:spPr>
          <a:xfrm>
            <a:off x="488333" y="5845231"/>
            <a:ext cx="470369"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7" name="Picture 6">
            <a:extLst>
              <a:ext uri="{FF2B5EF4-FFF2-40B4-BE49-F238E27FC236}">
                <a16:creationId xmlns:a16="http://schemas.microsoft.com/office/drawing/2014/main" id="{DF4C2A9A-44E3-13CA-9060-248242DB9272}"/>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598639" y="5945393"/>
            <a:ext cx="260883" cy="262205"/>
          </a:xfrm>
          <a:prstGeom prst="rect">
            <a:avLst/>
          </a:prstGeom>
        </p:spPr>
      </p:pic>
      <p:sp>
        <p:nvSpPr>
          <p:cNvPr id="9" name="TextBox 8">
            <a:extLst>
              <a:ext uri="{FF2B5EF4-FFF2-40B4-BE49-F238E27FC236}">
                <a16:creationId xmlns:a16="http://schemas.microsoft.com/office/drawing/2014/main" id="{B0AC0A66-E7F6-19D9-2995-E3E03214A059}"/>
              </a:ext>
            </a:extLst>
          </p:cNvPr>
          <p:cNvSpPr txBox="1"/>
          <p:nvPr/>
        </p:nvSpPr>
        <p:spPr>
          <a:xfrm>
            <a:off x="354106" y="2290520"/>
            <a:ext cx="5725319" cy="2276960"/>
          </a:xfrm>
          <a:prstGeom prst="rect">
            <a:avLst/>
          </a:prstGeom>
        </p:spPr>
        <p:txBody>
          <a:bodyPr wrap="square" lIns="0" tIns="0" rIns="0" bIns="0" numCol="1" spcCol="360000" rtlCol="0">
            <a:noAutofit/>
          </a:bodyPr>
          <a:lstStyle/>
          <a:p>
            <a:pPr>
              <a:spcBef>
                <a:spcPts val="300"/>
              </a:spcBef>
              <a:spcAft>
                <a:spcPts val="1200"/>
              </a:spcAft>
              <a:defRPr sz="1800" b="0" i="0" u="none" strike="noStrike" kern="0" cap="none" spc="0" baseline="0">
                <a:solidFill>
                  <a:srgbClr val="000000"/>
                </a:solidFill>
                <a:uFillTx/>
              </a:defRPr>
            </a:pPr>
            <a:r>
              <a:rPr lang="en-CA" sz="1400" b="1" dirty="0">
                <a:latin typeface="Roboto Condensed Light" panose="02000000000000000000" pitchFamily="2" charset="0"/>
                <a:ea typeface="Roboto Condensed Light" panose="02000000000000000000" pitchFamily="2" charset="0"/>
                <a:cs typeface="Roboto Condensed Light" panose="02000000000000000000" pitchFamily="2" charset="0"/>
              </a:rPr>
              <a:t>Gather the required participants and use a whiteboard along with the dedicated slide on the </a:t>
            </a:r>
            <a:r>
              <a:rPr lang="en-CA" sz="1400" b="1" dirty="0" err="1">
                <a:latin typeface="Roboto Condensed Light" panose="02000000000000000000" pitchFamily="2" charset="0"/>
                <a:ea typeface="Roboto Condensed Light" panose="02000000000000000000" pitchFamily="2" charset="0"/>
                <a:cs typeface="Roboto Condensed Light" panose="02000000000000000000" pitchFamily="2" charset="0"/>
              </a:rPr>
              <a:t>iSSDLC</a:t>
            </a:r>
            <a:r>
              <a:rPr lang="en-CA" sz="1400" b="1" dirty="0">
                <a:latin typeface="Roboto Condensed Light" panose="02000000000000000000" pitchFamily="2" charset="0"/>
                <a:ea typeface="Roboto Condensed Light" panose="02000000000000000000" pitchFamily="2" charset="0"/>
                <a:cs typeface="Roboto Condensed Light" panose="02000000000000000000" pitchFamily="2" charset="0"/>
              </a:rPr>
              <a:t> strategy deck to develop a RACI chart. You will be able to: </a:t>
            </a: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latin typeface="Roboto Condensed Light" panose="02000000000000000000" pitchFamily="2" charset="0"/>
                <a:ea typeface="Roboto Condensed Light" panose="02000000000000000000" pitchFamily="2" charset="0"/>
                <a:cs typeface="Roboto Condensed Light" panose="02000000000000000000" pitchFamily="2" charset="0"/>
              </a:rPr>
              <a:t>Identify stakeholders. </a:t>
            </a:r>
            <a:r>
              <a:rPr lang="en-US" sz="1400" kern="0" dirty="0">
                <a:latin typeface="Roboto Condensed Light" panose="02000000000000000000" pitchFamily="2" charset="0"/>
                <a:ea typeface="Roboto Condensed Light" panose="02000000000000000000" pitchFamily="2" charset="0"/>
                <a:cs typeface="Roboto Condensed Light" panose="02000000000000000000" pitchFamily="2" charset="0"/>
              </a:rPr>
              <a:t>Identify the right stakeholders as part of your application security governance initiative. This might include security leaders, application managers, and governance and risk management functions.</a:t>
            </a:r>
          </a:p>
          <a:p>
            <a:pPr marL="342900" indent="-342900">
              <a:spcBef>
                <a:spcPts val="500"/>
              </a:spcBef>
              <a:buFont typeface="+mj-lt"/>
              <a:buAutoNum type="arabicPeriod"/>
              <a:defRPr sz="1800" b="0" i="0" u="none" strike="noStrike" kern="0" cap="none" spc="0" baseline="0">
                <a:solidFill>
                  <a:srgbClr val="000000"/>
                </a:solidFill>
                <a:uFillTx/>
              </a:defRPr>
            </a:pPr>
            <a:r>
              <a:rPr lang="en-US" sz="1400" kern="0" dirty="0">
                <a:latin typeface="Roboto Condensed Light" panose="02000000000000000000" pitchFamily="2" charset="0"/>
                <a:ea typeface="Roboto Condensed Light" panose="02000000000000000000" pitchFamily="2" charset="0"/>
                <a:cs typeface="Roboto Condensed Light" panose="02000000000000000000" pitchFamily="2" charset="0"/>
              </a:rPr>
              <a:t>Define clear roles and responsibilities. Ensure each role is assigned an appropriate responsibility with respect to the application security governance functions.</a:t>
            </a:r>
          </a:p>
          <a:p>
            <a:pPr marL="342900" indent="-342900">
              <a:spcBef>
                <a:spcPts val="500"/>
              </a:spcBef>
              <a:buFont typeface="+mj-lt"/>
              <a:buAutoNum type="arabicPeriod"/>
              <a:defRPr sz="1800" b="0" i="0" u="none" strike="noStrike" kern="0" cap="none" spc="0" baseline="0">
                <a:solidFill>
                  <a:srgbClr val="000000"/>
                </a:solidFill>
                <a:uFillTx/>
              </a:defRPr>
            </a:pPr>
            <a:r>
              <a:rPr lang="en-US" sz="1400" kern="0" dirty="0">
                <a:latin typeface="Roboto Condensed Light" panose="02000000000000000000" pitchFamily="2" charset="0"/>
                <a:ea typeface="Roboto Condensed Light" panose="02000000000000000000" pitchFamily="2" charset="0"/>
                <a:cs typeface="Roboto Condensed Light" panose="02000000000000000000" pitchFamily="2" charset="0"/>
              </a:rPr>
              <a:t>Document the RACI chart. Document the chart on slide 20 of the </a:t>
            </a:r>
            <a:r>
              <a:rPr lang="en-US" sz="1400" kern="0" dirty="0" err="1">
                <a:latin typeface="Roboto Condensed Light" panose="02000000000000000000" pitchFamily="2" charset="0"/>
                <a:ea typeface="Roboto Condensed Light" panose="02000000000000000000" pitchFamily="2" charset="0"/>
                <a:cs typeface="Roboto Condensed Light" panose="02000000000000000000" pitchFamily="2" charset="0"/>
              </a:rPr>
              <a:t>iSSDLC</a:t>
            </a:r>
            <a:r>
              <a:rPr lang="en-US" sz="1400" kern="0" dirty="0">
                <a:latin typeface="Roboto Condensed Light" panose="02000000000000000000" pitchFamily="2" charset="0"/>
                <a:ea typeface="Roboto Condensed Light" panose="02000000000000000000" pitchFamily="2" charset="0"/>
                <a:cs typeface="Roboto Condensed Light" panose="02000000000000000000" pitchFamily="2" charset="0"/>
              </a:rPr>
              <a:t> strategy deck.</a:t>
            </a:r>
          </a:p>
          <a:p>
            <a:pPr>
              <a:spcBef>
                <a:spcPts val="1200"/>
              </a:spcBef>
              <a:defRPr sz="1800" b="0" i="0" u="none" strike="noStrike" kern="0" cap="none" spc="0" baseline="0">
                <a:solidFill>
                  <a:srgbClr val="000000"/>
                </a:solidFill>
                <a:uFillTx/>
              </a:defRPr>
            </a:pPr>
            <a:r>
              <a:rPr lang="en-CA" sz="1400" dirty="0">
                <a:latin typeface="Roboto Condensed Light" panose="02000000000000000000" pitchFamily="2" charset="0"/>
                <a:ea typeface="Roboto Condensed Light" panose="02000000000000000000" pitchFamily="2" charset="0"/>
                <a:cs typeface="Roboto Condensed Light" panose="02000000000000000000" pitchFamily="2" charset="0"/>
              </a:rPr>
              <a:t>The following slides provide more information on this step.</a:t>
            </a:r>
            <a:endParaRPr lang="en-US" sz="1400" b="1" kern="0" dirty="0">
              <a:latin typeface="Roboto Condensed Light" panose="02000000000000000000" pitchFamily="2" charset="0"/>
              <a:ea typeface="Roboto Condensed Light" panose="02000000000000000000" pitchFamily="2" charset="0"/>
              <a:cs typeface="Roboto Condensed Light" panose="02000000000000000000" pitchFamily="2" charset="0"/>
            </a:endParaRPr>
          </a:p>
        </p:txBody>
      </p:sp>
    </p:spTree>
    <p:extLst>
      <p:ext uri="{BB962C8B-B14F-4D97-AF65-F5344CB8AC3E}">
        <p14:creationId xmlns:p14="http://schemas.microsoft.com/office/powerpoint/2010/main" val="719549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164E5-E10D-8033-9A74-567EFA2567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4CB175-1C79-EFD6-E921-5500ED5D7DD9}"/>
              </a:ext>
            </a:extLst>
          </p:cNvPr>
          <p:cNvSpPr>
            <a:spLocks noGrp="1"/>
          </p:cNvSpPr>
          <p:nvPr>
            <p:ph type="title"/>
          </p:nvPr>
        </p:nvSpPr>
        <p:spPr>
          <a:xfrm>
            <a:off x="354107" y="544769"/>
            <a:ext cx="11542520" cy="661862"/>
          </a:xfrm>
        </p:spPr>
        <p:txBody>
          <a:bodyPr/>
          <a:lstStyle/>
          <a:p>
            <a:r>
              <a:rPr lang="en-US" dirty="0">
                <a:solidFill>
                  <a:schemeClr val="tx1"/>
                </a:solidFill>
              </a:rPr>
              <a:t>Complete the RACI matrix</a:t>
            </a:r>
          </a:p>
        </p:txBody>
      </p:sp>
      <p:sp>
        <p:nvSpPr>
          <p:cNvPr id="2" name="TextBox 1">
            <a:extLst>
              <a:ext uri="{FF2B5EF4-FFF2-40B4-BE49-F238E27FC236}">
                <a16:creationId xmlns:a16="http://schemas.microsoft.com/office/drawing/2014/main" id="{36167332-744B-2004-7A0F-ADE7458B7458}"/>
              </a:ext>
            </a:extLst>
          </p:cNvPr>
          <p:cNvSpPr txBox="1"/>
          <p:nvPr/>
        </p:nvSpPr>
        <p:spPr>
          <a:xfrm>
            <a:off x="354108" y="1464526"/>
            <a:ext cx="5562444" cy="1754326"/>
          </a:xfrm>
          <a:prstGeom prst="rect">
            <a:avLst/>
          </a:prstGeom>
        </p:spPr>
        <p:txBody>
          <a:bodyPr wrap="square" rtlCol="0">
            <a:spAutoFit/>
          </a:bodyPr>
          <a:lstStyle/>
          <a:p>
            <a:pPr marL="171450" marR="0" lvl="0" indent="-171450" algn="l" defTabSz="554492"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Use slide 20 of the </a:t>
            </a:r>
            <a:r>
              <a:rPr kumimoji="0" lang="en-US" sz="1400" b="0" i="1" u="none" strike="noStrike" kern="1200" cap="none" spc="0" normalizeH="0" baseline="0" noProof="0" dirty="0" err="1">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iSSDLC</a:t>
            </a:r>
            <a:r>
              <a:rPr kumimoji="0" lang="en-US" sz="1400" b="0" i="1"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 Strategic Plan </a:t>
            </a:r>
            <a:r>
              <a:rPr lang="en-US" sz="1400" i="1" dirty="0">
                <a:solidFill>
                  <a:srgbClr val="000000"/>
                </a:solidFill>
                <a:latin typeface="Roboto Condensed Light" panose="02000000000000000000" pitchFamily="2" charset="0"/>
                <a:ea typeface="Roboto Condensed Light" panose="02000000000000000000" pitchFamily="2" charset="0"/>
              </a:rPr>
              <a:t>T</a:t>
            </a:r>
            <a:r>
              <a:rPr kumimoji="0" lang="en-US" sz="1400" b="0" i="1" u="none" strike="noStrike" kern="1200" cap="none" spc="0" normalizeH="0" baseline="0" noProof="0" dirty="0" err="1">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emplate</a:t>
            </a:r>
            <a:r>
              <a:rPr lang="en-US" sz="1400" i="1" dirty="0">
                <a:solidFill>
                  <a:srgbClr val="000000"/>
                </a:solidFill>
                <a:latin typeface="Roboto Condensed Light" panose="02000000000000000000" pitchFamily="2" charset="0"/>
                <a:ea typeface="Roboto Condensed Light" panose="02000000000000000000" pitchFamily="2" charset="0"/>
              </a:rPr>
              <a:t> </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to complete the Responsible/Accountable/Consulted/Informed (RACI) matrix.</a:t>
            </a:r>
          </a:p>
          <a:p>
            <a:pPr marL="171450" marR="0" lvl="0" indent="-171450" algn="l" defTabSz="554492"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Add additional roles, if required, by creating additional columns.</a:t>
            </a:r>
          </a:p>
          <a:p>
            <a:pPr marL="171450" marR="0" lvl="0" indent="-171450" algn="l" defTabSz="554492"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With all participants in the workshop, brainstorm the different steps within the process and customize the matrix.</a:t>
            </a:r>
          </a:p>
          <a:p>
            <a:pPr marL="171450" marR="0" lvl="0" indent="-171450" algn="l" defTabSz="554492"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Modify, remove, or delete governance function as required. </a:t>
            </a:r>
          </a:p>
          <a:p>
            <a:pPr marL="171450" marR="0" lvl="0" indent="-171450" algn="l" defTabSz="554492"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Change the responsibilities as required for your organization.</a:t>
            </a:r>
          </a:p>
        </p:txBody>
      </p:sp>
      <p:sp>
        <p:nvSpPr>
          <p:cNvPr id="4" name="TextBox 3">
            <a:extLst>
              <a:ext uri="{FF2B5EF4-FFF2-40B4-BE49-F238E27FC236}">
                <a16:creationId xmlns:a16="http://schemas.microsoft.com/office/drawing/2014/main" id="{22D41DF8-49A8-14AF-E36A-09BB7DA05BB7}"/>
              </a:ext>
            </a:extLst>
          </p:cNvPr>
          <p:cNvSpPr txBox="1"/>
          <p:nvPr/>
        </p:nvSpPr>
        <p:spPr>
          <a:xfrm>
            <a:off x="354107" y="3465879"/>
            <a:ext cx="5409251" cy="2677656"/>
          </a:xfrm>
          <a:prstGeom prst="rect">
            <a:avLst/>
          </a:prstGeom>
        </p:spPr>
        <p:txBody>
          <a:bodyPr wrap="square" rtlCol="0">
            <a:spAutoFit/>
          </a:bodyPr>
          <a:lstStyle/>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576B7"/>
                </a:solidFill>
                <a:effectLst/>
                <a:uLnTx/>
                <a:uFillTx/>
                <a:latin typeface="Montserrat Medium"/>
                <a:ea typeface="Roboto Condensed Light" panose="02000000000000000000" pitchFamily="2" charset="0"/>
                <a:cs typeface="+mn-cs"/>
              </a:rPr>
              <a:t>R = Responsible. </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The person who carries out the activity. Usually, there is only one person responsible, but you can have more.</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p>
            <a:pPr lvl="0">
              <a:defRPr/>
            </a:pPr>
            <a:r>
              <a:rPr kumimoji="0" lang="en-US" sz="1400" b="0" i="0" u="none" strike="noStrike" kern="1200" cap="none" spc="0" normalizeH="0" baseline="0" noProof="0" dirty="0">
                <a:ln>
                  <a:noFill/>
                </a:ln>
                <a:solidFill>
                  <a:srgbClr val="2576B7"/>
                </a:solidFill>
                <a:effectLst/>
                <a:uLnTx/>
                <a:uFillTx/>
                <a:latin typeface="Montserrat Medium"/>
                <a:ea typeface="Roboto Condensed Light" panose="02000000000000000000" pitchFamily="2" charset="0"/>
                <a:cs typeface="+mn-cs"/>
              </a:rPr>
              <a:t>A = Accountable. </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The person who is ultimately accountable for ensuring the activity is complete. There should be </a:t>
            </a:r>
            <a:r>
              <a:rPr lang="en-US" sz="1400" dirty="0">
                <a:solidFill>
                  <a:srgbClr val="000000"/>
                </a:solidFill>
                <a:latin typeface="Roboto Condensed Light" panose="02000000000000000000" pitchFamily="2" charset="0"/>
                <a:ea typeface="Roboto Condensed Light" panose="02000000000000000000" pitchFamily="2" charset="0"/>
              </a:rPr>
              <a:t>only </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one person accountable.</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576B7"/>
                </a:solidFill>
                <a:effectLst/>
                <a:uLnTx/>
                <a:uFillTx/>
                <a:latin typeface="Montserrat Medium"/>
                <a:ea typeface="Roboto Condensed Light" panose="02000000000000000000" pitchFamily="2" charset="0"/>
                <a:cs typeface="+mn-cs"/>
              </a:rPr>
              <a:t>C = Consulted. </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Subject matter experts or affected stakeholders who need to provide input into the activity.</a:t>
            </a:r>
          </a:p>
          <a:p>
            <a:pPr marL="0" marR="0" lvl="0" indent="0" algn="l" defTabSz="554492"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a:p>
            <a:pPr marL="0" marR="0" lvl="0" indent="0" algn="l" defTabSz="554492"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576B7"/>
                </a:solidFill>
                <a:effectLst/>
                <a:uLnTx/>
                <a:uFillTx/>
                <a:latin typeface="Montserrat Medium"/>
                <a:ea typeface="Roboto Condensed Light" panose="02000000000000000000" pitchFamily="2" charset="0"/>
                <a:cs typeface="+mn-cs"/>
              </a:rPr>
              <a:t>I = Informed. </a:t>
            </a:r>
            <a:r>
              <a:rPr kumimoji="0" lang="en-US" sz="1400" b="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Stakeholders who need to be provided with status updates or outcomes.</a:t>
            </a:r>
          </a:p>
        </p:txBody>
      </p:sp>
      <p:sp>
        <p:nvSpPr>
          <p:cNvPr id="11" name="TextBox 10">
            <a:extLst>
              <a:ext uri="{FF2B5EF4-FFF2-40B4-BE49-F238E27FC236}">
                <a16:creationId xmlns:a16="http://schemas.microsoft.com/office/drawing/2014/main" id="{30BF4807-E45F-831F-A1E4-C1111390C6AF}"/>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33</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pic>
        <p:nvPicPr>
          <p:cNvPr id="6" name="Picture 5">
            <a:extLst>
              <a:ext uri="{FF2B5EF4-FFF2-40B4-BE49-F238E27FC236}">
                <a16:creationId xmlns:a16="http://schemas.microsoft.com/office/drawing/2014/main" id="{3BD6D33A-6EC1-C1A2-5395-4C12108178F3}"/>
              </a:ext>
            </a:extLst>
          </p:cNvPr>
          <p:cNvPicPr>
            <a:picLocks noChangeAspect="1"/>
          </p:cNvPicPr>
          <p:nvPr/>
        </p:nvPicPr>
        <p:blipFill>
          <a:blip r:embed="rId3"/>
          <a:stretch>
            <a:fillRect/>
          </a:stretch>
        </p:blipFill>
        <p:spPr>
          <a:xfrm>
            <a:off x="5934136" y="1464526"/>
            <a:ext cx="6259452" cy="3964096"/>
          </a:xfrm>
          <a:prstGeom prst="rect">
            <a:avLst/>
          </a:prstGeom>
        </p:spPr>
      </p:pic>
    </p:spTree>
    <p:extLst>
      <p:ext uri="{BB962C8B-B14F-4D97-AF65-F5344CB8AC3E}">
        <p14:creationId xmlns:p14="http://schemas.microsoft.com/office/powerpoint/2010/main" val="20164526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A9EB671C-0F6A-CF42-8E3C-8155D709DD51}"/>
              </a:ext>
            </a:extLst>
          </p:cNvPr>
          <p:cNvSpPr>
            <a:spLocks noGrp="1"/>
          </p:cNvSpPr>
          <p:nvPr>
            <p:ph type="title"/>
          </p:nvPr>
        </p:nvSpPr>
        <p:spPr>
          <a:xfrm>
            <a:off x="354106" y="530021"/>
            <a:ext cx="8480612" cy="519691"/>
          </a:xfrm>
        </p:spPr>
        <p:txBody>
          <a:bodyPr/>
          <a:lstStyle/>
          <a:p>
            <a:r>
              <a:rPr lang="en-CA" dirty="0"/>
              <a:t>Phase 2</a:t>
            </a:r>
            <a:endParaRPr lang="en-US" dirty="0"/>
          </a:p>
        </p:txBody>
      </p:sp>
      <p:sp>
        <p:nvSpPr>
          <p:cNvPr id="34" name="Text Placeholder 33">
            <a:extLst>
              <a:ext uri="{FF2B5EF4-FFF2-40B4-BE49-F238E27FC236}">
                <a16:creationId xmlns:a16="http://schemas.microsoft.com/office/drawing/2014/main" id="{6D284C46-39FD-3547-8CBC-FB0074A653CD}"/>
              </a:ext>
            </a:extLst>
          </p:cNvPr>
          <p:cNvSpPr>
            <a:spLocks noGrp="1"/>
          </p:cNvSpPr>
          <p:nvPr>
            <p:ph type="body" sz="quarter" idx="11"/>
          </p:nvPr>
        </p:nvSpPr>
        <p:spPr>
          <a:prstGeom prst="rect">
            <a:avLst/>
          </a:prstGeom>
        </p:spPr>
        <p:txBody>
          <a:bodyPr/>
          <a:lstStyle/>
          <a:p>
            <a:r>
              <a:rPr lang="en-CA" dirty="0"/>
              <a:t>Assess Application Security Maturity</a:t>
            </a:r>
          </a:p>
        </p:txBody>
      </p:sp>
      <p:sp>
        <p:nvSpPr>
          <p:cNvPr id="36" name="Text Placeholder 2">
            <a:extLst>
              <a:ext uri="{FF2B5EF4-FFF2-40B4-BE49-F238E27FC236}">
                <a16:creationId xmlns:a16="http://schemas.microsoft.com/office/drawing/2014/main" id="{11020C06-391C-F451-6934-0346B9F8373A}"/>
              </a:ext>
            </a:extLst>
          </p:cNvPr>
          <p:cNvSpPr>
            <a:spLocks noGrp="1"/>
          </p:cNvSpPr>
          <p:nvPr>
            <p:ph type="body" sz="quarter" idx="16"/>
          </p:nvPr>
        </p:nvSpPr>
        <p:spPr>
          <a:xfrm>
            <a:off x="845910" y="3057098"/>
            <a:ext cx="2076769" cy="371902"/>
          </a:xfrm>
          <a:prstGeom prst="rect">
            <a:avLst/>
          </a:prstGeom>
        </p:spPr>
        <p:txBody>
          <a:bodyPr/>
          <a:lstStyle/>
          <a:p>
            <a:r>
              <a:rPr lang="en-US" dirty="0"/>
              <a:t>Phase 1</a:t>
            </a:r>
          </a:p>
        </p:txBody>
      </p:sp>
      <p:sp>
        <p:nvSpPr>
          <p:cNvPr id="8" name="Text Placeholder 3">
            <a:extLst>
              <a:ext uri="{FF2B5EF4-FFF2-40B4-BE49-F238E27FC236}">
                <a16:creationId xmlns:a16="http://schemas.microsoft.com/office/drawing/2014/main" id="{0BCA2E13-BFBB-8E28-A95A-AA1760DA9B8E}"/>
              </a:ext>
            </a:extLst>
          </p:cNvPr>
          <p:cNvSpPr txBox="1">
            <a:spLocks/>
          </p:cNvSpPr>
          <p:nvPr/>
        </p:nvSpPr>
        <p:spPr>
          <a:xfrm>
            <a:off x="974974" y="3400673"/>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 Identify business and security requirements.</a:t>
            </a:r>
          </a:p>
          <a:p>
            <a:r>
              <a:rPr lang="en-US" dirty="0"/>
              <a:t>1.2 Identify goals.</a:t>
            </a:r>
          </a:p>
          <a:p>
            <a:r>
              <a:rPr lang="en-US" dirty="0"/>
              <a:t>1.3 Establish metrics.</a:t>
            </a:r>
          </a:p>
          <a:p>
            <a:r>
              <a:rPr lang="en-US" dirty="0"/>
              <a:t>1.4 Assign roles and responsibilities.</a:t>
            </a:r>
          </a:p>
        </p:txBody>
      </p:sp>
      <p:sp>
        <p:nvSpPr>
          <p:cNvPr id="39" name="Text Placeholder 4">
            <a:extLst>
              <a:ext uri="{FF2B5EF4-FFF2-40B4-BE49-F238E27FC236}">
                <a16:creationId xmlns:a16="http://schemas.microsoft.com/office/drawing/2014/main" id="{B635F5D6-1A99-2C4B-4D2D-2CEA672466F2}"/>
              </a:ext>
            </a:extLst>
          </p:cNvPr>
          <p:cNvSpPr>
            <a:spLocks noGrp="1"/>
          </p:cNvSpPr>
          <p:nvPr>
            <p:ph type="body" sz="quarter" idx="18"/>
          </p:nvPr>
        </p:nvSpPr>
        <p:spPr>
          <a:xfrm>
            <a:off x="3457030" y="3057098"/>
            <a:ext cx="2076769" cy="371902"/>
          </a:xfrm>
          <a:prstGeom prst="rect">
            <a:avLst/>
          </a:prstGeom>
        </p:spPr>
        <p:txBody>
          <a:bodyPr/>
          <a:lstStyle/>
          <a:p>
            <a:r>
              <a:rPr lang="en-US" dirty="0"/>
              <a:t>Phase 2</a:t>
            </a:r>
          </a:p>
        </p:txBody>
      </p:sp>
      <p:sp>
        <p:nvSpPr>
          <p:cNvPr id="9" name="Text Placeholder 5">
            <a:extLst>
              <a:ext uri="{FF2B5EF4-FFF2-40B4-BE49-F238E27FC236}">
                <a16:creationId xmlns:a16="http://schemas.microsoft.com/office/drawing/2014/main" id="{F72C8B97-F523-08F0-7DAF-8DCEBB659E93}"/>
              </a:ext>
            </a:extLst>
          </p:cNvPr>
          <p:cNvSpPr txBox="1">
            <a:spLocks/>
          </p:cNvSpPr>
          <p:nvPr/>
        </p:nvSpPr>
        <p:spPr>
          <a:xfrm>
            <a:off x="3586094" y="3400673"/>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dirty="0"/>
              <a:t>2.1 Assess current application security state.</a:t>
            </a:r>
          </a:p>
          <a:p>
            <a:pPr lvl="0">
              <a:defRPr/>
            </a:pPr>
            <a:r>
              <a:rPr lang="en-US" dirty="0"/>
              <a:t>2.2 Determine target state.</a:t>
            </a:r>
          </a:p>
        </p:txBody>
      </p:sp>
      <p:sp>
        <p:nvSpPr>
          <p:cNvPr id="41" name="Text Placeholder 6">
            <a:extLst>
              <a:ext uri="{FF2B5EF4-FFF2-40B4-BE49-F238E27FC236}">
                <a16:creationId xmlns:a16="http://schemas.microsoft.com/office/drawing/2014/main" id="{EA6CAEE4-8A56-8EB4-C72E-9B47E8928352}"/>
              </a:ext>
            </a:extLst>
          </p:cNvPr>
          <p:cNvSpPr>
            <a:spLocks noGrp="1"/>
          </p:cNvSpPr>
          <p:nvPr>
            <p:ph type="body" sz="quarter" idx="20"/>
          </p:nvPr>
        </p:nvSpPr>
        <p:spPr>
          <a:xfrm>
            <a:off x="6068150" y="3057098"/>
            <a:ext cx="2076769" cy="371902"/>
          </a:xfrm>
          <a:prstGeom prst="rect">
            <a:avLst/>
          </a:prstGeom>
        </p:spPr>
        <p:txBody>
          <a:bodyPr/>
          <a:lstStyle/>
          <a:p>
            <a:r>
              <a:rPr lang="en-US" dirty="0"/>
              <a:t>Phase 3</a:t>
            </a:r>
          </a:p>
        </p:txBody>
      </p:sp>
      <p:sp>
        <p:nvSpPr>
          <p:cNvPr id="10" name="Text Placeholder 7">
            <a:extLst>
              <a:ext uri="{FF2B5EF4-FFF2-40B4-BE49-F238E27FC236}">
                <a16:creationId xmlns:a16="http://schemas.microsoft.com/office/drawing/2014/main" id="{86AF29D9-4E97-C1BB-C482-BE0CCE3DC890}"/>
              </a:ext>
            </a:extLst>
          </p:cNvPr>
          <p:cNvSpPr txBox="1">
            <a:spLocks/>
          </p:cNvSpPr>
          <p:nvPr/>
        </p:nvSpPr>
        <p:spPr>
          <a:xfrm>
            <a:off x="6197214" y="3403208"/>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dirty="0"/>
              <a:t>3.1 Develop and prioritize initiatives.</a:t>
            </a:r>
          </a:p>
          <a:p>
            <a:pPr lvl="0">
              <a:defRPr/>
            </a:pPr>
            <a:r>
              <a:rPr lang="en-US" dirty="0"/>
              <a:t>3.2 Develop roadmap.</a:t>
            </a:r>
          </a:p>
          <a:p>
            <a:pPr lvl="0">
              <a:defRPr/>
            </a:pPr>
            <a:r>
              <a:rPr lang="en-US" dirty="0"/>
              <a:t>3.3 Develop strategy deck.</a:t>
            </a:r>
          </a:p>
        </p:txBody>
      </p:sp>
      <p:sp>
        <p:nvSpPr>
          <p:cNvPr id="44" name="Text Placeholder 103">
            <a:extLst>
              <a:ext uri="{FF2B5EF4-FFF2-40B4-BE49-F238E27FC236}">
                <a16:creationId xmlns:a16="http://schemas.microsoft.com/office/drawing/2014/main" id="{5537DEA5-3699-A4DC-6F6A-2B3B83008D17}"/>
              </a:ext>
            </a:extLst>
          </p:cNvPr>
          <p:cNvSpPr txBox="1">
            <a:spLocks/>
          </p:cNvSpPr>
          <p:nvPr/>
        </p:nvSpPr>
        <p:spPr>
          <a:xfrm>
            <a:off x="9362364" y="466165"/>
            <a:ext cx="2531187" cy="4893486"/>
          </a:xfrm>
          <a:prstGeom prst="rect">
            <a:avLst/>
          </a:prstGeom>
        </p:spPr>
        <p:txBody>
          <a:bodyPr lIns="0" tIns="0" rIns="0" bIns="0" numCol="1" spcCol="360000">
            <a:noAutofit/>
          </a:bodyPr>
          <a:lstStyle>
            <a:lvl1pPr marL="0" indent="0" algn="l" defTabSz="914400" rtl="0" eaLnBrk="1" latinLnBrk="0" hangingPunct="1">
              <a:lnSpc>
                <a:spcPct val="110000"/>
              </a:lnSpc>
              <a:spcBef>
                <a:spcPts val="1000"/>
              </a:spcBef>
              <a:buFont typeface="Arial" panose="020B0604020202020204" pitchFamily="34" charset="0"/>
              <a:buNone/>
              <a:defRPr sz="1200" b="0" i="0" kern="1200">
                <a:solidFill>
                  <a:schemeClr val="bg1"/>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CA"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This phase will walk you through the following activities:</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2.1 Assess current </a:t>
            </a:r>
            <a:r>
              <a:rPr lang="en-US" dirty="0">
                <a:solidFill>
                  <a:srgbClr val="FFFFFF"/>
                </a:solidFill>
              </a:rPr>
              <a:t>a</a:t>
            </a: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pplication security state.</a:t>
            </a:r>
          </a:p>
          <a:p>
            <a:pPr marL="0" marR="0" lvl="0" indent="0" algn="l" defTabSz="914400" rtl="0" eaLnBrk="1" fontAlgn="auto" latinLnBrk="0" hangingPunct="1">
              <a:lnSpc>
                <a:spcPct val="110000"/>
              </a:lnSpc>
              <a:spcBef>
                <a:spcPts val="600"/>
              </a:spcBef>
              <a:spcAft>
                <a:spcPts val="0"/>
              </a:spcAft>
              <a:buClrTx/>
              <a:buSzTx/>
              <a:buFont typeface="Arial" panose="020B0604020202020204" pitchFamily="34" charset="0"/>
              <a:buNone/>
              <a:tabLst/>
              <a:defRPr/>
            </a:pPr>
            <a:r>
              <a:rPr lang="en-US" dirty="0">
                <a:solidFill>
                  <a:srgbClr val="FFFFFF"/>
                </a:solidFill>
              </a:rPr>
              <a:t>2.2 Determine target state.</a:t>
            </a:r>
            <a:endPar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endParaRPr>
          </a:p>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Outcome:</a:t>
            </a: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  </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Defined current and target maturity states</a:t>
            </a:r>
          </a:p>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CA"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This phase involves the following participants: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Information security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IT </a:t>
            </a:r>
            <a:r>
              <a:rPr lang="en-CA" dirty="0" err="1">
                <a:solidFill>
                  <a:srgbClr val="FFFFFF"/>
                </a:solidFill>
              </a:rPr>
              <a:t>ri</a:t>
            </a:r>
            <a:r>
              <a:rPr kumimoji="0" lang="en-CA" sz="1200" b="0" i="0" u="none" strike="noStrike" kern="1200" cap="none" spc="0" normalizeH="0" baseline="0" noProof="0" dirty="0" err="1">
                <a:ln>
                  <a:noFill/>
                </a:ln>
                <a:solidFill>
                  <a:srgbClr val="FFFFFF"/>
                </a:solidFill>
                <a:effectLst/>
                <a:uLnTx/>
                <a:uFillTx/>
                <a:latin typeface="Roboto Condensed Light" panose="02000000000000000000" pitchFamily="2" charset="0"/>
                <a:ea typeface="+mn-ea"/>
              </a:rPr>
              <a:t>sk</a:t>
            </a:r>
            <a:endPar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Privacy </a:t>
            </a:r>
            <a:r>
              <a:rPr lang="en-CA" dirty="0">
                <a:solidFill>
                  <a:srgbClr val="FFFFFF"/>
                </a:solidFill>
              </a:rPr>
              <a:t>and c</a:t>
            </a:r>
            <a:r>
              <a:rPr kumimoji="0" lang="en-CA" sz="1200" b="0" i="0" u="none" strike="noStrike" kern="1200" cap="none" spc="0" normalizeH="0" baseline="0" noProof="0" dirty="0" err="1">
                <a:ln>
                  <a:noFill/>
                </a:ln>
                <a:solidFill>
                  <a:srgbClr val="FFFFFF"/>
                </a:solidFill>
                <a:effectLst/>
                <a:uLnTx/>
                <a:uFillTx/>
                <a:latin typeface="Roboto Condensed Light" panose="02000000000000000000" pitchFamily="2" charset="0"/>
                <a:ea typeface="+mn-ea"/>
              </a:rPr>
              <a:t>ompliance</a:t>
            </a:r>
            <a:endPar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Business</a:t>
            </a:r>
          </a:p>
        </p:txBody>
      </p:sp>
      <p:sp>
        <p:nvSpPr>
          <p:cNvPr id="43" name="Text Placeholder 90">
            <a:extLst>
              <a:ext uri="{FF2B5EF4-FFF2-40B4-BE49-F238E27FC236}">
                <a16:creationId xmlns:a16="http://schemas.microsoft.com/office/drawing/2014/main" id="{826193E2-6BC2-ED41-9F53-B010BED577D4}"/>
              </a:ext>
              <a:ext uri="{C183D7F6-B498-43B3-948B-1728B52AA6E4}">
                <adec:decorative xmlns:adec="http://schemas.microsoft.com/office/drawing/2017/decorative" val="1"/>
              </a:ext>
            </a:extLst>
          </p:cNvPr>
          <p:cNvSpPr txBox="1">
            <a:spLocks/>
          </p:cNvSpPr>
          <p:nvPr/>
        </p:nvSpPr>
        <p:spPr>
          <a:xfrm>
            <a:off x="9362364" y="5359651"/>
            <a:ext cx="2542732" cy="473616"/>
          </a:xfrm>
          <a:prstGeom prst="rect">
            <a:avLst/>
          </a:prstGeom>
        </p:spPr>
        <p:txBody>
          <a:bodyPr lIns="0" tIns="0" rIns="0" bIns="0">
            <a:noAutofit/>
          </a:bodyPr>
          <a:lstStyle>
            <a:lvl1pPr marL="0" indent="0" algn="l" defTabSz="914400" rtl="0" eaLnBrk="1" latinLnBrk="0" hangingPunct="1">
              <a:lnSpc>
                <a:spcPct val="110000"/>
              </a:lnSpc>
              <a:spcBef>
                <a:spcPts val="1000"/>
              </a:spcBef>
              <a:buFont typeface="Arial" panose="020B0604020202020204" pitchFamily="34" charset="0"/>
              <a:buNone/>
              <a:defRPr sz="1600" b="0" i="0" kern="1200">
                <a:solidFill>
                  <a:schemeClr val="bg1"/>
                </a:solidFill>
                <a:latin typeface="Exo" panose="02000503000000000000"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Arial" panose="020B0604020202020204" pitchFamily="34" charset="0"/>
              </a:rPr>
              <a:t>Develop a strategic plan for intelligent application security.</a:t>
            </a:r>
          </a:p>
        </p:txBody>
      </p:sp>
    </p:spTree>
    <p:extLst>
      <p:ext uri="{BB962C8B-B14F-4D97-AF65-F5344CB8AC3E}">
        <p14:creationId xmlns:p14="http://schemas.microsoft.com/office/powerpoint/2010/main" val="357989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C9C29-F1DF-AE00-F0AE-4697C11624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FEF8E1A-32FF-9FCB-E7A7-325A3969C845}"/>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sp>
        <p:nvSpPr>
          <p:cNvPr id="3" name="Title 2">
            <a:extLst>
              <a:ext uri="{FF2B5EF4-FFF2-40B4-BE49-F238E27FC236}">
                <a16:creationId xmlns:a16="http://schemas.microsoft.com/office/drawing/2014/main" id="{C8FF50F9-6382-459A-8485-8DEA48959A88}"/>
              </a:ext>
            </a:extLst>
          </p:cNvPr>
          <p:cNvSpPr>
            <a:spLocks noGrp="1"/>
          </p:cNvSpPr>
          <p:nvPr>
            <p:ph type="title"/>
          </p:nvPr>
        </p:nvSpPr>
        <p:spPr>
          <a:xfrm>
            <a:off x="354106" y="544769"/>
            <a:ext cx="6668863" cy="1130188"/>
          </a:xfrm>
        </p:spPr>
        <p:txBody>
          <a:bodyPr/>
          <a:lstStyle/>
          <a:p>
            <a:r>
              <a:rPr lang="en-US" dirty="0">
                <a:solidFill>
                  <a:srgbClr val="2576B7"/>
                </a:solidFill>
              </a:rPr>
              <a:t>2.1 </a:t>
            </a:r>
            <a:r>
              <a:rPr lang="en-CA" dirty="0">
                <a:solidFill>
                  <a:schemeClr val="tx1"/>
                </a:solidFill>
              </a:rPr>
              <a:t>Assess current state</a:t>
            </a:r>
            <a:endParaRPr lang="en-US" dirty="0">
              <a:solidFill>
                <a:schemeClr val="tx1"/>
              </a:solidFill>
            </a:endParaRPr>
          </a:p>
        </p:txBody>
      </p:sp>
      <p:sp>
        <p:nvSpPr>
          <p:cNvPr id="4" name="Text Placeholder 3">
            <a:extLst>
              <a:ext uri="{FF2B5EF4-FFF2-40B4-BE49-F238E27FC236}">
                <a16:creationId xmlns:a16="http://schemas.microsoft.com/office/drawing/2014/main" id="{6CC4264F-ADF2-23A8-A154-E7C466575808}"/>
              </a:ext>
            </a:extLst>
          </p:cNvPr>
          <p:cNvSpPr>
            <a:spLocks noGrp="1"/>
          </p:cNvSpPr>
          <p:nvPr>
            <p:ph type="body" sz="quarter" idx="11"/>
          </p:nvPr>
        </p:nvSpPr>
        <p:spPr>
          <a:xfrm>
            <a:off x="390083" y="1470806"/>
            <a:ext cx="4116208" cy="304974"/>
          </a:xfrm>
        </p:spPr>
        <p:txBody>
          <a:bodyPr/>
          <a:lstStyle/>
          <a:p>
            <a:r>
              <a:rPr lang="en-US" sz="1600" dirty="0">
                <a:latin typeface="Exo" panose="02000503000000000000" pitchFamily="2" charset="77"/>
              </a:rPr>
              <a:t>6-8 hours</a:t>
            </a:r>
          </a:p>
        </p:txBody>
      </p:sp>
      <p:graphicFrame>
        <p:nvGraphicFramePr>
          <p:cNvPr id="38" name="Table 37">
            <a:extLst>
              <a:ext uri="{FF2B5EF4-FFF2-40B4-BE49-F238E27FC236}">
                <a16:creationId xmlns:a16="http://schemas.microsoft.com/office/drawing/2014/main" id="{1ABB3787-60A2-26C7-08AA-B1FD1AD4CA05}"/>
              </a:ext>
            </a:extLst>
          </p:cNvPr>
          <p:cNvGraphicFramePr>
            <a:graphicFrameLocks noGrp="1"/>
          </p:cNvGraphicFramePr>
          <p:nvPr>
            <p:extLst>
              <p:ext uri="{D42A27DB-BD31-4B8C-83A1-F6EECF244321}">
                <p14:modId xmlns:p14="http://schemas.microsoft.com/office/powerpoint/2010/main" val="3977620767"/>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Maturity stage</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Obtain feedback on responsibilities</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Current state assessment</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i="1" u="none" strike="noStrike" kern="1200" cap="none" spc="0" baseline="0" dirty="0" err="1">
                          <a:solidFill>
                            <a:srgbClr val="000000"/>
                          </a:solidFill>
                          <a:uFillTx/>
                          <a:latin typeface="Roboto Condensed Light" panose="02000000000000000000" pitchFamily="2" charset="0"/>
                          <a:ea typeface="Roboto Condensed Light" panose="02000000000000000000" pitchFamily="2" charset="0"/>
                        </a:rPr>
                        <a:t>iSSDLC</a:t>
                      </a:r>
                      <a:r>
                        <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 Capabilities Assessment Tool</a:t>
                      </a: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Others to be determined</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42" name="Rectangle 41">
            <a:extLst>
              <a:ext uri="{FF2B5EF4-FFF2-40B4-BE49-F238E27FC236}">
                <a16:creationId xmlns:a16="http://schemas.microsoft.com/office/drawing/2014/main" id="{72E9C524-5991-23A5-87BB-82D83FA06CA7}"/>
              </a:ext>
            </a:extLst>
          </p:cNvPr>
          <p:cNvSpPr/>
          <p:nvPr/>
        </p:nvSpPr>
        <p:spPr>
          <a:xfrm>
            <a:off x="1061495" y="5916953"/>
            <a:ext cx="44172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panose="02000503000000000000" pitchFamily="2" charset="77"/>
                <a:ea typeface="+mn-ea"/>
                <a:cs typeface="+mn-cs"/>
              </a:rPr>
              <a:t>iSSDLC</a:t>
            </a: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 </a:t>
            </a:r>
            <a:r>
              <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sp>
        <p:nvSpPr>
          <p:cNvPr id="43" name="Rectangle 42">
            <a:extLst>
              <a:ext uri="{FF2B5EF4-FFF2-40B4-BE49-F238E27FC236}">
                <a16:creationId xmlns:a16="http://schemas.microsoft.com/office/drawing/2014/main" id="{6A639F19-75A9-8BC4-1A48-226587541B1D}"/>
              </a:ext>
              <a:ext uri="{C183D7F6-B498-43B3-948B-1728B52AA6E4}">
                <adec:decorative xmlns:adec="http://schemas.microsoft.com/office/drawing/2017/decorative" val="1"/>
              </a:ext>
            </a:extLst>
          </p:cNvPr>
          <p:cNvSpPr>
            <a:spLocks noChangeAspect="1"/>
          </p:cNvSpPr>
          <p:nvPr/>
        </p:nvSpPr>
        <p:spPr>
          <a:xfrm>
            <a:off x="455259" y="5916955"/>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44" name="Picture 43">
            <a:extLst>
              <a:ext uri="{FF2B5EF4-FFF2-40B4-BE49-F238E27FC236}">
                <a16:creationId xmlns:a16="http://schemas.microsoft.com/office/drawing/2014/main" id="{392AE400-75CF-E61F-41CA-6A6912B3BE6A}"/>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635466" y="5979052"/>
            <a:ext cx="260883" cy="338335"/>
          </a:xfrm>
          <a:prstGeom prst="rect">
            <a:avLst/>
          </a:prstGeom>
        </p:spPr>
      </p:pic>
      <p:sp>
        <p:nvSpPr>
          <p:cNvPr id="11" name="TextBox 10">
            <a:extLst>
              <a:ext uri="{FF2B5EF4-FFF2-40B4-BE49-F238E27FC236}">
                <a16:creationId xmlns:a16="http://schemas.microsoft.com/office/drawing/2014/main" id="{30E364E8-0D09-76BC-AD5F-6201D8C4FF82}"/>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35</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6" name="TextBox 5">
            <a:extLst>
              <a:ext uri="{FF2B5EF4-FFF2-40B4-BE49-F238E27FC236}">
                <a16:creationId xmlns:a16="http://schemas.microsoft.com/office/drawing/2014/main" id="{19184F30-EF2D-5318-4FF0-94B8D909BC56}"/>
              </a:ext>
            </a:extLst>
          </p:cNvPr>
          <p:cNvSpPr txBox="1"/>
          <p:nvPr/>
        </p:nvSpPr>
        <p:spPr>
          <a:xfrm>
            <a:off x="455259" y="2041095"/>
            <a:ext cx="5725319" cy="2276960"/>
          </a:xfrm>
          <a:prstGeom prst="rect">
            <a:avLst/>
          </a:prstGeom>
        </p:spPr>
        <p:txBody>
          <a:bodyPr wrap="square" lIns="0" tIns="0" rIns="0" bIns="0" numCol="1" spcCol="360000" rtlCol="0">
            <a:noAutofit/>
          </a:bodyPr>
          <a:lstStyle/>
          <a:p>
            <a:pPr lvl="0" defTabSz="914400">
              <a:spcBef>
                <a:spcPts val="300"/>
              </a:spcBef>
              <a:spcAft>
                <a:spcPts val="1200"/>
              </a:spcAft>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Gather the required participants and </a:t>
            </a:r>
            <a:r>
              <a:rPr lang="en-CA" sz="1400" b="1" dirty="0">
                <a:latin typeface="Roboto Condensed Light" panose="02000000000000000000" pitchFamily="2" charset="0"/>
                <a:ea typeface="Roboto Condensed Light" panose="02000000000000000000" pitchFamily="2" charset="0"/>
                <a:cs typeface="Roboto Condensed Light" panose="02000000000000000000" pitchFamily="2" charset="0"/>
              </a:rPr>
              <a:t>leverage the </a:t>
            </a:r>
            <a:r>
              <a:rPr lang="en-CA" sz="1400" b="1" i="1" dirty="0" err="1">
                <a:latin typeface="Roboto Condensed Light" panose="02000000000000000000" pitchFamily="2" charset="0"/>
                <a:ea typeface="Roboto Condensed Light" panose="02000000000000000000" pitchFamily="2" charset="0"/>
                <a:cs typeface="Roboto Condensed Light" panose="02000000000000000000" pitchFamily="2" charset="0"/>
              </a:rPr>
              <a:t>iSSDLC</a:t>
            </a:r>
            <a:r>
              <a:rPr lang="en-CA" sz="1400" b="1" i="1" dirty="0">
                <a:latin typeface="Roboto Condensed Light" panose="02000000000000000000" pitchFamily="2" charset="0"/>
                <a:ea typeface="Roboto Condensed Light" panose="02000000000000000000" pitchFamily="2" charset="0"/>
                <a:cs typeface="Roboto Condensed Light" panose="02000000000000000000" pitchFamily="2" charset="0"/>
              </a:rPr>
              <a:t> Capabilities Assessment Tool</a:t>
            </a:r>
            <a:r>
              <a:rPr lang="en-CA" sz="1400" b="1" dirty="0">
                <a:latin typeface="Roboto Condensed Light" panose="02000000000000000000" pitchFamily="2" charset="0"/>
                <a:ea typeface="Roboto Condensed Light" panose="02000000000000000000" pitchFamily="2" charset="0"/>
                <a:cs typeface="Roboto Condensed Light" panose="02000000000000000000" pitchFamily="2" charset="0"/>
              </a:rPr>
              <a:t> to assess your current state.</a:t>
            </a:r>
            <a:endParaRPr lang="en-CA"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Review capabilities and maturity scale: </a:t>
            </a: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Review the list of capabilities and associated maturity levels.</a:t>
            </a: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Determine current state:</a:t>
            </a:r>
            <a:r>
              <a:rPr lang="en-US" sz="1400" b="1" dirty="0">
                <a:latin typeface="Roboto Condensed Light" panose="02000000000000000000" pitchFamily="2" charset="0"/>
                <a:ea typeface="Roboto Condensed Light" panose="02000000000000000000" pitchFamily="2" charset="0"/>
                <a:cs typeface="Roboto Condensed Light" panose="02000000000000000000" pitchFamily="2" charset="0"/>
              </a:rPr>
              <a:t> </a:t>
            </a: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Assess your current maturity state</a:t>
            </a: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 for each applicable capability.</a:t>
            </a:r>
            <a:endPar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Provide current state comments: </a:t>
            </a:r>
            <a:r>
              <a:rPr lang="en-US" sz="1400" dirty="0">
                <a:latin typeface="Roboto Condensed Light" panose="02000000000000000000" pitchFamily="2" charset="0"/>
                <a:ea typeface="Roboto Condensed Light" panose="02000000000000000000" pitchFamily="2" charset="0"/>
                <a:cs typeface="Roboto Condensed Light" panose="02000000000000000000" pitchFamily="2" charset="0"/>
              </a:rPr>
              <a:t>Provide additional insights on the current state of each capability.</a:t>
            </a:r>
            <a:endParaRPr lang="en-US"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a:spcBef>
                <a:spcPts val="1200"/>
              </a:spcBef>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rPr>
              <a:t>The following slides provide more information on this step.</a:t>
            </a:r>
            <a:endParaRPr lang="en-US" sz="1400" b="1"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a:spcBef>
                <a:spcPts val="1200"/>
              </a:spcBef>
              <a:defRPr sz="1800" b="0" i="0" u="none" strike="noStrike" kern="0" cap="none" spc="0" baseline="0">
                <a:solidFill>
                  <a:srgbClr val="000000"/>
                </a:solidFill>
                <a:uFillTx/>
              </a:defRPr>
            </a:pPr>
            <a:endParaRPr lang="en-US" sz="1400" b="1" kern="0" dirty="0">
              <a:latin typeface="Roboto Condensed ExtraLight" panose="02000000000000000000" pitchFamily="2" charset="0"/>
              <a:ea typeface="Roboto Condensed ExtraLight" panose="02000000000000000000" pitchFamily="2" charset="0"/>
            </a:endParaRPr>
          </a:p>
        </p:txBody>
      </p:sp>
    </p:spTree>
    <p:extLst>
      <p:ext uri="{BB962C8B-B14F-4D97-AF65-F5344CB8AC3E}">
        <p14:creationId xmlns:p14="http://schemas.microsoft.com/office/powerpoint/2010/main" val="967248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75BB4F-3BD6-3E47-844A-0D1C1B77ED32}"/>
              </a:ext>
            </a:extLst>
          </p:cNvPr>
          <p:cNvSpPr>
            <a:spLocks noGrp="1"/>
          </p:cNvSpPr>
          <p:nvPr>
            <p:ph type="title"/>
          </p:nvPr>
        </p:nvSpPr>
        <p:spPr>
          <a:xfrm>
            <a:off x="364992" y="547738"/>
            <a:ext cx="11305392" cy="621186"/>
          </a:xfrm>
        </p:spPr>
        <p:txBody>
          <a:bodyPr/>
          <a:lstStyle/>
          <a:p>
            <a:r>
              <a:rPr lang="en-CA" dirty="0" err="1"/>
              <a:t>iSSDLC</a:t>
            </a:r>
            <a:r>
              <a:rPr lang="en-CA" dirty="0"/>
              <a:t> capabilities assessment</a:t>
            </a:r>
            <a:endParaRPr lang="en-US" i="1" dirty="0">
              <a:solidFill>
                <a:schemeClr val="accent1"/>
              </a:solidFill>
            </a:endParaRPr>
          </a:p>
        </p:txBody>
      </p:sp>
      <p:sp>
        <p:nvSpPr>
          <p:cNvPr id="9" name="Rectangle 8">
            <a:extLst>
              <a:ext uri="{FF2B5EF4-FFF2-40B4-BE49-F238E27FC236}">
                <a16:creationId xmlns:a16="http://schemas.microsoft.com/office/drawing/2014/main" id="{1C33AAAF-64F2-F51A-146B-E5D914880416}"/>
              </a:ext>
            </a:extLst>
          </p:cNvPr>
          <p:cNvSpPr/>
          <p:nvPr/>
        </p:nvSpPr>
        <p:spPr>
          <a:xfrm>
            <a:off x="480754" y="5195148"/>
            <a:ext cx="11189629" cy="1166138"/>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a:spcBef>
                <a:spcPts val="600"/>
              </a:spcBef>
              <a:defRPr/>
            </a:pPr>
            <a:r>
              <a:rPr lang="en-US" sz="1400" dirty="0">
                <a:solidFill>
                  <a:srgbClr val="FFFFFF"/>
                </a:solidFill>
                <a:latin typeface="Roboto Condensed Light" panose="02000000000000000000" pitchFamily="2" charset="0"/>
                <a:ea typeface="Roboto Condensed Light" panose="02000000000000000000" pitchFamily="2" charset="0"/>
              </a:rPr>
              <a:t>Security must be integrated into an SDLC from architecture to operations, and it must contain a structured process that supports governance, accountability, and culture.</a:t>
            </a:r>
          </a:p>
        </p:txBody>
      </p:sp>
      <p:sp>
        <p:nvSpPr>
          <p:cNvPr id="10" name="Rectangle 9">
            <a:extLst>
              <a:ext uri="{FF2B5EF4-FFF2-40B4-BE49-F238E27FC236}">
                <a16:creationId xmlns:a16="http://schemas.microsoft.com/office/drawing/2014/main" id="{82355A6F-1906-F4E9-48F4-68329FBE0437}"/>
              </a:ext>
              <a:ext uri="{C183D7F6-B498-43B3-948B-1728B52AA6E4}">
                <adec:decorative xmlns:adec="http://schemas.microsoft.com/office/drawing/2017/decorative" val="1"/>
              </a:ext>
            </a:extLst>
          </p:cNvPr>
          <p:cNvSpPr/>
          <p:nvPr/>
        </p:nvSpPr>
        <p:spPr>
          <a:xfrm>
            <a:off x="480756" y="5195148"/>
            <a:ext cx="11189628" cy="1166138"/>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6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
        <p:nvSpPr>
          <p:cNvPr id="4" name="Text Placeholder 7">
            <a:extLst>
              <a:ext uri="{FF2B5EF4-FFF2-40B4-BE49-F238E27FC236}">
                <a16:creationId xmlns:a16="http://schemas.microsoft.com/office/drawing/2014/main" id="{9225DC80-AD90-B826-EA8C-AED5F6F576A9}"/>
              </a:ext>
            </a:extLst>
          </p:cNvPr>
          <p:cNvSpPr txBox="1">
            <a:spLocks/>
          </p:cNvSpPr>
          <p:nvPr/>
        </p:nvSpPr>
        <p:spPr>
          <a:xfrm>
            <a:off x="364992" y="1822042"/>
            <a:ext cx="5469728" cy="31287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Info-Tech’s iSSDLC capabilities provide a structured approach to application security, combining modern innovation controls with foundational best practices. </a:t>
            </a:r>
          </a:p>
          <a:p>
            <a:pPr marL="184150" indent="-184150">
              <a:lnSpc>
                <a:spcPct val="110000"/>
              </a:lnSpc>
            </a:pPr>
            <a:r>
              <a:rPr lang="en-US" sz="1400" dirty="0">
                <a:solidFill>
                  <a:srgbClr val="000000"/>
                </a:solidFill>
                <a:latin typeface="Roboto Condensed Light" panose="02000000000000000000" pitchFamily="2" charset="0"/>
              </a:rPr>
              <a:t>The iSSDLC maps capabilities to business opportunities and security threats, allowing rapid prioritization for targeted investment.</a:t>
            </a:r>
          </a:p>
          <a:p>
            <a:pPr marL="184150" indent="-184150">
              <a:lnSpc>
                <a:spcPct val="110000"/>
              </a:lnSpc>
            </a:pPr>
            <a:r>
              <a:rPr lang="en-US" sz="1400">
                <a:solidFill>
                  <a:srgbClr val="000000"/>
                </a:solidFill>
                <a:latin typeface="Roboto Condensed Light" panose="02000000000000000000" pitchFamily="2" charset="0"/>
              </a:rPr>
              <a:t>An iSSDLC approach enables adaptive controls, scalable governance, and data-driven decision-making throughout the development lifecycle.</a:t>
            </a:r>
            <a:endParaRPr lang="en-US" sz="1400" dirty="0">
              <a:solidFill>
                <a:srgbClr val="000000"/>
              </a:solidFill>
              <a:latin typeface="Roboto Condensed Light" panose="02000000000000000000" pitchFamily="2" charset="0"/>
            </a:endParaRPr>
          </a:p>
          <a:p>
            <a:pPr marL="184150" indent="-184150">
              <a:lnSpc>
                <a:spcPct val="110000"/>
              </a:lnSpc>
            </a:pPr>
            <a:r>
              <a:rPr lang="en-US" sz="1400" dirty="0">
                <a:solidFill>
                  <a:srgbClr val="000000"/>
                </a:solidFill>
                <a:latin typeface="Roboto Condensed Light" panose="02000000000000000000" pitchFamily="2" charset="0"/>
              </a:rPr>
              <a:t>By providing a flexible maturity model, the iSSDLC allows organizations to determine where they need advanced security intelligence and where they don’t.</a:t>
            </a:r>
            <a:endParaRPr lang="en-US" sz="1400" dirty="0"/>
          </a:p>
          <a:p>
            <a:pPr marL="184150" indent="-184150">
              <a:lnSpc>
                <a:spcPct val="110000"/>
              </a:lnSpc>
            </a:pPr>
            <a:endParaRPr lang="en-US" sz="1400" dirty="0">
              <a:solidFill>
                <a:srgbClr val="000000"/>
              </a:solidFill>
              <a:latin typeface="Roboto Condensed Light" panose="02000000000000000000" pitchFamily="2" charset="0"/>
            </a:endParaRPr>
          </a:p>
          <a:p>
            <a:pPr fontAlgn="base">
              <a:lnSpc>
                <a:spcPct val="100000"/>
              </a:lnSpc>
            </a:pPr>
            <a:endParaRPr lang="en-CA" sz="1400" dirty="0">
              <a:solidFill>
                <a:srgbClr val="000000"/>
              </a:solidFill>
              <a:latin typeface="Roboto Condensed Light" panose="02000000000000000000" pitchFamily="2" charset="0"/>
            </a:endParaRPr>
          </a:p>
        </p:txBody>
      </p:sp>
      <p:sp>
        <p:nvSpPr>
          <p:cNvPr id="5" name="Text Placeholder 7">
            <a:extLst>
              <a:ext uri="{FF2B5EF4-FFF2-40B4-BE49-F238E27FC236}">
                <a16:creationId xmlns:a16="http://schemas.microsoft.com/office/drawing/2014/main" id="{728FF8FF-BF2F-F16D-42E5-96E3A1F7C271}"/>
              </a:ext>
            </a:extLst>
          </p:cNvPr>
          <p:cNvSpPr txBox="1">
            <a:spLocks/>
          </p:cNvSpPr>
          <p:nvPr/>
        </p:nvSpPr>
        <p:spPr>
          <a:xfrm>
            <a:off x="312059" y="1186163"/>
            <a:ext cx="11654688" cy="3915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1600" dirty="0">
                <a:solidFill>
                  <a:srgbClr val="2576B7"/>
                </a:solidFill>
                <a:latin typeface="Exo" panose="02000503000000000000" pitchFamily="2" charset="77"/>
                <a:cs typeface="Arial" panose="020B0604020202020204" pitchFamily="34" charset="0"/>
              </a:rPr>
              <a:t>The core of the intelligent secure software development lifecycle is a set of advanced application security capabilities. </a:t>
            </a:r>
          </a:p>
          <a:p>
            <a:pPr marL="0" indent="0">
              <a:lnSpc>
                <a:spcPct val="110000"/>
              </a:lnSpc>
              <a:buNone/>
            </a:pPr>
            <a:endParaRPr lang="en-US" sz="1600" dirty="0">
              <a:solidFill>
                <a:srgbClr val="2576B7"/>
              </a:solidFill>
              <a:latin typeface="Exo" panose="02000503000000000000" pitchFamily="2" charset="77"/>
              <a:cs typeface="Arial" panose="020B0604020202020204" pitchFamily="34" charset="0"/>
            </a:endParaRPr>
          </a:p>
          <a:p>
            <a:pPr fontAlgn="base">
              <a:lnSpc>
                <a:spcPct val="100000"/>
              </a:lnSpc>
            </a:pPr>
            <a:endParaRPr lang="en-CA" sz="1400" dirty="0">
              <a:solidFill>
                <a:srgbClr val="000000"/>
              </a:solidFill>
              <a:latin typeface="Roboto Condensed Light" panose="02000000000000000000" pitchFamily="2" charset="0"/>
            </a:endParaRPr>
          </a:p>
        </p:txBody>
      </p:sp>
      <p:sp>
        <p:nvSpPr>
          <p:cNvPr id="6" name="Text Placeholder 7">
            <a:extLst>
              <a:ext uri="{FF2B5EF4-FFF2-40B4-BE49-F238E27FC236}">
                <a16:creationId xmlns:a16="http://schemas.microsoft.com/office/drawing/2014/main" id="{278F5ADC-1721-37CB-0467-6387668BCEE4}"/>
              </a:ext>
            </a:extLst>
          </p:cNvPr>
          <p:cNvSpPr txBox="1">
            <a:spLocks/>
          </p:cNvSpPr>
          <p:nvPr/>
        </p:nvSpPr>
        <p:spPr>
          <a:xfrm>
            <a:off x="6096794" y="1813794"/>
            <a:ext cx="5469728" cy="31369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Info-Tech’s iSSDLC capabilities were built in consideration of and alignment with:</a:t>
            </a:r>
          </a:p>
          <a:p>
            <a:pPr lvl="1">
              <a:lnSpc>
                <a:spcPct val="110000"/>
              </a:lnSpc>
              <a:buFont typeface="Courier New" panose="02070309020205020404" pitchFamily="49" charset="0"/>
              <a:buChar char="o"/>
            </a:pPr>
            <a:r>
              <a:rPr lang="en-US" sz="1400" dirty="0">
                <a:solidFill>
                  <a:srgbClr val="000000"/>
                </a:solidFill>
                <a:latin typeface="Roboto Condensed Light" panose="02000000000000000000" pitchFamily="2" charset="0"/>
                <a:ea typeface="Roboto Condensed Light" panose="02000000000000000000" pitchFamily="2" charset="0"/>
              </a:rPr>
              <a:t>OWASP Software Assurance Maturity Model (SAMM) 2.0.</a:t>
            </a:r>
          </a:p>
          <a:p>
            <a:pPr lvl="1">
              <a:lnSpc>
                <a:spcPct val="110000"/>
              </a:lnSpc>
              <a:buFont typeface="Courier New" panose="02070309020205020404" pitchFamily="49" charset="0"/>
              <a:buChar char="o"/>
            </a:pPr>
            <a:r>
              <a:rPr lang="en-US" sz="1400">
                <a:solidFill>
                  <a:srgbClr val="000000"/>
                </a:solidFill>
                <a:latin typeface="Roboto Condensed Light" panose="02000000000000000000" pitchFamily="2" charset="0"/>
                <a:ea typeface="Roboto Condensed Light" panose="02000000000000000000" pitchFamily="2" charset="0"/>
              </a:rPr>
              <a:t>US NIST </a:t>
            </a:r>
            <a:r>
              <a:rPr lang="en-US" sz="1400" dirty="0">
                <a:solidFill>
                  <a:srgbClr val="000000"/>
                </a:solidFill>
                <a:latin typeface="Roboto Condensed Light" panose="02000000000000000000" pitchFamily="2" charset="0"/>
                <a:ea typeface="Roboto Condensed Light" panose="02000000000000000000" pitchFamily="2" charset="0"/>
              </a:rPr>
              <a:t>SP 800-218 Secure Software Development Framework (SSDF) Version 1.1.</a:t>
            </a:r>
          </a:p>
          <a:p>
            <a:pPr lvl="1">
              <a:lnSpc>
                <a:spcPct val="110000"/>
              </a:lnSpc>
              <a:buFont typeface="Courier New" panose="02070309020205020404" pitchFamily="49" charset="0"/>
              <a:buChar char="o"/>
            </a:pPr>
            <a:r>
              <a:rPr lang="en-US" sz="1400">
                <a:solidFill>
                  <a:srgbClr val="000000"/>
                </a:solidFill>
                <a:latin typeface="Roboto Condensed Light" panose="02000000000000000000" pitchFamily="2" charset="0"/>
                <a:ea typeface="Roboto Condensed Light" panose="02000000000000000000" pitchFamily="2" charset="0"/>
              </a:rPr>
              <a:t>US NIST </a:t>
            </a:r>
            <a:r>
              <a:rPr lang="en-US" sz="1400" dirty="0">
                <a:solidFill>
                  <a:srgbClr val="000000"/>
                </a:solidFill>
                <a:latin typeface="Roboto Condensed Light" panose="02000000000000000000" pitchFamily="2" charset="0"/>
                <a:ea typeface="Roboto Condensed Light" panose="02000000000000000000" pitchFamily="2" charset="0"/>
              </a:rPr>
              <a:t>SP 800-218A Secure Software Development Practices for Generative AI and Dual-Use Foundation Models.</a:t>
            </a:r>
          </a:p>
          <a:p>
            <a:pPr marL="184150" indent="-184150">
              <a:lnSpc>
                <a:spcPct val="110000"/>
              </a:lnSpc>
            </a:pPr>
            <a:r>
              <a:rPr lang="en-US" sz="1400" dirty="0">
                <a:solidFill>
                  <a:srgbClr val="000000"/>
                </a:solidFill>
                <a:latin typeface="Roboto Condensed Light" panose="02000000000000000000" pitchFamily="2" charset="0"/>
                <a:ea typeface="Roboto Condensed Light" panose="02000000000000000000" pitchFamily="2" charset="0"/>
              </a:rPr>
              <a:t>The iSSDLC improves upon these foundation standards by adding additional advanced capabilities to leverage intelligent application security tools.</a:t>
            </a:r>
          </a:p>
          <a:p>
            <a:pPr marL="184150" indent="-184150">
              <a:lnSpc>
                <a:spcPct val="110000"/>
              </a:lnSpc>
            </a:pPr>
            <a:r>
              <a:rPr lang="en-US" sz="1400" dirty="0">
                <a:solidFill>
                  <a:srgbClr val="000000"/>
                </a:solidFill>
                <a:latin typeface="Roboto Condensed Light" panose="02000000000000000000" pitchFamily="2" charset="0"/>
                <a:ea typeface="Roboto Condensed Light" panose="02000000000000000000" pitchFamily="2" charset="0"/>
              </a:rPr>
              <a:t>The following slide illustrates the full set of iSSDLC capabilities.</a:t>
            </a:r>
          </a:p>
          <a:p>
            <a:pPr marL="641350" lvl="1" indent="-184150">
              <a:lnSpc>
                <a:spcPct val="110000"/>
              </a:lnSpc>
            </a:pPr>
            <a:endParaRPr lang="en-US" sz="1400" dirty="0">
              <a:latin typeface="Roboto Condensed Light" panose="02000000000000000000" pitchFamily="2" charset="0"/>
              <a:ea typeface="Roboto Condensed Light" panose="02000000000000000000" pitchFamily="2" charset="0"/>
            </a:endParaRPr>
          </a:p>
          <a:p>
            <a:pPr fontAlgn="base">
              <a:lnSpc>
                <a:spcPct val="100000"/>
              </a:lnSpc>
            </a:pPr>
            <a:endParaRPr lang="en-CA" sz="1400" dirty="0">
              <a:solidFill>
                <a:srgbClr val="000000"/>
              </a:solidFill>
              <a:latin typeface="Roboto Condensed Light" panose="02000000000000000000" pitchFamily="2" charset="0"/>
            </a:endParaRPr>
          </a:p>
        </p:txBody>
      </p:sp>
    </p:spTree>
    <p:extLst>
      <p:ext uri="{BB962C8B-B14F-4D97-AF65-F5344CB8AC3E}">
        <p14:creationId xmlns:p14="http://schemas.microsoft.com/office/powerpoint/2010/main" val="1953533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schemeClr>
            </a:gs>
            <a:gs pos="53000">
              <a:schemeClr val="accent1">
                <a:lumMod val="35000"/>
              </a:schemeClr>
            </a:gs>
            <a:gs pos="100000">
              <a:schemeClr val="accent1">
                <a:lumMod val="47000"/>
              </a:schemeClr>
            </a:gs>
          </a:gsLst>
          <a:path path="circle">
            <a:fillToRect r="100000" b="100000"/>
          </a:path>
          <a:tileRect l="-100000" t="-100000"/>
        </a:gradFill>
        <a:effectLst/>
      </p:bgPr>
    </p:bg>
    <p:spTree>
      <p:nvGrpSpPr>
        <p:cNvPr id="1" name="">
          <a:extLst>
            <a:ext uri="{FF2B5EF4-FFF2-40B4-BE49-F238E27FC236}">
              <a16:creationId xmlns:a16="http://schemas.microsoft.com/office/drawing/2014/main" id="{C86C9742-6F90-1B36-45EA-6631A8FBC740}"/>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2FBB4328-97A0-2AA8-9C67-3BA5F6C7E176}"/>
              </a:ext>
            </a:extLst>
          </p:cNvPr>
          <p:cNvGraphicFramePr/>
          <p:nvPr>
            <p:extLst>
              <p:ext uri="{D42A27DB-BD31-4B8C-83A1-F6EECF244321}">
                <p14:modId xmlns:p14="http://schemas.microsoft.com/office/powerpoint/2010/main" val="390688916"/>
              </p:ext>
            </p:extLst>
          </p:nvPr>
        </p:nvGraphicFramePr>
        <p:xfrm>
          <a:off x="215214" y="-615238"/>
          <a:ext cx="11763159" cy="3736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2">
            <a:extLst>
              <a:ext uri="{FF2B5EF4-FFF2-40B4-BE49-F238E27FC236}">
                <a16:creationId xmlns:a16="http://schemas.microsoft.com/office/drawing/2014/main" id="{B6FDFAEF-435E-58D7-AF6D-F1AD90EFB820}"/>
              </a:ext>
            </a:extLst>
          </p:cNvPr>
          <p:cNvSpPr>
            <a:spLocks noGrp="1"/>
          </p:cNvSpPr>
          <p:nvPr>
            <p:ph type="title"/>
          </p:nvPr>
        </p:nvSpPr>
        <p:spPr>
          <a:xfrm>
            <a:off x="251860" y="157309"/>
            <a:ext cx="8449652" cy="595423"/>
          </a:xfrm>
        </p:spPr>
        <p:txBody>
          <a:bodyPr/>
          <a:lstStyle/>
          <a:p>
            <a:r>
              <a:rPr lang="en-US" dirty="0" err="1">
                <a:solidFill>
                  <a:schemeClr val="accent1">
                    <a:lumMod val="40000"/>
                    <a:lumOff val="60000"/>
                  </a:schemeClr>
                </a:solidFill>
              </a:rPr>
              <a:t>iSSLDC</a:t>
            </a:r>
            <a:r>
              <a:rPr lang="en-US" dirty="0">
                <a:solidFill>
                  <a:schemeClr val="accent1">
                    <a:lumMod val="40000"/>
                    <a:lumOff val="60000"/>
                  </a:schemeClr>
                </a:solidFill>
              </a:rPr>
              <a:t> Capabilities</a:t>
            </a:r>
          </a:p>
        </p:txBody>
      </p:sp>
      <p:pic>
        <p:nvPicPr>
          <p:cNvPr id="3" name="Picture 2" descr="A white logo with a lock and circles&#10;&#10;AI-generated content may be incorrect.">
            <a:extLst>
              <a:ext uri="{FF2B5EF4-FFF2-40B4-BE49-F238E27FC236}">
                <a16:creationId xmlns:a16="http://schemas.microsoft.com/office/drawing/2014/main" id="{9AC14058-F3D4-AADE-8D1F-95E021D9DCBD}"/>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51860" y="4689106"/>
            <a:ext cx="731520" cy="731520"/>
          </a:xfrm>
          <a:prstGeom prst="rect">
            <a:avLst/>
          </a:prstGeom>
        </p:spPr>
      </p:pic>
      <p:pic>
        <p:nvPicPr>
          <p:cNvPr id="4" name="Picture 3" descr="A white line drawing of a stack of bricks and a lock&#10;&#10;AI-generated content may be incorrect.">
            <a:extLst>
              <a:ext uri="{FF2B5EF4-FFF2-40B4-BE49-F238E27FC236}">
                <a16:creationId xmlns:a16="http://schemas.microsoft.com/office/drawing/2014/main" id="{DDB9D4B4-BA51-541B-F274-F9FF6C510B57}"/>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251860" y="3970418"/>
            <a:ext cx="731520" cy="731520"/>
          </a:xfrm>
          <a:prstGeom prst="rect">
            <a:avLst/>
          </a:prstGeom>
        </p:spPr>
      </p:pic>
      <p:pic>
        <p:nvPicPr>
          <p:cNvPr id="10" name="Picture 9" descr="A white outline of a shield and magnifying glass&#10;&#10;AI-generated content may be incorrect.">
            <a:extLst>
              <a:ext uri="{FF2B5EF4-FFF2-40B4-BE49-F238E27FC236}">
                <a16:creationId xmlns:a16="http://schemas.microsoft.com/office/drawing/2014/main" id="{3D88B40A-2794-70DE-F27F-6FBA706047DB}"/>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51860" y="3251730"/>
            <a:ext cx="731520" cy="731520"/>
          </a:xfrm>
          <a:prstGeom prst="rect">
            <a:avLst/>
          </a:prstGeom>
        </p:spPr>
      </p:pic>
      <p:pic>
        <p:nvPicPr>
          <p:cNvPr id="12" name="Picture 11" descr="A white line drawing of a checklist and a shield&#10;&#10;AI-generated content may be incorrect.">
            <a:extLst>
              <a:ext uri="{FF2B5EF4-FFF2-40B4-BE49-F238E27FC236}">
                <a16:creationId xmlns:a16="http://schemas.microsoft.com/office/drawing/2014/main" id="{5CEAEE07-F76E-7BD1-8EA6-FF5E72ABE769}"/>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51860" y="1814354"/>
            <a:ext cx="731520" cy="731520"/>
          </a:xfrm>
          <a:prstGeom prst="rect">
            <a:avLst/>
          </a:prstGeom>
        </p:spPr>
      </p:pic>
      <p:pic>
        <p:nvPicPr>
          <p:cNvPr id="17" name="Picture 16" descr="A white outline of a shield with a magnifying glass&#10;&#10;AI-generated content may be incorrect.">
            <a:extLst>
              <a:ext uri="{FF2B5EF4-FFF2-40B4-BE49-F238E27FC236}">
                <a16:creationId xmlns:a16="http://schemas.microsoft.com/office/drawing/2014/main" id="{86AE65BE-0E18-DE47-0841-2F29932186A2}"/>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251860" y="2533042"/>
            <a:ext cx="731520" cy="731520"/>
          </a:xfrm>
          <a:prstGeom prst="rect">
            <a:avLst/>
          </a:prstGeom>
        </p:spPr>
      </p:pic>
      <p:pic>
        <p:nvPicPr>
          <p:cNvPr id="18" name="Picture 17" descr="A white line drawing of a server and a shield&#10;&#10;AI-generated content may be incorrect.">
            <a:extLst>
              <a:ext uri="{FF2B5EF4-FFF2-40B4-BE49-F238E27FC236}">
                <a16:creationId xmlns:a16="http://schemas.microsoft.com/office/drawing/2014/main" id="{379651D4-E659-74A3-9A0B-4B50C7EB3D0E}"/>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251860" y="5407794"/>
            <a:ext cx="731520" cy="731520"/>
          </a:xfrm>
          <a:prstGeom prst="rect">
            <a:avLst/>
          </a:prstGeom>
        </p:spPr>
      </p:pic>
      <p:pic>
        <p:nvPicPr>
          <p:cNvPr id="19" name="Picture 18" descr="A white line drawing of a paper with a shield and a check mark&#10;&#10;AI-generated content may be incorrect.">
            <a:extLst>
              <a:ext uri="{FF2B5EF4-FFF2-40B4-BE49-F238E27FC236}">
                <a16:creationId xmlns:a16="http://schemas.microsoft.com/office/drawing/2014/main" id="{8381B901-6DBB-3292-97EC-FD1F85689F34}"/>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244865" y="6126480"/>
            <a:ext cx="731520" cy="731520"/>
          </a:xfrm>
          <a:prstGeom prst="rect">
            <a:avLst/>
          </a:prstGeom>
          <a:noFill/>
        </p:spPr>
      </p:pic>
      <p:sp>
        <p:nvSpPr>
          <p:cNvPr id="21" name="TextBox 20">
            <a:extLst>
              <a:ext uri="{FF2B5EF4-FFF2-40B4-BE49-F238E27FC236}">
                <a16:creationId xmlns:a16="http://schemas.microsoft.com/office/drawing/2014/main" id="{45B2605B-5F42-D2BA-34D5-C51785D38B13}"/>
              </a:ext>
            </a:extLst>
          </p:cNvPr>
          <p:cNvSpPr txBox="1"/>
          <p:nvPr/>
        </p:nvSpPr>
        <p:spPr>
          <a:xfrm>
            <a:off x="972206" y="1852737"/>
            <a:ext cx="1270890" cy="646331"/>
          </a:xfrm>
          <a:prstGeom prst="rect">
            <a:avLst/>
          </a:prstGeom>
          <a:noFill/>
        </p:spPr>
        <p:txBody>
          <a:bodyPr wrap="square">
            <a:spAutoFit/>
          </a:bodyPr>
          <a:lstStyle/>
          <a:p>
            <a:r>
              <a:rPr lang="en-US" sz="1200" dirty="0">
                <a:solidFill>
                  <a:schemeClr val="bg1"/>
                </a:solidFill>
              </a:rPr>
              <a:t>Security requirements definition</a:t>
            </a:r>
          </a:p>
        </p:txBody>
      </p:sp>
      <p:sp>
        <p:nvSpPr>
          <p:cNvPr id="26" name="TextBox 25">
            <a:extLst>
              <a:ext uri="{FF2B5EF4-FFF2-40B4-BE49-F238E27FC236}">
                <a16:creationId xmlns:a16="http://schemas.microsoft.com/office/drawing/2014/main" id="{E35B35A1-7D2F-C705-AD5F-8C23D5C1E3C5}"/>
              </a:ext>
            </a:extLst>
          </p:cNvPr>
          <p:cNvSpPr txBox="1"/>
          <p:nvPr/>
        </p:nvSpPr>
        <p:spPr>
          <a:xfrm>
            <a:off x="981614" y="3248241"/>
            <a:ext cx="1270890" cy="646331"/>
          </a:xfrm>
          <a:prstGeom prst="rect">
            <a:avLst/>
          </a:prstGeom>
          <a:noFill/>
        </p:spPr>
        <p:txBody>
          <a:bodyPr wrap="square">
            <a:spAutoFit/>
          </a:bodyPr>
          <a:lstStyle/>
          <a:p>
            <a:r>
              <a:rPr lang="en-US" sz="1200" dirty="0">
                <a:solidFill>
                  <a:schemeClr val="bg1"/>
                </a:solidFill>
              </a:rPr>
              <a:t>Secure architecture design</a:t>
            </a:r>
          </a:p>
        </p:txBody>
      </p:sp>
      <p:sp>
        <p:nvSpPr>
          <p:cNvPr id="30" name="TextBox 29">
            <a:extLst>
              <a:ext uri="{FF2B5EF4-FFF2-40B4-BE49-F238E27FC236}">
                <a16:creationId xmlns:a16="http://schemas.microsoft.com/office/drawing/2014/main" id="{CF9E76A9-5DD3-5831-C392-5BEE27963FD7}"/>
              </a:ext>
            </a:extLst>
          </p:cNvPr>
          <p:cNvSpPr txBox="1"/>
          <p:nvPr/>
        </p:nvSpPr>
        <p:spPr>
          <a:xfrm>
            <a:off x="972206" y="4021332"/>
            <a:ext cx="1270890" cy="461665"/>
          </a:xfrm>
          <a:prstGeom prst="rect">
            <a:avLst/>
          </a:prstGeom>
          <a:noFill/>
        </p:spPr>
        <p:txBody>
          <a:bodyPr wrap="square">
            <a:spAutoFit/>
          </a:bodyPr>
          <a:lstStyle/>
          <a:p>
            <a:r>
              <a:rPr lang="en-US" sz="1200" dirty="0">
                <a:solidFill>
                  <a:schemeClr val="bg1"/>
                </a:solidFill>
              </a:rPr>
              <a:t>Zero trust architecture</a:t>
            </a:r>
          </a:p>
        </p:txBody>
      </p:sp>
      <p:sp>
        <p:nvSpPr>
          <p:cNvPr id="31" name="TextBox 30">
            <a:extLst>
              <a:ext uri="{FF2B5EF4-FFF2-40B4-BE49-F238E27FC236}">
                <a16:creationId xmlns:a16="http://schemas.microsoft.com/office/drawing/2014/main" id="{283ED785-AC8C-5216-55F1-ACD5625A9B14}"/>
              </a:ext>
            </a:extLst>
          </p:cNvPr>
          <p:cNvSpPr txBox="1"/>
          <p:nvPr/>
        </p:nvSpPr>
        <p:spPr>
          <a:xfrm>
            <a:off x="983380" y="4748165"/>
            <a:ext cx="1270890" cy="461665"/>
          </a:xfrm>
          <a:prstGeom prst="rect">
            <a:avLst/>
          </a:prstGeom>
          <a:noFill/>
        </p:spPr>
        <p:txBody>
          <a:bodyPr wrap="square">
            <a:spAutoFit/>
          </a:bodyPr>
          <a:lstStyle/>
          <a:p>
            <a:r>
              <a:rPr lang="en-US" sz="1200" dirty="0">
                <a:solidFill>
                  <a:schemeClr val="bg1"/>
                </a:solidFill>
              </a:rPr>
              <a:t>Secure AI/ML </a:t>
            </a:r>
            <a:br>
              <a:rPr lang="en-US" sz="1200" dirty="0">
                <a:solidFill>
                  <a:schemeClr val="bg1"/>
                </a:solidFill>
              </a:rPr>
            </a:br>
            <a:r>
              <a:rPr lang="en-US" sz="1200" dirty="0">
                <a:solidFill>
                  <a:schemeClr val="bg1"/>
                </a:solidFill>
              </a:rPr>
              <a:t>design</a:t>
            </a:r>
          </a:p>
        </p:txBody>
      </p:sp>
      <p:sp>
        <p:nvSpPr>
          <p:cNvPr id="35" name="TextBox 34">
            <a:extLst>
              <a:ext uri="{FF2B5EF4-FFF2-40B4-BE49-F238E27FC236}">
                <a16:creationId xmlns:a16="http://schemas.microsoft.com/office/drawing/2014/main" id="{D447DECE-82A3-7B52-3D4E-CEE970EC2564}"/>
              </a:ext>
            </a:extLst>
          </p:cNvPr>
          <p:cNvSpPr txBox="1"/>
          <p:nvPr/>
        </p:nvSpPr>
        <p:spPr>
          <a:xfrm>
            <a:off x="972206" y="5407792"/>
            <a:ext cx="1270890" cy="646331"/>
          </a:xfrm>
          <a:prstGeom prst="rect">
            <a:avLst/>
          </a:prstGeom>
          <a:noFill/>
        </p:spPr>
        <p:txBody>
          <a:bodyPr wrap="square">
            <a:spAutoFit/>
          </a:bodyPr>
          <a:lstStyle/>
          <a:p>
            <a:r>
              <a:rPr lang="en-US" sz="1200" dirty="0">
                <a:solidFill>
                  <a:schemeClr val="bg1"/>
                </a:solidFill>
              </a:rPr>
              <a:t>AI/ML training data collection security</a:t>
            </a:r>
          </a:p>
        </p:txBody>
      </p:sp>
      <p:sp>
        <p:nvSpPr>
          <p:cNvPr id="39" name="TextBox 38">
            <a:extLst>
              <a:ext uri="{FF2B5EF4-FFF2-40B4-BE49-F238E27FC236}">
                <a16:creationId xmlns:a16="http://schemas.microsoft.com/office/drawing/2014/main" id="{C92A8625-175E-758D-64FA-5D8BBD1D0A43}"/>
              </a:ext>
            </a:extLst>
          </p:cNvPr>
          <p:cNvSpPr txBox="1"/>
          <p:nvPr/>
        </p:nvSpPr>
        <p:spPr>
          <a:xfrm>
            <a:off x="972206" y="6113666"/>
            <a:ext cx="1270890" cy="646331"/>
          </a:xfrm>
          <a:prstGeom prst="rect">
            <a:avLst/>
          </a:prstGeom>
          <a:noFill/>
        </p:spPr>
        <p:txBody>
          <a:bodyPr wrap="square">
            <a:spAutoFit/>
          </a:bodyPr>
          <a:lstStyle/>
          <a:p>
            <a:r>
              <a:rPr lang="en-US" sz="1200" dirty="0">
                <a:solidFill>
                  <a:schemeClr val="bg1"/>
                </a:solidFill>
              </a:rPr>
              <a:t>Secure design review and assurance</a:t>
            </a:r>
          </a:p>
        </p:txBody>
      </p:sp>
      <p:sp>
        <p:nvSpPr>
          <p:cNvPr id="50" name="TextBox 49">
            <a:extLst>
              <a:ext uri="{FF2B5EF4-FFF2-40B4-BE49-F238E27FC236}">
                <a16:creationId xmlns:a16="http://schemas.microsoft.com/office/drawing/2014/main" id="{0B8E26D3-DFB8-860E-F00D-C7F7A94C02F4}"/>
              </a:ext>
            </a:extLst>
          </p:cNvPr>
          <p:cNvSpPr txBox="1"/>
          <p:nvPr/>
        </p:nvSpPr>
        <p:spPr>
          <a:xfrm>
            <a:off x="972206" y="2690346"/>
            <a:ext cx="1270890" cy="276999"/>
          </a:xfrm>
          <a:prstGeom prst="rect">
            <a:avLst/>
          </a:prstGeom>
          <a:noFill/>
        </p:spPr>
        <p:txBody>
          <a:bodyPr wrap="square">
            <a:spAutoFit/>
          </a:bodyPr>
          <a:lstStyle/>
          <a:p>
            <a:r>
              <a:rPr lang="en-US" sz="1200" dirty="0">
                <a:solidFill>
                  <a:schemeClr val="bg1"/>
                </a:solidFill>
              </a:rPr>
              <a:t>Threat modeling</a:t>
            </a:r>
          </a:p>
        </p:txBody>
      </p:sp>
      <p:pic>
        <p:nvPicPr>
          <p:cNvPr id="68" name="Picture 67">
            <a:extLst>
              <a:ext uri="{FF2B5EF4-FFF2-40B4-BE49-F238E27FC236}">
                <a16:creationId xmlns:a16="http://schemas.microsoft.com/office/drawing/2014/main" id="{B7C81C08-7BA1-313A-4DDE-BCE996F97717}"/>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2509289" y="1778386"/>
            <a:ext cx="640080" cy="640080"/>
          </a:xfrm>
          <a:prstGeom prst="rect">
            <a:avLst/>
          </a:prstGeom>
        </p:spPr>
      </p:pic>
      <p:pic>
        <p:nvPicPr>
          <p:cNvPr id="69" name="Picture 68">
            <a:extLst>
              <a:ext uri="{FF2B5EF4-FFF2-40B4-BE49-F238E27FC236}">
                <a16:creationId xmlns:a16="http://schemas.microsoft.com/office/drawing/2014/main" id="{8EF52732-E353-E0AE-6A64-8C4E8AAD3B41}"/>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a:off x="2509289" y="3264562"/>
            <a:ext cx="640080" cy="640080"/>
          </a:xfrm>
          <a:prstGeom prst="rect">
            <a:avLst/>
          </a:prstGeom>
        </p:spPr>
      </p:pic>
      <p:pic>
        <p:nvPicPr>
          <p:cNvPr id="71" name="Picture 70">
            <a:extLst>
              <a:ext uri="{FF2B5EF4-FFF2-40B4-BE49-F238E27FC236}">
                <a16:creationId xmlns:a16="http://schemas.microsoft.com/office/drawing/2014/main" id="{20B9B105-D83A-B717-367B-EAAD0A26DCD9}"/>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2509289" y="4670527"/>
            <a:ext cx="640080" cy="640080"/>
          </a:xfrm>
          <a:prstGeom prst="rect">
            <a:avLst/>
          </a:prstGeom>
        </p:spPr>
      </p:pic>
      <p:pic>
        <p:nvPicPr>
          <p:cNvPr id="72" name="Picture 71">
            <a:extLst>
              <a:ext uri="{FF2B5EF4-FFF2-40B4-BE49-F238E27FC236}">
                <a16:creationId xmlns:a16="http://schemas.microsoft.com/office/drawing/2014/main" id="{B4CC2C5B-47F7-2C63-FE57-9B0B48304EF6}"/>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2509289" y="2521474"/>
            <a:ext cx="640080" cy="640080"/>
          </a:xfrm>
          <a:prstGeom prst="rect">
            <a:avLst/>
          </a:prstGeom>
        </p:spPr>
      </p:pic>
      <p:pic>
        <p:nvPicPr>
          <p:cNvPr id="73" name="Picture 72" descr="A white line drawing of a gear and a box&#10;&#10;AI-generated content may be incorrect.">
            <a:extLst>
              <a:ext uri="{FF2B5EF4-FFF2-40B4-BE49-F238E27FC236}">
                <a16:creationId xmlns:a16="http://schemas.microsoft.com/office/drawing/2014/main" id="{590FECAC-1AE2-14C6-4A31-812493B61B6A}"/>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2417849" y="3889181"/>
            <a:ext cx="822960" cy="822960"/>
          </a:xfrm>
          <a:prstGeom prst="rect">
            <a:avLst/>
          </a:prstGeom>
        </p:spPr>
      </p:pic>
      <p:pic>
        <p:nvPicPr>
          <p:cNvPr id="74" name="Picture 73">
            <a:extLst>
              <a:ext uri="{FF2B5EF4-FFF2-40B4-BE49-F238E27FC236}">
                <a16:creationId xmlns:a16="http://schemas.microsoft.com/office/drawing/2014/main" id="{391E804B-C948-7081-A14F-7C534395A8C7}"/>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2509289" y="5473586"/>
            <a:ext cx="640080" cy="640080"/>
          </a:xfrm>
          <a:prstGeom prst="rect">
            <a:avLst/>
          </a:prstGeom>
        </p:spPr>
      </p:pic>
      <p:sp>
        <p:nvSpPr>
          <p:cNvPr id="75" name="TextBox 74">
            <a:extLst>
              <a:ext uri="{FF2B5EF4-FFF2-40B4-BE49-F238E27FC236}">
                <a16:creationId xmlns:a16="http://schemas.microsoft.com/office/drawing/2014/main" id="{AA574524-97E7-9E32-6B47-48BFEC247708}"/>
              </a:ext>
            </a:extLst>
          </p:cNvPr>
          <p:cNvSpPr txBox="1"/>
          <p:nvPr/>
        </p:nvSpPr>
        <p:spPr>
          <a:xfrm>
            <a:off x="3351027" y="1809557"/>
            <a:ext cx="1270890" cy="646331"/>
          </a:xfrm>
          <a:prstGeom prst="rect">
            <a:avLst/>
          </a:prstGeom>
          <a:noFill/>
        </p:spPr>
        <p:txBody>
          <a:bodyPr wrap="square">
            <a:spAutoFit/>
          </a:bodyPr>
          <a:lstStyle/>
          <a:p>
            <a:r>
              <a:rPr lang="en-US" sz="1200" dirty="0">
                <a:solidFill>
                  <a:schemeClr val="bg1"/>
                </a:solidFill>
              </a:rPr>
              <a:t>Secure coding practices and training</a:t>
            </a:r>
          </a:p>
        </p:txBody>
      </p:sp>
      <p:sp>
        <p:nvSpPr>
          <p:cNvPr id="76" name="TextBox 75">
            <a:extLst>
              <a:ext uri="{FF2B5EF4-FFF2-40B4-BE49-F238E27FC236}">
                <a16:creationId xmlns:a16="http://schemas.microsoft.com/office/drawing/2014/main" id="{368652CD-99C5-33D8-0E15-D0C105A0FA98}"/>
              </a:ext>
            </a:extLst>
          </p:cNvPr>
          <p:cNvSpPr txBox="1"/>
          <p:nvPr/>
        </p:nvSpPr>
        <p:spPr>
          <a:xfrm>
            <a:off x="3341970" y="3349316"/>
            <a:ext cx="1270890" cy="461665"/>
          </a:xfrm>
          <a:prstGeom prst="rect">
            <a:avLst/>
          </a:prstGeom>
          <a:noFill/>
        </p:spPr>
        <p:txBody>
          <a:bodyPr wrap="square">
            <a:spAutoFit/>
          </a:bodyPr>
          <a:lstStyle/>
          <a:p>
            <a:r>
              <a:rPr lang="en-US" sz="1200" dirty="0">
                <a:solidFill>
                  <a:schemeClr val="bg1"/>
                </a:solidFill>
              </a:rPr>
              <a:t>Software supply chain security</a:t>
            </a:r>
          </a:p>
        </p:txBody>
      </p:sp>
      <p:sp>
        <p:nvSpPr>
          <p:cNvPr id="77" name="TextBox 76">
            <a:extLst>
              <a:ext uri="{FF2B5EF4-FFF2-40B4-BE49-F238E27FC236}">
                <a16:creationId xmlns:a16="http://schemas.microsoft.com/office/drawing/2014/main" id="{D787F2FE-E3E3-C4AE-A53E-2E63B03026F6}"/>
              </a:ext>
            </a:extLst>
          </p:cNvPr>
          <p:cNvSpPr txBox="1"/>
          <p:nvPr/>
        </p:nvSpPr>
        <p:spPr>
          <a:xfrm>
            <a:off x="3351027" y="4075024"/>
            <a:ext cx="1270890" cy="461665"/>
          </a:xfrm>
          <a:prstGeom prst="rect">
            <a:avLst/>
          </a:prstGeom>
          <a:noFill/>
        </p:spPr>
        <p:txBody>
          <a:bodyPr wrap="square">
            <a:spAutoFit/>
          </a:bodyPr>
          <a:lstStyle/>
          <a:p>
            <a:r>
              <a:rPr lang="en-US" sz="1200" dirty="0">
                <a:solidFill>
                  <a:schemeClr val="bg1"/>
                </a:solidFill>
              </a:rPr>
              <a:t>Secure build and CI/CD pipeline</a:t>
            </a:r>
          </a:p>
        </p:txBody>
      </p:sp>
      <p:sp>
        <p:nvSpPr>
          <p:cNvPr id="78" name="TextBox 77">
            <a:extLst>
              <a:ext uri="{FF2B5EF4-FFF2-40B4-BE49-F238E27FC236}">
                <a16:creationId xmlns:a16="http://schemas.microsoft.com/office/drawing/2014/main" id="{172532D1-F724-92CC-D159-D6C13322C0DE}"/>
              </a:ext>
            </a:extLst>
          </p:cNvPr>
          <p:cNvSpPr txBox="1"/>
          <p:nvPr/>
        </p:nvSpPr>
        <p:spPr>
          <a:xfrm>
            <a:off x="3362201" y="4589629"/>
            <a:ext cx="1270890" cy="830997"/>
          </a:xfrm>
          <a:prstGeom prst="rect">
            <a:avLst/>
          </a:prstGeom>
          <a:noFill/>
        </p:spPr>
        <p:txBody>
          <a:bodyPr wrap="square">
            <a:spAutoFit/>
          </a:bodyPr>
          <a:lstStyle/>
          <a:p>
            <a:r>
              <a:rPr lang="en-US" sz="1200" dirty="0">
                <a:solidFill>
                  <a:schemeClr val="bg1"/>
                </a:solidFill>
              </a:rPr>
              <a:t>Secure version control and repository management</a:t>
            </a:r>
          </a:p>
        </p:txBody>
      </p:sp>
      <p:sp>
        <p:nvSpPr>
          <p:cNvPr id="79" name="TextBox 78">
            <a:extLst>
              <a:ext uri="{FF2B5EF4-FFF2-40B4-BE49-F238E27FC236}">
                <a16:creationId xmlns:a16="http://schemas.microsoft.com/office/drawing/2014/main" id="{E69791B2-BBDE-969D-1A1F-A55E80B13B22}"/>
              </a:ext>
            </a:extLst>
          </p:cNvPr>
          <p:cNvSpPr txBox="1"/>
          <p:nvPr/>
        </p:nvSpPr>
        <p:spPr>
          <a:xfrm>
            <a:off x="3351027" y="5447575"/>
            <a:ext cx="1270890" cy="646331"/>
          </a:xfrm>
          <a:prstGeom prst="rect">
            <a:avLst/>
          </a:prstGeom>
          <a:noFill/>
        </p:spPr>
        <p:txBody>
          <a:bodyPr wrap="square">
            <a:spAutoFit/>
          </a:bodyPr>
          <a:lstStyle/>
          <a:p>
            <a:r>
              <a:rPr lang="en-US" sz="1200" dirty="0">
                <a:solidFill>
                  <a:schemeClr val="bg1"/>
                </a:solidFill>
              </a:rPr>
              <a:t>Secrets management in development</a:t>
            </a:r>
          </a:p>
        </p:txBody>
      </p:sp>
      <p:sp>
        <p:nvSpPr>
          <p:cNvPr id="80" name="TextBox 79">
            <a:extLst>
              <a:ext uri="{FF2B5EF4-FFF2-40B4-BE49-F238E27FC236}">
                <a16:creationId xmlns:a16="http://schemas.microsoft.com/office/drawing/2014/main" id="{89124E7A-2A07-9593-C0FC-ED5A4099FBC2}"/>
              </a:ext>
            </a:extLst>
          </p:cNvPr>
          <p:cNvSpPr txBox="1"/>
          <p:nvPr/>
        </p:nvSpPr>
        <p:spPr>
          <a:xfrm>
            <a:off x="3351027" y="2549915"/>
            <a:ext cx="1270890" cy="646331"/>
          </a:xfrm>
          <a:prstGeom prst="rect">
            <a:avLst/>
          </a:prstGeom>
          <a:noFill/>
        </p:spPr>
        <p:txBody>
          <a:bodyPr wrap="square">
            <a:spAutoFit/>
          </a:bodyPr>
          <a:lstStyle/>
          <a:p>
            <a:r>
              <a:rPr lang="en-US" sz="1200" dirty="0">
                <a:solidFill>
                  <a:schemeClr val="bg1"/>
                </a:solidFill>
              </a:rPr>
              <a:t>Secure code review and static analysis</a:t>
            </a:r>
          </a:p>
        </p:txBody>
      </p:sp>
      <p:pic>
        <p:nvPicPr>
          <p:cNvPr id="81" name="Picture 80" descr="A white line drawing of a lock and network&#10;&#10;AI-generated content may be incorrect.">
            <a:extLst>
              <a:ext uri="{FF2B5EF4-FFF2-40B4-BE49-F238E27FC236}">
                <a16:creationId xmlns:a16="http://schemas.microsoft.com/office/drawing/2014/main" id="{E112EA99-8AC6-7B22-3A78-CFDC556D2CDD}"/>
              </a:ext>
            </a:extLst>
          </p:cNvPr>
          <p:cNvPicPr>
            <a:picLocks noChangeAspect="1"/>
          </p:cNvPicPr>
          <p:nvPr/>
        </p:nvPicPr>
        <p:blipFill>
          <a:blip r:embed="rId21" cstate="print">
            <a:extLst>
              <a:ext uri="{28A0092B-C50C-407E-A947-70E740481C1C}">
                <a14:useLocalDpi xmlns:a14="http://schemas.microsoft.com/office/drawing/2010/main"/>
              </a:ext>
            </a:extLst>
          </a:blip>
          <a:stretch>
            <a:fillRect/>
          </a:stretch>
        </p:blipFill>
        <p:spPr>
          <a:xfrm>
            <a:off x="4883688" y="3274333"/>
            <a:ext cx="731520" cy="731520"/>
          </a:xfrm>
          <a:prstGeom prst="rect">
            <a:avLst/>
          </a:prstGeom>
        </p:spPr>
      </p:pic>
      <p:pic>
        <p:nvPicPr>
          <p:cNvPr id="82" name="Picture 81">
            <a:extLst>
              <a:ext uri="{FF2B5EF4-FFF2-40B4-BE49-F238E27FC236}">
                <a16:creationId xmlns:a16="http://schemas.microsoft.com/office/drawing/2014/main" id="{177E8D98-CBA2-A008-C910-529C45C1C5C5}"/>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4896962" y="4012507"/>
            <a:ext cx="640080" cy="640080"/>
          </a:xfrm>
          <a:prstGeom prst="rect">
            <a:avLst/>
          </a:prstGeom>
        </p:spPr>
      </p:pic>
      <p:pic>
        <p:nvPicPr>
          <p:cNvPr id="83" name="Picture 82">
            <a:extLst>
              <a:ext uri="{FF2B5EF4-FFF2-40B4-BE49-F238E27FC236}">
                <a16:creationId xmlns:a16="http://schemas.microsoft.com/office/drawing/2014/main" id="{60EEAF54-CD3A-4AAE-3267-6EA37591724D}"/>
              </a:ext>
            </a:extLst>
          </p:cNvPr>
          <p:cNvPicPr>
            <a:picLocks noChangeAspect="1"/>
          </p:cNvPicPr>
          <p:nvPr/>
        </p:nvPicPr>
        <p:blipFill>
          <a:blip r:embed="rId23" cstate="print">
            <a:extLst>
              <a:ext uri="{28A0092B-C50C-407E-A947-70E740481C1C}">
                <a14:useLocalDpi xmlns:a14="http://schemas.microsoft.com/office/drawing/2010/main"/>
              </a:ext>
            </a:extLst>
          </a:blip>
          <a:stretch>
            <a:fillRect/>
          </a:stretch>
        </p:blipFill>
        <p:spPr>
          <a:xfrm>
            <a:off x="4933830" y="1876785"/>
            <a:ext cx="640080" cy="640080"/>
          </a:xfrm>
          <a:prstGeom prst="rect">
            <a:avLst/>
          </a:prstGeom>
        </p:spPr>
      </p:pic>
      <p:pic>
        <p:nvPicPr>
          <p:cNvPr id="84" name="Picture 83">
            <a:extLst>
              <a:ext uri="{FF2B5EF4-FFF2-40B4-BE49-F238E27FC236}">
                <a16:creationId xmlns:a16="http://schemas.microsoft.com/office/drawing/2014/main" id="{15EA954B-D762-754A-2CB6-EDB5672FB9ED}"/>
              </a:ext>
            </a:extLst>
          </p:cNvPr>
          <p:cNvPicPr>
            <a:picLocks noChangeAspect="1"/>
          </p:cNvPicPr>
          <p:nvPr/>
        </p:nvPicPr>
        <p:blipFill>
          <a:blip r:embed="rId24" cstate="print">
            <a:extLst>
              <a:ext uri="{28A0092B-C50C-407E-A947-70E740481C1C}">
                <a14:useLocalDpi xmlns:a14="http://schemas.microsoft.com/office/drawing/2010/main"/>
              </a:ext>
            </a:extLst>
          </a:blip>
          <a:stretch>
            <a:fillRect/>
          </a:stretch>
        </p:blipFill>
        <p:spPr>
          <a:xfrm>
            <a:off x="4896962" y="4712141"/>
            <a:ext cx="640080" cy="640080"/>
          </a:xfrm>
          <a:prstGeom prst="rect">
            <a:avLst/>
          </a:prstGeom>
        </p:spPr>
      </p:pic>
      <p:pic>
        <p:nvPicPr>
          <p:cNvPr id="85" name="Picture 84">
            <a:extLst>
              <a:ext uri="{FF2B5EF4-FFF2-40B4-BE49-F238E27FC236}">
                <a16:creationId xmlns:a16="http://schemas.microsoft.com/office/drawing/2014/main" id="{F01D396D-F3FA-55D4-0110-EB2CDC553358}"/>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4933830" y="2647305"/>
            <a:ext cx="640080" cy="640080"/>
          </a:xfrm>
          <a:prstGeom prst="rect">
            <a:avLst/>
          </a:prstGeom>
        </p:spPr>
      </p:pic>
      <p:sp>
        <p:nvSpPr>
          <p:cNvPr id="86" name="TextBox 85">
            <a:extLst>
              <a:ext uri="{FF2B5EF4-FFF2-40B4-BE49-F238E27FC236}">
                <a16:creationId xmlns:a16="http://schemas.microsoft.com/office/drawing/2014/main" id="{2909DDCA-F295-F73B-D862-52202E9653D5}"/>
              </a:ext>
            </a:extLst>
          </p:cNvPr>
          <p:cNvSpPr txBox="1"/>
          <p:nvPr/>
        </p:nvSpPr>
        <p:spPr>
          <a:xfrm>
            <a:off x="5752495" y="1904943"/>
            <a:ext cx="1270890" cy="461665"/>
          </a:xfrm>
          <a:prstGeom prst="rect">
            <a:avLst/>
          </a:prstGeom>
          <a:noFill/>
        </p:spPr>
        <p:txBody>
          <a:bodyPr wrap="square">
            <a:spAutoFit/>
          </a:bodyPr>
          <a:lstStyle/>
          <a:p>
            <a:r>
              <a:rPr lang="en-US" sz="1200" dirty="0">
                <a:solidFill>
                  <a:schemeClr val="bg1"/>
                </a:solidFill>
              </a:rPr>
              <a:t>Automated security testing</a:t>
            </a:r>
          </a:p>
        </p:txBody>
      </p:sp>
      <p:sp>
        <p:nvSpPr>
          <p:cNvPr id="87" name="TextBox 86">
            <a:extLst>
              <a:ext uri="{FF2B5EF4-FFF2-40B4-BE49-F238E27FC236}">
                <a16:creationId xmlns:a16="http://schemas.microsoft.com/office/drawing/2014/main" id="{132E7596-1E7A-D193-DE61-B8B264AD5C04}"/>
              </a:ext>
            </a:extLst>
          </p:cNvPr>
          <p:cNvSpPr txBox="1"/>
          <p:nvPr/>
        </p:nvSpPr>
        <p:spPr>
          <a:xfrm>
            <a:off x="5752495" y="3326475"/>
            <a:ext cx="1270890" cy="461665"/>
          </a:xfrm>
          <a:prstGeom prst="rect">
            <a:avLst/>
          </a:prstGeom>
          <a:noFill/>
        </p:spPr>
        <p:txBody>
          <a:bodyPr wrap="square">
            <a:spAutoFit/>
          </a:bodyPr>
          <a:lstStyle/>
          <a:p>
            <a:r>
              <a:rPr lang="en-US" sz="1200" dirty="0">
                <a:solidFill>
                  <a:schemeClr val="bg1"/>
                </a:solidFill>
              </a:rPr>
              <a:t>Fuzz and chaos testing</a:t>
            </a:r>
          </a:p>
        </p:txBody>
      </p:sp>
      <p:sp>
        <p:nvSpPr>
          <p:cNvPr id="88" name="TextBox 87">
            <a:extLst>
              <a:ext uri="{FF2B5EF4-FFF2-40B4-BE49-F238E27FC236}">
                <a16:creationId xmlns:a16="http://schemas.microsoft.com/office/drawing/2014/main" id="{503A68DC-10E4-DF26-E1DE-EF85A67B9ACF}"/>
              </a:ext>
            </a:extLst>
          </p:cNvPr>
          <p:cNvSpPr txBox="1"/>
          <p:nvPr/>
        </p:nvSpPr>
        <p:spPr>
          <a:xfrm>
            <a:off x="5763669" y="3967156"/>
            <a:ext cx="1270890" cy="646331"/>
          </a:xfrm>
          <a:prstGeom prst="rect">
            <a:avLst/>
          </a:prstGeom>
          <a:noFill/>
        </p:spPr>
        <p:txBody>
          <a:bodyPr wrap="square">
            <a:spAutoFit/>
          </a:bodyPr>
          <a:lstStyle/>
          <a:p>
            <a:r>
              <a:rPr lang="en-US" sz="1200" dirty="0">
                <a:solidFill>
                  <a:schemeClr val="bg1"/>
                </a:solidFill>
              </a:rPr>
              <a:t>Security requirements validation</a:t>
            </a:r>
          </a:p>
        </p:txBody>
      </p:sp>
      <p:sp>
        <p:nvSpPr>
          <p:cNvPr id="89" name="TextBox 88">
            <a:extLst>
              <a:ext uri="{FF2B5EF4-FFF2-40B4-BE49-F238E27FC236}">
                <a16:creationId xmlns:a16="http://schemas.microsoft.com/office/drawing/2014/main" id="{187F973B-754F-3912-34C1-1BE43A5BA36A}"/>
              </a:ext>
            </a:extLst>
          </p:cNvPr>
          <p:cNvSpPr txBox="1"/>
          <p:nvPr/>
        </p:nvSpPr>
        <p:spPr>
          <a:xfrm>
            <a:off x="5763669" y="4701802"/>
            <a:ext cx="1270890" cy="646331"/>
          </a:xfrm>
          <a:prstGeom prst="rect">
            <a:avLst/>
          </a:prstGeom>
          <a:noFill/>
        </p:spPr>
        <p:txBody>
          <a:bodyPr wrap="square">
            <a:spAutoFit/>
          </a:bodyPr>
          <a:lstStyle/>
          <a:p>
            <a:r>
              <a:rPr lang="en-US" sz="1200" dirty="0">
                <a:solidFill>
                  <a:schemeClr val="bg1"/>
                </a:solidFill>
              </a:rPr>
              <a:t>Secure test environments and data management</a:t>
            </a:r>
          </a:p>
        </p:txBody>
      </p:sp>
      <p:sp>
        <p:nvSpPr>
          <p:cNvPr id="90" name="TextBox 89">
            <a:extLst>
              <a:ext uri="{FF2B5EF4-FFF2-40B4-BE49-F238E27FC236}">
                <a16:creationId xmlns:a16="http://schemas.microsoft.com/office/drawing/2014/main" id="{82FBBF42-3BF2-D705-2069-48895879491D}"/>
              </a:ext>
            </a:extLst>
          </p:cNvPr>
          <p:cNvSpPr txBox="1"/>
          <p:nvPr/>
        </p:nvSpPr>
        <p:spPr>
          <a:xfrm>
            <a:off x="5752495" y="2533042"/>
            <a:ext cx="1270890" cy="646331"/>
          </a:xfrm>
          <a:prstGeom prst="rect">
            <a:avLst/>
          </a:prstGeom>
          <a:noFill/>
        </p:spPr>
        <p:txBody>
          <a:bodyPr wrap="square">
            <a:spAutoFit/>
          </a:bodyPr>
          <a:lstStyle/>
          <a:p>
            <a:r>
              <a:rPr lang="en-US" sz="1200" dirty="0">
                <a:solidFill>
                  <a:schemeClr val="bg1"/>
                </a:solidFill>
              </a:rPr>
              <a:t>Penetration testing and red teaming</a:t>
            </a:r>
          </a:p>
        </p:txBody>
      </p:sp>
      <p:pic>
        <p:nvPicPr>
          <p:cNvPr id="91" name="Picture 90">
            <a:extLst>
              <a:ext uri="{FF2B5EF4-FFF2-40B4-BE49-F238E27FC236}">
                <a16:creationId xmlns:a16="http://schemas.microsoft.com/office/drawing/2014/main" id="{0429C2E5-0515-DFBE-51DD-3BD729538DBB}"/>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7279856" y="1788157"/>
            <a:ext cx="640080" cy="640080"/>
          </a:xfrm>
          <a:prstGeom prst="rect">
            <a:avLst/>
          </a:prstGeom>
        </p:spPr>
      </p:pic>
      <p:pic>
        <p:nvPicPr>
          <p:cNvPr id="92" name="Picture 91">
            <a:extLst>
              <a:ext uri="{FF2B5EF4-FFF2-40B4-BE49-F238E27FC236}">
                <a16:creationId xmlns:a16="http://schemas.microsoft.com/office/drawing/2014/main" id="{EB000884-983F-A181-7D2F-0EE5A5310267}"/>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7279856" y="4049026"/>
            <a:ext cx="640080" cy="640080"/>
          </a:xfrm>
          <a:prstGeom prst="rect">
            <a:avLst/>
          </a:prstGeom>
        </p:spPr>
      </p:pic>
      <p:pic>
        <p:nvPicPr>
          <p:cNvPr id="93" name="Picture 92">
            <a:extLst>
              <a:ext uri="{FF2B5EF4-FFF2-40B4-BE49-F238E27FC236}">
                <a16:creationId xmlns:a16="http://schemas.microsoft.com/office/drawing/2014/main" id="{378FEE33-9F72-AAB7-C0AB-0A05C1C6B633}"/>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7279856" y="2576965"/>
            <a:ext cx="640080" cy="640080"/>
          </a:xfrm>
          <a:prstGeom prst="rect">
            <a:avLst/>
          </a:prstGeom>
        </p:spPr>
      </p:pic>
      <p:pic>
        <p:nvPicPr>
          <p:cNvPr id="94" name="Picture 93">
            <a:extLst>
              <a:ext uri="{FF2B5EF4-FFF2-40B4-BE49-F238E27FC236}">
                <a16:creationId xmlns:a16="http://schemas.microsoft.com/office/drawing/2014/main" id="{7C3FE4C3-17CE-0037-86D2-DD07C29FB23D}"/>
              </a:ext>
            </a:extLst>
          </p:cNvPr>
          <p:cNvPicPr>
            <a:picLocks noChangeAspect="1"/>
          </p:cNvPicPr>
          <p:nvPr/>
        </p:nvPicPr>
        <p:blipFill>
          <a:blip r:embed="rId29" cstate="print">
            <a:extLst>
              <a:ext uri="{28A0092B-C50C-407E-A947-70E740481C1C}">
                <a14:useLocalDpi xmlns:a14="http://schemas.microsoft.com/office/drawing/2010/main"/>
              </a:ext>
            </a:extLst>
          </a:blip>
          <a:stretch>
            <a:fillRect/>
          </a:stretch>
        </p:blipFill>
        <p:spPr>
          <a:xfrm>
            <a:off x="7279856" y="3365773"/>
            <a:ext cx="640080" cy="640080"/>
          </a:xfrm>
          <a:prstGeom prst="rect">
            <a:avLst/>
          </a:prstGeom>
        </p:spPr>
      </p:pic>
      <p:pic>
        <p:nvPicPr>
          <p:cNvPr id="95" name="Picture 94">
            <a:extLst>
              <a:ext uri="{FF2B5EF4-FFF2-40B4-BE49-F238E27FC236}">
                <a16:creationId xmlns:a16="http://schemas.microsoft.com/office/drawing/2014/main" id="{057193EB-E685-784F-41CA-AB1121A4ECA3}"/>
              </a:ext>
            </a:extLst>
          </p:cNvPr>
          <p:cNvPicPr>
            <a:picLocks noChangeAspect="1"/>
          </p:cNvPicPr>
          <p:nvPr/>
        </p:nvPicPr>
        <p:blipFill>
          <a:blip r:embed="rId30" cstate="print">
            <a:extLst>
              <a:ext uri="{28A0092B-C50C-407E-A947-70E740481C1C}">
                <a14:useLocalDpi xmlns:a14="http://schemas.microsoft.com/office/drawing/2010/main"/>
              </a:ext>
            </a:extLst>
          </a:blip>
          <a:stretch>
            <a:fillRect/>
          </a:stretch>
        </p:blipFill>
        <p:spPr>
          <a:xfrm>
            <a:off x="7279856" y="4746833"/>
            <a:ext cx="640080" cy="640080"/>
          </a:xfrm>
          <a:prstGeom prst="rect">
            <a:avLst/>
          </a:prstGeom>
        </p:spPr>
      </p:pic>
      <p:sp>
        <p:nvSpPr>
          <p:cNvPr id="96" name="TextBox 95">
            <a:extLst>
              <a:ext uri="{FF2B5EF4-FFF2-40B4-BE49-F238E27FC236}">
                <a16:creationId xmlns:a16="http://schemas.microsoft.com/office/drawing/2014/main" id="{56846550-8641-09BA-9E93-409A22132D4A}"/>
              </a:ext>
            </a:extLst>
          </p:cNvPr>
          <p:cNvSpPr txBox="1"/>
          <p:nvPr/>
        </p:nvSpPr>
        <p:spPr>
          <a:xfrm>
            <a:off x="8176246" y="1760403"/>
            <a:ext cx="1270890" cy="830997"/>
          </a:xfrm>
          <a:prstGeom prst="rect">
            <a:avLst/>
          </a:prstGeom>
          <a:noFill/>
        </p:spPr>
        <p:txBody>
          <a:bodyPr wrap="square">
            <a:spAutoFit/>
          </a:bodyPr>
          <a:lstStyle/>
          <a:p>
            <a:r>
              <a:rPr lang="en-US" sz="1200" dirty="0">
                <a:solidFill>
                  <a:schemeClr val="bg1"/>
                </a:solidFill>
              </a:rPr>
              <a:t>Secure deployment and infrastructure as code (IaC)</a:t>
            </a:r>
          </a:p>
        </p:txBody>
      </p:sp>
      <p:sp>
        <p:nvSpPr>
          <p:cNvPr id="97" name="TextBox 96">
            <a:extLst>
              <a:ext uri="{FF2B5EF4-FFF2-40B4-BE49-F238E27FC236}">
                <a16:creationId xmlns:a16="http://schemas.microsoft.com/office/drawing/2014/main" id="{5FA6C932-D4DB-B95B-8B69-F4961B63C55D}"/>
              </a:ext>
            </a:extLst>
          </p:cNvPr>
          <p:cNvSpPr txBox="1"/>
          <p:nvPr/>
        </p:nvSpPr>
        <p:spPr>
          <a:xfrm>
            <a:off x="8176246" y="3384819"/>
            <a:ext cx="1270890" cy="461665"/>
          </a:xfrm>
          <a:prstGeom prst="rect">
            <a:avLst/>
          </a:prstGeom>
          <a:noFill/>
        </p:spPr>
        <p:txBody>
          <a:bodyPr wrap="square">
            <a:spAutoFit/>
          </a:bodyPr>
          <a:lstStyle/>
          <a:p>
            <a:r>
              <a:rPr lang="en-US" sz="1200" dirty="0">
                <a:solidFill>
                  <a:schemeClr val="bg1"/>
                </a:solidFill>
              </a:rPr>
              <a:t>Policy as code (PaC) deployment</a:t>
            </a:r>
          </a:p>
        </p:txBody>
      </p:sp>
      <p:sp>
        <p:nvSpPr>
          <p:cNvPr id="98" name="TextBox 97">
            <a:extLst>
              <a:ext uri="{FF2B5EF4-FFF2-40B4-BE49-F238E27FC236}">
                <a16:creationId xmlns:a16="http://schemas.microsoft.com/office/drawing/2014/main" id="{438856CC-9FDA-0C1F-9555-6FD043F04A34}"/>
              </a:ext>
            </a:extLst>
          </p:cNvPr>
          <p:cNvSpPr txBox="1"/>
          <p:nvPr/>
        </p:nvSpPr>
        <p:spPr>
          <a:xfrm>
            <a:off x="8176246" y="4033805"/>
            <a:ext cx="1270890" cy="461665"/>
          </a:xfrm>
          <a:prstGeom prst="rect">
            <a:avLst/>
          </a:prstGeom>
          <a:noFill/>
        </p:spPr>
        <p:txBody>
          <a:bodyPr wrap="square">
            <a:spAutoFit/>
          </a:bodyPr>
          <a:lstStyle/>
          <a:p>
            <a:r>
              <a:rPr lang="en-US" sz="1200" dirty="0">
                <a:solidFill>
                  <a:schemeClr val="bg1"/>
                </a:solidFill>
              </a:rPr>
              <a:t>Artifact signing and provenance</a:t>
            </a:r>
          </a:p>
        </p:txBody>
      </p:sp>
      <p:sp>
        <p:nvSpPr>
          <p:cNvPr id="99" name="TextBox 98">
            <a:extLst>
              <a:ext uri="{FF2B5EF4-FFF2-40B4-BE49-F238E27FC236}">
                <a16:creationId xmlns:a16="http://schemas.microsoft.com/office/drawing/2014/main" id="{B797FE12-9EAC-6EF8-8824-5A901918C64C}"/>
              </a:ext>
            </a:extLst>
          </p:cNvPr>
          <p:cNvSpPr txBox="1"/>
          <p:nvPr/>
        </p:nvSpPr>
        <p:spPr>
          <a:xfrm>
            <a:off x="8183807" y="4713475"/>
            <a:ext cx="1270890" cy="646331"/>
          </a:xfrm>
          <a:prstGeom prst="rect">
            <a:avLst/>
          </a:prstGeom>
          <a:noFill/>
        </p:spPr>
        <p:txBody>
          <a:bodyPr wrap="square">
            <a:spAutoFit/>
          </a:bodyPr>
          <a:lstStyle/>
          <a:p>
            <a:r>
              <a:rPr lang="en-US" sz="1200" dirty="0">
                <a:solidFill>
                  <a:schemeClr val="bg1"/>
                </a:solidFill>
              </a:rPr>
              <a:t>Deployment security gates and reviews</a:t>
            </a:r>
          </a:p>
        </p:txBody>
      </p:sp>
      <p:sp>
        <p:nvSpPr>
          <p:cNvPr id="100" name="TextBox 99">
            <a:extLst>
              <a:ext uri="{FF2B5EF4-FFF2-40B4-BE49-F238E27FC236}">
                <a16:creationId xmlns:a16="http://schemas.microsoft.com/office/drawing/2014/main" id="{0E5547FF-BAF9-5BD1-FED4-8110A354B0F7}"/>
              </a:ext>
            </a:extLst>
          </p:cNvPr>
          <p:cNvSpPr txBox="1"/>
          <p:nvPr/>
        </p:nvSpPr>
        <p:spPr>
          <a:xfrm>
            <a:off x="8176407" y="2540275"/>
            <a:ext cx="1270890" cy="646331"/>
          </a:xfrm>
          <a:prstGeom prst="rect">
            <a:avLst/>
          </a:prstGeom>
          <a:noFill/>
        </p:spPr>
        <p:txBody>
          <a:bodyPr wrap="square">
            <a:spAutoFit/>
          </a:bodyPr>
          <a:lstStyle/>
          <a:p>
            <a:r>
              <a:rPr lang="en-US" sz="1200" dirty="0">
                <a:solidFill>
                  <a:schemeClr val="bg1"/>
                </a:solidFill>
              </a:rPr>
              <a:t>Container and orchestrator security</a:t>
            </a:r>
          </a:p>
        </p:txBody>
      </p:sp>
      <p:pic>
        <p:nvPicPr>
          <p:cNvPr id="101" name="Picture 100">
            <a:extLst>
              <a:ext uri="{FF2B5EF4-FFF2-40B4-BE49-F238E27FC236}">
                <a16:creationId xmlns:a16="http://schemas.microsoft.com/office/drawing/2014/main" id="{2C61767D-6F7D-296B-D305-C047CABA5ADC}"/>
              </a:ext>
            </a:extLst>
          </p:cNvPr>
          <p:cNvPicPr>
            <a:picLocks noChangeAspect="1"/>
          </p:cNvPicPr>
          <p:nvPr/>
        </p:nvPicPr>
        <p:blipFill>
          <a:blip r:embed="rId31" cstate="print">
            <a:extLst>
              <a:ext uri="{28A0092B-C50C-407E-A947-70E740481C1C}">
                <a14:useLocalDpi xmlns:a14="http://schemas.microsoft.com/office/drawing/2010/main"/>
              </a:ext>
            </a:extLst>
          </a:blip>
          <a:stretch>
            <a:fillRect/>
          </a:stretch>
        </p:blipFill>
        <p:spPr>
          <a:xfrm>
            <a:off x="9562292" y="1736867"/>
            <a:ext cx="640080" cy="640080"/>
          </a:xfrm>
          <a:prstGeom prst="rect">
            <a:avLst/>
          </a:prstGeom>
        </p:spPr>
      </p:pic>
      <p:pic>
        <p:nvPicPr>
          <p:cNvPr id="102" name="Picture 101">
            <a:extLst>
              <a:ext uri="{FF2B5EF4-FFF2-40B4-BE49-F238E27FC236}">
                <a16:creationId xmlns:a16="http://schemas.microsoft.com/office/drawing/2014/main" id="{A2ED66F3-2737-2DA9-1B5E-04E389B54799}"/>
              </a:ext>
            </a:extLst>
          </p:cNvPr>
          <p:cNvPicPr>
            <a:picLocks noChangeAspect="1"/>
          </p:cNvPicPr>
          <p:nvPr/>
        </p:nvPicPr>
        <p:blipFill>
          <a:blip r:embed="rId32" cstate="print">
            <a:extLst>
              <a:ext uri="{28A0092B-C50C-407E-A947-70E740481C1C}">
                <a14:useLocalDpi xmlns:a14="http://schemas.microsoft.com/office/drawing/2010/main"/>
              </a:ext>
            </a:extLst>
          </a:blip>
          <a:stretch>
            <a:fillRect/>
          </a:stretch>
        </p:blipFill>
        <p:spPr>
          <a:xfrm>
            <a:off x="9564048" y="3204349"/>
            <a:ext cx="640080" cy="640080"/>
          </a:xfrm>
          <a:prstGeom prst="rect">
            <a:avLst/>
          </a:prstGeom>
        </p:spPr>
      </p:pic>
      <p:pic>
        <p:nvPicPr>
          <p:cNvPr id="103" name="Picture 102">
            <a:extLst>
              <a:ext uri="{FF2B5EF4-FFF2-40B4-BE49-F238E27FC236}">
                <a16:creationId xmlns:a16="http://schemas.microsoft.com/office/drawing/2014/main" id="{93ECFB00-9036-0387-FDD4-F3DDFFC09849}"/>
              </a:ext>
            </a:extLst>
          </p:cNvPr>
          <p:cNvPicPr>
            <a:picLocks noChangeAspect="1"/>
          </p:cNvPicPr>
          <p:nvPr/>
        </p:nvPicPr>
        <p:blipFill>
          <a:blip r:embed="rId33" cstate="print">
            <a:extLst>
              <a:ext uri="{28A0092B-C50C-407E-A947-70E740481C1C}">
                <a14:useLocalDpi xmlns:a14="http://schemas.microsoft.com/office/drawing/2010/main"/>
              </a:ext>
            </a:extLst>
          </a:blip>
          <a:stretch>
            <a:fillRect/>
          </a:stretch>
        </p:blipFill>
        <p:spPr>
          <a:xfrm>
            <a:off x="9564048" y="5405572"/>
            <a:ext cx="640080" cy="640080"/>
          </a:xfrm>
          <a:prstGeom prst="rect">
            <a:avLst/>
          </a:prstGeom>
        </p:spPr>
      </p:pic>
      <p:pic>
        <p:nvPicPr>
          <p:cNvPr id="104" name="Picture 103">
            <a:extLst>
              <a:ext uri="{FF2B5EF4-FFF2-40B4-BE49-F238E27FC236}">
                <a16:creationId xmlns:a16="http://schemas.microsoft.com/office/drawing/2014/main" id="{CE70181B-2183-CAC9-A355-18DEBFD893E3}"/>
              </a:ext>
            </a:extLst>
          </p:cNvPr>
          <p:cNvPicPr>
            <a:picLocks noChangeAspect="1"/>
          </p:cNvPicPr>
          <p:nvPr/>
        </p:nvPicPr>
        <p:blipFill>
          <a:blip r:embed="rId34" cstate="print">
            <a:extLst>
              <a:ext uri="{28A0092B-C50C-407E-A947-70E740481C1C}">
                <a14:useLocalDpi xmlns:a14="http://schemas.microsoft.com/office/drawing/2010/main"/>
              </a:ext>
            </a:extLst>
          </a:blip>
          <a:stretch>
            <a:fillRect/>
          </a:stretch>
        </p:blipFill>
        <p:spPr>
          <a:xfrm>
            <a:off x="9564048" y="3938090"/>
            <a:ext cx="640080" cy="640080"/>
          </a:xfrm>
          <a:prstGeom prst="rect">
            <a:avLst/>
          </a:prstGeom>
        </p:spPr>
      </p:pic>
      <p:pic>
        <p:nvPicPr>
          <p:cNvPr id="105" name="Picture 104">
            <a:extLst>
              <a:ext uri="{FF2B5EF4-FFF2-40B4-BE49-F238E27FC236}">
                <a16:creationId xmlns:a16="http://schemas.microsoft.com/office/drawing/2014/main" id="{6FCE2291-CB8D-F94C-F730-233AA65BC504}"/>
              </a:ext>
            </a:extLst>
          </p:cNvPr>
          <p:cNvPicPr>
            <a:picLocks noChangeAspect="1"/>
          </p:cNvPicPr>
          <p:nvPr/>
        </p:nvPicPr>
        <p:blipFill>
          <a:blip r:embed="rId35" cstate="print">
            <a:extLst>
              <a:ext uri="{28A0092B-C50C-407E-A947-70E740481C1C}">
                <a14:useLocalDpi xmlns:a14="http://schemas.microsoft.com/office/drawing/2010/main"/>
              </a:ext>
            </a:extLst>
          </a:blip>
          <a:stretch>
            <a:fillRect/>
          </a:stretch>
        </p:blipFill>
        <p:spPr>
          <a:xfrm>
            <a:off x="9564048" y="4671831"/>
            <a:ext cx="640080" cy="640080"/>
          </a:xfrm>
          <a:prstGeom prst="rect">
            <a:avLst/>
          </a:prstGeom>
        </p:spPr>
      </p:pic>
      <p:pic>
        <p:nvPicPr>
          <p:cNvPr id="106" name="Picture 105">
            <a:extLst>
              <a:ext uri="{FF2B5EF4-FFF2-40B4-BE49-F238E27FC236}">
                <a16:creationId xmlns:a16="http://schemas.microsoft.com/office/drawing/2014/main" id="{237D6B46-2A3E-89E7-C9F7-C90FF39BEFDC}"/>
              </a:ext>
            </a:extLst>
          </p:cNvPr>
          <p:cNvPicPr>
            <a:picLocks noChangeAspect="1"/>
          </p:cNvPicPr>
          <p:nvPr/>
        </p:nvPicPr>
        <p:blipFill>
          <a:blip r:embed="rId36" cstate="print">
            <a:extLst>
              <a:ext uri="{28A0092B-C50C-407E-A947-70E740481C1C}">
                <a14:useLocalDpi xmlns:a14="http://schemas.microsoft.com/office/drawing/2010/main"/>
              </a:ext>
            </a:extLst>
          </a:blip>
          <a:stretch>
            <a:fillRect/>
          </a:stretch>
        </p:blipFill>
        <p:spPr>
          <a:xfrm>
            <a:off x="9564048" y="2470608"/>
            <a:ext cx="640080" cy="640080"/>
          </a:xfrm>
          <a:prstGeom prst="rect">
            <a:avLst/>
          </a:prstGeom>
        </p:spPr>
      </p:pic>
      <p:pic>
        <p:nvPicPr>
          <p:cNvPr id="107" name="Picture 106">
            <a:extLst>
              <a:ext uri="{FF2B5EF4-FFF2-40B4-BE49-F238E27FC236}">
                <a16:creationId xmlns:a16="http://schemas.microsoft.com/office/drawing/2014/main" id="{735FA5C6-6B9B-B784-4755-764F47DA7281}"/>
              </a:ext>
            </a:extLst>
          </p:cNvPr>
          <p:cNvPicPr>
            <a:picLocks noChangeAspect="1"/>
          </p:cNvPicPr>
          <p:nvPr/>
        </p:nvPicPr>
        <p:blipFill>
          <a:blip r:embed="rId37" cstate="print">
            <a:extLst>
              <a:ext uri="{28A0092B-C50C-407E-A947-70E740481C1C}">
                <a14:useLocalDpi xmlns:a14="http://schemas.microsoft.com/office/drawing/2010/main"/>
              </a:ext>
            </a:extLst>
          </a:blip>
          <a:stretch>
            <a:fillRect/>
          </a:stretch>
        </p:blipFill>
        <p:spPr>
          <a:xfrm>
            <a:off x="9562292" y="6175193"/>
            <a:ext cx="640080" cy="640080"/>
          </a:xfrm>
          <a:prstGeom prst="rect">
            <a:avLst/>
          </a:prstGeom>
        </p:spPr>
      </p:pic>
      <p:sp>
        <p:nvSpPr>
          <p:cNvPr id="108" name="TextBox 107">
            <a:extLst>
              <a:ext uri="{FF2B5EF4-FFF2-40B4-BE49-F238E27FC236}">
                <a16:creationId xmlns:a16="http://schemas.microsoft.com/office/drawing/2014/main" id="{BA5B959B-AF70-E023-7BE9-6C1BD1ECBCF2}"/>
              </a:ext>
            </a:extLst>
          </p:cNvPr>
          <p:cNvSpPr txBox="1"/>
          <p:nvPr/>
        </p:nvSpPr>
        <p:spPr>
          <a:xfrm>
            <a:off x="10407546" y="1785195"/>
            <a:ext cx="1270890" cy="646331"/>
          </a:xfrm>
          <a:prstGeom prst="rect">
            <a:avLst/>
          </a:prstGeom>
          <a:noFill/>
        </p:spPr>
        <p:txBody>
          <a:bodyPr wrap="square">
            <a:spAutoFit/>
          </a:bodyPr>
          <a:lstStyle/>
          <a:p>
            <a:r>
              <a:rPr lang="en-US" sz="1200" dirty="0">
                <a:solidFill>
                  <a:schemeClr val="bg1"/>
                </a:solidFill>
              </a:rPr>
              <a:t>Security monitoring and threat detection</a:t>
            </a:r>
          </a:p>
        </p:txBody>
      </p:sp>
      <p:sp>
        <p:nvSpPr>
          <p:cNvPr id="109" name="TextBox 108">
            <a:extLst>
              <a:ext uri="{FF2B5EF4-FFF2-40B4-BE49-F238E27FC236}">
                <a16:creationId xmlns:a16="http://schemas.microsoft.com/office/drawing/2014/main" id="{BFB0842F-B277-DA24-1BF7-31236B8B7AAF}"/>
              </a:ext>
            </a:extLst>
          </p:cNvPr>
          <p:cNvSpPr txBox="1"/>
          <p:nvPr/>
        </p:nvSpPr>
        <p:spPr>
          <a:xfrm>
            <a:off x="10407546" y="3194279"/>
            <a:ext cx="1270890" cy="646331"/>
          </a:xfrm>
          <a:prstGeom prst="rect">
            <a:avLst/>
          </a:prstGeom>
          <a:noFill/>
        </p:spPr>
        <p:txBody>
          <a:bodyPr wrap="square">
            <a:spAutoFit/>
          </a:bodyPr>
          <a:lstStyle/>
          <a:p>
            <a:r>
              <a:rPr lang="en-US" sz="1200" dirty="0">
                <a:solidFill>
                  <a:schemeClr val="bg1"/>
                </a:solidFill>
              </a:rPr>
              <a:t>Vulnerability management and patching</a:t>
            </a:r>
          </a:p>
        </p:txBody>
      </p:sp>
      <p:sp>
        <p:nvSpPr>
          <p:cNvPr id="110" name="TextBox 109">
            <a:extLst>
              <a:ext uri="{FF2B5EF4-FFF2-40B4-BE49-F238E27FC236}">
                <a16:creationId xmlns:a16="http://schemas.microsoft.com/office/drawing/2014/main" id="{83556F0B-8CFB-48BA-6B13-0CD613E3708D}"/>
              </a:ext>
            </a:extLst>
          </p:cNvPr>
          <p:cNvSpPr txBox="1"/>
          <p:nvPr/>
        </p:nvSpPr>
        <p:spPr>
          <a:xfrm>
            <a:off x="10418720" y="4029495"/>
            <a:ext cx="1270890" cy="276999"/>
          </a:xfrm>
          <a:prstGeom prst="rect">
            <a:avLst/>
          </a:prstGeom>
          <a:noFill/>
        </p:spPr>
        <p:txBody>
          <a:bodyPr wrap="square">
            <a:spAutoFit/>
          </a:bodyPr>
          <a:lstStyle/>
          <a:p>
            <a:r>
              <a:rPr lang="en-US" sz="1200" dirty="0">
                <a:solidFill>
                  <a:schemeClr val="bg1"/>
                </a:solidFill>
              </a:rPr>
              <a:t>API security</a:t>
            </a:r>
          </a:p>
        </p:txBody>
      </p:sp>
      <p:sp>
        <p:nvSpPr>
          <p:cNvPr id="111" name="TextBox 110">
            <a:extLst>
              <a:ext uri="{FF2B5EF4-FFF2-40B4-BE49-F238E27FC236}">
                <a16:creationId xmlns:a16="http://schemas.microsoft.com/office/drawing/2014/main" id="{73724B29-054C-16D6-18D4-6E1AD3553448}"/>
              </a:ext>
            </a:extLst>
          </p:cNvPr>
          <p:cNvSpPr txBox="1"/>
          <p:nvPr/>
        </p:nvSpPr>
        <p:spPr>
          <a:xfrm>
            <a:off x="10418720" y="4634376"/>
            <a:ext cx="1270890" cy="646331"/>
          </a:xfrm>
          <a:prstGeom prst="rect">
            <a:avLst/>
          </a:prstGeom>
          <a:noFill/>
        </p:spPr>
        <p:txBody>
          <a:bodyPr wrap="square">
            <a:spAutoFit/>
          </a:bodyPr>
          <a:lstStyle/>
          <a:p>
            <a:r>
              <a:rPr lang="en-US" sz="1200" dirty="0">
                <a:solidFill>
                  <a:schemeClr val="bg1"/>
                </a:solidFill>
              </a:rPr>
              <a:t>Environment management and configuration</a:t>
            </a:r>
          </a:p>
        </p:txBody>
      </p:sp>
      <p:sp>
        <p:nvSpPr>
          <p:cNvPr id="112" name="TextBox 111">
            <a:extLst>
              <a:ext uri="{FF2B5EF4-FFF2-40B4-BE49-F238E27FC236}">
                <a16:creationId xmlns:a16="http://schemas.microsoft.com/office/drawing/2014/main" id="{056D5C91-8A8C-6C0F-1357-2DBAE7AB6956}"/>
              </a:ext>
            </a:extLst>
          </p:cNvPr>
          <p:cNvSpPr txBox="1"/>
          <p:nvPr/>
        </p:nvSpPr>
        <p:spPr>
          <a:xfrm>
            <a:off x="10407546" y="5340250"/>
            <a:ext cx="1270890" cy="646331"/>
          </a:xfrm>
          <a:prstGeom prst="rect">
            <a:avLst/>
          </a:prstGeom>
          <a:noFill/>
        </p:spPr>
        <p:txBody>
          <a:bodyPr wrap="square">
            <a:spAutoFit/>
          </a:bodyPr>
          <a:lstStyle/>
          <a:p>
            <a:r>
              <a:rPr lang="en-US" sz="1200" dirty="0">
                <a:solidFill>
                  <a:schemeClr val="bg1"/>
                </a:solidFill>
              </a:rPr>
              <a:t>Vulnerability disclosure and bug bounty</a:t>
            </a:r>
          </a:p>
        </p:txBody>
      </p:sp>
      <p:sp>
        <p:nvSpPr>
          <p:cNvPr id="113" name="TextBox 112">
            <a:extLst>
              <a:ext uri="{FF2B5EF4-FFF2-40B4-BE49-F238E27FC236}">
                <a16:creationId xmlns:a16="http://schemas.microsoft.com/office/drawing/2014/main" id="{C6BD7445-4C8B-165A-6B45-014089731B20}"/>
              </a:ext>
            </a:extLst>
          </p:cNvPr>
          <p:cNvSpPr txBox="1"/>
          <p:nvPr/>
        </p:nvSpPr>
        <p:spPr>
          <a:xfrm>
            <a:off x="10407546" y="6046124"/>
            <a:ext cx="1270890" cy="646331"/>
          </a:xfrm>
          <a:prstGeom prst="rect">
            <a:avLst/>
          </a:prstGeom>
          <a:noFill/>
        </p:spPr>
        <p:txBody>
          <a:bodyPr wrap="square">
            <a:spAutoFit/>
          </a:bodyPr>
          <a:lstStyle/>
          <a:p>
            <a:r>
              <a:rPr lang="en-US" sz="1200" dirty="0">
                <a:solidFill>
                  <a:schemeClr val="bg1"/>
                </a:solidFill>
              </a:rPr>
              <a:t>Agentic AI oversight and control</a:t>
            </a:r>
          </a:p>
        </p:txBody>
      </p:sp>
      <p:sp>
        <p:nvSpPr>
          <p:cNvPr id="114" name="TextBox 113">
            <a:extLst>
              <a:ext uri="{FF2B5EF4-FFF2-40B4-BE49-F238E27FC236}">
                <a16:creationId xmlns:a16="http://schemas.microsoft.com/office/drawing/2014/main" id="{40B1D411-AF2B-8F3B-B800-FC0A3EFC1CEC}"/>
              </a:ext>
            </a:extLst>
          </p:cNvPr>
          <p:cNvSpPr txBox="1"/>
          <p:nvPr/>
        </p:nvSpPr>
        <p:spPr>
          <a:xfrm>
            <a:off x="10418720" y="2475151"/>
            <a:ext cx="1270890" cy="461665"/>
          </a:xfrm>
          <a:prstGeom prst="rect">
            <a:avLst/>
          </a:prstGeom>
          <a:noFill/>
        </p:spPr>
        <p:txBody>
          <a:bodyPr wrap="square">
            <a:spAutoFit/>
          </a:bodyPr>
          <a:lstStyle/>
          <a:p>
            <a:r>
              <a:rPr lang="en-US" sz="1200" dirty="0">
                <a:solidFill>
                  <a:schemeClr val="bg1"/>
                </a:solidFill>
              </a:rPr>
              <a:t>Incident response and recovery</a:t>
            </a:r>
          </a:p>
        </p:txBody>
      </p:sp>
      <p:sp>
        <p:nvSpPr>
          <p:cNvPr id="2" name="TextBox 1">
            <a:extLst>
              <a:ext uri="{FF2B5EF4-FFF2-40B4-BE49-F238E27FC236}">
                <a16:creationId xmlns:a16="http://schemas.microsoft.com/office/drawing/2014/main" id="{C6C82FBF-64F8-34D7-2306-C14E61BBBC2F}"/>
              </a:ext>
            </a:extLst>
          </p:cNvPr>
          <p:cNvSpPr txBox="1"/>
          <p:nvPr/>
        </p:nvSpPr>
        <p:spPr>
          <a:xfrm>
            <a:off x="10011822" y="455020"/>
            <a:ext cx="2328814" cy="276999"/>
          </a:xfrm>
          <a:prstGeom prst="rect">
            <a:avLst/>
          </a:prstGeom>
          <a:noFill/>
        </p:spPr>
        <p:txBody>
          <a:bodyPr wrap="square">
            <a:spAutoFit/>
          </a:bodyPr>
          <a:lstStyle/>
          <a:p>
            <a:r>
              <a:rPr lang="en-US" sz="1200">
                <a:solidFill>
                  <a:schemeClr val="bg1"/>
                </a:solidFill>
              </a:rPr>
              <a:t>Icons generated by Sora</a:t>
            </a:r>
            <a:endParaRPr lang="en-US" sz="1200" dirty="0">
              <a:solidFill>
                <a:schemeClr val="bg1"/>
              </a:solidFill>
            </a:endParaRPr>
          </a:p>
        </p:txBody>
      </p:sp>
    </p:spTree>
    <p:extLst>
      <p:ext uri="{BB962C8B-B14F-4D97-AF65-F5344CB8AC3E}">
        <p14:creationId xmlns:p14="http://schemas.microsoft.com/office/powerpoint/2010/main" val="984309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28E6E-BB88-F07A-7BDB-032F5CDE4EF1}"/>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83072B02-4BC5-4F84-950F-BC186889D2F9}"/>
              </a:ext>
            </a:extLst>
          </p:cNvPr>
          <p:cNvSpPr/>
          <p:nvPr/>
        </p:nvSpPr>
        <p:spPr>
          <a:xfrm>
            <a:off x="8740877" y="0"/>
            <a:ext cx="3452711" cy="6858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BC207716-060E-7133-0B9C-1E998B921FAF}"/>
              </a:ext>
            </a:extLst>
          </p:cNvPr>
          <p:cNvSpPr>
            <a:spLocks noGrp="1"/>
          </p:cNvSpPr>
          <p:nvPr>
            <p:ph type="title"/>
          </p:nvPr>
        </p:nvSpPr>
        <p:spPr>
          <a:xfrm>
            <a:off x="364992" y="547738"/>
            <a:ext cx="11305392" cy="742582"/>
          </a:xfrm>
        </p:spPr>
        <p:txBody>
          <a:bodyPr/>
          <a:lstStyle/>
          <a:p>
            <a:r>
              <a:rPr lang="en-CA" dirty="0" err="1"/>
              <a:t>iSSDLC</a:t>
            </a:r>
            <a:r>
              <a:rPr lang="en-CA" dirty="0"/>
              <a:t> capabilities definitions</a:t>
            </a:r>
            <a:br>
              <a:rPr lang="en-CA" dirty="0"/>
            </a:br>
            <a:r>
              <a:rPr lang="en-CA" sz="3200" dirty="0">
                <a:solidFill>
                  <a:schemeClr val="accent1">
                    <a:lumMod val="50000"/>
                  </a:schemeClr>
                </a:solidFill>
              </a:rPr>
              <a:t>Analyze and design phase</a:t>
            </a:r>
            <a:endParaRPr lang="en-US" i="1" dirty="0">
              <a:solidFill>
                <a:schemeClr val="accent1">
                  <a:lumMod val="50000"/>
                </a:schemeClr>
              </a:solidFill>
            </a:endParaRPr>
          </a:p>
        </p:txBody>
      </p:sp>
      <p:sp>
        <p:nvSpPr>
          <p:cNvPr id="2" name="TextBox 1">
            <a:extLst>
              <a:ext uri="{FF2B5EF4-FFF2-40B4-BE49-F238E27FC236}">
                <a16:creationId xmlns:a16="http://schemas.microsoft.com/office/drawing/2014/main" id="{B49FA4CB-B784-B611-0BB3-778063E86005}"/>
              </a:ext>
            </a:extLst>
          </p:cNvPr>
          <p:cNvSpPr txBox="1"/>
          <p:nvPr/>
        </p:nvSpPr>
        <p:spPr>
          <a:xfrm>
            <a:off x="259890" y="1707629"/>
            <a:ext cx="7871388" cy="523220"/>
          </a:xfrm>
          <a:prstGeom prst="rect">
            <a:avLst/>
          </a:prstGeom>
        </p:spPr>
        <p:txBody>
          <a:bodyPr wrap="square" rtlCol="0">
            <a:spAutoFit/>
          </a:bodyPr>
          <a:lstStyle/>
          <a:p>
            <a:pPr marR="0" lvl="0" algn="l" defTabSz="554492" rtl="0" eaLnBrk="1" fontAlgn="auto" latinLnBrk="0" hangingPunct="1">
              <a:lnSpc>
                <a:spcPct val="100000"/>
              </a:lnSpc>
              <a:spcBef>
                <a:spcPts val="0"/>
              </a:spcBef>
              <a:spcAft>
                <a:spcPts val="600"/>
              </a:spcAft>
              <a:buClrTx/>
              <a:buSzTx/>
              <a:tabLst/>
              <a:defRPr/>
            </a:pPr>
            <a:r>
              <a:rPr lang="en-US" sz="1400" dirty="0">
                <a:solidFill>
                  <a:srgbClr val="000000"/>
                </a:solidFill>
                <a:latin typeface="Roboto Condensed Light" panose="02000000000000000000" pitchFamily="2" charset="0"/>
                <a:ea typeface="Roboto Condensed Light" panose="02000000000000000000" pitchFamily="2" charset="0"/>
              </a:rPr>
              <a:t>Embedding security early ensures foundational decisions are developed with risk in mind and helps prevent architectural flaws, which are costly to fix if they reach further phases.</a:t>
            </a:r>
            <a:endParaRPr kumimoji="0" lang="en-US"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graphicFrame>
        <p:nvGraphicFramePr>
          <p:cNvPr id="6" name="Table 5">
            <a:extLst>
              <a:ext uri="{FF2B5EF4-FFF2-40B4-BE49-F238E27FC236}">
                <a16:creationId xmlns:a16="http://schemas.microsoft.com/office/drawing/2014/main" id="{B79F616C-0264-EC50-05D1-18CE3B37A00A}"/>
              </a:ext>
            </a:extLst>
          </p:cNvPr>
          <p:cNvGraphicFramePr>
            <a:graphicFrameLocks noGrp="1"/>
          </p:cNvGraphicFramePr>
          <p:nvPr>
            <p:extLst>
              <p:ext uri="{D42A27DB-BD31-4B8C-83A1-F6EECF244321}">
                <p14:modId xmlns:p14="http://schemas.microsoft.com/office/powerpoint/2010/main" val="4106970191"/>
              </p:ext>
            </p:extLst>
          </p:nvPr>
        </p:nvGraphicFramePr>
        <p:xfrm>
          <a:off x="364993" y="2484595"/>
          <a:ext cx="8021924" cy="3732710"/>
        </p:xfrm>
        <a:graphic>
          <a:graphicData uri="http://schemas.openxmlformats.org/drawingml/2006/table">
            <a:tbl>
              <a:tblPr firstRow="1" bandRow="1">
                <a:tableStyleId>{5C22544A-7EE6-4342-B048-85BDC9FD1C3A}</a:tableStyleId>
              </a:tblPr>
              <a:tblGrid>
                <a:gridCol w="2683007">
                  <a:extLst>
                    <a:ext uri="{9D8B030D-6E8A-4147-A177-3AD203B41FA5}">
                      <a16:colId xmlns:a16="http://schemas.microsoft.com/office/drawing/2014/main" val="4211586766"/>
                    </a:ext>
                  </a:extLst>
                </a:gridCol>
                <a:gridCol w="5338917">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Capability</a:t>
                      </a:r>
                    </a:p>
                  </a:txBody>
                  <a:tcPr/>
                </a:tc>
                <a:tc>
                  <a:txBody>
                    <a:bodyPr/>
                    <a:lstStyle/>
                    <a:p>
                      <a:r>
                        <a:rPr lang="en-US" sz="1400" dirty="0">
                          <a:latin typeface="Montserrat Medium" panose="00000600000000000000" pitchFamily="2" charset="0"/>
                        </a:rPr>
                        <a:t>Definition</a:t>
                      </a:r>
                    </a:p>
                  </a:txBody>
                  <a:tcPr/>
                </a:tc>
                <a:extLst>
                  <a:ext uri="{0D108BD9-81ED-4DB2-BD59-A6C34878D82A}">
                    <a16:rowId xmlns:a16="http://schemas.microsoft.com/office/drawing/2014/main" val="1016400015"/>
                  </a:ext>
                </a:extLst>
              </a:tr>
              <a:tr h="419212">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requirements definition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Document explicit security objectives and control requirements early.</a:t>
                      </a: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Threat modeling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Systematically identify and prioritize threats and mitigations.</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architecture design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Embed security principles in system architecture.</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Zero trust architecture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Develop an architecture with continuous identity, device, and context verification.</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AI/ML design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Protect ML and AI models and components.</a:t>
                      </a:r>
                    </a:p>
                  </a:txBody>
                  <a:tcPr marL="0" marR="0" marT="0" marB="0" anchor="ctr"/>
                </a:tc>
                <a:extLst>
                  <a:ext uri="{0D108BD9-81ED-4DB2-BD59-A6C34878D82A}">
                    <a16:rowId xmlns:a16="http://schemas.microsoft.com/office/drawing/2014/main" val="212257320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AI/ML training data collection security</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Ensure training data set provenance, integrity, and compliance.</a:t>
                      </a:r>
                    </a:p>
                  </a:txBody>
                  <a:tcPr marL="0" marR="0" marT="0" marB="0" anchor="ctr"/>
                </a:tc>
                <a:extLst>
                  <a:ext uri="{0D108BD9-81ED-4DB2-BD59-A6C34878D82A}">
                    <a16:rowId xmlns:a16="http://schemas.microsoft.com/office/drawing/2014/main" val="739599812"/>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design review and assurance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Independently verify design to meet security needs.</a:t>
                      </a:r>
                    </a:p>
                  </a:txBody>
                  <a:tcPr marL="0" marR="0" marT="0" marB="0" anchor="ctr"/>
                </a:tc>
                <a:extLst>
                  <a:ext uri="{0D108BD9-81ED-4DB2-BD59-A6C34878D82A}">
                    <a16:rowId xmlns:a16="http://schemas.microsoft.com/office/drawing/2014/main" val="2738808895"/>
                  </a:ext>
                </a:extLst>
              </a:tr>
            </a:tbl>
          </a:graphicData>
        </a:graphic>
      </p:graphicFrame>
      <p:pic>
        <p:nvPicPr>
          <p:cNvPr id="20" name="Picture 19" descr="A white logo with a lock and circles&#10;&#10;AI-generated content may be incorrect.">
            <a:extLst>
              <a:ext uri="{FF2B5EF4-FFF2-40B4-BE49-F238E27FC236}">
                <a16:creationId xmlns:a16="http://schemas.microsoft.com/office/drawing/2014/main" id="{255BFF80-AEFC-FB5D-1A06-966A5050BD0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435189" y="4220832"/>
            <a:ext cx="731520" cy="731520"/>
          </a:xfrm>
          <a:prstGeom prst="rect">
            <a:avLst/>
          </a:prstGeom>
        </p:spPr>
      </p:pic>
      <p:pic>
        <p:nvPicPr>
          <p:cNvPr id="21" name="Picture 20" descr="A white line drawing of a stack of bricks and a lock&#10;&#10;AI-generated content may be incorrect.">
            <a:extLst>
              <a:ext uri="{FF2B5EF4-FFF2-40B4-BE49-F238E27FC236}">
                <a16:creationId xmlns:a16="http://schemas.microsoft.com/office/drawing/2014/main" id="{ADDB64E7-3FCD-4603-C12A-AED42F4003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435189" y="3502144"/>
            <a:ext cx="731520" cy="731520"/>
          </a:xfrm>
          <a:prstGeom prst="rect">
            <a:avLst/>
          </a:prstGeom>
        </p:spPr>
      </p:pic>
      <p:pic>
        <p:nvPicPr>
          <p:cNvPr id="22" name="Picture 21" descr="A white outline of a shield and magnifying glass&#10;&#10;AI-generated content may be incorrect.">
            <a:extLst>
              <a:ext uri="{FF2B5EF4-FFF2-40B4-BE49-F238E27FC236}">
                <a16:creationId xmlns:a16="http://schemas.microsoft.com/office/drawing/2014/main" id="{F2B36A72-8487-4512-1A85-C5C1201BDFA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435189" y="2783456"/>
            <a:ext cx="731520" cy="731520"/>
          </a:xfrm>
          <a:prstGeom prst="rect">
            <a:avLst/>
          </a:prstGeom>
        </p:spPr>
      </p:pic>
      <p:pic>
        <p:nvPicPr>
          <p:cNvPr id="23" name="Picture 22" descr="A white line drawing of a checklist and a shield&#10;&#10;AI-generated content may be incorrect.">
            <a:extLst>
              <a:ext uri="{FF2B5EF4-FFF2-40B4-BE49-F238E27FC236}">
                <a16:creationId xmlns:a16="http://schemas.microsoft.com/office/drawing/2014/main" id="{8E33F3FA-F5E9-9C48-2F50-6D21E7F0846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35189" y="1346080"/>
            <a:ext cx="731520" cy="731520"/>
          </a:xfrm>
          <a:prstGeom prst="rect">
            <a:avLst/>
          </a:prstGeom>
        </p:spPr>
      </p:pic>
      <p:pic>
        <p:nvPicPr>
          <p:cNvPr id="24" name="Picture 23" descr="A white outline of a shield with a magnifying glass&#10;&#10;AI-generated content may be incorrect.">
            <a:extLst>
              <a:ext uri="{FF2B5EF4-FFF2-40B4-BE49-F238E27FC236}">
                <a16:creationId xmlns:a16="http://schemas.microsoft.com/office/drawing/2014/main" id="{7FF97A7A-7C09-1925-D56E-9133E31E6FF4}"/>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435189" y="2064768"/>
            <a:ext cx="731520" cy="731520"/>
          </a:xfrm>
          <a:prstGeom prst="rect">
            <a:avLst/>
          </a:prstGeom>
        </p:spPr>
      </p:pic>
      <p:pic>
        <p:nvPicPr>
          <p:cNvPr id="25" name="Picture 24" descr="A white line drawing of a server and a shield&#10;&#10;AI-generated content may be incorrect.">
            <a:extLst>
              <a:ext uri="{FF2B5EF4-FFF2-40B4-BE49-F238E27FC236}">
                <a16:creationId xmlns:a16="http://schemas.microsoft.com/office/drawing/2014/main" id="{500A1459-D4F5-2277-A5BD-E1D2D0077F4B}"/>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435189" y="4939520"/>
            <a:ext cx="731520" cy="731520"/>
          </a:xfrm>
          <a:prstGeom prst="rect">
            <a:avLst/>
          </a:prstGeom>
        </p:spPr>
      </p:pic>
      <p:pic>
        <p:nvPicPr>
          <p:cNvPr id="26" name="Picture 25" descr="A white line drawing of a paper with a shield and a check mark&#10;&#10;AI-generated content may be incorrect.">
            <a:extLst>
              <a:ext uri="{FF2B5EF4-FFF2-40B4-BE49-F238E27FC236}">
                <a16:creationId xmlns:a16="http://schemas.microsoft.com/office/drawing/2014/main" id="{B86427BC-030E-CE82-E4F4-DF92F1A6AD8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428194" y="5658206"/>
            <a:ext cx="731520" cy="731520"/>
          </a:xfrm>
          <a:prstGeom prst="rect">
            <a:avLst/>
          </a:prstGeom>
          <a:noFill/>
        </p:spPr>
      </p:pic>
      <p:sp>
        <p:nvSpPr>
          <p:cNvPr id="27" name="TextBox 26">
            <a:extLst>
              <a:ext uri="{FF2B5EF4-FFF2-40B4-BE49-F238E27FC236}">
                <a16:creationId xmlns:a16="http://schemas.microsoft.com/office/drawing/2014/main" id="{6EBB1DA7-1DD6-5589-F05B-67B737C8668A}"/>
              </a:ext>
            </a:extLst>
          </p:cNvPr>
          <p:cNvSpPr txBox="1"/>
          <p:nvPr/>
        </p:nvSpPr>
        <p:spPr>
          <a:xfrm>
            <a:off x="10155535" y="1384463"/>
            <a:ext cx="1270890" cy="646331"/>
          </a:xfrm>
          <a:prstGeom prst="rect">
            <a:avLst/>
          </a:prstGeom>
          <a:noFill/>
        </p:spPr>
        <p:txBody>
          <a:bodyPr wrap="square">
            <a:spAutoFit/>
          </a:bodyPr>
          <a:lstStyle/>
          <a:p>
            <a:r>
              <a:rPr lang="en-US" sz="1200" dirty="0">
                <a:solidFill>
                  <a:schemeClr val="bg1"/>
                </a:solidFill>
              </a:rPr>
              <a:t>Security requirements definition</a:t>
            </a:r>
          </a:p>
        </p:txBody>
      </p:sp>
      <p:sp>
        <p:nvSpPr>
          <p:cNvPr id="28" name="TextBox 27">
            <a:extLst>
              <a:ext uri="{FF2B5EF4-FFF2-40B4-BE49-F238E27FC236}">
                <a16:creationId xmlns:a16="http://schemas.microsoft.com/office/drawing/2014/main" id="{43CEC34C-7403-8387-F859-EF0F843AD948}"/>
              </a:ext>
            </a:extLst>
          </p:cNvPr>
          <p:cNvSpPr txBox="1"/>
          <p:nvPr/>
        </p:nvSpPr>
        <p:spPr>
          <a:xfrm>
            <a:off x="10155535" y="2725547"/>
            <a:ext cx="1270890" cy="646331"/>
          </a:xfrm>
          <a:prstGeom prst="rect">
            <a:avLst/>
          </a:prstGeom>
          <a:noFill/>
        </p:spPr>
        <p:txBody>
          <a:bodyPr wrap="square">
            <a:spAutoFit/>
          </a:bodyPr>
          <a:lstStyle/>
          <a:p>
            <a:r>
              <a:rPr lang="en-US" sz="1200" dirty="0">
                <a:solidFill>
                  <a:schemeClr val="bg1"/>
                </a:solidFill>
              </a:rPr>
              <a:t>Secure architecture design</a:t>
            </a:r>
          </a:p>
        </p:txBody>
      </p:sp>
      <p:sp>
        <p:nvSpPr>
          <p:cNvPr id="29" name="TextBox 28">
            <a:extLst>
              <a:ext uri="{FF2B5EF4-FFF2-40B4-BE49-F238E27FC236}">
                <a16:creationId xmlns:a16="http://schemas.microsoft.com/office/drawing/2014/main" id="{2C59283E-20A6-7083-72DD-FBC4F6D98A91}"/>
              </a:ext>
            </a:extLst>
          </p:cNvPr>
          <p:cNvSpPr txBox="1"/>
          <p:nvPr/>
        </p:nvSpPr>
        <p:spPr>
          <a:xfrm>
            <a:off x="10155535" y="3514958"/>
            <a:ext cx="1270890" cy="461665"/>
          </a:xfrm>
          <a:prstGeom prst="rect">
            <a:avLst/>
          </a:prstGeom>
          <a:noFill/>
        </p:spPr>
        <p:txBody>
          <a:bodyPr wrap="square">
            <a:spAutoFit/>
          </a:bodyPr>
          <a:lstStyle/>
          <a:p>
            <a:r>
              <a:rPr lang="en-US" sz="1200" dirty="0">
                <a:solidFill>
                  <a:schemeClr val="bg1"/>
                </a:solidFill>
              </a:rPr>
              <a:t>Zero trust architecture</a:t>
            </a:r>
          </a:p>
        </p:txBody>
      </p:sp>
      <p:sp>
        <p:nvSpPr>
          <p:cNvPr id="30" name="TextBox 29">
            <a:extLst>
              <a:ext uri="{FF2B5EF4-FFF2-40B4-BE49-F238E27FC236}">
                <a16:creationId xmlns:a16="http://schemas.microsoft.com/office/drawing/2014/main" id="{883D070D-4A42-AEEF-FB07-E9F3A0C21FB7}"/>
              </a:ext>
            </a:extLst>
          </p:cNvPr>
          <p:cNvSpPr txBox="1"/>
          <p:nvPr/>
        </p:nvSpPr>
        <p:spPr>
          <a:xfrm>
            <a:off x="10166709" y="4279891"/>
            <a:ext cx="1270890" cy="461665"/>
          </a:xfrm>
          <a:prstGeom prst="rect">
            <a:avLst/>
          </a:prstGeom>
          <a:noFill/>
        </p:spPr>
        <p:txBody>
          <a:bodyPr wrap="square">
            <a:spAutoFit/>
          </a:bodyPr>
          <a:lstStyle/>
          <a:p>
            <a:r>
              <a:rPr lang="en-US" sz="1200" dirty="0">
                <a:solidFill>
                  <a:schemeClr val="bg1"/>
                </a:solidFill>
              </a:rPr>
              <a:t>Secure AI/ML </a:t>
            </a:r>
            <a:br>
              <a:rPr lang="en-US" sz="1200" dirty="0">
                <a:solidFill>
                  <a:schemeClr val="bg1"/>
                </a:solidFill>
              </a:rPr>
            </a:br>
            <a:r>
              <a:rPr lang="en-US" sz="1200" dirty="0">
                <a:solidFill>
                  <a:schemeClr val="bg1"/>
                </a:solidFill>
              </a:rPr>
              <a:t>design</a:t>
            </a:r>
          </a:p>
        </p:txBody>
      </p:sp>
      <p:sp>
        <p:nvSpPr>
          <p:cNvPr id="31" name="TextBox 30">
            <a:extLst>
              <a:ext uri="{FF2B5EF4-FFF2-40B4-BE49-F238E27FC236}">
                <a16:creationId xmlns:a16="http://schemas.microsoft.com/office/drawing/2014/main" id="{39EF21E6-A8BF-C89B-17BF-51B9BD1DF9B5}"/>
              </a:ext>
            </a:extLst>
          </p:cNvPr>
          <p:cNvSpPr txBox="1"/>
          <p:nvPr/>
        </p:nvSpPr>
        <p:spPr>
          <a:xfrm>
            <a:off x="10155535" y="4939518"/>
            <a:ext cx="1270890" cy="646331"/>
          </a:xfrm>
          <a:prstGeom prst="rect">
            <a:avLst/>
          </a:prstGeom>
          <a:noFill/>
        </p:spPr>
        <p:txBody>
          <a:bodyPr wrap="square">
            <a:spAutoFit/>
          </a:bodyPr>
          <a:lstStyle/>
          <a:p>
            <a:r>
              <a:rPr lang="en-US" sz="1200" dirty="0">
                <a:solidFill>
                  <a:schemeClr val="bg1"/>
                </a:solidFill>
              </a:rPr>
              <a:t>AI/ML training data collection security</a:t>
            </a:r>
          </a:p>
        </p:txBody>
      </p:sp>
      <p:sp>
        <p:nvSpPr>
          <p:cNvPr id="32" name="TextBox 31">
            <a:extLst>
              <a:ext uri="{FF2B5EF4-FFF2-40B4-BE49-F238E27FC236}">
                <a16:creationId xmlns:a16="http://schemas.microsoft.com/office/drawing/2014/main" id="{B79D30A5-5311-4DCA-33F4-C761F8CAE2FB}"/>
              </a:ext>
            </a:extLst>
          </p:cNvPr>
          <p:cNvSpPr txBox="1"/>
          <p:nvPr/>
        </p:nvSpPr>
        <p:spPr>
          <a:xfrm>
            <a:off x="10155535" y="5645392"/>
            <a:ext cx="1270890" cy="646331"/>
          </a:xfrm>
          <a:prstGeom prst="rect">
            <a:avLst/>
          </a:prstGeom>
          <a:noFill/>
        </p:spPr>
        <p:txBody>
          <a:bodyPr wrap="square">
            <a:spAutoFit/>
          </a:bodyPr>
          <a:lstStyle/>
          <a:p>
            <a:r>
              <a:rPr lang="en-US" sz="1200" dirty="0">
                <a:solidFill>
                  <a:schemeClr val="bg1"/>
                </a:solidFill>
              </a:rPr>
              <a:t>Secure design review and assurance</a:t>
            </a:r>
          </a:p>
        </p:txBody>
      </p:sp>
      <p:sp>
        <p:nvSpPr>
          <p:cNvPr id="33" name="TextBox 32">
            <a:extLst>
              <a:ext uri="{FF2B5EF4-FFF2-40B4-BE49-F238E27FC236}">
                <a16:creationId xmlns:a16="http://schemas.microsoft.com/office/drawing/2014/main" id="{8B26D315-B225-4CBB-2A0B-8E7B941B5D48}"/>
              </a:ext>
            </a:extLst>
          </p:cNvPr>
          <p:cNvSpPr txBox="1"/>
          <p:nvPr/>
        </p:nvSpPr>
        <p:spPr>
          <a:xfrm>
            <a:off x="10155535" y="2222072"/>
            <a:ext cx="1270890" cy="276999"/>
          </a:xfrm>
          <a:prstGeom prst="rect">
            <a:avLst/>
          </a:prstGeom>
          <a:noFill/>
        </p:spPr>
        <p:txBody>
          <a:bodyPr wrap="square">
            <a:spAutoFit/>
          </a:bodyPr>
          <a:lstStyle/>
          <a:p>
            <a:r>
              <a:rPr lang="en-US" sz="1200" dirty="0">
                <a:solidFill>
                  <a:schemeClr val="bg1"/>
                </a:solidFill>
              </a:rPr>
              <a:t>Threat modeling</a:t>
            </a:r>
          </a:p>
        </p:txBody>
      </p:sp>
      <p:grpSp>
        <p:nvGrpSpPr>
          <p:cNvPr id="34" name="Group 33">
            <a:extLst>
              <a:ext uri="{FF2B5EF4-FFF2-40B4-BE49-F238E27FC236}">
                <a16:creationId xmlns:a16="http://schemas.microsoft.com/office/drawing/2014/main" id="{94BD18F8-3796-6478-BEC3-0049EA827B21}"/>
              </a:ext>
            </a:extLst>
          </p:cNvPr>
          <p:cNvGrpSpPr/>
          <p:nvPr/>
        </p:nvGrpSpPr>
        <p:grpSpPr>
          <a:xfrm>
            <a:off x="9114425" y="414866"/>
            <a:ext cx="2555959" cy="752495"/>
            <a:chOff x="2871" y="1492112"/>
            <a:chExt cx="2555959" cy="752495"/>
          </a:xfrm>
        </p:grpSpPr>
        <p:sp>
          <p:nvSpPr>
            <p:cNvPr id="35" name="Arrow: Chevron 34">
              <a:extLst>
                <a:ext uri="{FF2B5EF4-FFF2-40B4-BE49-F238E27FC236}">
                  <a16:creationId xmlns:a16="http://schemas.microsoft.com/office/drawing/2014/main" id="{CF07AD5C-A05F-9954-C05F-502096BCA3ED}"/>
                </a:ext>
              </a:extLst>
            </p:cNvPr>
            <p:cNvSpPr/>
            <p:nvPr/>
          </p:nvSpPr>
          <p:spPr>
            <a:xfrm>
              <a:off x="2871" y="1492112"/>
              <a:ext cx="2555959" cy="752495"/>
            </a:xfrm>
            <a:prstGeom prst="chevron">
              <a:avLst/>
            </a:prstGeom>
            <a:solidFill>
              <a:schemeClr val="accent1">
                <a:hueOff val="0"/>
                <a:satOff val="0"/>
                <a:lumOff val="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36" name="Arrow: Chevron 4">
              <a:extLst>
                <a:ext uri="{FF2B5EF4-FFF2-40B4-BE49-F238E27FC236}">
                  <a16:creationId xmlns:a16="http://schemas.microsoft.com/office/drawing/2014/main" id="{BF1B13AD-FEA5-2235-8C39-C81C16786594}"/>
                </a:ext>
              </a:extLst>
            </p:cNvPr>
            <p:cNvSpPr txBox="1"/>
            <p:nvPr/>
          </p:nvSpPr>
          <p:spPr>
            <a:xfrm>
              <a:off x="379119" y="1492112"/>
              <a:ext cx="1803464" cy="7524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Analyze </a:t>
              </a:r>
              <a:r>
                <a:rPr lang="en-US" sz="1400" dirty="0">
                  <a:latin typeface="Exo" pitchFamily="2" charset="0"/>
                </a:rPr>
                <a:t>and d</a:t>
              </a:r>
              <a:r>
                <a:rPr lang="en-US" sz="1400" kern="1200" dirty="0">
                  <a:latin typeface="Exo" pitchFamily="2" charset="0"/>
                </a:rPr>
                <a:t>esign</a:t>
              </a:r>
            </a:p>
          </p:txBody>
        </p:sp>
      </p:grpSp>
    </p:spTree>
    <p:extLst>
      <p:ext uri="{BB962C8B-B14F-4D97-AF65-F5344CB8AC3E}">
        <p14:creationId xmlns:p14="http://schemas.microsoft.com/office/powerpoint/2010/main" val="789558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A738A-83ED-5054-8142-FB11295F24F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B4F4A95-5C4D-FD64-ECC4-C623660460FC}"/>
              </a:ext>
            </a:extLst>
          </p:cNvPr>
          <p:cNvSpPr/>
          <p:nvPr/>
        </p:nvSpPr>
        <p:spPr>
          <a:xfrm>
            <a:off x="8740877" y="0"/>
            <a:ext cx="3452711" cy="6858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ED670EE6-5B30-46AF-9BAB-1D87F6A91EF4}"/>
              </a:ext>
            </a:extLst>
          </p:cNvPr>
          <p:cNvSpPr>
            <a:spLocks noGrp="1"/>
          </p:cNvSpPr>
          <p:nvPr>
            <p:ph type="title"/>
          </p:nvPr>
        </p:nvSpPr>
        <p:spPr>
          <a:xfrm>
            <a:off x="364992" y="547738"/>
            <a:ext cx="11305392" cy="742582"/>
          </a:xfrm>
        </p:spPr>
        <p:txBody>
          <a:bodyPr/>
          <a:lstStyle/>
          <a:p>
            <a:r>
              <a:rPr lang="en-CA" dirty="0" err="1"/>
              <a:t>iSSDLC</a:t>
            </a:r>
            <a:r>
              <a:rPr lang="en-CA" dirty="0"/>
              <a:t> capabilities definitions</a:t>
            </a:r>
            <a:br>
              <a:rPr lang="en-CA" dirty="0"/>
            </a:br>
            <a:r>
              <a:rPr lang="en-CA" sz="3200" dirty="0">
                <a:solidFill>
                  <a:schemeClr val="accent1">
                    <a:lumMod val="50000"/>
                  </a:schemeClr>
                </a:solidFill>
              </a:rPr>
              <a:t>Build phase</a:t>
            </a:r>
            <a:endParaRPr lang="en-US" sz="3200" dirty="0">
              <a:solidFill>
                <a:schemeClr val="accent1">
                  <a:lumMod val="50000"/>
                </a:schemeClr>
              </a:solidFill>
            </a:endParaRPr>
          </a:p>
        </p:txBody>
      </p:sp>
      <p:sp>
        <p:nvSpPr>
          <p:cNvPr id="2" name="TextBox 1">
            <a:extLst>
              <a:ext uri="{FF2B5EF4-FFF2-40B4-BE49-F238E27FC236}">
                <a16:creationId xmlns:a16="http://schemas.microsoft.com/office/drawing/2014/main" id="{5F3E5E5C-4B8D-4504-9AA0-67DB534EE7EC}"/>
              </a:ext>
            </a:extLst>
          </p:cNvPr>
          <p:cNvSpPr txBox="1"/>
          <p:nvPr/>
        </p:nvSpPr>
        <p:spPr>
          <a:xfrm>
            <a:off x="283713" y="1765450"/>
            <a:ext cx="8221190" cy="523220"/>
          </a:xfrm>
          <a:prstGeom prst="rect">
            <a:avLst/>
          </a:prstGeom>
        </p:spPr>
        <p:txBody>
          <a:bodyPr wrap="square" rtlCol="0">
            <a:spAutoFit/>
          </a:bodyPr>
          <a:lstStyle/>
          <a:p>
            <a:pPr marR="0" lvl="0" algn="l" defTabSz="554492" rtl="0" eaLnBrk="1" fontAlgn="auto" latinLnBrk="0" hangingPunct="1">
              <a:lnSpc>
                <a:spcPct val="100000"/>
              </a:lnSpc>
              <a:spcBef>
                <a:spcPts val="0"/>
              </a:spcBef>
              <a:spcAft>
                <a:spcPts val="600"/>
              </a:spcAft>
              <a:buClrTx/>
              <a:buSzTx/>
              <a:tabLst/>
              <a:defRPr/>
            </a:pPr>
            <a:r>
              <a:rPr kumimoji="0" lang="en-US"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Embedding developer-centric security practices during development will reduce vulnerabilities at the source, enabling developers to be the first line of defense.</a:t>
            </a:r>
          </a:p>
        </p:txBody>
      </p:sp>
      <p:graphicFrame>
        <p:nvGraphicFramePr>
          <p:cNvPr id="5" name="Table 4">
            <a:extLst>
              <a:ext uri="{FF2B5EF4-FFF2-40B4-BE49-F238E27FC236}">
                <a16:creationId xmlns:a16="http://schemas.microsoft.com/office/drawing/2014/main" id="{0B04141F-084D-BB87-4C81-21DEA23B100F}"/>
              </a:ext>
            </a:extLst>
          </p:cNvPr>
          <p:cNvGraphicFramePr>
            <a:graphicFrameLocks noGrp="1"/>
          </p:cNvGraphicFramePr>
          <p:nvPr>
            <p:extLst>
              <p:ext uri="{D42A27DB-BD31-4B8C-83A1-F6EECF244321}">
                <p14:modId xmlns:p14="http://schemas.microsoft.com/office/powerpoint/2010/main" val="542456237"/>
              </p:ext>
            </p:extLst>
          </p:nvPr>
        </p:nvGraphicFramePr>
        <p:xfrm>
          <a:off x="364993" y="2495105"/>
          <a:ext cx="8031756" cy="3257837"/>
        </p:xfrm>
        <a:graphic>
          <a:graphicData uri="http://schemas.openxmlformats.org/drawingml/2006/table">
            <a:tbl>
              <a:tblPr firstRow="1" bandRow="1">
                <a:tableStyleId>{5C22544A-7EE6-4342-B048-85BDC9FD1C3A}</a:tableStyleId>
              </a:tblPr>
              <a:tblGrid>
                <a:gridCol w="2692243">
                  <a:extLst>
                    <a:ext uri="{9D8B030D-6E8A-4147-A177-3AD203B41FA5}">
                      <a16:colId xmlns:a16="http://schemas.microsoft.com/office/drawing/2014/main" val="4211586766"/>
                    </a:ext>
                  </a:extLst>
                </a:gridCol>
                <a:gridCol w="5339513">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Capability</a:t>
                      </a:r>
                    </a:p>
                  </a:txBody>
                  <a:tcPr/>
                </a:tc>
                <a:tc>
                  <a:txBody>
                    <a:bodyPr/>
                    <a:lstStyle/>
                    <a:p>
                      <a:r>
                        <a:rPr lang="en-US" sz="1400" dirty="0">
                          <a:latin typeface="Montserrat Medium" panose="00000600000000000000" pitchFamily="2" charset="0"/>
                        </a:rPr>
                        <a:t>Definition</a:t>
                      </a:r>
                    </a:p>
                  </a:txBody>
                  <a:tcPr/>
                </a:tc>
                <a:extLst>
                  <a:ext uri="{0D108BD9-81ED-4DB2-BD59-A6C34878D82A}">
                    <a16:rowId xmlns:a16="http://schemas.microsoft.com/office/drawing/2014/main" val="1016400015"/>
                  </a:ext>
                </a:extLst>
              </a:tr>
              <a:tr h="419212">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coding practices and training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Apply security coding guidelines and train developers on security best practices.</a:t>
                      </a: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code review and static analysis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Use peer and automated review to find code flaws.</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Software supply chain security</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Manage risk from third‑party code and builds.</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build and CI/CD pipeline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Harden and validate build and release pipelines.</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version control and repository management</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Protect code repositories from unauthorized or malicious changes.</a:t>
                      </a:r>
                    </a:p>
                  </a:txBody>
                  <a:tcPr marL="0" marR="0" marT="0" marB="0" anchor="ctr"/>
                </a:tc>
                <a:extLst>
                  <a:ext uri="{0D108BD9-81ED-4DB2-BD59-A6C34878D82A}">
                    <a16:rowId xmlns:a16="http://schemas.microsoft.com/office/drawing/2014/main" val="212257320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Secrets management in development</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Handle credentials and keys safely in development.</a:t>
                      </a:r>
                    </a:p>
                  </a:txBody>
                  <a:tcPr marL="0" marR="0" marT="0" marB="0" anchor="ctr"/>
                </a:tc>
                <a:extLst>
                  <a:ext uri="{0D108BD9-81ED-4DB2-BD59-A6C34878D82A}">
                    <a16:rowId xmlns:a16="http://schemas.microsoft.com/office/drawing/2014/main" val="739599812"/>
                  </a:ext>
                </a:extLst>
              </a:tr>
            </a:tbl>
          </a:graphicData>
        </a:graphic>
      </p:graphicFrame>
      <p:pic>
        <p:nvPicPr>
          <p:cNvPr id="6" name="Picture 5">
            <a:extLst>
              <a:ext uri="{FF2B5EF4-FFF2-40B4-BE49-F238E27FC236}">
                <a16:creationId xmlns:a16="http://schemas.microsoft.com/office/drawing/2014/main" id="{BA529798-3582-2FD8-30C5-5FB8B0999C4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47182" y="1411113"/>
            <a:ext cx="640080" cy="640080"/>
          </a:xfrm>
          <a:prstGeom prst="rect">
            <a:avLst/>
          </a:prstGeom>
        </p:spPr>
      </p:pic>
      <p:pic>
        <p:nvPicPr>
          <p:cNvPr id="7" name="Picture 6">
            <a:extLst>
              <a:ext uri="{FF2B5EF4-FFF2-40B4-BE49-F238E27FC236}">
                <a16:creationId xmlns:a16="http://schemas.microsoft.com/office/drawing/2014/main" id="{155580C5-7653-7A71-5BBF-2E0C59AAF97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47182" y="2897289"/>
            <a:ext cx="640080" cy="640080"/>
          </a:xfrm>
          <a:prstGeom prst="rect">
            <a:avLst/>
          </a:prstGeom>
        </p:spPr>
      </p:pic>
      <p:pic>
        <p:nvPicPr>
          <p:cNvPr id="8" name="Picture 7">
            <a:extLst>
              <a:ext uri="{FF2B5EF4-FFF2-40B4-BE49-F238E27FC236}">
                <a16:creationId xmlns:a16="http://schemas.microsoft.com/office/drawing/2014/main" id="{0323F018-73D0-B4B6-A7A4-BD44B129D84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347182" y="4303254"/>
            <a:ext cx="640080" cy="640080"/>
          </a:xfrm>
          <a:prstGeom prst="rect">
            <a:avLst/>
          </a:prstGeom>
        </p:spPr>
      </p:pic>
      <p:pic>
        <p:nvPicPr>
          <p:cNvPr id="9" name="Picture 8">
            <a:extLst>
              <a:ext uri="{FF2B5EF4-FFF2-40B4-BE49-F238E27FC236}">
                <a16:creationId xmlns:a16="http://schemas.microsoft.com/office/drawing/2014/main" id="{3931F10F-C608-1536-D613-4887C4853996}"/>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347182" y="2154201"/>
            <a:ext cx="640080" cy="640080"/>
          </a:xfrm>
          <a:prstGeom prst="rect">
            <a:avLst/>
          </a:prstGeom>
        </p:spPr>
      </p:pic>
      <p:pic>
        <p:nvPicPr>
          <p:cNvPr id="10" name="Picture 9" descr="A white line drawing of a gear and a box&#10;&#10;AI-generated content may be incorrect.">
            <a:extLst>
              <a:ext uri="{FF2B5EF4-FFF2-40B4-BE49-F238E27FC236}">
                <a16:creationId xmlns:a16="http://schemas.microsoft.com/office/drawing/2014/main" id="{EF8C4F7D-B057-D03C-998C-60AC3FAEFA4E}"/>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255742" y="3521908"/>
            <a:ext cx="822960" cy="822960"/>
          </a:xfrm>
          <a:prstGeom prst="rect">
            <a:avLst/>
          </a:prstGeom>
        </p:spPr>
      </p:pic>
      <p:pic>
        <p:nvPicPr>
          <p:cNvPr id="11" name="Picture 10">
            <a:extLst>
              <a:ext uri="{FF2B5EF4-FFF2-40B4-BE49-F238E27FC236}">
                <a16:creationId xmlns:a16="http://schemas.microsoft.com/office/drawing/2014/main" id="{8DB56EA9-BAC0-A449-3123-1F5655FF052F}"/>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347182" y="5106313"/>
            <a:ext cx="640080" cy="640080"/>
          </a:xfrm>
          <a:prstGeom prst="rect">
            <a:avLst/>
          </a:prstGeom>
        </p:spPr>
      </p:pic>
      <p:sp>
        <p:nvSpPr>
          <p:cNvPr id="12" name="TextBox 11">
            <a:extLst>
              <a:ext uri="{FF2B5EF4-FFF2-40B4-BE49-F238E27FC236}">
                <a16:creationId xmlns:a16="http://schemas.microsoft.com/office/drawing/2014/main" id="{EB5BAE11-46BE-BF69-7F0F-60188DAF7D5D}"/>
              </a:ext>
            </a:extLst>
          </p:cNvPr>
          <p:cNvSpPr txBox="1"/>
          <p:nvPr/>
        </p:nvSpPr>
        <p:spPr>
          <a:xfrm>
            <a:off x="10188920" y="1442284"/>
            <a:ext cx="1270890" cy="646331"/>
          </a:xfrm>
          <a:prstGeom prst="rect">
            <a:avLst/>
          </a:prstGeom>
          <a:noFill/>
        </p:spPr>
        <p:txBody>
          <a:bodyPr wrap="square">
            <a:spAutoFit/>
          </a:bodyPr>
          <a:lstStyle/>
          <a:p>
            <a:r>
              <a:rPr lang="en-US" sz="1200" dirty="0">
                <a:solidFill>
                  <a:schemeClr val="bg1"/>
                </a:solidFill>
              </a:rPr>
              <a:t>Secure coding practices and training</a:t>
            </a:r>
          </a:p>
        </p:txBody>
      </p:sp>
      <p:sp>
        <p:nvSpPr>
          <p:cNvPr id="13" name="TextBox 12">
            <a:extLst>
              <a:ext uri="{FF2B5EF4-FFF2-40B4-BE49-F238E27FC236}">
                <a16:creationId xmlns:a16="http://schemas.microsoft.com/office/drawing/2014/main" id="{8FA80BC6-2507-4749-C871-06E0EDC2613D}"/>
              </a:ext>
            </a:extLst>
          </p:cNvPr>
          <p:cNvSpPr txBox="1"/>
          <p:nvPr/>
        </p:nvSpPr>
        <p:spPr>
          <a:xfrm>
            <a:off x="10188920" y="2923000"/>
            <a:ext cx="1270890" cy="461665"/>
          </a:xfrm>
          <a:prstGeom prst="rect">
            <a:avLst/>
          </a:prstGeom>
          <a:noFill/>
        </p:spPr>
        <p:txBody>
          <a:bodyPr wrap="square">
            <a:spAutoFit/>
          </a:bodyPr>
          <a:lstStyle/>
          <a:p>
            <a:r>
              <a:rPr lang="en-US" sz="1200" dirty="0">
                <a:solidFill>
                  <a:schemeClr val="bg1"/>
                </a:solidFill>
              </a:rPr>
              <a:t>Software supply chain security</a:t>
            </a:r>
          </a:p>
        </p:txBody>
      </p:sp>
      <p:sp>
        <p:nvSpPr>
          <p:cNvPr id="14" name="TextBox 13">
            <a:extLst>
              <a:ext uri="{FF2B5EF4-FFF2-40B4-BE49-F238E27FC236}">
                <a16:creationId xmlns:a16="http://schemas.microsoft.com/office/drawing/2014/main" id="{F5715E77-6F9B-D683-DEED-8957E080CCB9}"/>
              </a:ext>
            </a:extLst>
          </p:cNvPr>
          <p:cNvSpPr txBox="1"/>
          <p:nvPr/>
        </p:nvSpPr>
        <p:spPr>
          <a:xfrm>
            <a:off x="10188920" y="3707751"/>
            <a:ext cx="1270890" cy="461665"/>
          </a:xfrm>
          <a:prstGeom prst="rect">
            <a:avLst/>
          </a:prstGeom>
          <a:noFill/>
        </p:spPr>
        <p:txBody>
          <a:bodyPr wrap="square">
            <a:spAutoFit/>
          </a:bodyPr>
          <a:lstStyle/>
          <a:p>
            <a:r>
              <a:rPr lang="en-US" sz="1200" dirty="0">
                <a:solidFill>
                  <a:schemeClr val="bg1"/>
                </a:solidFill>
              </a:rPr>
              <a:t>Secure build and CI/CD pipeline</a:t>
            </a:r>
          </a:p>
        </p:txBody>
      </p:sp>
      <p:sp>
        <p:nvSpPr>
          <p:cNvPr id="15" name="TextBox 14">
            <a:extLst>
              <a:ext uri="{FF2B5EF4-FFF2-40B4-BE49-F238E27FC236}">
                <a16:creationId xmlns:a16="http://schemas.microsoft.com/office/drawing/2014/main" id="{ADE9896A-4563-8102-B473-AA3DF05D8B90}"/>
              </a:ext>
            </a:extLst>
          </p:cNvPr>
          <p:cNvSpPr txBox="1"/>
          <p:nvPr/>
        </p:nvSpPr>
        <p:spPr>
          <a:xfrm>
            <a:off x="10200094" y="4222356"/>
            <a:ext cx="1270890" cy="830997"/>
          </a:xfrm>
          <a:prstGeom prst="rect">
            <a:avLst/>
          </a:prstGeom>
          <a:noFill/>
        </p:spPr>
        <p:txBody>
          <a:bodyPr wrap="square">
            <a:spAutoFit/>
          </a:bodyPr>
          <a:lstStyle/>
          <a:p>
            <a:r>
              <a:rPr lang="en-US" sz="1200" dirty="0">
                <a:solidFill>
                  <a:schemeClr val="bg1"/>
                </a:solidFill>
              </a:rPr>
              <a:t>Secure version control and repository management</a:t>
            </a:r>
          </a:p>
        </p:txBody>
      </p:sp>
      <p:sp>
        <p:nvSpPr>
          <p:cNvPr id="16" name="TextBox 15">
            <a:extLst>
              <a:ext uri="{FF2B5EF4-FFF2-40B4-BE49-F238E27FC236}">
                <a16:creationId xmlns:a16="http://schemas.microsoft.com/office/drawing/2014/main" id="{AB758262-369E-6951-09CD-4C02A07EAD0F}"/>
              </a:ext>
            </a:extLst>
          </p:cNvPr>
          <p:cNvSpPr txBox="1"/>
          <p:nvPr/>
        </p:nvSpPr>
        <p:spPr>
          <a:xfrm>
            <a:off x="10188920" y="5080302"/>
            <a:ext cx="1270890" cy="646331"/>
          </a:xfrm>
          <a:prstGeom prst="rect">
            <a:avLst/>
          </a:prstGeom>
          <a:noFill/>
        </p:spPr>
        <p:txBody>
          <a:bodyPr wrap="square">
            <a:spAutoFit/>
          </a:bodyPr>
          <a:lstStyle/>
          <a:p>
            <a:r>
              <a:rPr lang="en-US" sz="1200" dirty="0">
                <a:solidFill>
                  <a:schemeClr val="bg1"/>
                </a:solidFill>
              </a:rPr>
              <a:t>Secrets management in development</a:t>
            </a:r>
          </a:p>
        </p:txBody>
      </p:sp>
      <p:sp>
        <p:nvSpPr>
          <p:cNvPr id="17" name="TextBox 16">
            <a:extLst>
              <a:ext uri="{FF2B5EF4-FFF2-40B4-BE49-F238E27FC236}">
                <a16:creationId xmlns:a16="http://schemas.microsoft.com/office/drawing/2014/main" id="{7AE200C8-1B06-909C-79A6-A360E47DD0DE}"/>
              </a:ext>
            </a:extLst>
          </p:cNvPr>
          <p:cNvSpPr txBox="1"/>
          <p:nvPr/>
        </p:nvSpPr>
        <p:spPr>
          <a:xfrm>
            <a:off x="10188920" y="2182642"/>
            <a:ext cx="1270890" cy="646331"/>
          </a:xfrm>
          <a:prstGeom prst="rect">
            <a:avLst/>
          </a:prstGeom>
          <a:noFill/>
        </p:spPr>
        <p:txBody>
          <a:bodyPr wrap="square">
            <a:spAutoFit/>
          </a:bodyPr>
          <a:lstStyle/>
          <a:p>
            <a:r>
              <a:rPr lang="en-US" sz="1200" dirty="0">
                <a:solidFill>
                  <a:schemeClr val="bg1"/>
                </a:solidFill>
              </a:rPr>
              <a:t>Secure code review and static analysis</a:t>
            </a:r>
          </a:p>
        </p:txBody>
      </p:sp>
      <p:grpSp>
        <p:nvGrpSpPr>
          <p:cNvPr id="18" name="Group 17">
            <a:extLst>
              <a:ext uri="{FF2B5EF4-FFF2-40B4-BE49-F238E27FC236}">
                <a16:creationId xmlns:a16="http://schemas.microsoft.com/office/drawing/2014/main" id="{8754E28F-F053-0331-6FCC-6A134A188351}"/>
              </a:ext>
            </a:extLst>
          </p:cNvPr>
          <p:cNvGrpSpPr/>
          <p:nvPr/>
        </p:nvGrpSpPr>
        <p:grpSpPr>
          <a:xfrm>
            <a:off x="9189252" y="426945"/>
            <a:ext cx="2555959" cy="752495"/>
            <a:chOff x="2303235" y="1492112"/>
            <a:chExt cx="2555959" cy="752495"/>
          </a:xfrm>
        </p:grpSpPr>
        <p:sp>
          <p:nvSpPr>
            <p:cNvPr id="19" name="Arrow: Chevron 18">
              <a:extLst>
                <a:ext uri="{FF2B5EF4-FFF2-40B4-BE49-F238E27FC236}">
                  <a16:creationId xmlns:a16="http://schemas.microsoft.com/office/drawing/2014/main" id="{56590A36-64D9-1B52-1515-5EFC9B39B997}"/>
                </a:ext>
              </a:extLst>
            </p:cNvPr>
            <p:cNvSpPr/>
            <p:nvPr/>
          </p:nvSpPr>
          <p:spPr>
            <a:xfrm>
              <a:off x="2303235" y="1492112"/>
              <a:ext cx="2555959" cy="752495"/>
            </a:xfrm>
            <a:prstGeom prst="chevron">
              <a:avLst/>
            </a:prstGeom>
            <a:solidFill>
              <a:schemeClr val="accent1">
                <a:hueOff val="0"/>
                <a:satOff val="0"/>
                <a:lumOff val="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20" name="Arrow: Chevron 4">
              <a:extLst>
                <a:ext uri="{FF2B5EF4-FFF2-40B4-BE49-F238E27FC236}">
                  <a16:creationId xmlns:a16="http://schemas.microsoft.com/office/drawing/2014/main" id="{F7EF9469-C78C-3730-6ECD-C5E4451088F9}"/>
                </a:ext>
              </a:extLst>
            </p:cNvPr>
            <p:cNvSpPr txBox="1"/>
            <p:nvPr/>
          </p:nvSpPr>
          <p:spPr>
            <a:xfrm>
              <a:off x="2679483" y="1492112"/>
              <a:ext cx="1803464" cy="7524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Build</a:t>
              </a:r>
            </a:p>
          </p:txBody>
        </p:sp>
      </p:grpSp>
    </p:spTree>
    <p:extLst>
      <p:ext uri="{BB962C8B-B14F-4D97-AF65-F5344CB8AC3E}">
        <p14:creationId xmlns:p14="http://schemas.microsoft.com/office/powerpoint/2010/main" val="2074393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7E1B-80A0-BBA9-8170-F04CB8B970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4C6345-09B2-1DB6-5C5C-15DD593E77A2}"/>
              </a:ext>
            </a:extLst>
          </p:cNvPr>
          <p:cNvSpPr>
            <a:spLocks noGrp="1"/>
          </p:cNvSpPr>
          <p:nvPr>
            <p:ph type="title"/>
          </p:nvPr>
        </p:nvSpPr>
        <p:spPr>
          <a:xfrm>
            <a:off x="364992" y="547738"/>
            <a:ext cx="11305392" cy="1047382"/>
          </a:xfrm>
        </p:spPr>
        <p:txBody>
          <a:bodyPr/>
          <a:lstStyle/>
          <a:p>
            <a:r>
              <a:rPr lang="en-CA" dirty="0" err="1"/>
              <a:t>iSSDLC</a:t>
            </a:r>
            <a:r>
              <a:rPr lang="en-CA" dirty="0"/>
              <a:t> capabilities definitions</a:t>
            </a:r>
            <a:br>
              <a:rPr lang="en-CA" dirty="0"/>
            </a:br>
            <a:r>
              <a:rPr lang="en-CA" sz="3200" dirty="0">
                <a:solidFill>
                  <a:schemeClr val="accent1">
                    <a:lumMod val="50000"/>
                  </a:schemeClr>
                </a:solidFill>
              </a:rPr>
              <a:t>Test phase</a:t>
            </a:r>
            <a:endParaRPr lang="en-US" sz="3200" dirty="0">
              <a:solidFill>
                <a:schemeClr val="accent1">
                  <a:lumMod val="50000"/>
                </a:schemeClr>
              </a:solidFill>
            </a:endParaRPr>
          </a:p>
        </p:txBody>
      </p:sp>
      <p:sp>
        <p:nvSpPr>
          <p:cNvPr id="2" name="TextBox 1">
            <a:extLst>
              <a:ext uri="{FF2B5EF4-FFF2-40B4-BE49-F238E27FC236}">
                <a16:creationId xmlns:a16="http://schemas.microsoft.com/office/drawing/2014/main" id="{63623498-93CA-490C-C872-9EF1281367BF}"/>
              </a:ext>
            </a:extLst>
          </p:cNvPr>
          <p:cNvSpPr txBox="1"/>
          <p:nvPr/>
        </p:nvSpPr>
        <p:spPr>
          <a:xfrm>
            <a:off x="280107" y="1715913"/>
            <a:ext cx="8152364" cy="738664"/>
          </a:xfrm>
          <a:prstGeom prst="rect">
            <a:avLst/>
          </a:prstGeom>
        </p:spPr>
        <p:txBody>
          <a:bodyPr wrap="square" rtlCol="0">
            <a:spAutoFit/>
          </a:bodyPr>
          <a:lstStyle/>
          <a:p>
            <a:pPr marR="0" lvl="0" algn="l" defTabSz="554492" rtl="0" eaLnBrk="1" fontAlgn="auto" latinLnBrk="0" hangingPunct="1">
              <a:lnSpc>
                <a:spcPct val="100000"/>
              </a:lnSpc>
              <a:spcBef>
                <a:spcPts val="0"/>
              </a:spcBef>
              <a:spcAft>
                <a:spcPts val="600"/>
              </a:spcAft>
              <a:buClrTx/>
              <a:buSzTx/>
              <a:tabLst/>
              <a:defRPr/>
            </a:pPr>
            <a:r>
              <a:rPr lang="en-US" sz="1400" dirty="0">
                <a:solidFill>
                  <a:srgbClr val="000000"/>
                </a:solidFill>
                <a:latin typeface="Roboto Condensed Light" panose="02000000000000000000" pitchFamily="2" charset="0"/>
                <a:ea typeface="Roboto Condensed Light" panose="02000000000000000000" pitchFamily="2" charset="0"/>
              </a:rPr>
              <a:t>Security testing during the QA helps detect risks early as well as fostering a shared accountability across QAs and security teams, which ensures consistent enforcement of security controls and minimizes the likelihood of misconfigurations.</a:t>
            </a:r>
            <a:endParaRPr kumimoji="0" lang="en-US"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graphicFrame>
        <p:nvGraphicFramePr>
          <p:cNvPr id="5" name="Table 4">
            <a:extLst>
              <a:ext uri="{FF2B5EF4-FFF2-40B4-BE49-F238E27FC236}">
                <a16:creationId xmlns:a16="http://schemas.microsoft.com/office/drawing/2014/main" id="{C4B4F6F5-66CE-F988-C390-49DE3ABF1251}"/>
              </a:ext>
            </a:extLst>
          </p:cNvPr>
          <p:cNvGraphicFramePr>
            <a:graphicFrameLocks noGrp="1"/>
          </p:cNvGraphicFramePr>
          <p:nvPr>
            <p:extLst>
              <p:ext uri="{D42A27DB-BD31-4B8C-83A1-F6EECF244321}">
                <p14:modId xmlns:p14="http://schemas.microsoft.com/office/powerpoint/2010/main" val="2868594993"/>
              </p:ext>
            </p:extLst>
          </p:nvPr>
        </p:nvGraphicFramePr>
        <p:xfrm>
          <a:off x="364992" y="2627166"/>
          <a:ext cx="7982595" cy="2767948"/>
        </p:xfrm>
        <a:graphic>
          <a:graphicData uri="http://schemas.openxmlformats.org/drawingml/2006/table">
            <a:tbl>
              <a:tblPr firstRow="1" bandRow="1">
                <a:tableStyleId>{5C22544A-7EE6-4342-B048-85BDC9FD1C3A}</a:tableStyleId>
              </a:tblPr>
              <a:tblGrid>
                <a:gridCol w="2611002">
                  <a:extLst>
                    <a:ext uri="{9D8B030D-6E8A-4147-A177-3AD203B41FA5}">
                      <a16:colId xmlns:a16="http://schemas.microsoft.com/office/drawing/2014/main" val="4211586766"/>
                    </a:ext>
                  </a:extLst>
                </a:gridCol>
                <a:gridCol w="5371593">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Capability</a:t>
                      </a:r>
                    </a:p>
                  </a:txBody>
                  <a:tcPr/>
                </a:tc>
                <a:tc>
                  <a:txBody>
                    <a:bodyPr/>
                    <a:lstStyle/>
                    <a:p>
                      <a:r>
                        <a:rPr lang="en-US" sz="1400" dirty="0">
                          <a:latin typeface="Montserrat Medium" panose="00000600000000000000" pitchFamily="2" charset="0"/>
                        </a:rPr>
                        <a:t>Definition</a:t>
                      </a:r>
                    </a:p>
                  </a:txBody>
                  <a:tcPr/>
                </a:tc>
                <a:extLst>
                  <a:ext uri="{0D108BD9-81ED-4DB2-BD59-A6C34878D82A}">
                    <a16:rowId xmlns:a16="http://schemas.microsoft.com/office/drawing/2014/main" val="1016400015"/>
                  </a:ext>
                </a:extLst>
              </a:tr>
              <a:tr h="419212">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Automated security testing</a:t>
                      </a:r>
                    </a:p>
                  </a:txBody>
                  <a:tcPr marL="0" marR="0" marT="0" marB="0" anchor="ctr"/>
                </a:tc>
                <a:tc>
                  <a:txBody>
                    <a:bodyPr/>
                    <a:lstStyle/>
                    <a:p>
                      <a:pPr algn="l" fontAlgn="ctr">
                        <a:buNone/>
                      </a:pPr>
                      <a:r>
                        <a:rPr lang="en-US" sz="1400" b="0" i="0" u="none" strike="noStrike">
                          <a:solidFill>
                            <a:srgbClr val="333333"/>
                          </a:solidFill>
                          <a:effectLst/>
                          <a:latin typeface="Roboto Condensed Light" panose="02000000000000000000" pitchFamily="2" charset="0"/>
                          <a:ea typeface="Roboto Condensed Light" panose="02000000000000000000" pitchFamily="2" charset="0"/>
                        </a:rPr>
                        <a:t>Run automated security testing (e.g. DAST, IAST) against applications.</a:t>
                      </a:r>
                      <a:endParaRPr lang="en-US" sz="1400" b="0" i="0" u="none" strike="noStrike" dirty="0">
                        <a:solidFill>
                          <a:srgbClr val="333333"/>
                        </a:solidFill>
                        <a:effectLst/>
                        <a:latin typeface="Roboto Condensed Light" panose="02000000000000000000" pitchFamily="2" charset="0"/>
                        <a:ea typeface="Roboto Condensed Light" panose="02000000000000000000" pitchFamily="2" charset="0"/>
                      </a:endParaRP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Penetration testing and red teaming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Use human adversarial testing for deep flaws.</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Fuzz and chaos testing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Test with mutation and random input to provoke faults.</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requirements validation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Prove system meets security requirements.</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test environments and data management</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Isolate test environments and protect data used for testing.</a:t>
                      </a:r>
                    </a:p>
                  </a:txBody>
                  <a:tcPr marL="0" marR="0" marT="0" marB="0" anchor="ctr"/>
                </a:tc>
                <a:extLst>
                  <a:ext uri="{0D108BD9-81ED-4DB2-BD59-A6C34878D82A}">
                    <a16:rowId xmlns:a16="http://schemas.microsoft.com/office/drawing/2014/main" val="2122573204"/>
                  </a:ext>
                </a:extLst>
              </a:tr>
            </a:tbl>
          </a:graphicData>
        </a:graphic>
      </p:graphicFrame>
      <p:sp>
        <p:nvSpPr>
          <p:cNvPr id="4" name="Rectangle 3">
            <a:extLst>
              <a:ext uri="{FF2B5EF4-FFF2-40B4-BE49-F238E27FC236}">
                <a16:creationId xmlns:a16="http://schemas.microsoft.com/office/drawing/2014/main" id="{4DB5253B-E356-A991-1A80-10A67362487A}"/>
              </a:ext>
            </a:extLst>
          </p:cNvPr>
          <p:cNvSpPr>
            <a:spLocks noGrp="1" noRot="1" noMove="1" noResize="1" noEditPoints="1" noAdjustHandles="1" noChangeArrowheads="1" noChangeShapeType="1"/>
          </p:cNvSpPr>
          <p:nvPr/>
        </p:nvSpPr>
        <p:spPr>
          <a:xfrm>
            <a:off x="8740877" y="0"/>
            <a:ext cx="3452711" cy="6858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pic>
        <p:nvPicPr>
          <p:cNvPr id="21" name="Picture 20" descr="A white line drawing of a lock and network&#10;&#10;AI-generated content may be incorrect.">
            <a:extLst>
              <a:ext uri="{FF2B5EF4-FFF2-40B4-BE49-F238E27FC236}">
                <a16:creationId xmlns:a16="http://schemas.microsoft.com/office/drawing/2014/main" id="{FFB17A60-5C71-6000-86F3-C1880670AA9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67198" y="3003933"/>
            <a:ext cx="731520" cy="731520"/>
          </a:xfrm>
          <a:prstGeom prst="rect">
            <a:avLst/>
          </a:prstGeom>
        </p:spPr>
      </p:pic>
      <p:pic>
        <p:nvPicPr>
          <p:cNvPr id="22" name="Picture 21">
            <a:extLst>
              <a:ext uri="{FF2B5EF4-FFF2-40B4-BE49-F238E27FC236}">
                <a16:creationId xmlns:a16="http://schemas.microsoft.com/office/drawing/2014/main" id="{73AC9699-63DF-3911-64C7-3A451BCF906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80472" y="3742107"/>
            <a:ext cx="640080" cy="640080"/>
          </a:xfrm>
          <a:prstGeom prst="rect">
            <a:avLst/>
          </a:prstGeom>
        </p:spPr>
      </p:pic>
      <p:pic>
        <p:nvPicPr>
          <p:cNvPr id="23" name="Picture 22">
            <a:extLst>
              <a:ext uri="{FF2B5EF4-FFF2-40B4-BE49-F238E27FC236}">
                <a16:creationId xmlns:a16="http://schemas.microsoft.com/office/drawing/2014/main" id="{5394B9F1-1284-3CC1-6BF6-DAE8B2A6046B}"/>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417340" y="1606385"/>
            <a:ext cx="640080" cy="640080"/>
          </a:xfrm>
          <a:prstGeom prst="rect">
            <a:avLst/>
          </a:prstGeom>
        </p:spPr>
      </p:pic>
      <p:pic>
        <p:nvPicPr>
          <p:cNvPr id="24" name="Picture 23">
            <a:extLst>
              <a:ext uri="{FF2B5EF4-FFF2-40B4-BE49-F238E27FC236}">
                <a16:creationId xmlns:a16="http://schemas.microsoft.com/office/drawing/2014/main" id="{21C9170A-C708-68EF-5568-5EA44578271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380472" y="4441741"/>
            <a:ext cx="640080" cy="640080"/>
          </a:xfrm>
          <a:prstGeom prst="rect">
            <a:avLst/>
          </a:prstGeom>
        </p:spPr>
      </p:pic>
      <p:pic>
        <p:nvPicPr>
          <p:cNvPr id="25" name="Picture 24">
            <a:extLst>
              <a:ext uri="{FF2B5EF4-FFF2-40B4-BE49-F238E27FC236}">
                <a16:creationId xmlns:a16="http://schemas.microsoft.com/office/drawing/2014/main" id="{0F28EB63-AE25-9E3B-85C5-1715C853DB92}"/>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417340" y="2376905"/>
            <a:ext cx="640080" cy="640080"/>
          </a:xfrm>
          <a:prstGeom prst="rect">
            <a:avLst/>
          </a:prstGeom>
        </p:spPr>
      </p:pic>
      <p:sp>
        <p:nvSpPr>
          <p:cNvPr id="26" name="TextBox 25">
            <a:extLst>
              <a:ext uri="{FF2B5EF4-FFF2-40B4-BE49-F238E27FC236}">
                <a16:creationId xmlns:a16="http://schemas.microsoft.com/office/drawing/2014/main" id="{D9DE2953-587D-5B76-D3FC-7FB407476C19}"/>
              </a:ext>
            </a:extLst>
          </p:cNvPr>
          <p:cNvSpPr txBox="1"/>
          <p:nvPr/>
        </p:nvSpPr>
        <p:spPr>
          <a:xfrm>
            <a:off x="10236005" y="1634543"/>
            <a:ext cx="1270890" cy="461665"/>
          </a:xfrm>
          <a:prstGeom prst="rect">
            <a:avLst/>
          </a:prstGeom>
          <a:noFill/>
        </p:spPr>
        <p:txBody>
          <a:bodyPr wrap="square">
            <a:spAutoFit/>
          </a:bodyPr>
          <a:lstStyle/>
          <a:p>
            <a:r>
              <a:rPr lang="en-US" sz="1200" dirty="0">
                <a:solidFill>
                  <a:schemeClr val="bg1"/>
                </a:solidFill>
              </a:rPr>
              <a:t>Automated security testing</a:t>
            </a:r>
          </a:p>
        </p:txBody>
      </p:sp>
      <p:sp>
        <p:nvSpPr>
          <p:cNvPr id="27" name="TextBox 26">
            <a:extLst>
              <a:ext uri="{FF2B5EF4-FFF2-40B4-BE49-F238E27FC236}">
                <a16:creationId xmlns:a16="http://schemas.microsoft.com/office/drawing/2014/main" id="{B717E6BB-BA2D-AFE0-35F1-FF8CD920EDC4}"/>
              </a:ext>
            </a:extLst>
          </p:cNvPr>
          <p:cNvSpPr txBox="1"/>
          <p:nvPr/>
        </p:nvSpPr>
        <p:spPr>
          <a:xfrm>
            <a:off x="10236005" y="3056075"/>
            <a:ext cx="1270890" cy="461665"/>
          </a:xfrm>
          <a:prstGeom prst="rect">
            <a:avLst/>
          </a:prstGeom>
          <a:noFill/>
        </p:spPr>
        <p:txBody>
          <a:bodyPr wrap="square">
            <a:spAutoFit/>
          </a:bodyPr>
          <a:lstStyle/>
          <a:p>
            <a:r>
              <a:rPr lang="en-US" sz="1200" dirty="0">
                <a:solidFill>
                  <a:schemeClr val="bg1"/>
                </a:solidFill>
              </a:rPr>
              <a:t>Fuzz and chaos Testing</a:t>
            </a:r>
          </a:p>
        </p:txBody>
      </p:sp>
      <p:sp>
        <p:nvSpPr>
          <p:cNvPr id="28" name="TextBox 27">
            <a:extLst>
              <a:ext uri="{FF2B5EF4-FFF2-40B4-BE49-F238E27FC236}">
                <a16:creationId xmlns:a16="http://schemas.microsoft.com/office/drawing/2014/main" id="{A67CC6E4-1AB9-7B24-B836-DFC6275E5A9A}"/>
              </a:ext>
            </a:extLst>
          </p:cNvPr>
          <p:cNvSpPr txBox="1"/>
          <p:nvPr/>
        </p:nvSpPr>
        <p:spPr>
          <a:xfrm>
            <a:off x="10247179" y="3696756"/>
            <a:ext cx="1270890" cy="646331"/>
          </a:xfrm>
          <a:prstGeom prst="rect">
            <a:avLst/>
          </a:prstGeom>
          <a:noFill/>
        </p:spPr>
        <p:txBody>
          <a:bodyPr wrap="square">
            <a:spAutoFit/>
          </a:bodyPr>
          <a:lstStyle/>
          <a:p>
            <a:r>
              <a:rPr lang="en-US" sz="1200" dirty="0">
                <a:solidFill>
                  <a:schemeClr val="bg1"/>
                </a:solidFill>
              </a:rPr>
              <a:t>Security requirements validation</a:t>
            </a:r>
          </a:p>
        </p:txBody>
      </p:sp>
      <p:sp>
        <p:nvSpPr>
          <p:cNvPr id="29" name="TextBox 28">
            <a:extLst>
              <a:ext uri="{FF2B5EF4-FFF2-40B4-BE49-F238E27FC236}">
                <a16:creationId xmlns:a16="http://schemas.microsoft.com/office/drawing/2014/main" id="{803685E6-1F5A-5C84-C8FB-93889F369067}"/>
              </a:ext>
            </a:extLst>
          </p:cNvPr>
          <p:cNvSpPr txBox="1"/>
          <p:nvPr/>
        </p:nvSpPr>
        <p:spPr>
          <a:xfrm>
            <a:off x="10247179" y="4431402"/>
            <a:ext cx="1270890" cy="830997"/>
          </a:xfrm>
          <a:prstGeom prst="rect">
            <a:avLst/>
          </a:prstGeom>
          <a:noFill/>
        </p:spPr>
        <p:txBody>
          <a:bodyPr wrap="square">
            <a:spAutoFit/>
          </a:bodyPr>
          <a:lstStyle/>
          <a:p>
            <a:r>
              <a:rPr lang="en-US" sz="1200" dirty="0">
                <a:solidFill>
                  <a:schemeClr val="bg1"/>
                </a:solidFill>
              </a:rPr>
              <a:t>Secure test environments and data management</a:t>
            </a:r>
          </a:p>
        </p:txBody>
      </p:sp>
      <p:sp>
        <p:nvSpPr>
          <p:cNvPr id="30" name="TextBox 29">
            <a:extLst>
              <a:ext uri="{FF2B5EF4-FFF2-40B4-BE49-F238E27FC236}">
                <a16:creationId xmlns:a16="http://schemas.microsoft.com/office/drawing/2014/main" id="{90D9B3A8-077C-6B36-986B-982B2AE1A76D}"/>
              </a:ext>
            </a:extLst>
          </p:cNvPr>
          <p:cNvSpPr txBox="1"/>
          <p:nvPr/>
        </p:nvSpPr>
        <p:spPr>
          <a:xfrm>
            <a:off x="10236005" y="2262642"/>
            <a:ext cx="1270890" cy="646331"/>
          </a:xfrm>
          <a:prstGeom prst="rect">
            <a:avLst/>
          </a:prstGeom>
          <a:noFill/>
        </p:spPr>
        <p:txBody>
          <a:bodyPr wrap="square">
            <a:spAutoFit/>
          </a:bodyPr>
          <a:lstStyle/>
          <a:p>
            <a:r>
              <a:rPr lang="en-US" sz="1200" dirty="0">
                <a:solidFill>
                  <a:schemeClr val="bg1"/>
                </a:solidFill>
              </a:rPr>
              <a:t>Penetration testing and red teaming</a:t>
            </a:r>
          </a:p>
        </p:txBody>
      </p:sp>
      <p:grpSp>
        <p:nvGrpSpPr>
          <p:cNvPr id="31" name="Group 30">
            <a:extLst>
              <a:ext uri="{FF2B5EF4-FFF2-40B4-BE49-F238E27FC236}">
                <a16:creationId xmlns:a16="http://schemas.microsoft.com/office/drawing/2014/main" id="{95A59B2D-EC2A-9093-2CC7-2C58BC8B42CA}"/>
              </a:ext>
            </a:extLst>
          </p:cNvPr>
          <p:cNvGrpSpPr/>
          <p:nvPr/>
        </p:nvGrpSpPr>
        <p:grpSpPr>
          <a:xfrm>
            <a:off x="9189252" y="437117"/>
            <a:ext cx="2555959" cy="752495"/>
            <a:chOff x="4603599" y="1492112"/>
            <a:chExt cx="2555959" cy="752495"/>
          </a:xfrm>
        </p:grpSpPr>
        <p:sp>
          <p:nvSpPr>
            <p:cNvPr id="32" name="Arrow: Chevron 31">
              <a:extLst>
                <a:ext uri="{FF2B5EF4-FFF2-40B4-BE49-F238E27FC236}">
                  <a16:creationId xmlns:a16="http://schemas.microsoft.com/office/drawing/2014/main" id="{0C815B68-B627-AFA5-8319-07CA12526FD4}"/>
                </a:ext>
              </a:extLst>
            </p:cNvPr>
            <p:cNvSpPr/>
            <p:nvPr/>
          </p:nvSpPr>
          <p:spPr>
            <a:xfrm>
              <a:off x="4603599" y="1492112"/>
              <a:ext cx="2555959" cy="752495"/>
            </a:xfrm>
            <a:prstGeom prst="chevron">
              <a:avLst/>
            </a:prstGeom>
            <a:solidFill>
              <a:schemeClr val="accent1">
                <a:hueOff val="0"/>
                <a:satOff val="0"/>
                <a:lumOff val="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33" name="Arrow: Chevron 4">
              <a:extLst>
                <a:ext uri="{FF2B5EF4-FFF2-40B4-BE49-F238E27FC236}">
                  <a16:creationId xmlns:a16="http://schemas.microsoft.com/office/drawing/2014/main" id="{3C8C17C3-5DC5-B4CD-49CC-2F09D096B203}"/>
                </a:ext>
              </a:extLst>
            </p:cNvPr>
            <p:cNvSpPr txBox="1"/>
            <p:nvPr/>
          </p:nvSpPr>
          <p:spPr>
            <a:xfrm>
              <a:off x="4979847" y="1492112"/>
              <a:ext cx="1803464" cy="7524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Test</a:t>
              </a:r>
            </a:p>
          </p:txBody>
        </p:sp>
      </p:grpSp>
    </p:spTree>
    <p:extLst>
      <p:ext uri="{BB962C8B-B14F-4D97-AF65-F5344CB8AC3E}">
        <p14:creationId xmlns:p14="http://schemas.microsoft.com/office/powerpoint/2010/main" val="3586697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FFBCE-91DA-62BE-0E61-11A3DFEB8B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F2BA0F6-D359-43C1-6301-C697BD8AAC5E}"/>
              </a:ext>
            </a:extLst>
          </p:cNvPr>
          <p:cNvSpPr>
            <a:spLocks noGrp="1"/>
          </p:cNvSpPr>
          <p:nvPr>
            <p:ph type="title"/>
          </p:nvPr>
        </p:nvSpPr>
        <p:spPr>
          <a:xfrm>
            <a:off x="364992" y="547738"/>
            <a:ext cx="11305392" cy="1047382"/>
          </a:xfrm>
        </p:spPr>
        <p:txBody>
          <a:bodyPr/>
          <a:lstStyle/>
          <a:p>
            <a:r>
              <a:rPr lang="en-CA" dirty="0" err="1"/>
              <a:t>iSSDLC</a:t>
            </a:r>
            <a:r>
              <a:rPr lang="en-CA" dirty="0"/>
              <a:t> capabilities definitions</a:t>
            </a:r>
            <a:br>
              <a:rPr lang="en-CA" dirty="0"/>
            </a:br>
            <a:r>
              <a:rPr lang="en-CA" sz="3200" dirty="0">
                <a:solidFill>
                  <a:schemeClr val="accent1">
                    <a:lumMod val="50000"/>
                  </a:schemeClr>
                </a:solidFill>
              </a:rPr>
              <a:t>Deploy phase</a:t>
            </a:r>
            <a:endParaRPr lang="en-US" sz="3200" dirty="0">
              <a:solidFill>
                <a:schemeClr val="accent1">
                  <a:lumMod val="50000"/>
                </a:schemeClr>
              </a:solidFill>
            </a:endParaRPr>
          </a:p>
        </p:txBody>
      </p:sp>
      <p:sp>
        <p:nvSpPr>
          <p:cNvPr id="2" name="TextBox 1">
            <a:extLst>
              <a:ext uri="{FF2B5EF4-FFF2-40B4-BE49-F238E27FC236}">
                <a16:creationId xmlns:a16="http://schemas.microsoft.com/office/drawing/2014/main" id="{09435E8F-DB64-F1A2-F4AC-A53E23B49C92}"/>
              </a:ext>
            </a:extLst>
          </p:cNvPr>
          <p:cNvSpPr txBox="1"/>
          <p:nvPr/>
        </p:nvSpPr>
        <p:spPr>
          <a:xfrm>
            <a:off x="283713" y="1849533"/>
            <a:ext cx="8565320" cy="523220"/>
          </a:xfrm>
          <a:prstGeom prst="rect">
            <a:avLst/>
          </a:prstGeom>
        </p:spPr>
        <p:txBody>
          <a:bodyPr wrap="square" rtlCol="0">
            <a:spAutoFit/>
          </a:bodyPr>
          <a:lstStyle/>
          <a:p>
            <a:pPr marR="0" lvl="0" algn="l" defTabSz="554492" rtl="0" eaLnBrk="1" fontAlgn="auto" latinLnBrk="0" hangingPunct="1">
              <a:lnSpc>
                <a:spcPct val="100000"/>
              </a:lnSpc>
              <a:spcBef>
                <a:spcPts val="0"/>
              </a:spcBef>
              <a:spcAft>
                <a:spcPts val="600"/>
              </a:spcAft>
              <a:buClrTx/>
              <a:buSzTx/>
              <a:tabLst/>
              <a:defRPr/>
            </a:pPr>
            <a:r>
              <a:rPr lang="en-US" sz="1400" dirty="0">
                <a:solidFill>
                  <a:srgbClr val="000000"/>
                </a:solidFill>
                <a:latin typeface="Roboto Condensed Light" panose="02000000000000000000" pitchFamily="2" charset="0"/>
                <a:ea typeface="Roboto Condensed Light" panose="02000000000000000000" pitchFamily="2" charset="0"/>
              </a:rPr>
              <a:t>Policies and environment hardening validates integrity and compliance, which prevents unauthorized or malicious code from being deployed.</a:t>
            </a:r>
            <a:endParaRPr kumimoji="0" lang="en-US"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endParaRPr>
          </a:p>
        </p:txBody>
      </p:sp>
      <p:graphicFrame>
        <p:nvGraphicFramePr>
          <p:cNvPr id="4" name="Table 3">
            <a:extLst>
              <a:ext uri="{FF2B5EF4-FFF2-40B4-BE49-F238E27FC236}">
                <a16:creationId xmlns:a16="http://schemas.microsoft.com/office/drawing/2014/main" id="{D3CA49DC-6203-A5DA-78E9-E32A1C40431F}"/>
              </a:ext>
            </a:extLst>
          </p:cNvPr>
          <p:cNvGraphicFramePr>
            <a:graphicFrameLocks noGrp="1"/>
          </p:cNvGraphicFramePr>
          <p:nvPr>
            <p:extLst>
              <p:ext uri="{D42A27DB-BD31-4B8C-83A1-F6EECF244321}">
                <p14:modId xmlns:p14="http://schemas.microsoft.com/office/powerpoint/2010/main" val="2079394701"/>
              </p:ext>
            </p:extLst>
          </p:nvPr>
        </p:nvGraphicFramePr>
        <p:xfrm>
          <a:off x="364993" y="2411723"/>
          <a:ext cx="8169408" cy="2775456"/>
        </p:xfrm>
        <a:graphic>
          <a:graphicData uri="http://schemas.openxmlformats.org/drawingml/2006/table">
            <a:tbl>
              <a:tblPr firstRow="1" bandRow="1">
                <a:tableStyleId>{5C22544A-7EE6-4342-B048-85BDC9FD1C3A}</a:tableStyleId>
              </a:tblPr>
              <a:tblGrid>
                <a:gridCol w="2960500">
                  <a:extLst>
                    <a:ext uri="{9D8B030D-6E8A-4147-A177-3AD203B41FA5}">
                      <a16:colId xmlns:a16="http://schemas.microsoft.com/office/drawing/2014/main" val="4211586766"/>
                    </a:ext>
                  </a:extLst>
                </a:gridCol>
                <a:gridCol w="5208908">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Capability</a:t>
                      </a:r>
                    </a:p>
                  </a:txBody>
                  <a:tcPr/>
                </a:tc>
                <a:tc>
                  <a:txBody>
                    <a:bodyPr/>
                    <a:lstStyle/>
                    <a:p>
                      <a:r>
                        <a:rPr lang="en-US" sz="1400" dirty="0">
                          <a:latin typeface="Montserrat Medium" panose="00000600000000000000" pitchFamily="2" charset="0"/>
                        </a:rPr>
                        <a:t>Definition</a:t>
                      </a:r>
                    </a:p>
                  </a:txBody>
                  <a:tcPr/>
                </a:tc>
                <a:extLst>
                  <a:ext uri="{0D108BD9-81ED-4DB2-BD59-A6C34878D82A}">
                    <a16:rowId xmlns:a16="http://schemas.microsoft.com/office/drawing/2014/main" val="1016400015"/>
                  </a:ext>
                </a:extLst>
              </a:tr>
              <a:tr h="419212">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deployment and infrastructure as code (IaC)</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Ensure infrastructure definitions and live configurations are securely authored, validated, deployed, and maintained.</a:t>
                      </a: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Container and orchestrator security</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Secure images, runtime, and orchestration.</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Policy as code (PaC) deployment</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Encode and enforce policies as code.</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Artifact signing and provenance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Cryptographically sign and attest artifacts.</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Deployment security gates and reviews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Automated approval gates for release risk.</a:t>
                      </a:r>
                    </a:p>
                  </a:txBody>
                  <a:tcPr marL="0" marR="0" marT="0" marB="0" anchor="ctr"/>
                </a:tc>
                <a:extLst>
                  <a:ext uri="{0D108BD9-81ED-4DB2-BD59-A6C34878D82A}">
                    <a16:rowId xmlns:a16="http://schemas.microsoft.com/office/drawing/2014/main" val="2122573204"/>
                  </a:ext>
                </a:extLst>
              </a:tr>
            </a:tbl>
          </a:graphicData>
        </a:graphic>
      </p:graphicFrame>
      <p:sp>
        <p:nvSpPr>
          <p:cNvPr id="5" name="Rectangle 4">
            <a:extLst>
              <a:ext uri="{FF2B5EF4-FFF2-40B4-BE49-F238E27FC236}">
                <a16:creationId xmlns:a16="http://schemas.microsoft.com/office/drawing/2014/main" id="{9AD295EE-072A-ADF1-10DA-B429C341E20B}"/>
              </a:ext>
            </a:extLst>
          </p:cNvPr>
          <p:cNvSpPr/>
          <p:nvPr/>
        </p:nvSpPr>
        <p:spPr>
          <a:xfrm>
            <a:off x="8740877" y="0"/>
            <a:ext cx="3452711" cy="6858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pic>
        <p:nvPicPr>
          <p:cNvPr id="19" name="Picture 18">
            <a:extLst>
              <a:ext uri="{FF2B5EF4-FFF2-40B4-BE49-F238E27FC236}">
                <a16:creationId xmlns:a16="http://schemas.microsoft.com/office/drawing/2014/main" id="{E7E89B73-2535-4826-7732-33A702FECF3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12731" y="1654483"/>
            <a:ext cx="640080" cy="640080"/>
          </a:xfrm>
          <a:prstGeom prst="rect">
            <a:avLst/>
          </a:prstGeom>
        </p:spPr>
      </p:pic>
      <p:pic>
        <p:nvPicPr>
          <p:cNvPr id="20" name="Picture 19">
            <a:extLst>
              <a:ext uri="{FF2B5EF4-FFF2-40B4-BE49-F238E27FC236}">
                <a16:creationId xmlns:a16="http://schemas.microsoft.com/office/drawing/2014/main" id="{007605A8-5EEF-523F-80E2-751C100EDA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312731" y="3915352"/>
            <a:ext cx="640080" cy="640080"/>
          </a:xfrm>
          <a:prstGeom prst="rect">
            <a:avLst/>
          </a:prstGeom>
        </p:spPr>
      </p:pic>
      <p:pic>
        <p:nvPicPr>
          <p:cNvPr id="21" name="Picture 20">
            <a:extLst>
              <a:ext uri="{FF2B5EF4-FFF2-40B4-BE49-F238E27FC236}">
                <a16:creationId xmlns:a16="http://schemas.microsoft.com/office/drawing/2014/main" id="{10EA10F3-8ADC-427D-F468-2170C00B4F7F}"/>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312731" y="2443291"/>
            <a:ext cx="640080" cy="640080"/>
          </a:xfrm>
          <a:prstGeom prst="rect">
            <a:avLst/>
          </a:prstGeom>
        </p:spPr>
      </p:pic>
      <p:pic>
        <p:nvPicPr>
          <p:cNvPr id="22" name="Picture 21">
            <a:extLst>
              <a:ext uri="{FF2B5EF4-FFF2-40B4-BE49-F238E27FC236}">
                <a16:creationId xmlns:a16="http://schemas.microsoft.com/office/drawing/2014/main" id="{333FCB33-CE76-3FF4-4AC8-D36CE29D6826}"/>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312731" y="3232099"/>
            <a:ext cx="640080" cy="640080"/>
          </a:xfrm>
          <a:prstGeom prst="rect">
            <a:avLst/>
          </a:prstGeom>
        </p:spPr>
      </p:pic>
      <p:pic>
        <p:nvPicPr>
          <p:cNvPr id="23" name="Picture 22">
            <a:extLst>
              <a:ext uri="{FF2B5EF4-FFF2-40B4-BE49-F238E27FC236}">
                <a16:creationId xmlns:a16="http://schemas.microsoft.com/office/drawing/2014/main" id="{EE94EADB-547E-FEED-780C-BB7083F22E8B}"/>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312731" y="4613159"/>
            <a:ext cx="640080" cy="640080"/>
          </a:xfrm>
          <a:prstGeom prst="rect">
            <a:avLst/>
          </a:prstGeom>
        </p:spPr>
      </p:pic>
      <p:sp>
        <p:nvSpPr>
          <p:cNvPr id="24" name="TextBox 23">
            <a:extLst>
              <a:ext uri="{FF2B5EF4-FFF2-40B4-BE49-F238E27FC236}">
                <a16:creationId xmlns:a16="http://schemas.microsoft.com/office/drawing/2014/main" id="{D563A479-3D49-E43C-55C9-DA54424D395F}"/>
              </a:ext>
            </a:extLst>
          </p:cNvPr>
          <p:cNvSpPr txBox="1"/>
          <p:nvPr/>
        </p:nvSpPr>
        <p:spPr>
          <a:xfrm>
            <a:off x="10209121" y="1626729"/>
            <a:ext cx="1270890" cy="830997"/>
          </a:xfrm>
          <a:prstGeom prst="rect">
            <a:avLst/>
          </a:prstGeom>
          <a:noFill/>
        </p:spPr>
        <p:txBody>
          <a:bodyPr wrap="square">
            <a:spAutoFit/>
          </a:bodyPr>
          <a:lstStyle/>
          <a:p>
            <a:r>
              <a:rPr lang="en-US" sz="1200" dirty="0">
                <a:solidFill>
                  <a:schemeClr val="bg1"/>
                </a:solidFill>
              </a:rPr>
              <a:t>Secure deployment and infrastructure as code (IaC)</a:t>
            </a:r>
          </a:p>
        </p:txBody>
      </p:sp>
      <p:sp>
        <p:nvSpPr>
          <p:cNvPr id="25" name="TextBox 24">
            <a:extLst>
              <a:ext uri="{FF2B5EF4-FFF2-40B4-BE49-F238E27FC236}">
                <a16:creationId xmlns:a16="http://schemas.microsoft.com/office/drawing/2014/main" id="{93D2A54E-0CCE-D61A-1EBC-3CE58BFD38F7}"/>
              </a:ext>
            </a:extLst>
          </p:cNvPr>
          <p:cNvSpPr txBox="1"/>
          <p:nvPr/>
        </p:nvSpPr>
        <p:spPr>
          <a:xfrm>
            <a:off x="10209121" y="3251145"/>
            <a:ext cx="1270890" cy="646331"/>
          </a:xfrm>
          <a:prstGeom prst="rect">
            <a:avLst/>
          </a:prstGeom>
          <a:noFill/>
        </p:spPr>
        <p:txBody>
          <a:bodyPr wrap="square">
            <a:spAutoFit/>
          </a:bodyPr>
          <a:lstStyle/>
          <a:p>
            <a:r>
              <a:rPr lang="en-US" sz="1200" dirty="0">
                <a:solidFill>
                  <a:schemeClr val="bg1"/>
                </a:solidFill>
              </a:rPr>
              <a:t>Policy as code (PaC) deployment</a:t>
            </a:r>
          </a:p>
        </p:txBody>
      </p:sp>
      <p:sp>
        <p:nvSpPr>
          <p:cNvPr id="26" name="TextBox 25">
            <a:extLst>
              <a:ext uri="{FF2B5EF4-FFF2-40B4-BE49-F238E27FC236}">
                <a16:creationId xmlns:a16="http://schemas.microsoft.com/office/drawing/2014/main" id="{1BFCB41D-D693-F0F0-48DF-81BE0F513F40}"/>
              </a:ext>
            </a:extLst>
          </p:cNvPr>
          <p:cNvSpPr txBox="1"/>
          <p:nvPr/>
        </p:nvSpPr>
        <p:spPr>
          <a:xfrm>
            <a:off x="10209121" y="3900131"/>
            <a:ext cx="1270890" cy="461665"/>
          </a:xfrm>
          <a:prstGeom prst="rect">
            <a:avLst/>
          </a:prstGeom>
          <a:noFill/>
        </p:spPr>
        <p:txBody>
          <a:bodyPr wrap="square">
            <a:spAutoFit/>
          </a:bodyPr>
          <a:lstStyle/>
          <a:p>
            <a:r>
              <a:rPr lang="en-US" sz="1200" dirty="0">
                <a:solidFill>
                  <a:schemeClr val="bg1"/>
                </a:solidFill>
              </a:rPr>
              <a:t>Artifact signing and provenance</a:t>
            </a:r>
          </a:p>
        </p:txBody>
      </p:sp>
      <p:sp>
        <p:nvSpPr>
          <p:cNvPr id="27" name="TextBox 26">
            <a:extLst>
              <a:ext uri="{FF2B5EF4-FFF2-40B4-BE49-F238E27FC236}">
                <a16:creationId xmlns:a16="http://schemas.microsoft.com/office/drawing/2014/main" id="{6A2081B8-3E31-0494-1C40-286C0FA9C245}"/>
              </a:ext>
            </a:extLst>
          </p:cNvPr>
          <p:cNvSpPr txBox="1"/>
          <p:nvPr/>
        </p:nvSpPr>
        <p:spPr>
          <a:xfrm>
            <a:off x="10216682" y="4579801"/>
            <a:ext cx="1270890" cy="646331"/>
          </a:xfrm>
          <a:prstGeom prst="rect">
            <a:avLst/>
          </a:prstGeom>
          <a:noFill/>
        </p:spPr>
        <p:txBody>
          <a:bodyPr wrap="square">
            <a:spAutoFit/>
          </a:bodyPr>
          <a:lstStyle/>
          <a:p>
            <a:r>
              <a:rPr lang="en-US" sz="1200" dirty="0">
                <a:solidFill>
                  <a:schemeClr val="bg1"/>
                </a:solidFill>
              </a:rPr>
              <a:t>Deployment security gates and reviews</a:t>
            </a:r>
          </a:p>
        </p:txBody>
      </p:sp>
      <p:sp>
        <p:nvSpPr>
          <p:cNvPr id="28" name="TextBox 27">
            <a:extLst>
              <a:ext uri="{FF2B5EF4-FFF2-40B4-BE49-F238E27FC236}">
                <a16:creationId xmlns:a16="http://schemas.microsoft.com/office/drawing/2014/main" id="{F4F465EB-C99B-7E33-0AFA-1A7CE516B3B5}"/>
              </a:ext>
            </a:extLst>
          </p:cNvPr>
          <p:cNvSpPr txBox="1"/>
          <p:nvPr/>
        </p:nvSpPr>
        <p:spPr>
          <a:xfrm>
            <a:off x="10209282" y="2406601"/>
            <a:ext cx="1270890" cy="646331"/>
          </a:xfrm>
          <a:prstGeom prst="rect">
            <a:avLst/>
          </a:prstGeom>
          <a:noFill/>
        </p:spPr>
        <p:txBody>
          <a:bodyPr wrap="square">
            <a:spAutoFit/>
          </a:bodyPr>
          <a:lstStyle/>
          <a:p>
            <a:r>
              <a:rPr lang="en-US" sz="1200" dirty="0">
                <a:solidFill>
                  <a:schemeClr val="bg1"/>
                </a:solidFill>
              </a:rPr>
              <a:t>Container and orchestrator security</a:t>
            </a:r>
          </a:p>
        </p:txBody>
      </p:sp>
      <p:grpSp>
        <p:nvGrpSpPr>
          <p:cNvPr id="29" name="Group 28">
            <a:extLst>
              <a:ext uri="{FF2B5EF4-FFF2-40B4-BE49-F238E27FC236}">
                <a16:creationId xmlns:a16="http://schemas.microsoft.com/office/drawing/2014/main" id="{88487269-D7CE-4578-4E81-15A562335383}"/>
              </a:ext>
            </a:extLst>
          </p:cNvPr>
          <p:cNvGrpSpPr/>
          <p:nvPr/>
        </p:nvGrpSpPr>
        <p:grpSpPr>
          <a:xfrm>
            <a:off x="9189252" y="457062"/>
            <a:ext cx="2555959" cy="752495"/>
            <a:chOff x="6903963" y="1492112"/>
            <a:chExt cx="2555959" cy="752495"/>
          </a:xfrm>
        </p:grpSpPr>
        <p:sp>
          <p:nvSpPr>
            <p:cNvPr id="30" name="Arrow: Chevron 29">
              <a:extLst>
                <a:ext uri="{FF2B5EF4-FFF2-40B4-BE49-F238E27FC236}">
                  <a16:creationId xmlns:a16="http://schemas.microsoft.com/office/drawing/2014/main" id="{9C6A4BDA-9EDE-5478-9CE6-9688E49D7B1E}"/>
                </a:ext>
              </a:extLst>
            </p:cNvPr>
            <p:cNvSpPr/>
            <p:nvPr/>
          </p:nvSpPr>
          <p:spPr>
            <a:xfrm>
              <a:off x="6903963" y="1492112"/>
              <a:ext cx="2555959" cy="752495"/>
            </a:xfrm>
            <a:prstGeom prst="chevron">
              <a:avLst/>
            </a:prstGeom>
            <a:solidFill>
              <a:schemeClr val="accent1">
                <a:hueOff val="0"/>
                <a:satOff val="0"/>
                <a:lumOff val="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31" name="Arrow: Chevron 4">
              <a:extLst>
                <a:ext uri="{FF2B5EF4-FFF2-40B4-BE49-F238E27FC236}">
                  <a16:creationId xmlns:a16="http://schemas.microsoft.com/office/drawing/2014/main" id="{B35C09F2-496C-5475-2A17-326F05D69C75}"/>
                </a:ext>
              </a:extLst>
            </p:cNvPr>
            <p:cNvSpPr txBox="1"/>
            <p:nvPr/>
          </p:nvSpPr>
          <p:spPr>
            <a:xfrm>
              <a:off x="7280211" y="1492112"/>
              <a:ext cx="1803464" cy="7524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Deploy</a:t>
              </a:r>
            </a:p>
          </p:txBody>
        </p:sp>
      </p:grpSp>
    </p:spTree>
    <p:extLst>
      <p:ext uri="{BB962C8B-B14F-4D97-AF65-F5344CB8AC3E}">
        <p14:creationId xmlns:p14="http://schemas.microsoft.com/office/powerpoint/2010/main" val="10710321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B8224-4EEC-A877-EEE7-2B0EE2DF41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DBA4D3-28A2-9035-D481-A8F488E6EBA7}"/>
              </a:ext>
            </a:extLst>
          </p:cNvPr>
          <p:cNvSpPr>
            <a:spLocks noGrp="1"/>
          </p:cNvSpPr>
          <p:nvPr>
            <p:ph type="title"/>
          </p:nvPr>
        </p:nvSpPr>
        <p:spPr>
          <a:xfrm>
            <a:off x="364992" y="547738"/>
            <a:ext cx="11305392" cy="1047382"/>
          </a:xfrm>
        </p:spPr>
        <p:txBody>
          <a:bodyPr/>
          <a:lstStyle/>
          <a:p>
            <a:r>
              <a:rPr lang="en-CA" dirty="0" err="1"/>
              <a:t>iSSDLC</a:t>
            </a:r>
            <a:r>
              <a:rPr lang="en-CA" dirty="0"/>
              <a:t> capabilities definitions</a:t>
            </a:r>
            <a:br>
              <a:rPr lang="en-CA" dirty="0"/>
            </a:br>
            <a:r>
              <a:rPr lang="en-CA" sz="3200" dirty="0">
                <a:solidFill>
                  <a:schemeClr val="accent1">
                    <a:lumMod val="50000"/>
                  </a:schemeClr>
                </a:solidFill>
              </a:rPr>
              <a:t>Operate and maintain phase</a:t>
            </a:r>
            <a:endParaRPr lang="en-US" sz="3200" dirty="0">
              <a:solidFill>
                <a:schemeClr val="accent1">
                  <a:lumMod val="50000"/>
                </a:schemeClr>
              </a:solidFill>
            </a:endParaRPr>
          </a:p>
        </p:txBody>
      </p:sp>
      <p:sp>
        <p:nvSpPr>
          <p:cNvPr id="2" name="TextBox 1">
            <a:extLst>
              <a:ext uri="{FF2B5EF4-FFF2-40B4-BE49-F238E27FC236}">
                <a16:creationId xmlns:a16="http://schemas.microsoft.com/office/drawing/2014/main" id="{749A235C-E408-60DC-B36E-7E64931CCAFE}"/>
              </a:ext>
            </a:extLst>
          </p:cNvPr>
          <p:cNvSpPr txBox="1"/>
          <p:nvPr/>
        </p:nvSpPr>
        <p:spPr>
          <a:xfrm>
            <a:off x="364993" y="1773342"/>
            <a:ext cx="8228402" cy="523220"/>
          </a:xfrm>
          <a:prstGeom prst="rect">
            <a:avLst/>
          </a:prstGeom>
        </p:spPr>
        <p:txBody>
          <a:bodyPr wrap="square" rtlCol="0">
            <a:spAutoFit/>
          </a:bodyPr>
          <a:lstStyle/>
          <a:p>
            <a:pPr marR="0" lvl="0" algn="l" defTabSz="554492" rtl="0" eaLnBrk="1" fontAlgn="auto" latinLnBrk="0" hangingPunct="1">
              <a:lnSpc>
                <a:spcPct val="100000"/>
              </a:lnSpc>
              <a:spcBef>
                <a:spcPts val="0"/>
              </a:spcBef>
              <a:spcAft>
                <a:spcPts val="600"/>
              </a:spcAft>
              <a:buClrTx/>
              <a:buSzTx/>
              <a:tabLst/>
              <a:defRPr/>
            </a:pPr>
            <a:r>
              <a:rPr kumimoji="0" lang="en-US" sz="1400" i="0" u="none" strike="noStrike" kern="1200" cap="none" spc="0" normalizeH="0" baseline="0" noProof="0" dirty="0">
                <a:ln>
                  <a:noFill/>
                </a:ln>
                <a:solidFill>
                  <a:srgbClr val="000000"/>
                </a:solidFill>
                <a:effectLst/>
                <a:uLnTx/>
                <a:uFillTx/>
                <a:latin typeface="Roboto Condensed Light" panose="02000000000000000000" pitchFamily="2" charset="0"/>
                <a:ea typeface="Roboto Condensed Light" panose="02000000000000000000" pitchFamily="2" charset="0"/>
                <a:cs typeface="+mn-cs"/>
              </a:rPr>
              <a:t>Continuous monitoring, anomaly detection, and vulnerability management enables faster detection and response, reduces the window of exposure for known exploits, and ensures security evolves with the threat landscape.</a:t>
            </a:r>
          </a:p>
        </p:txBody>
      </p:sp>
      <p:graphicFrame>
        <p:nvGraphicFramePr>
          <p:cNvPr id="4" name="Table 3">
            <a:extLst>
              <a:ext uri="{FF2B5EF4-FFF2-40B4-BE49-F238E27FC236}">
                <a16:creationId xmlns:a16="http://schemas.microsoft.com/office/drawing/2014/main" id="{DF165377-AE36-CDF6-EEF6-DC8151C47418}"/>
              </a:ext>
            </a:extLst>
          </p:cNvPr>
          <p:cNvGraphicFramePr>
            <a:graphicFrameLocks noGrp="1"/>
          </p:cNvGraphicFramePr>
          <p:nvPr>
            <p:extLst>
              <p:ext uri="{D42A27DB-BD31-4B8C-83A1-F6EECF244321}">
                <p14:modId xmlns:p14="http://schemas.microsoft.com/office/powerpoint/2010/main" val="4036638538"/>
              </p:ext>
            </p:extLst>
          </p:nvPr>
        </p:nvGraphicFramePr>
        <p:xfrm>
          <a:off x="364993" y="2474785"/>
          <a:ext cx="8031756" cy="3732710"/>
        </p:xfrm>
        <a:graphic>
          <a:graphicData uri="http://schemas.openxmlformats.org/drawingml/2006/table">
            <a:tbl>
              <a:tblPr firstRow="1" bandRow="1">
                <a:tableStyleId>{5C22544A-7EE6-4342-B048-85BDC9FD1C3A}</a:tableStyleId>
              </a:tblPr>
              <a:tblGrid>
                <a:gridCol w="2910616">
                  <a:extLst>
                    <a:ext uri="{9D8B030D-6E8A-4147-A177-3AD203B41FA5}">
                      <a16:colId xmlns:a16="http://schemas.microsoft.com/office/drawing/2014/main" val="4211586766"/>
                    </a:ext>
                  </a:extLst>
                </a:gridCol>
                <a:gridCol w="5121140">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Capability</a:t>
                      </a:r>
                    </a:p>
                  </a:txBody>
                  <a:tcPr/>
                </a:tc>
                <a:tc>
                  <a:txBody>
                    <a:bodyPr/>
                    <a:lstStyle/>
                    <a:p>
                      <a:r>
                        <a:rPr lang="en-US" sz="1400" dirty="0">
                          <a:latin typeface="Montserrat Medium" panose="00000600000000000000" pitchFamily="2" charset="0"/>
                        </a:rPr>
                        <a:t>Definition</a:t>
                      </a:r>
                    </a:p>
                  </a:txBody>
                  <a:tcPr/>
                </a:tc>
                <a:extLst>
                  <a:ext uri="{0D108BD9-81ED-4DB2-BD59-A6C34878D82A}">
                    <a16:rowId xmlns:a16="http://schemas.microsoft.com/office/drawing/2014/main" val="1016400015"/>
                  </a:ext>
                </a:extLst>
              </a:tr>
              <a:tr h="419212">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monitoring and threat detection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Monitor applications in operation for security threats.</a:t>
                      </a: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Incident response and recovery</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Handle security incidents and restore service.</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Vulnerability management and patching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Identify, prioritize, and fix vulnerabilities in applications and underlying operating systems.</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API security</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Securely deploy and monitor API gateways.</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Environment management and configuration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Maintain secure configurations across environments.</a:t>
                      </a:r>
                    </a:p>
                  </a:txBody>
                  <a:tcPr marL="0" marR="0" marT="0" marB="0" anchor="ctr"/>
                </a:tc>
                <a:extLst>
                  <a:ext uri="{0D108BD9-81ED-4DB2-BD59-A6C34878D82A}">
                    <a16:rowId xmlns:a16="http://schemas.microsoft.com/office/drawing/2014/main" val="212257320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Vulnerability disclosure and bug bounty</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Receive and reward external vulnerability reports.</a:t>
                      </a:r>
                    </a:p>
                  </a:txBody>
                  <a:tcPr marL="0" marR="0" marT="0" marB="0" anchor="ctr"/>
                </a:tc>
                <a:extLst>
                  <a:ext uri="{0D108BD9-81ED-4DB2-BD59-A6C34878D82A}">
                    <a16:rowId xmlns:a16="http://schemas.microsoft.com/office/drawing/2014/main" val="329304037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Agentic AI oversight and control</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Govern autonomous AI agent actions and ethics.</a:t>
                      </a:r>
                    </a:p>
                  </a:txBody>
                  <a:tcPr marL="0" marR="0" marT="0" marB="0" anchor="ctr"/>
                </a:tc>
                <a:extLst>
                  <a:ext uri="{0D108BD9-81ED-4DB2-BD59-A6C34878D82A}">
                    <a16:rowId xmlns:a16="http://schemas.microsoft.com/office/drawing/2014/main" val="2236102144"/>
                  </a:ext>
                </a:extLst>
              </a:tr>
            </a:tbl>
          </a:graphicData>
        </a:graphic>
      </p:graphicFrame>
      <p:sp>
        <p:nvSpPr>
          <p:cNvPr id="5" name="Rectangle 4">
            <a:extLst>
              <a:ext uri="{FF2B5EF4-FFF2-40B4-BE49-F238E27FC236}">
                <a16:creationId xmlns:a16="http://schemas.microsoft.com/office/drawing/2014/main" id="{F1BEBE2C-5918-EE95-5208-82C36EF4E305}"/>
              </a:ext>
            </a:extLst>
          </p:cNvPr>
          <p:cNvSpPr/>
          <p:nvPr/>
        </p:nvSpPr>
        <p:spPr>
          <a:xfrm>
            <a:off x="8740877" y="0"/>
            <a:ext cx="3452711" cy="685800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pic>
        <p:nvPicPr>
          <p:cNvPr id="19" name="Picture 18">
            <a:extLst>
              <a:ext uri="{FF2B5EF4-FFF2-40B4-BE49-F238E27FC236}">
                <a16:creationId xmlns:a16="http://schemas.microsoft.com/office/drawing/2014/main" id="{91F43670-AF11-9E54-EF32-8CAE6C75AA8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473802" y="1401848"/>
            <a:ext cx="640080" cy="640080"/>
          </a:xfrm>
          <a:prstGeom prst="rect">
            <a:avLst/>
          </a:prstGeom>
        </p:spPr>
      </p:pic>
      <p:pic>
        <p:nvPicPr>
          <p:cNvPr id="20" name="Picture 19">
            <a:extLst>
              <a:ext uri="{FF2B5EF4-FFF2-40B4-BE49-F238E27FC236}">
                <a16:creationId xmlns:a16="http://schemas.microsoft.com/office/drawing/2014/main" id="{E2FDEB0A-641E-C7CE-2B91-0C09A62E93D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475558" y="2869330"/>
            <a:ext cx="640080" cy="640080"/>
          </a:xfrm>
          <a:prstGeom prst="rect">
            <a:avLst/>
          </a:prstGeom>
        </p:spPr>
      </p:pic>
      <p:pic>
        <p:nvPicPr>
          <p:cNvPr id="21" name="Picture 20">
            <a:extLst>
              <a:ext uri="{FF2B5EF4-FFF2-40B4-BE49-F238E27FC236}">
                <a16:creationId xmlns:a16="http://schemas.microsoft.com/office/drawing/2014/main" id="{8058864D-665E-DBFA-0E38-DCA111035D3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475558" y="5070553"/>
            <a:ext cx="640080" cy="640080"/>
          </a:xfrm>
          <a:prstGeom prst="rect">
            <a:avLst/>
          </a:prstGeom>
        </p:spPr>
      </p:pic>
      <p:pic>
        <p:nvPicPr>
          <p:cNvPr id="22" name="Picture 21">
            <a:extLst>
              <a:ext uri="{FF2B5EF4-FFF2-40B4-BE49-F238E27FC236}">
                <a16:creationId xmlns:a16="http://schemas.microsoft.com/office/drawing/2014/main" id="{36E2AE13-8125-9430-749D-F6E3E00A4E57}"/>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9475558" y="3603071"/>
            <a:ext cx="640080" cy="640080"/>
          </a:xfrm>
          <a:prstGeom prst="rect">
            <a:avLst/>
          </a:prstGeom>
        </p:spPr>
      </p:pic>
      <p:pic>
        <p:nvPicPr>
          <p:cNvPr id="23" name="Picture 22">
            <a:extLst>
              <a:ext uri="{FF2B5EF4-FFF2-40B4-BE49-F238E27FC236}">
                <a16:creationId xmlns:a16="http://schemas.microsoft.com/office/drawing/2014/main" id="{DA032BF8-30E5-1C92-CCD1-1349312D1726}"/>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475558" y="4336812"/>
            <a:ext cx="640080" cy="640080"/>
          </a:xfrm>
          <a:prstGeom prst="rect">
            <a:avLst/>
          </a:prstGeom>
        </p:spPr>
      </p:pic>
      <p:pic>
        <p:nvPicPr>
          <p:cNvPr id="24" name="Picture 23">
            <a:extLst>
              <a:ext uri="{FF2B5EF4-FFF2-40B4-BE49-F238E27FC236}">
                <a16:creationId xmlns:a16="http://schemas.microsoft.com/office/drawing/2014/main" id="{DE5E08E9-C0CC-0F72-7DEC-E2710AB3F8F8}"/>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9475558" y="2135589"/>
            <a:ext cx="640080" cy="640080"/>
          </a:xfrm>
          <a:prstGeom prst="rect">
            <a:avLst/>
          </a:prstGeom>
        </p:spPr>
      </p:pic>
      <p:pic>
        <p:nvPicPr>
          <p:cNvPr id="25" name="Picture 24">
            <a:extLst>
              <a:ext uri="{FF2B5EF4-FFF2-40B4-BE49-F238E27FC236}">
                <a16:creationId xmlns:a16="http://schemas.microsoft.com/office/drawing/2014/main" id="{2E7CE2C7-CEEC-927E-62EA-11337304250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473802" y="5804295"/>
            <a:ext cx="640080" cy="640080"/>
          </a:xfrm>
          <a:prstGeom prst="rect">
            <a:avLst/>
          </a:prstGeom>
        </p:spPr>
      </p:pic>
      <p:sp>
        <p:nvSpPr>
          <p:cNvPr id="26" name="TextBox 25">
            <a:extLst>
              <a:ext uri="{FF2B5EF4-FFF2-40B4-BE49-F238E27FC236}">
                <a16:creationId xmlns:a16="http://schemas.microsoft.com/office/drawing/2014/main" id="{DDEE0BE2-52FC-72A1-3E49-F7C00BB2CF76}"/>
              </a:ext>
            </a:extLst>
          </p:cNvPr>
          <p:cNvSpPr txBox="1"/>
          <p:nvPr/>
        </p:nvSpPr>
        <p:spPr>
          <a:xfrm>
            <a:off x="10319056" y="1450176"/>
            <a:ext cx="1270890" cy="646331"/>
          </a:xfrm>
          <a:prstGeom prst="rect">
            <a:avLst/>
          </a:prstGeom>
          <a:noFill/>
        </p:spPr>
        <p:txBody>
          <a:bodyPr wrap="square">
            <a:spAutoFit/>
          </a:bodyPr>
          <a:lstStyle/>
          <a:p>
            <a:r>
              <a:rPr lang="en-US" sz="1200" dirty="0">
                <a:solidFill>
                  <a:schemeClr val="bg1"/>
                </a:solidFill>
              </a:rPr>
              <a:t>Security monitoring and threat detection</a:t>
            </a:r>
          </a:p>
        </p:txBody>
      </p:sp>
      <p:sp>
        <p:nvSpPr>
          <p:cNvPr id="27" name="TextBox 26">
            <a:extLst>
              <a:ext uri="{FF2B5EF4-FFF2-40B4-BE49-F238E27FC236}">
                <a16:creationId xmlns:a16="http://schemas.microsoft.com/office/drawing/2014/main" id="{ECD1119C-3D59-9C7D-0457-77CFE5152CA3}"/>
              </a:ext>
            </a:extLst>
          </p:cNvPr>
          <p:cNvSpPr txBox="1"/>
          <p:nvPr/>
        </p:nvSpPr>
        <p:spPr>
          <a:xfrm>
            <a:off x="10319056" y="2791260"/>
            <a:ext cx="1270890" cy="646331"/>
          </a:xfrm>
          <a:prstGeom prst="rect">
            <a:avLst/>
          </a:prstGeom>
          <a:noFill/>
        </p:spPr>
        <p:txBody>
          <a:bodyPr wrap="square">
            <a:spAutoFit/>
          </a:bodyPr>
          <a:lstStyle/>
          <a:p>
            <a:r>
              <a:rPr lang="en-US" sz="1200" dirty="0">
                <a:solidFill>
                  <a:schemeClr val="bg1"/>
                </a:solidFill>
              </a:rPr>
              <a:t>Vulnerability management and patching</a:t>
            </a:r>
          </a:p>
        </p:txBody>
      </p:sp>
      <p:sp>
        <p:nvSpPr>
          <p:cNvPr id="28" name="TextBox 27">
            <a:extLst>
              <a:ext uri="{FF2B5EF4-FFF2-40B4-BE49-F238E27FC236}">
                <a16:creationId xmlns:a16="http://schemas.microsoft.com/office/drawing/2014/main" id="{7F5608FA-41C3-4763-D67A-1E5C8D0F4E1E}"/>
              </a:ext>
            </a:extLst>
          </p:cNvPr>
          <p:cNvSpPr txBox="1"/>
          <p:nvPr/>
        </p:nvSpPr>
        <p:spPr>
          <a:xfrm>
            <a:off x="10330230" y="3694476"/>
            <a:ext cx="1270890" cy="276999"/>
          </a:xfrm>
          <a:prstGeom prst="rect">
            <a:avLst/>
          </a:prstGeom>
          <a:noFill/>
        </p:spPr>
        <p:txBody>
          <a:bodyPr wrap="square">
            <a:spAutoFit/>
          </a:bodyPr>
          <a:lstStyle/>
          <a:p>
            <a:r>
              <a:rPr lang="en-US" sz="1200" dirty="0">
                <a:solidFill>
                  <a:schemeClr val="bg1"/>
                </a:solidFill>
              </a:rPr>
              <a:t>API security</a:t>
            </a:r>
          </a:p>
        </p:txBody>
      </p:sp>
      <p:sp>
        <p:nvSpPr>
          <p:cNvPr id="29" name="TextBox 28">
            <a:extLst>
              <a:ext uri="{FF2B5EF4-FFF2-40B4-BE49-F238E27FC236}">
                <a16:creationId xmlns:a16="http://schemas.microsoft.com/office/drawing/2014/main" id="{985E1DBE-7AF8-9C4E-1DAB-593B068CE006}"/>
              </a:ext>
            </a:extLst>
          </p:cNvPr>
          <p:cNvSpPr txBox="1"/>
          <p:nvPr/>
        </p:nvSpPr>
        <p:spPr>
          <a:xfrm>
            <a:off x="10330230" y="4299357"/>
            <a:ext cx="1340154" cy="646331"/>
          </a:xfrm>
          <a:prstGeom prst="rect">
            <a:avLst/>
          </a:prstGeom>
          <a:noFill/>
        </p:spPr>
        <p:txBody>
          <a:bodyPr wrap="square">
            <a:spAutoFit/>
          </a:bodyPr>
          <a:lstStyle/>
          <a:p>
            <a:r>
              <a:rPr lang="en-US" sz="1200" dirty="0">
                <a:solidFill>
                  <a:schemeClr val="bg1"/>
                </a:solidFill>
              </a:rPr>
              <a:t>Environment management and configuration</a:t>
            </a:r>
          </a:p>
        </p:txBody>
      </p:sp>
      <p:sp>
        <p:nvSpPr>
          <p:cNvPr id="30" name="TextBox 29">
            <a:extLst>
              <a:ext uri="{FF2B5EF4-FFF2-40B4-BE49-F238E27FC236}">
                <a16:creationId xmlns:a16="http://schemas.microsoft.com/office/drawing/2014/main" id="{DCF422F2-7AFB-26A1-80C3-C369C14DC0EA}"/>
              </a:ext>
            </a:extLst>
          </p:cNvPr>
          <p:cNvSpPr txBox="1"/>
          <p:nvPr/>
        </p:nvSpPr>
        <p:spPr>
          <a:xfrm>
            <a:off x="10319056" y="5005231"/>
            <a:ext cx="1270890" cy="646331"/>
          </a:xfrm>
          <a:prstGeom prst="rect">
            <a:avLst/>
          </a:prstGeom>
          <a:noFill/>
        </p:spPr>
        <p:txBody>
          <a:bodyPr wrap="square">
            <a:spAutoFit/>
          </a:bodyPr>
          <a:lstStyle/>
          <a:p>
            <a:r>
              <a:rPr lang="en-US" sz="1200" dirty="0">
                <a:solidFill>
                  <a:schemeClr val="bg1"/>
                </a:solidFill>
              </a:rPr>
              <a:t>Vulnerability disclosure and bug bounty</a:t>
            </a:r>
          </a:p>
        </p:txBody>
      </p:sp>
      <p:sp>
        <p:nvSpPr>
          <p:cNvPr id="31" name="TextBox 30">
            <a:extLst>
              <a:ext uri="{FF2B5EF4-FFF2-40B4-BE49-F238E27FC236}">
                <a16:creationId xmlns:a16="http://schemas.microsoft.com/office/drawing/2014/main" id="{52E04DC3-F93A-1BF1-CC57-ED9B9D686194}"/>
              </a:ext>
            </a:extLst>
          </p:cNvPr>
          <p:cNvSpPr txBox="1"/>
          <p:nvPr/>
        </p:nvSpPr>
        <p:spPr>
          <a:xfrm>
            <a:off x="10319056" y="5711105"/>
            <a:ext cx="1270890" cy="646331"/>
          </a:xfrm>
          <a:prstGeom prst="rect">
            <a:avLst/>
          </a:prstGeom>
          <a:noFill/>
        </p:spPr>
        <p:txBody>
          <a:bodyPr wrap="square">
            <a:spAutoFit/>
          </a:bodyPr>
          <a:lstStyle/>
          <a:p>
            <a:r>
              <a:rPr lang="en-US" sz="1200" dirty="0">
                <a:solidFill>
                  <a:schemeClr val="bg1"/>
                </a:solidFill>
              </a:rPr>
              <a:t>Agentic AI oversight and control</a:t>
            </a:r>
          </a:p>
        </p:txBody>
      </p:sp>
      <p:sp>
        <p:nvSpPr>
          <p:cNvPr id="32" name="TextBox 31">
            <a:extLst>
              <a:ext uri="{FF2B5EF4-FFF2-40B4-BE49-F238E27FC236}">
                <a16:creationId xmlns:a16="http://schemas.microsoft.com/office/drawing/2014/main" id="{3E3AACFF-46AE-AF24-5681-EBED99EF97F4}"/>
              </a:ext>
            </a:extLst>
          </p:cNvPr>
          <p:cNvSpPr txBox="1"/>
          <p:nvPr/>
        </p:nvSpPr>
        <p:spPr>
          <a:xfrm>
            <a:off x="10330230" y="2140132"/>
            <a:ext cx="1270890" cy="646331"/>
          </a:xfrm>
          <a:prstGeom prst="rect">
            <a:avLst/>
          </a:prstGeom>
          <a:noFill/>
        </p:spPr>
        <p:txBody>
          <a:bodyPr wrap="square">
            <a:spAutoFit/>
          </a:bodyPr>
          <a:lstStyle/>
          <a:p>
            <a:r>
              <a:rPr lang="en-US" sz="1200" dirty="0">
                <a:solidFill>
                  <a:schemeClr val="bg1"/>
                </a:solidFill>
              </a:rPr>
              <a:t>Incident response and recovery</a:t>
            </a:r>
          </a:p>
        </p:txBody>
      </p:sp>
      <p:grpSp>
        <p:nvGrpSpPr>
          <p:cNvPr id="33" name="Group 32">
            <a:extLst>
              <a:ext uri="{FF2B5EF4-FFF2-40B4-BE49-F238E27FC236}">
                <a16:creationId xmlns:a16="http://schemas.microsoft.com/office/drawing/2014/main" id="{7A9EEC73-8D9F-8C55-1297-BA1F44B9DD51}"/>
              </a:ext>
            </a:extLst>
          </p:cNvPr>
          <p:cNvGrpSpPr/>
          <p:nvPr/>
        </p:nvGrpSpPr>
        <p:grpSpPr>
          <a:xfrm>
            <a:off x="9052707" y="454076"/>
            <a:ext cx="2555959" cy="752495"/>
            <a:chOff x="9204327" y="1492112"/>
            <a:chExt cx="2555959" cy="752495"/>
          </a:xfrm>
        </p:grpSpPr>
        <p:sp>
          <p:nvSpPr>
            <p:cNvPr id="34" name="Arrow: Chevron 33">
              <a:extLst>
                <a:ext uri="{FF2B5EF4-FFF2-40B4-BE49-F238E27FC236}">
                  <a16:creationId xmlns:a16="http://schemas.microsoft.com/office/drawing/2014/main" id="{FCA21C01-E6B0-D006-6D7A-50868FC373F7}"/>
                </a:ext>
              </a:extLst>
            </p:cNvPr>
            <p:cNvSpPr/>
            <p:nvPr/>
          </p:nvSpPr>
          <p:spPr>
            <a:xfrm>
              <a:off x="9204327" y="1492112"/>
              <a:ext cx="2555959" cy="752495"/>
            </a:xfrm>
            <a:prstGeom prst="chevron">
              <a:avLst/>
            </a:prstGeom>
            <a:solidFill>
              <a:schemeClr val="accent1">
                <a:hueOff val="0"/>
                <a:satOff val="0"/>
                <a:lumOff val="0"/>
                <a:alpha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p>
          </p:txBody>
        </p:sp>
        <p:sp>
          <p:nvSpPr>
            <p:cNvPr id="35" name="Arrow: Chevron 4">
              <a:extLst>
                <a:ext uri="{FF2B5EF4-FFF2-40B4-BE49-F238E27FC236}">
                  <a16:creationId xmlns:a16="http://schemas.microsoft.com/office/drawing/2014/main" id="{5C26CDAB-1CF8-93C0-FCBA-9546D0ED071A}"/>
                </a:ext>
              </a:extLst>
            </p:cNvPr>
            <p:cNvSpPr txBox="1"/>
            <p:nvPr/>
          </p:nvSpPr>
          <p:spPr>
            <a:xfrm>
              <a:off x="9580575" y="1492112"/>
              <a:ext cx="1803464" cy="7524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Exo" pitchFamily="2" charset="0"/>
                </a:rPr>
                <a:t>Operate </a:t>
              </a:r>
              <a:r>
                <a:rPr lang="en-US" sz="1400" dirty="0">
                  <a:latin typeface="Exo" pitchFamily="2" charset="0"/>
                </a:rPr>
                <a:t>and m</a:t>
              </a:r>
              <a:r>
                <a:rPr lang="en-US" sz="1400" kern="1200" dirty="0">
                  <a:latin typeface="Exo" pitchFamily="2" charset="0"/>
                </a:rPr>
                <a:t>aintain</a:t>
              </a:r>
            </a:p>
          </p:txBody>
        </p:sp>
      </p:grpSp>
    </p:spTree>
    <p:extLst>
      <p:ext uri="{BB962C8B-B14F-4D97-AF65-F5344CB8AC3E}">
        <p14:creationId xmlns:p14="http://schemas.microsoft.com/office/powerpoint/2010/main" val="2013081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69953-5325-0FBB-97EF-78072826CE3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26C91D-E3F8-5CA6-5534-CF793F30F9C8}"/>
              </a:ext>
            </a:extLst>
          </p:cNvPr>
          <p:cNvSpPr>
            <a:spLocks noGrp="1"/>
          </p:cNvSpPr>
          <p:nvPr>
            <p:ph type="title"/>
          </p:nvPr>
        </p:nvSpPr>
        <p:spPr>
          <a:xfrm>
            <a:off x="364992" y="547738"/>
            <a:ext cx="6971228" cy="1154938"/>
          </a:xfrm>
        </p:spPr>
        <p:txBody>
          <a:bodyPr/>
          <a:lstStyle/>
          <a:p>
            <a:r>
              <a:rPr lang="en-CA" dirty="0"/>
              <a:t>Reduce the impact of false positives on your development lifecycle</a:t>
            </a:r>
            <a:endParaRPr lang="en-US" i="1" dirty="0">
              <a:solidFill>
                <a:schemeClr val="accent1"/>
              </a:solidFill>
            </a:endParaRPr>
          </a:p>
        </p:txBody>
      </p:sp>
      <p:sp>
        <p:nvSpPr>
          <p:cNvPr id="4" name="Text Placeholder 7">
            <a:extLst>
              <a:ext uri="{FF2B5EF4-FFF2-40B4-BE49-F238E27FC236}">
                <a16:creationId xmlns:a16="http://schemas.microsoft.com/office/drawing/2014/main" id="{75FA716A-65F4-0637-9F44-A79AF88A0A5A}"/>
              </a:ext>
            </a:extLst>
          </p:cNvPr>
          <p:cNvSpPr txBox="1">
            <a:spLocks/>
          </p:cNvSpPr>
          <p:nvPr/>
        </p:nvSpPr>
        <p:spPr>
          <a:xfrm>
            <a:off x="364991" y="2293792"/>
            <a:ext cx="6971229" cy="42308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One of the most common challenges in application security is correctly flagging security issues, also known as false positives. This occurs mainly when using automated testing tools such as SAST, DAST, and SCA. </a:t>
            </a:r>
          </a:p>
          <a:p>
            <a:pPr marL="184150" indent="-184150">
              <a:lnSpc>
                <a:spcPct val="110000"/>
              </a:lnSpc>
            </a:pPr>
            <a:r>
              <a:rPr lang="en-US" sz="1400">
                <a:solidFill>
                  <a:srgbClr val="000000"/>
                </a:solidFill>
                <a:latin typeface="Roboto Condensed Light" panose="02000000000000000000" pitchFamily="2" charset="0"/>
              </a:rPr>
              <a:t>High volumes of false positives can overwhelm development and security teams, which results in additional efforts to investigate nonissues that can delay the remediation of critical vulnerabilities. </a:t>
            </a:r>
            <a:endParaRPr lang="en-US" sz="1400" dirty="0">
              <a:solidFill>
                <a:srgbClr val="000000"/>
              </a:solidFill>
              <a:latin typeface="Roboto Condensed Light" panose="02000000000000000000" pitchFamily="2" charset="0"/>
            </a:endParaRPr>
          </a:p>
          <a:p>
            <a:pPr marL="184150" indent="-184150">
              <a:lnSpc>
                <a:spcPct val="110000"/>
              </a:lnSpc>
            </a:pPr>
            <a:r>
              <a:rPr lang="en-US" sz="1400" dirty="0">
                <a:solidFill>
                  <a:srgbClr val="000000"/>
                </a:solidFill>
                <a:latin typeface="Roboto Condensed Light" panose="02000000000000000000" pitchFamily="2" charset="0"/>
              </a:rPr>
              <a:t>It can also result in alert fatigue, which can cause teams to deprioritize important findings, reducing trust amongst the security and application team and delaying remediation workflows.</a:t>
            </a:r>
          </a:p>
          <a:p>
            <a:pPr marL="184150" indent="-184150">
              <a:lnSpc>
                <a:spcPct val="110000"/>
              </a:lnSpc>
            </a:pPr>
            <a:r>
              <a:rPr lang="en-US" sz="1400" dirty="0">
                <a:solidFill>
                  <a:srgbClr val="000000"/>
                </a:solidFill>
                <a:latin typeface="Roboto Condensed Light" panose="02000000000000000000" pitchFamily="2" charset="0"/>
              </a:rPr>
              <a:t>Developing best practices for effective false positive management will help reduce or manage false positives and improve collaboration efforts. </a:t>
            </a:r>
          </a:p>
          <a:p>
            <a:pPr marL="184150" indent="-184150">
              <a:lnSpc>
                <a:spcPct val="110000"/>
              </a:lnSpc>
            </a:pPr>
            <a:r>
              <a:rPr lang="en-US" sz="1400" dirty="0">
                <a:solidFill>
                  <a:srgbClr val="000000"/>
                </a:solidFill>
                <a:latin typeface="Roboto Condensed Light" panose="02000000000000000000" pitchFamily="2" charset="0"/>
              </a:rPr>
              <a:t>Fine-tuning tools to be tailored to specific codebases, prioritizing context-aware testing, and tracking false positive rates as metrics will help faster development of secure applications while also focusing on high-impact risks.</a:t>
            </a:r>
          </a:p>
        </p:txBody>
      </p:sp>
      <p:pic>
        <p:nvPicPr>
          <p:cNvPr id="5" name="Picture 4" descr="A screenshot of a cell phone&#10;&#10;AI-generated content may be incorrect.">
            <a:extLst>
              <a:ext uri="{FF2B5EF4-FFF2-40B4-BE49-F238E27FC236}">
                <a16:creationId xmlns:a16="http://schemas.microsoft.com/office/drawing/2014/main" id="{7605620F-3CB2-4D4D-C71B-E3577B71B0F2}"/>
              </a:ext>
            </a:extLst>
          </p:cNvPr>
          <p:cNvPicPr>
            <a:picLocks noGrp="1" noRot="1" noChangeAspect="1" noMove="1" noResize="1" noEditPoints="1" noAdjustHandles="1" noChangeArrowheads="1" noChangeShapeType="1" noCrop="1"/>
          </p:cNvPicPr>
          <p:nvPr/>
        </p:nvPicPr>
        <p:blipFill>
          <a:blip r:embed="rId3"/>
          <a:stretch>
            <a:fillRect/>
          </a:stretch>
        </p:blipFill>
        <p:spPr>
          <a:xfrm>
            <a:off x="7621588" y="0"/>
            <a:ext cx="4572000" cy="6858000"/>
          </a:xfrm>
          <a:prstGeom prst="rect">
            <a:avLst/>
          </a:prstGeom>
        </p:spPr>
      </p:pic>
      <p:sp>
        <p:nvSpPr>
          <p:cNvPr id="2" name="TextBox 1">
            <a:extLst>
              <a:ext uri="{FF2B5EF4-FFF2-40B4-BE49-F238E27FC236}">
                <a16:creationId xmlns:a16="http://schemas.microsoft.com/office/drawing/2014/main" id="{8F08CAB6-0280-CF6A-0455-9D1607C9CC60}"/>
              </a:ext>
            </a:extLst>
          </p:cNvPr>
          <p:cNvSpPr txBox="1"/>
          <p:nvPr/>
        </p:nvSpPr>
        <p:spPr>
          <a:xfrm>
            <a:off x="7827667" y="6386187"/>
            <a:ext cx="2253082" cy="276999"/>
          </a:xfrm>
          <a:prstGeom prst="rect">
            <a:avLst/>
          </a:prstGeom>
          <a:noFill/>
        </p:spPr>
        <p:txBody>
          <a:bodyPr wrap="square">
            <a:spAutoFit/>
          </a:bodyPr>
          <a:lstStyle/>
          <a:p>
            <a:r>
              <a:rPr lang="en-US" sz="1200">
                <a:solidFill>
                  <a:schemeClr val="bg1"/>
                </a:solidFill>
              </a:rPr>
              <a:t>Image generated by Sora</a:t>
            </a:r>
            <a:endParaRPr lang="en-US" sz="1200" dirty="0">
              <a:solidFill>
                <a:schemeClr val="bg1"/>
              </a:solidFill>
            </a:endParaRPr>
          </a:p>
        </p:txBody>
      </p:sp>
    </p:spTree>
    <p:extLst>
      <p:ext uri="{BB962C8B-B14F-4D97-AF65-F5344CB8AC3E}">
        <p14:creationId xmlns:p14="http://schemas.microsoft.com/office/powerpoint/2010/main" val="36179904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5884D-A919-ED99-B9B6-6038B21C48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98A4C5-C0C8-85F2-4861-6AFC94126E52}"/>
              </a:ext>
            </a:extLst>
          </p:cNvPr>
          <p:cNvSpPr>
            <a:spLocks noGrp="1"/>
          </p:cNvSpPr>
          <p:nvPr>
            <p:ph type="title"/>
          </p:nvPr>
        </p:nvSpPr>
        <p:spPr>
          <a:xfrm>
            <a:off x="364992" y="547738"/>
            <a:ext cx="11305392" cy="602332"/>
          </a:xfrm>
        </p:spPr>
        <p:txBody>
          <a:bodyPr/>
          <a:lstStyle/>
          <a:p>
            <a:r>
              <a:rPr lang="en-CA" dirty="0" err="1"/>
              <a:t>iSSDLC</a:t>
            </a:r>
            <a:r>
              <a:rPr lang="en-CA" dirty="0"/>
              <a:t> capabilities for mitigating false positives</a:t>
            </a:r>
            <a:endParaRPr lang="en-US" i="1" dirty="0">
              <a:solidFill>
                <a:schemeClr val="accent1"/>
              </a:solidFill>
            </a:endParaRPr>
          </a:p>
        </p:txBody>
      </p:sp>
      <p:graphicFrame>
        <p:nvGraphicFramePr>
          <p:cNvPr id="7" name="Table 6">
            <a:extLst>
              <a:ext uri="{FF2B5EF4-FFF2-40B4-BE49-F238E27FC236}">
                <a16:creationId xmlns:a16="http://schemas.microsoft.com/office/drawing/2014/main" id="{159DB733-D323-E67F-E91E-A8C9140F2302}"/>
              </a:ext>
            </a:extLst>
          </p:cNvPr>
          <p:cNvGraphicFramePr>
            <a:graphicFrameLocks noGrp="1"/>
          </p:cNvGraphicFramePr>
          <p:nvPr>
            <p:extLst>
              <p:ext uri="{D42A27DB-BD31-4B8C-83A1-F6EECF244321}">
                <p14:modId xmlns:p14="http://schemas.microsoft.com/office/powerpoint/2010/main" val="2913501671"/>
              </p:ext>
            </p:extLst>
          </p:nvPr>
        </p:nvGraphicFramePr>
        <p:xfrm>
          <a:off x="364992" y="1831915"/>
          <a:ext cx="9698476" cy="4222599"/>
        </p:xfrm>
        <a:graphic>
          <a:graphicData uri="http://schemas.openxmlformats.org/drawingml/2006/table">
            <a:tbl>
              <a:tblPr firstRow="1" bandRow="1">
                <a:tableStyleId>{5C22544A-7EE6-4342-B048-85BDC9FD1C3A}</a:tableStyleId>
              </a:tblPr>
              <a:tblGrid>
                <a:gridCol w="2711053">
                  <a:extLst>
                    <a:ext uri="{9D8B030D-6E8A-4147-A177-3AD203B41FA5}">
                      <a16:colId xmlns:a16="http://schemas.microsoft.com/office/drawing/2014/main" val="4211586766"/>
                    </a:ext>
                  </a:extLst>
                </a:gridCol>
                <a:gridCol w="6987423">
                  <a:extLst>
                    <a:ext uri="{9D8B030D-6E8A-4147-A177-3AD203B41FA5}">
                      <a16:colId xmlns:a16="http://schemas.microsoft.com/office/drawing/2014/main" val="3296165356"/>
                    </a:ext>
                  </a:extLst>
                </a:gridCol>
              </a:tblGrid>
              <a:tr h="419212">
                <a:tc>
                  <a:txBody>
                    <a:bodyPr/>
                    <a:lstStyle/>
                    <a:p>
                      <a:r>
                        <a:rPr lang="en-US" sz="1400" dirty="0">
                          <a:latin typeface="Montserrat Medium" panose="00000600000000000000" pitchFamily="2" charset="0"/>
                        </a:rPr>
                        <a:t>Capability</a:t>
                      </a:r>
                    </a:p>
                  </a:txBody>
                  <a:tcPr/>
                </a:tc>
                <a:tc>
                  <a:txBody>
                    <a:bodyPr/>
                    <a:lstStyle/>
                    <a:p>
                      <a:r>
                        <a:rPr lang="en-US" sz="1400" dirty="0">
                          <a:latin typeface="Montserrat Medium" panose="00000600000000000000" pitchFamily="2" charset="0"/>
                        </a:rPr>
                        <a:t>How it is addressed</a:t>
                      </a:r>
                    </a:p>
                  </a:txBody>
                  <a:tcPr/>
                </a:tc>
                <a:extLst>
                  <a:ext uri="{0D108BD9-81ED-4DB2-BD59-A6C34878D82A}">
                    <a16:rowId xmlns:a16="http://schemas.microsoft.com/office/drawing/2014/main" val="1016400015"/>
                  </a:ext>
                </a:extLst>
              </a:tr>
              <a:tr h="419212">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Secure code review and static analysis</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Advanced SAST tools with customizable rule sets and contextual analysis reduce irrelevant alerts; human-in-the-loop reviews help validate findings.</a:t>
                      </a:r>
                    </a:p>
                  </a:txBody>
                  <a:tcPr marL="0" marR="0" marT="0" marB="0" anchor="ctr"/>
                </a:tc>
                <a:extLst>
                  <a:ext uri="{0D108BD9-81ED-4DB2-BD59-A6C34878D82A}">
                    <a16:rowId xmlns:a16="http://schemas.microsoft.com/office/drawing/2014/main" val="364516500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Automated security testing</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Integrate tools that support dynamic and static testing with tuned thresholds to eliminate noise and prioritize exploitable vulnerabilities.</a:t>
                      </a:r>
                    </a:p>
                  </a:txBody>
                  <a:tcPr marL="0" marR="0" marT="0" marB="0" anchor="ctr"/>
                </a:tc>
                <a:extLst>
                  <a:ext uri="{0D108BD9-81ED-4DB2-BD59-A6C34878D82A}">
                    <a16:rowId xmlns:a16="http://schemas.microsoft.com/office/drawing/2014/main" val="3728418913"/>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integration in CI/CD pipeline</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Enable contextual scanning based on environment, branch, or asset criticality, reducing unnecessary or duplicate findings.</a:t>
                      </a:r>
                    </a:p>
                  </a:txBody>
                  <a:tcPr marL="0" marR="0" marT="0" marB="0" anchor="ctr"/>
                </a:tc>
                <a:extLst>
                  <a:ext uri="{0D108BD9-81ED-4DB2-BD59-A6C34878D82A}">
                    <a16:rowId xmlns:a16="http://schemas.microsoft.com/office/drawing/2014/main" val="3130996767"/>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Interactive application security testing (IAST)</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Use runtime data during functional testing to correlate findings with real execution paths, drastically lowering false positives compared to SAST/DAST alone.</a:t>
                      </a:r>
                    </a:p>
                  </a:txBody>
                  <a:tcPr marL="0" marR="0" marT="0" marB="0" anchor="ctr"/>
                </a:tc>
                <a:extLst>
                  <a:ext uri="{0D108BD9-81ED-4DB2-BD59-A6C34878D82A}">
                    <a16:rowId xmlns:a16="http://schemas.microsoft.com/office/drawing/2014/main" val="1753131391"/>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requirements validation</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Help align testing outcomes with business risk and policy, ensuring tools are only flagging issues that truly violate defined security baselines.</a:t>
                      </a:r>
                    </a:p>
                  </a:txBody>
                  <a:tcPr marL="0" marR="0" marT="0" marB="0" anchor="ctr"/>
                </a:tc>
                <a:extLst>
                  <a:ext uri="{0D108BD9-81ED-4DB2-BD59-A6C34878D82A}">
                    <a16:rowId xmlns:a16="http://schemas.microsoft.com/office/drawing/2014/main" val="212257320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Continuous improvement and metrics</a:t>
                      </a:r>
                    </a:p>
                  </a:txBody>
                  <a:tcPr marL="0" marR="0" marT="0" marB="0" anchor="ctr"/>
                </a:tc>
                <a:tc>
                  <a:txBody>
                    <a:bodyPr/>
                    <a:lstStyle/>
                    <a:p>
                      <a:pPr algn="l" fontAlgn="ctr">
                        <a:buNone/>
                      </a:pPr>
                      <a:r>
                        <a:rPr lang="en-US" sz="1400" b="0" i="0" u="none" strike="noStrike">
                          <a:solidFill>
                            <a:srgbClr val="333333"/>
                          </a:solidFill>
                          <a:effectLst/>
                          <a:latin typeface="Roboto Condensed Light" panose="02000000000000000000" pitchFamily="2" charset="0"/>
                          <a:ea typeface="Roboto Condensed Light" panose="02000000000000000000" pitchFamily="2" charset="0"/>
                        </a:rPr>
                        <a:t>Regular tuning and evaluation of tool performance using metrics (e.g. signal-to-noise ratio) ensures alerts stay relevant and trustworthy.</a:t>
                      </a:r>
                      <a:endParaRPr lang="en-US" sz="1400" b="0" i="0" u="none" strike="noStrike" dirty="0">
                        <a:solidFill>
                          <a:srgbClr val="333333"/>
                        </a:solidFill>
                        <a:effectLst/>
                        <a:latin typeface="Roboto Condensed Light" panose="02000000000000000000" pitchFamily="2" charset="0"/>
                        <a:ea typeface="Roboto Condensed Light" panose="02000000000000000000" pitchFamily="2" charset="0"/>
                      </a:endParaRPr>
                    </a:p>
                  </a:txBody>
                  <a:tcPr marL="0" marR="0" marT="0" marB="0" anchor="ctr"/>
                </a:tc>
                <a:extLst>
                  <a:ext uri="{0D108BD9-81ED-4DB2-BD59-A6C34878D82A}">
                    <a16:rowId xmlns:a16="http://schemas.microsoft.com/office/drawing/2014/main" val="329304037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champion program</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Empower developers to review and refine security tool outputs, allowing better tuning and faster validation of false positives.</a:t>
                      </a:r>
                    </a:p>
                  </a:txBody>
                  <a:tcPr marL="0" marR="0" marT="0" marB="0" anchor="ctr"/>
                </a:tc>
                <a:extLst>
                  <a:ext uri="{0D108BD9-81ED-4DB2-BD59-A6C34878D82A}">
                    <a16:rowId xmlns:a16="http://schemas.microsoft.com/office/drawing/2014/main" val="2236102144"/>
                  </a:ext>
                </a:extLst>
              </a:tr>
              <a:tr h="482381">
                <a:tc>
                  <a:txBody>
                    <a:bodyPr/>
                    <a:lstStyle/>
                    <a:p>
                      <a:pPr algn="l" fontAlgn="ctr">
                        <a:buNone/>
                      </a:pPr>
                      <a:r>
                        <a:rPr lang="en-US" sz="1400" b="1" i="0" u="none" strike="noStrike" dirty="0">
                          <a:solidFill>
                            <a:srgbClr val="333333"/>
                          </a:solidFill>
                          <a:effectLst/>
                          <a:latin typeface="Roboto Condensed Light" panose="02000000000000000000" pitchFamily="2" charset="0"/>
                          <a:ea typeface="Roboto Condensed Light" panose="02000000000000000000" pitchFamily="2" charset="0"/>
                        </a:rPr>
                        <a:t>Security gate policies in CI/CD</a:t>
                      </a:r>
                    </a:p>
                  </a:txBody>
                  <a:tcPr marL="0" marR="0" marT="0" marB="0" anchor="ctr"/>
                </a:tc>
                <a:tc>
                  <a:txBody>
                    <a:bodyPr/>
                    <a:lstStyle/>
                    <a:p>
                      <a:pPr algn="l" fontAlgn="ctr">
                        <a:buNone/>
                      </a:pPr>
                      <a:r>
                        <a:rPr lang="en-US" sz="1400" b="0" i="0" u="none" strike="noStrike" dirty="0">
                          <a:solidFill>
                            <a:srgbClr val="333333"/>
                          </a:solidFill>
                          <a:effectLst/>
                          <a:latin typeface="Roboto Condensed Light" panose="02000000000000000000" pitchFamily="2" charset="0"/>
                          <a:ea typeface="Roboto Condensed Light" panose="02000000000000000000" pitchFamily="2" charset="0"/>
                        </a:rPr>
                        <a:t>Ensure only actionable, high-confidence findings can block builds or deployments, reducing unnecessary friction in workflows.</a:t>
                      </a:r>
                    </a:p>
                  </a:txBody>
                  <a:tcPr marL="0" marR="0" marT="0" marB="0" anchor="ctr"/>
                </a:tc>
                <a:extLst>
                  <a:ext uri="{0D108BD9-81ED-4DB2-BD59-A6C34878D82A}">
                    <a16:rowId xmlns:a16="http://schemas.microsoft.com/office/drawing/2014/main" val="318115997"/>
                  </a:ext>
                </a:extLst>
              </a:tr>
            </a:tbl>
          </a:graphicData>
        </a:graphic>
      </p:graphicFrame>
    </p:spTree>
    <p:extLst>
      <p:ext uri="{BB962C8B-B14F-4D97-AF65-F5344CB8AC3E}">
        <p14:creationId xmlns:p14="http://schemas.microsoft.com/office/powerpoint/2010/main" val="4026010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59B1B-ADED-45CD-A5CF-09EF5DC8F7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0C5EE7-6979-49A8-DB2B-4F0714AD9D4A}"/>
              </a:ext>
            </a:extLst>
          </p:cNvPr>
          <p:cNvSpPr>
            <a:spLocks noGrp="1"/>
          </p:cNvSpPr>
          <p:nvPr>
            <p:ph type="title"/>
          </p:nvPr>
        </p:nvSpPr>
        <p:spPr>
          <a:xfrm>
            <a:off x="364992" y="547738"/>
            <a:ext cx="11305392" cy="621186"/>
          </a:xfrm>
        </p:spPr>
        <p:txBody>
          <a:bodyPr/>
          <a:lstStyle/>
          <a:p>
            <a:r>
              <a:rPr lang="en-CA" dirty="0" err="1"/>
              <a:t>iSSDLC</a:t>
            </a:r>
            <a:r>
              <a:rPr lang="en-CA" dirty="0"/>
              <a:t> maturity model</a:t>
            </a:r>
            <a:endParaRPr lang="en-US" i="1" dirty="0">
              <a:solidFill>
                <a:schemeClr val="accent1"/>
              </a:solidFill>
            </a:endParaRPr>
          </a:p>
        </p:txBody>
      </p:sp>
      <p:sp>
        <p:nvSpPr>
          <p:cNvPr id="9" name="Rectangle 8">
            <a:extLst>
              <a:ext uri="{FF2B5EF4-FFF2-40B4-BE49-F238E27FC236}">
                <a16:creationId xmlns:a16="http://schemas.microsoft.com/office/drawing/2014/main" id="{3860D864-C2D2-C172-C339-D0F66DCB352C}"/>
              </a:ext>
            </a:extLst>
          </p:cNvPr>
          <p:cNvSpPr/>
          <p:nvPr/>
        </p:nvSpPr>
        <p:spPr>
          <a:xfrm>
            <a:off x="480754" y="5195148"/>
            <a:ext cx="11189629" cy="1166138"/>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a:spcBef>
                <a:spcPts val="600"/>
              </a:spcBef>
              <a:defRPr/>
            </a:pPr>
            <a:r>
              <a:rPr lang="en-US" sz="1400" dirty="0">
                <a:solidFill>
                  <a:srgbClr val="FFFFFF"/>
                </a:solidFill>
                <a:latin typeface="Roboto Condensed Light" panose="02000000000000000000" pitchFamily="2" charset="0"/>
                <a:ea typeface="Roboto Condensed Light" panose="02000000000000000000" pitchFamily="2" charset="0"/>
              </a:rPr>
              <a:t>An intelligence-driven, risk-aligned, and adaptive maturity model helps guide organizations to a more agile, intelligent, and risk-aware modernization of secure development.</a:t>
            </a:r>
          </a:p>
        </p:txBody>
      </p:sp>
      <p:sp>
        <p:nvSpPr>
          <p:cNvPr id="10" name="Rectangle 9">
            <a:extLst>
              <a:ext uri="{FF2B5EF4-FFF2-40B4-BE49-F238E27FC236}">
                <a16:creationId xmlns:a16="http://schemas.microsoft.com/office/drawing/2014/main" id="{60CB970B-0124-6C6B-6549-92F2609AE797}"/>
              </a:ext>
              <a:ext uri="{C183D7F6-B498-43B3-948B-1728B52AA6E4}">
                <adec:decorative xmlns:adec="http://schemas.microsoft.com/office/drawing/2017/decorative" val="1"/>
              </a:ext>
            </a:extLst>
          </p:cNvPr>
          <p:cNvSpPr/>
          <p:nvPr/>
        </p:nvSpPr>
        <p:spPr>
          <a:xfrm>
            <a:off x="480756" y="5195148"/>
            <a:ext cx="11189628" cy="1166138"/>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6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
        <p:nvSpPr>
          <p:cNvPr id="5" name="Text Placeholder 7">
            <a:extLst>
              <a:ext uri="{FF2B5EF4-FFF2-40B4-BE49-F238E27FC236}">
                <a16:creationId xmlns:a16="http://schemas.microsoft.com/office/drawing/2014/main" id="{696C5063-9BCF-A6E2-3284-6DADB6ABBCA1}"/>
              </a:ext>
            </a:extLst>
          </p:cNvPr>
          <p:cNvSpPr txBox="1">
            <a:spLocks/>
          </p:cNvSpPr>
          <p:nvPr/>
        </p:nvSpPr>
        <p:spPr>
          <a:xfrm>
            <a:off x="312059" y="1186163"/>
            <a:ext cx="11654688" cy="39152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1600" dirty="0">
                <a:solidFill>
                  <a:srgbClr val="2576B7"/>
                </a:solidFill>
                <a:latin typeface="Exo" panose="02000503000000000000" pitchFamily="2" charset="77"/>
                <a:cs typeface="Arial" panose="020B0604020202020204" pitchFamily="34" charset="0"/>
              </a:rPr>
              <a:t>Intelligent application security capabilities need a maturity model that considers intelligence.</a:t>
            </a:r>
          </a:p>
          <a:p>
            <a:pPr marL="0" indent="0">
              <a:lnSpc>
                <a:spcPct val="110000"/>
              </a:lnSpc>
              <a:buNone/>
            </a:pPr>
            <a:endParaRPr lang="en-US" sz="1600" dirty="0">
              <a:solidFill>
                <a:srgbClr val="2576B7"/>
              </a:solidFill>
              <a:latin typeface="Exo" panose="02000503000000000000" pitchFamily="2" charset="77"/>
              <a:cs typeface="Arial" panose="020B0604020202020204" pitchFamily="34" charset="0"/>
            </a:endParaRPr>
          </a:p>
          <a:p>
            <a:pPr fontAlgn="base">
              <a:lnSpc>
                <a:spcPct val="100000"/>
              </a:lnSpc>
            </a:pPr>
            <a:endParaRPr lang="en-CA" sz="1400" dirty="0">
              <a:solidFill>
                <a:srgbClr val="000000"/>
              </a:solidFill>
              <a:latin typeface="Roboto Condensed Light" panose="02000000000000000000" pitchFamily="2" charset="0"/>
            </a:endParaRPr>
          </a:p>
        </p:txBody>
      </p:sp>
      <p:sp>
        <p:nvSpPr>
          <p:cNvPr id="6" name="Text Placeholder 7">
            <a:extLst>
              <a:ext uri="{FF2B5EF4-FFF2-40B4-BE49-F238E27FC236}">
                <a16:creationId xmlns:a16="http://schemas.microsoft.com/office/drawing/2014/main" id="{0DC28DC5-4AF5-5CDE-6999-DF3641831223}"/>
              </a:ext>
            </a:extLst>
          </p:cNvPr>
          <p:cNvSpPr txBox="1">
            <a:spLocks/>
          </p:cNvSpPr>
          <p:nvPr/>
        </p:nvSpPr>
        <p:spPr>
          <a:xfrm>
            <a:off x="6505903" y="1722803"/>
            <a:ext cx="5322693" cy="31369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Info-Tech’s iSSDLC maturity model was built in consideration of and in alignment with the Autonomous Software Development Levels (ASDL).</a:t>
            </a:r>
          </a:p>
          <a:p>
            <a:pPr marL="184150" indent="-184150">
              <a:lnSpc>
                <a:spcPct val="110000"/>
              </a:lnSpc>
            </a:pPr>
            <a:r>
              <a:rPr lang="en-US" sz="1400" dirty="0">
                <a:solidFill>
                  <a:srgbClr val="000000"/>
                </a:solidFill>
                <a:latin typeface="Roboto Condensed Light" panose="02000000000000000000" pitchFamily="2" charset="0"/>
                <a:ea typeface="Roboto Condensed Light" panose="02000000000000000000" pitchFamily="2" charset="0"/>
              </a:rPr>
              <a:t>The iSSDLC simplifies the ASDL by combining L2 (Partial) and L3 (Conditional) levels into an orchestrated maturity level to reduce confusion between the levels.</a:t>
            </a:r>
          </a:p>
          <a:p>
            <a:pPr marL="184150" indent="-184150">
              <a:lnSpc>
                <a:spcPct val="110000"/>
              </a:lnSpc>
            </a:pPr>
            <a:r>
              <a:rPr lang="en-US" sz="1400" dirty="0">
                <a:solidFill>
                  <a:srgbClr val="000000"/>
                </a:solidFill>
                <a:latin typeface="Roboto Condensed Light" panose="02000000000000000000" pitchFamily="2" charset="0"/>
                <a:ea typeface="Roboto Condensed Light" panose="02000000000000000000" pitchFamily="2" charset="0"/>
              </a:rPr>
              <a:t>The following slide illustrates the full set of iSSDLC capabilities.</a:t>
            </a:r>
          </a:p>
          <a:p>
            <a:pPr marL="641350" lvl="1" indent="-184150">
              <a:lnSpc>
                <a:spcPct val="110000"/>
              </a:lnSpc>
            </a:pPr>
            <a:endParaRPr lang="en-US" sz="1400" dirty="0">
              <a:latin typeface="Roboto Condensed Light" panose="02000000000000000000" pitchFamily="2" charset="0"/>
              <a:ea typeface="Roboto Condensed Light" panose="02000000000000000000" pitchFamily="2" charset="0"/>
            </a:endParaRPr>
          </a:p>
          <a:p>
            <a:pPr fontAlgn="base">
              <a:lnSpc>
                <a:spcPct val="100000"/>
              </a:lnSpc>
            </a:pPr>
            <a:endParaRPr lang="en-CA" sz="1400" dirty="0">
              <a:solidFill>
                <a:srgbClr val="000000"/>
              </a:solidFill>
              <a:latin typeface="Roboto Condensed Light" panose="02000000000000000000" pitchFamily="2" charset="0"/>
            </a:endParaRPr>
          </a:p>
        </p:txBody>
      </p:sp>
      <p:sp>
        <p:nvSpPr>
          <p:cNvPr id="2" name="Text Placeholder 7">
            <a:extLst>
              <a:ext uri="{FF2B5EF4-FFF2-40B4-BE49-F238E27FC236}">
                <a16:creationId xmlns:a16="http://schemas.microsoft.com/office/drawing/2014/main" id="{D18F4AEC-C898-02CF-1DF5-C7FCF47BB6A2}"/>
              </a:ext>
            </a:extLst>
          </p:cNvPr>
          <p:cNvSpPr txBox="1">
            <a:spLocks/>
          </p:cNvSpPr>
          <p:nvPr/>
        </p:nvSpPr>
        <p:spPr>
          <a:xfrm>
            <a:off x="364992" y="1794505"/>
            <a:ext cx="5815091" cy="28467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4150" indent="-184150">
              <a:lnSpc>
                <a:spcPct val="110000"/>
              </a:lnSpc>
            </a:pPr>
            <a:r>
              <a:rPr lang="en-US" sz="1400" dirty="0">
                <a:solidFill>
                  <a:srgbClr val="000000"/>
                </a:solidFill>
                <a:latin typeface="Roboto Condensed Light" panose="02000000000000000000" pitchFamily="2" charset="0"/>
              </a:rPr>
              <a:t>An effective iSSDLC capabilities assessment requires a structured model to help evolve security practices from manual processes to intelligent, autonomous controls.</a:t>
            </a:r>
          </a:p>
          <a:p>
            <a:pPr marL="184150" indent="-184150">
              <a:lnSpc>
                <a:spcPct val="110000"/>
              </a:lnSpc>
            </a:pPr>
            <a:r>
              <a:rPr lang="en-US" sz="1400" dirty="0">
                <a:solidFill>
                  <a:srgbClr val="000000"/>
                </a:solidFill>
                <a:latin typeface="Roboto Condensed Light" panose="02000000000000000000" pitchFamily="2" charset="0"/>
              </a:rPr>
              <a:t>The assessment will help identify gaps across not only the technologies and tools in place but also the people, processes, and governance that may impact the secure software delivery.</a:t>
            </a:r>
          </a:p>
          <a:p>
            <a:pPr marL="184150" indent="-184150">
              <a:lnSpc>
                <a:spcPct val="110000"/>
              </a:lnSpc>
            </a:pPr>
            <a:r>
              <a:rPr lang="en-US" sz="1400" dirty="0">
                <a:solidFill>
                  <a:srgbClr val="000000"/>
                </a:solidFill>
                <a:latin typeface="Roboto Condensed Light" panose="02000000000000000000" pitchFamily="2" charset="0"/>
              </a:rPr>
              <a:t>Prioritization of investments could be influenced by the maturity gaps of each capability, along with its associated benefit to business alignment and security risk mitigation.</a:t>
            </a:r>
          </a:p>
          <a:p>
            <a:pPr marL="184150" indent="-184150">
              <a:lnSpc>
                <a:spcPct val="110000"/>
              </a:lnSpc>
            </a:pPr>
            <a:r>
              <a:rPr lang="en-US" sz="1400" dirty="0">
                <a:solidFill>
                  <a:srgbClr val="000000"/>
                </a:solidFill>
                <a:latin typeface="Roboto Condensed Light" panose="02000000000000000000" pitchFamily="2" charset="0"/>
              </a:rPr>
              <a:t>The maturity model will also establish a baseline for continuous improvement through the implementation of metrics to assess the maturity progress.</a:t>
            </a:r>
          </a:p>
        </p:txBody>
      </p:sp>
    </p:spTree>
    <p:extLst>
      <p:ext uri="{BB962C8B-B14F-4D97-AF65-F5344CB8AC3E}">
        <p14:creationId xmlns:p14="http://schemas.microsoft.com/office/powerpoint/2010/main" val="6629989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blue and purple lit up cubes&#10;&#10;AI-generated content may be incorrect.">
            <a:extLst>
              <a:ext uri="{FF2B5EF4-FFF2-40B4-BE49-F238E27FC236}">
                <a16:creationId xmlns:a16="http://schemas.microsoft.com/office/drawing/2014/main" id="{94A82D74-47D3-03E9-C400-BA0805938328}"/>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a:ext>
            </a:extLst>
          </a:blip>
          <a:stretch>
            <a:fillRect/>
          </a:stretch>
        </p:blipFill>
        <p:spPr>
          <a:xfrm>
            <a:off x="1" y="0"/>
            <a:ext cx="12252960" cy="6858000"/>
          </a:xfrm>
          <a:prstGeom prst="rect">
            <a:avLst/>
          </a:prstGeom>
        </p:spPr>
      </p:pic>
      <p:sp>
        <p:nvSpPr>
          <p:cNvPr id="3" name="Title 2">
            <a:extLst>
              <a:ext uri="{FF2B5EF4-FFF2-40B4-BE49-F238E27FC236}">
                <a16:creationId xmlns:a16="http://schemas.microsoft.com/office/drawing/2014/main" id="{368BDF6D-59D8-6049-B61C-26B3A300E432}"/>
              </a:ext>
            </a:extLst>
          </p:cNvPr>
          <p:cNvSpPr>
            <a:spLocks noGrp="1"/>
          </p:cNvSpPr>
          <p:nvPr>
            <p:ph type="title"/>
          </p:nvPr>
        </p:nvSpPr>
        <p:spPr>
          <a:xfrm>
            <a:off x="3455578" y="334364"/>
            <a:ext cx="6998164" cy="592053"/>
          </a:xfrm>
        </p:spPr>
        <p:txBody>
          <a:bodyPr/>
          <a:lstStyle/>
          <a:p>
            <a:r>
              <a:rPr lang="en-US" dirty="0">
                <a:solidFill>
                  <a:schemeClr val="accent1">
                    <a:lumMod val="60000"/>
                    <a:lumOff val="40000"/>
                  </a:schemeClr>
                </a:solidFill>
              </a:rPr>
              <a:t>iSSDLC Maturity Model</a:t>
            </a:r>
          </a:p>
        </p:txBody>
      </p:sp>
      <p:sp>
        <p:nvSpPr>
          <p:cNvPr id="24" name="TextBox 23">
            <a:extLst>
              <a:ext uri="{FF2B5EF4-FFF2-40B4-BE49-F238E27FC236}">
                <a16:creationId xmlns:a16="http://schemas.microsoft.com/office/drawing/2014/main" id="{60231411-7BEA-B8A8-C03E-FD851B688F29}"/>
              </a:ext>
            </a:extLst>
          </p:cNvPr>
          <p:cNvSpPr txBox="1"/>
          <p:nvPr/>
        </p:nvSpPr>
        <p:spPr>
          <a:xfrm>
            <a:off x="3455581" y="1594883"/>
            <a:ext cx="2147777"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576B7">
                    <a:lumMod val="60000"/>
                    <a:lumOff val="40000"/>
                  </a:srgbClr>
                </a:solidFill>
                <a:effectLst/>
                <a:uLnTx/>
                <a:uFillTx/>
                <a:latin typeface="Exo" pitchFamily="2" charset="0"/>
                <a:ea typeface="Roboto Condensed Light" panose="02000000000000000000" pitchFamily="2" charset="0"/>
                <a:cs typeface="+mn-cs"/>
              </a:rPr>
              <a:t>Autonomous</a:t>
            </a:r>
          </a:p>
        </p:txBody>
      </p:sp>
      <p:sp>
        <p:nvSpPr>
          <p:cNvPr id="25" name="TextBox 24">
            <a:extLst>
              <a:ext uri="{FF2B5EF4-FFF2-40B4-BE49-F238E27FC236}">
                <a16:creationId xmlns:a16="http://schemas.microsoft.com/office/drawing/2014/main" id="{A27CD688-E411-D945-7DD2-8569EADD43F6}"/>
              </a:ext>
            </a:extLst>
          </p:cNvPr>
          <p:cNvSpPr txBox="1"/>
          <p:nvPr/>
        </p:nvSpPr>
        <p:spPr>
          <a:xfrm>
            <a:off x="3455580" y="2545112"/>
            <a:ext cx="2147777"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576B7">
                    <a:lumMod val="60000"/>
                    <a:lumOff val="40000"/>
                  </a:srgbClr>
                </a:solidFill>
                <a:effectLst/>
                <a:uLnTx/>
                <a:uFillTx/>
                <a:latin typeface="Exo" pitchFamily="2" charset="0"/>
                <a:ea typeface="Roboto Condensed Light" panose="02000000000000000000" pitchFamily="2" charset="0"/>
                <a:cs typeface="+mn-cs"/>
              </a:rPr>
              <a:t>Automated</a:t>
            </a:r>
          </a:p>
        </p:txBody>
      </p:sp>
      <p:sp>
        <p:nvSpPr>
          <p:cNvPr id="26" name="TextBox 25">
            <a:extLst>
              <a:ext uri="{FF2B5EF4-FFF2-40B4-BE49-F238E27FC236}">
                <a16:creationId xmlns:a16="http://schemas.microsoft.com/office/drawing/2014/main" id="{10B13356-B1CF-5EA6-B0C5-C1421EE7693E}"/>
              </a:ext>
            </a:extLst>
          </p:cNvPr>
          <p:cNvSpPr txBox="1"/>
          <p:nvPr/>
        </p:nvSpPr>
        <p:spPr>
          <a:xfrm>
            <a:off x="3455578" y="3495341"/>
            <a:ext cx="2247638"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576B7">
                    <a:lumMod val="60000"/>
                    <a:lumOff val="40000"/>
                  </a:srgbClr>
                </a:solidFill>
                <a:effectLst/>
                <a:uLnTx/>
                <a:uFillTx/>
                <a:latin typeface="Exo" pitchFamily="2" charset="0"/>
                <a:ea typeface="Roboto Condensed Light" panose="02000000000000000000" pitchFamily="2" charset="0"/>
                <a:cs typeface="+mn-cs"/>
              </a:rPr>
              <a:t>Orchestrated</a:t>
            </a:r>
          </a:p>
        </p:txBody>
      </p:sp>
      <p:sp>
        <p:nvSpPr>
          <p:cNvPr id="27" name="TextBox 26">
            <a:extLst>
              <a:ext uri="{FF2B5EF4-FFF2-40B4-BE49-F238E27FC236}">
                <a16:creationId xmlns:a16="http://schemas.microsoft.com/office/drawing/2014/main" id="{4A5E077B-9B9B-6B20-D8E4-A76AAEED627B}"/>
              </a:ext>
            </a:extLst>
          </p:cNvPr>
          <p:cNvSpPr txBox="1"/>
          <p:nvPr/>
        </p:nvSpPr>
        <p:spPr>
          <a:xfrm>
            <a:off x="3455579" y="4445570"/>
            <a:ext cx="2147777"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576B7">
                    <a:lumMod val="60000"/>
                    <a:lumOff val="40000"/>
                  </a:srgbClr>
                </a:solidFill>
                <a:effectLst/>
                <a:uLnTx/>
                <a:uFillTx/>
                <a:latin typeface="Exo" pitchFamily="2" charset="0"/>
                <a:ea typeface="Roboto Condensed Light" panose="02000000000000000000" pitchFamily="2" charset="0"/>
                <a:cs typeface="+mn-cs"/>
              </a:rPr>
              <a:t>Assisted</a:t>
            </a:r>
          </a:p>
        </p:txBody>
      </p:sp>
      <p:sp>
        <p:nvSpPr>
          <p:cNvPr id="28" name="TextBox 27">
            <a:extLst>
              <a:ext uri="{FF2B5EF4-FFF2-40B4-BE49-F238E27FC236}">
                <a16:creationId xmlns:a16="http://schemas.microsoft.com/office/drawing/2014/main" id="{848488F7-3805-E480-15A0-A11F448F99B5}"/>
              </a:ext>
            </a:extLst>
          </p:cNvPr>
          <p:cNvSpPr txBox="1"/>
          <p:nvPr/>
        </p:nvSpPr>
        <p:spPr>
          <a:xfrm>
            <a:off x="3455580" y="5395799"/>
            <a:ext cx="2147777"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2576B7">
                    <a:lumMod val="60000"/>
                    <a:lumOff val="40000"/>
                  </a:srgbClr>
                </a:solidFill>
                <a:effectLst/>
                <a:uLnTx/>
                <a:uFillTx/>
                <a:latin typeface="Exo" pitchFamily="2" charset="0"/>
                <a:ea typeface="Roboto Condensed Light" panose="02000000000000000000" pitchFamily="2" charset="0"/>
                <a:cs typeface="+mn-cs"/>
              </a:rPr>
              <a:t>Manual</a:t>
            </a:r>
          </a:p>
        </p:txBody>
      </p:sp>
      <p:sp>
        <p:nvSpPr>
          <p:cNvPr id="29" name="TextBox 28">
            <a:extLst>
              <a:ext uri="{FF2B5EF4-FFF2-40B4-BE49-F238E27FC236}">
                <a16:creationId xmlns:a16="http://schemas.microsoft.com/office/drawing/2014/main" id="{C9E6F9C6-EEFE-F729-A315-9AF9DE232CAC}"/>
              </a:ext>
            </a:extLst>
          </p:cNvPr>
          <p:cNvSpPr txBox="1"/>
          <p:nvPr/>
        </p:nvSpPr>
        <p:spPr>
          <a:xfrm>
            <a:off x="5989924" y="1446027"/>
            <a:ext cx="5131187" cy="861237"/>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Humans set strategy and ethics. AI agents operate, learn, and optimize security end to end with minimal human input. The iSSDLC capability proves compliance on its own.</a:t>
            </a:r>
          </a:p>
        </p:txBody>
      </p:sp>
      <p:sp>
        <p:nvSpPr>
          <p:cNvPr id="31" name="TextBox 30">
            <a:extLst>
              <a:ext uri="{FF2B5EF4-FFF2-40B4-BE49-F238E27FC236}">
                <a16:creationId xmlns:a16="http://schemas.microsoft.com/office/drawing/2014/main" id="{0267600C-1225-081B-9A47-E104F2F35E57}"/>
              </a:ext>
            </a:extLst>
          </p:cNvPr>
          <p:cNvSpPr txBox="1"/>
          <p:nvPr/>
        </p:nvSpPr>
        <p:spPr>
          <a:xfrm>
            <a:off x="5989923" y="2363473"/>
            <a:ext cx="5131187" cy="861237"/>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Analytics and AI adapt controls continuously, remediate most routine issues without waiting for people, and escalate only edge cases. Security processes run largely hands-free.	</a:t>
            </a:r>
          </a:p>
        </p:txBody>
      </p:sp>
      <p:sp>
        <p:nvSpPr>
          <p:cNvPr id="33" name="TextBox 32">
            <a:extLst>
              <a:ext uri="{FF2B5EF4-FFF2-40B4-BE49-F238E27FC236}">
                <a16:creationId xmlns:a16="http://schemas.microsoft.com/office/drawing/2014/main" id="{511F88BA-A24F-9ED5-86AD-21D4EC3660C4}"/>
              </a:ext>
            </a:extLst>
          </p:cNvPr>
          <p:cNvSpPr txBox="1"/>
          <p:nvPr/>
        </p:nvSpPr>
        <p:spPr>
          <a:xfrm>
            <a:off x="5989923" y="3372101"/>
            <a:ext cx="5131187" cy="683642"/>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Tool-driven, multistep workflows carry out security tasks end to end (e.g. scans → PRs → tests) while humans provide oversight and final approval at defined risk gates.	</a:t>
            </a:r>
            <a:endParaRPr kumimoji="0" lang="en-US" sz="1400" b="0" i="0" u="none" strike="noStrike" kern="1200" cap="none" spc="0" normalizeH="0" baseline="0" noProof="0" dirty="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endParaRPr>
          </a:p>
        </p:txBody>
      </p:sp>
      <p:sp>
        <p:nvSpPr>
          <p:cNvPr id="35" name="TextBox 34">
            <a:extLst>
              <a:ext uri="{FF2B5EF4-FFF2-40B4-BE49-F238E27FC236}">
                <a16:creationId xmlns:a16="http://schemas.microsoft.com/office/drawing/2014/main" id="{BF7C96DE-14D4-7604-A56C-3FC0C345E529}"/>
              </a:ext>
            </a:extLst>
          </p:cNvPr>
          <p:cNvSpPr txBox="1"/>
          <p:nvPr/>
        </p:nvSpPr>
        <p:spPr>
          <a:xfrm>
            <a:off x="5989924" y="4445570"/>
            <a:ext cx="5131187"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Basic tools, checklists, or templates help humans find issues or follow best practices, but people still decide and perform every task.	</a:t>
            </a:r>
          </a:p>
        </p:txBody>
      </p:sp>
      <p:sp>
        <p:nvSpPr>
          <p:cNvPr id="37" name="TextBox 36">
            <a:extLst>
              <a:ext uri="{FF2B5EF4-FFF2-40B4-BE49-F238E27FC236}">
                <a16:creationId xmlns:a16="http://schemas.microsoft.com/office/drawing/2014/main" id="{9077A4F2-7C09-FF22-A967-AB36420C1260}"/>
              </a:ext>
            </a:extLst>
          </p:cNvPr>
          <p:cNvSpPr txBox="1"/>
          <p:nvPr/>
        </p:nvSpPr>
        <p:spPr>
          <a:xfrm>
            <a:off x="5989924" y="5345710"/>
            <a:ext cx="5131187" cy="563526"/>
          </a:xfrm>
          <a:prstGeom prst="rect">
            <a:avLst/>
          </a:prstGeom>
        </p:spPr>
        <p:txBody>
          <a:bodyPr wrap="square" lIns="0" tIns="0" rIns="0" bIns="0" numCol="1" spcCol="360000" rtlCol="0">
            <a:noAutofit/>
          </a:bodyPr>
          <a:lstStyle/>
          <a:p>
            <a:pPr marL="0" marR="0" lvl="0" indent="0" algn="l" defTabSz="554492" rtl="0" eaLnBrk="1" fontAlgn="auto" latinLnBrk="0" hangingPunct="1">
              <a:lnSpc>
                <a:spcPct val="11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Capability is ad hoc and entirely human-driven. Little or no tooling; success depends on individual effort </a:t>
            </a:r>
            <a:r>
              <a:rPr kumimoji="0" lang="en-US" sz="1400" b="0" i="0" u="none" strike="noStrike" kern="1200" cap="none" spc="0" normalizeH="0" baseline="0" noProof="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and </a:t>
            </a:r>
            <a:r>
              <a:rPr lang="en-US" sz="1400">
                <a:solidFill>
                  <a:srgbClr val="2576B7">
                    <a:lumMod val="20000"/>
                    <a:lumOff val="80000"/>
                  </a:srgbClr>
                </a:solidFill>
                <a:latin typeface="Roboto Condensed Light" panose="02000000000000000000" pitchFamily="2" charset="0"/>
                <a:ea typeface="Roboto Condensed Light" panose="02000000000000000000" pitchFamily="2" charset="0"/>
              </a:rPr>
              <a:t>group</a:t>
            </a:r>
            <a:r>
              <a:rPr kumimoji="0" lang="en-US" sz="1400" b="0" i="0" u="none" strike="noStrike" kern="1200" cap="none" spc="0" normalizeH="0" baseline="0" noProof="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 </a:t>
            </a:r>
            <a:r>
              <a:rPr kumimoji="0" lang="en-US" sz="1400" b="0" i="0" u="none" strike="noStrike" kern="1200" cap="none" spc="0" normalizeH="0" baseline="0" noProof="0" dirty="0">
                <a:ln>
                  <a:noFill/>
                </a:ln>
                <a:solidFill>
                  <a:srgbClr val="2576B7">
                    <a:lumMod val="20000"/>
                    <a:lumOff val="80000"/>
                  </a:srgbClr>
                </a:solidFill>
                <a:effectLst/>
                <a:uLnTx/>
                <a:uFillTx/>
                <a:latin typeface="Roboto Condensed Light" panose="02000000000000000000" pitchFamily="2" charset="0"/>
                <a:ea typeface="Roboto Condensed Light" panose="02000000000000000000" pitchFamily="2" charset="0"/>
                <a:cs typeface="+mn-cs"/>
              </a:rPr>
              <a:t>knowledge.	</a:t>
            </a:r>
          </a:p>
        </p:txBody>
      </p:sp>
      <p:sp>
        <p:nvSpPr>
          <p:cNvPr id="2" name="TextBox 1">
            <a:extLst>
              <a:ext uri="{FF2B5EF4-FFF2-40B4-BE49-F238E27FC236}">
                <a16:creationId xmlns:a16="http://schemas.microsoft.com/office/drawing/2014/main" id="{9384A036-7D32-1F5D-9CB9-CB76FFDACD25}"/>
              </a:ext>
            </a:extLst>
          </p:cNvPr>
          <p:cNvSpPr txBox="1"/>
          <p:nvPr/>
        </p:nvSpPr>
        <p:spPr>
          <a:xfrm>
            <a:off x="9678332" y="6385136"/>
            <a:ext cx="2574629" cy="276999"/>
          </a:xfrm>
          <a:prstGeom prst="rect">
            <a:avLst/>
          </a:prstGeom>
          <a:noFill/>
        </p:spPr>
        <p:txBody>
          <a:bodyPr wrap="square">
            <a:spAutoFit/>
          </a:bodyPr>
          <a:lstStyle/>
          <a:p>
            <a:r>
              <a:rPr lang="en-US" sz="1200">
                <a:solidFill>
                  <a:schemeClr val="bg1"/>
                </a:solidFill>
              </a:rPr>
              <a:t>Image generated by ChatGPT</a:t>
            </a:r>
            <a:endParaRPr lang="en-US" sz="1200" dirty="0">
              <a:solidFill>
                <a:schemeClr val="bg1"/>
              </a:solidFill>
            </a:endParaRPr>
          </a:p>
        </p:txBody>
      </p:sp>
    </p:spTree>
    <p:extLst>
      <p:ext uri="{BB962C8B-B14F-4D97-AF65-F5344CB8AC3E}">
        <p14:creationId xmlns:p14="http://schemas.microsoft.com/office/powerpoint/2010/main" val="12536990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3A461-AC81-8B38-A106-AC689284E88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C638B0-2534-903E-CFEA-C78C5C343DE5}"/>
              </a:ext>
            </a:extLst>
          </p:cNvPr>
          <p:cNvSpPr>
            <a:spLocks noGrp="1"/>
          </p:cNvSpPr>
          <p:nvPr>
            <p:ph type="title"/>
          </p:nvPr>
        </p:nvSpPr>
        <p:spPr>
          <a:xfrm>
            <a:off x="364992" y="547738"/>
            <a:ext cx="11305392" cy="1028964"/>
          </a:xfrm>
        </p:spPr>
        <p:txBody>
          <a:bodyPr/>
          <a:lstStyle/>
          <a:p>
            <a:r>
              <a:rPr lang="en-US" dirty="0">
                <a:solidFill>
                  <a:srgbClr val="2576B7"/>
                </a:solidFill>
              </a:rPr>
              <a:t>2.1.1 </a:t>
            </a:r>
            <a:r>
              <a:rPr lang="en-CA" dirty="0"/>
              <a:t>Assess </a:t>
            </a:r>
            <a:r>
              <a:rPr lang="en-CA" dirty="0" err="1"/>
              <a:t>iSSDLC</a:t>
            </a:r>
            <a:r>
              <a:rPr lang="en-CA" dirty="0"/>
              <a:t> current state</a:t>
            </a:r>
            <a:endParaRPr lang="en-US" i="1" dirty="0">
              <a:solidFill>
                <a:schemeClr val="accent1"/>
              </a:solidFill>
            </a:endParaRPr>
          </a:p>
        </p:txBody>
      </p:sp>
      <p:sp>
        <p:nvSpPr>
          <p:cNvPr id="4" name="Rectangle 3">
            <a:extLst>
              <a:ext uri="{FF2B5EF4-FFF2-40B4-BE49-F238E27FC236}">
                <a16:creationId xmlns:a16="http://schemas.microsoft.com/office/drawing/2014/main" id="{E377C92D-1C17-B4DC-403D-F4EDB99015A0}"/>
              </a:ext>
            </a:extLst>
          </p:cNvPr>
          <p:cNvSpPr/>
          <p:nvPr/>
        </p:nvSpPr>
        <p:spPr>
          <a:xfrm>
            <a:off x="769565" y="5951554"/>
            <a:ext cx="3949870"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panose="02000503000000000000" pitchFamily="2" charset="77"/>
                <a:ea typeface="+mn-ea"/>
                <a:cs typeface="+mn-cs"/>
              </a:rPr>
              <a:t>iSSDLC</a:t>
            </a: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 </a:t>
            </a:r>
            <a:r>
              <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sp>
        <p:nvSpPr>
          <p:cNvPr id="5" name="Rectangle 4">
            <a:extLst>
              <a:ext uri="{FF2B5EF4-FFF2-40B4-BE49-F238E27FC236}">
                <a16:creationId xmlns:a16="http://schemas.microsoft.com/office/drawing/2014/main" id="{E947E4B0-A1AC-69AC-0243-14253EFCE25B}"/>
              </a:ext>
              <a:ext uri="{C183D7F6-B498-43B3-948B-1728B52AA6E4}">
                <adec:decorative xmlns:adec="http://schemas.microsoft.com/office/drawing/2017/decorative" val="1"/>
              </a:ext>
            </a:extLst>
          </p:cNvPr>
          <p:cNvSpPr>
            <a:spLocks noChangeAspect="1"/>
          </p:cNvSpPr>
          <p:nvPr/>
        </p:nvSpPr>
        <p:spPr>
          <a:xfrm>
            <a:off x="163329" y="5951556"/>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6" name="Picture 5">
            <a:extLst>
              <a:ext uri="{FF2B5EF4-FFF2-40B4-BE49-F238E27FC236}">
                <a16:creationId xmlns:a16="http://schemas.microsoft.com/office/drawing/2014/main" id="{93613565-2ED7-9703-23D2-2BC6A66CE085}"/>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343536" y="6013653"/>
            <a:ext cx="260883" cy="338335"/>
          </a:xfrm>
          <a:prstGeom prst="rect">
            <a:avLst/>
          </a:prstGeom>
        </p:spPr>
      </p:pic>
      <p:pic>
        <p:nvPicPr>
          <p:cNvPr id="8" name="Picture 7">
            <a:extLst>
              <a:ext uri="{FF2B5EF4-FFF2-40B4-BE49-F238E27FC236}">
                <a16:creationId xmlns:a16="http://schemas.microsoft.com/office/drawing/2014/main" id="{C98E9294-AF04-CEEE-BA63-293B808E74A8}"/>
              </a:ext>
            </a:extLst>
          </p:cNvPr>
          <p:cNvPicPr>
            <a:picLocks noChangeAspect="1"/>
          </p:cNvPicPr>
          <p:nvPr/>
        </p:nvPicPr>
        <p:blipFill>
          <a:blip r:embed="rId5"/>
          <a:stretch>
            <a:fillRect/>
          </a:stretch>
        </p:blipFill>
        <p:spPr>
          <a:xfrm>
            <a:off x="4749820" y="1282626"/>
            <a:ext cx="5441920" cy="2633187"/>
          </a:xfrm>
          <a:prstGeom prst="rect">
            <a:avLst/>
          </a:prstGeom>
        </p:spPr>
      </p:pic>
      <p:pic>
        <p:nvPicPr>
          <p:cNvPr id="10" name="Picture 9">
            <a:extLst>
              <a:ext uri="{FF2B5EF4-FFF2-40B4-BE49-F238E27FC236}">
                <a16:creationId xmlns:a16="http://schemas.microsoft.com/office/drawing/2014/main" id="{6C21927F-3B77-91E3-239D-57BF0A82F0BE}"/>
              </a:ext>
            </a:extLst>
          </p:cNvPr>
          <p:cNvPicPr>
            <a:picLocks noChangeAspect="1"/>
          </p:cNvPicPr>
          <p:nvPr/>
        </p:nvPicPr>
        <p:blipFill>
          <a:blip r:embed="rId6"/>
          <a:stretch>
            <a:fillRect/>
          </a:stretch>
        </p:blipFill>
        <p:spPr>
          <a:xfrm>
            <a:off x="5505152" y="2311591"/>
            <a:ext cx="6576905" cy="2897850"/>
          </a:xfrm>
          <a:prstGeom prst="rect">
            <a:avLst/>
          </a:prstGeom>
        </p:spPr>
      </p:pic>
      <p:sp>
        <p:nvSpPr>
          <p:cNvPr id="11" name="Right Arrow 18">
            <a:extLst>
              <a:ext uri="{FF2B5EF4-FFF2-40B4-BE49-F238E27FC236}">
                <a16:creationId xmlns:a16="http://schemas.microsoft.com/office/drawing/2014/main" id="{F4AF502E-5295-0392-24EF-7A08E44B930B}"/>
              </a:ext>
              <a:ext uri="{C183D7F6-B498-43B3-948B-1728B52AA6E4}">
                <adec:decorative xmlns:adec="http://schemas.microsoft.com/office/drawing/2017/decorative" val="1"/>
              </a:ext>
            </a:extLst>
          </p:cNvPr>
          <p:cNvSpPr/>
          <p:nvPr/>
        </p:nvSpPr>
        <p:spPr>
          <a:xfrm rot="16200000">
            <a:off x="9918359" y="5489334"/>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2" name="Right Arrow 18">
            <a:extLst>
              <a:ext uri="{FF2B5EF4-FFF2-40B4-BE49-F238E27FC236}">
                <a16:creationId xmlns:a16="http://schemas.microsoft.com/office/drawing/2014/main" id="{83891E9D-5997-4A22-084D-64937FFE269B}"/>
              </a:ext>
              <a:ext uri="{C183D7F6-B498-43B3-948B-1728B52AA6E4}">
                <adec:decorative xmlns:adec="http://schemas.microsoft.com/office/drawing/2017/decorative" val="1"/>
              </a:ext>
            </a:extLst>
          </p:cNvPr>
          <p:cNvSpPr/>
          <p:nvPr/>
        </p:nvSpPr>
        <p:spPr>
          <a:xfrm rot="16200000">
            <a:off x="11032293" y="5489334"/>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7" name="TextBox 8">
            <a:extLst>
              <a:ext uri="{FF2B5EF4-FFF2-40B4-BE49-F238E27FC236}">
                <a16:creationId xmlns:a16="http://schemas.microsoft.com/office/drawing/2014/main" id="{5F0964B7-3630-03B5-523A-0E25C078CC8C}"/>
              </a:ext>
            </a:extLst>
          </p:cNvPr>
          <p:cNvSpPr txBox="1"/>
          <p:nvPr/>
        </p:nvSpPr>
        <p:spPr>
          <a:xfrm>
            <a:off x="310846" y="1536830"/>
            <a:ext cx="3949870" cy="3377848"/>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dirty="0">
                <a:solidFill>
                  <a:srgbClr val="000000"/>
                </a:solidFill>
                <a:latin typeface="Roboto Condensed Light" panose="02000000000000000000" pitchFamily="2" charset="0"/>
                <a:ea typeface="Roboto Condensed Light" panose="02000000000000000000" pitchFamily="2" charset="0"/>
              </a:rPr>
              <a:t> </a:t>
            </a:r>
            <a:r>
              <a:rPr lang="en-CA" sz="1400" i="1" dirty="0">
                <a:solidFill>
                  <a:srgbClr val="000000"/>
                </a:solidFill>
                <a:latin typeface="Roboto Condensed Light" panose="02000000000000000000" pitchFamily="2" charset="0"/>
                <a:ea typeface="Roboto Condensed Light" panose="02000000000000000000" pitchFamily="2" charset="0"/>
              </a:rPr>
              <a:t>Capabilities Assessment Tool, </a:t>
            </a:r>
            <a:r>
              <a:rPr lang="en-CA" sz="1400" dirty="0">
                <a:solidFill>
                  <a:srgbClr val="000000"/>
                </a:solidFill>
                <a:latin typeface="Roboto Condensed Light" panose="02000000000000000000" pitchFamily="2" charset="0"/>
                <a:ea typeface="Roboto Condensed Light" panose="02000000000000000000" pitchFamily="2" charset="0"/>
              </a:rPr>
              <a:t>review the example capability description per maturity level in cells F14:J43 and input your current state in cells K14:K43</a:t>
            </a:r>
            <a:r>
              <a:rPr lang="en-CA" sz="1400" b="1" dirty="0">
                <a:solidFill>
                  <a:srgbClr val="000000"/>
                </a:solidFill>
                <a:latin typeface="Roboto Condensed Light" panose="02000000000000000000" pitchFamily="2" charset="0"/>
                <a:ea typeface="Roboto Condensed Light" panose="02000000000000000000" pitchFamily="2" charset="0"/>
              </a:rPr>
              <a:t>.</a:t>
            </a: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L14:L43, provide optional current state comments to further describe your current maturity level. You can include comments such as: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Tooling or process details.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Ownership and accountability.</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Quality or effectiveness of capability.</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Pain points or bottlenecks.</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925280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67670-F70E-02FB-F488-59EF08963A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871A6B-3EE3-8942-663A-CC0D2BBAC61A}"/>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sp>
        <p:nvSpPr>
          <p:cNvPr id="3" name="Title 2">
            <a:extLst>
              <a:ext uri="{FF2B5EF4-FFF2-40B4-BE49-F238E27FC236}">
                <a16:creationId xmlns:a16="http://schemas.microsoft.com/office/drawing/2014/main" id="{8F2AAA5D-F28A-569F-7653-BA496A88AAFE}"/>
              </a:ext>
            </a:extLst>
          </p:cNvPr>
          <p:cNvSpPr>
            <a:spLocks noGrp="1"/>
          </p:cNvSpPr>
          <p:nvPr>
            <p:ph type="title"/>
          </p:nvPr>
        </p:nvSpPr>
        <p:spPr>
          <a:xfrm>
            <a:off x="354106" y="544769"/>
            <a:ext cx="6668863" cy="1130188"/>
          </a:xfrm>
        </p:spPr>
        <p:txBody>
          <a:bodyPr/>
          <a:lstStyle/>
          <a:p>
            <a:r>
              <a:rPr lang="en-US" dirty="0">
                <a:solidFill>
                  <a:srgbClr val="2576B7"/>
                </a:solidFill>
              </a:rPr>
              <a:t>2.2 </a:t>
            </a:r>
            <a:r>
              <a:rPr lang="en-CA" dirty="0">
                <a:solidFill>
                  <a:schemeClr val="tx1"/>
                </a:solidFill>
              </a:rPr>
              <a:t>Determine target state</a:t>
            </a:r>
            <a:endParaRPr lang="en-US" dirty="0">
              <a:solidFill>
                <a:schemeClr val="tx1"/>
              </a:solidFill>
            </a:endParaRPr>
          </a:p>
        </p:txBody>
      </p:sp>
      <p:sp>
        <p:nvSpPr>
          <p:cNvPr id="4" name="Text Placeholder 3">
            <a:extLst>
              <a:ext uri="{FF2B5EF4-FFF2-40B4-BE49-F238E27FC236}">
                <a16:creationId xmlns:a16="http://schemas.microsoft.com/office/drawing/2014/main" id="{1DCA7365-8CDE-AD8C-9B34-D9E3ACF4907E}"/>
              </a:ext>
            </a:extLst>
          </p:cNvPr>
          <p:cNvSpPr>
            <a:spLocks noGrp="1"/>
          </p:cNvSpPr>
          <p:nvPr>
            <p:ph type="body" sz="quarter" idx="11"/>
          </p:nvPr>
        </p:nvSpPr>
        <p:spPr>
          <a:xfrm>
            <a:off x="354106" y="1706043"/>
            <a:ext cx="4116208" cy="304974"/>
          </a:xfrm>
        </p:spPr>
        <p:txBody>
          <a:bodyPr/>
          <a:lstStyle/>
          <a:p>
            <a:r>
              <a:rPr lang="en-US" sz="1600" dirty="0">
                <a:latin typeface="Exo" panose="02000503000000000000" pitchFamily="2" charset="77"/>
              </a:rPr>
              <a:t>1 hour</a:t>
            </a:r>
          </a:p>
        </p:txBody>
      </p:sp>
      <p:graphicFrame>
        <p:nvGraphicFramePr>
          <p:cNvPr id="38" name="Table 37">
            <a:extLst>
              <a:ext uri="{FF2B5EF4-FFF2-40B4-BE49-F238E27FC236}">
                <a16:creationId xmlns:a16="http://schemas.microsoft.com/office/drawing/2014/main" id="{6B1E1906-3315-7FA8-8509-99EE3F633ABF}"/>
              </a:ext>
            </a:extLst>
          </p:cNvPr>
          <p:cNvGraphicFramePr>
            <a:graphicFrameLocks noGrp="1"/>
          </p:cNvGraphicFramePr>
          <p:nvPr>
            <p:extLst>
              <p:ext uri="{D42A27DB-BD31-4B8C-83A1-F6EECF244321}">
                <p14:modId xmlns:p14="http://schemas.microsoft.com/office/powerpoint/2010/main" val="3114263571"/>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Maturity stage</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Obtain feedback on responsibilities</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Target state assessment</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Whiteboard</a:t>
                      </a:r>
                    </a:p>
                    <a:p>
                      <a:pPr marL="173038" indent="-173038" rtl="0">
                        <a:lnSpc>
                          <a:spcPts val="1600"/>
                        </a:lnSpc>
                        <a:spcBef>
                          <a:spcPts val="800"/>
                        </a:spcBef>
                        <a:buSzPts val="1100"/>
                        <a:buFont typeface="Arial" panose="020B0604020202020204" pitchFamily="34" charset="0"/>
                        <a:buChar char="•"/>
                        <a:tabLst/>
                      </a:pPr>
                      <a:r>
                        <a:rPr lang="en-US" sz="1200" i="1" u="none" strike="noStrike" kern="1200" cap="none" spc="0" baseline="0" dirty="0" err="1">
                          <a:solidFill>
                            <a:srgbClr val="000000"/>
                          </a:solidFill>
                          <a:uFillTx/>
                          <a:latin typeface="Roboto Condensed Light" panose="02000000000000000000" pitchFamily="2" charset="0"/>
                          <a:ea typeface="Roboto Condensed Light" panose="02000000000000000000" pitchFamily="2" charset="0"/>
                        </a:rPr>
                        <a:t>iSSDLC</a:t>
                      </a:r>
                      <a:r>
                        <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 Capabilities Assessment Tool</a:t>
                      </a: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Others to be determined</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42" name="Rectangle 41">
            <a:extLst>
              <a:ext uri="{FF2B5EF4-FFF2-40B4-BE49-F238E27FC236}">
                <a16:creationId xmlns:a16="http://schemas.microsoft.com/office/drawing/2014/main" id="{57B699E6-0A19-DE4B-EF8F-460204FCB192}"/>
              </a:ext>
            </a:extLst>
          </p:cNvPr>
          <p:cNvSpPr/>
          <p:nvPr/>
        </p:nvSpPr>
        <p:spPr>
          <a:xfrm>
            <a:off x="1061495" y="5916953"/>
            <a:ext cx="4064687"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panose="02000503000000000000" pitchFamily="2" charset="77"/>
                <a:ea typeface="+mn-ea"/>
                <a:cs typeface="+mn-cs"/>
              </a:rPr>
              <a:t>iSSDLC</a:t>
            </a: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 </a:t>
            </a:r>
            <a:r>
              <a:rPr kumimoji="0" lang="en-US" sz="1200" b="0" i="1" u="none" strike="noStrike" kern="1200" cap="none" spc="0" normalizeH="0" baseline="0" noProof="0" dirty="0">
                <a:ln>
                  <a:noFill/>
                </a:ln>
                <a:solidFill>
                  <a:schemeClr val="bg1"/>
                </a:solidFill>
                <a:effectLst/>
                <a:uLnTx/>
                <a:uFillTx/>
                <a:latin typeface="Exo" panose="02000503000000000000" pitchFamily="2" charset="77"/>
                <a:ea typeface="+mn-ea"/>
                <a:cs typeface="+mn-cs"/>
                <a:hlinkClick r:id="rId3">
                  <a:extLst>
                    <a:ext uri="{A12FA001-AC4F-418D-AE19-62706E023703}">
                      <ahyp:hlinkClr xmlns:ahyp="http://schemas.microsoft.com/office/drawing/2018/hyperlinkcolor" val="tx"/>
                    </a:ext>
                  </a:extLst>
                </a:hlinkClick>
              </a:rPr>
              <a:t>Capabilities Assessment Tool</a:t>
            </a:r>
            <a:endParaRPr kumimoji="0" lang="en-US" sz="1200" b="0" i="1" u="none" strike="noStrike" kern="1200" cap="none" spc="0" normalizeH="0" baseline="0" noProof="0" dirty="0">
              <a:ln>
                <a:noFill/>
              </a:ln>
              <a:solidFill>
                <a:schemeClr val="bg1"/>
              </a:solidFill>
              <a:effectLst/>
              <a:uLnTx/>
              <a:uFillTx/>
              <a:latin typeface="Exo" panose="02000503000000000000" pitchFamily="2" charset="77"/>
              <a:ea typeface="+mn-ea"/>
              <a:cs typeface="+mn-cs"/>
            </a:endParaRPr>
          </a:p>
        </p:txBody>
      </p:sp>
      <p:sp>
        <p:nvSpPr>
          <p:cNvPr id="43" name="Rectangle 42">
            <a:extLst>
              <a:ext uri="{FF2B5EF4-FFF2-40B4-BE49-F238E27FC236}">
                <a16:creationId xmlns:a16="http://schemas.microsoft.com/office/drawing/2014/main" id="{A16B1509-F42B-435D-66DB-DE28063D8667}"/>
              </a:ext>
              <a:ext uri="{C183D7F6-B498-43B3-948B-1728B52AA6E4}">
                <adec:decorative xmlns:adec="http://schemas.microsoft.com/office/drawing/2017/decorative" val="1"/>
              </a:ext>
            </a:extLst>
          </p:cNvPr>
          <p:cNvSpPr>
            <a:spLocks noChangeAspect="1"/>
          </p:cNvSpPr>
          <p:nvPr/>
        </p:nvSpPr>
        <p:spPr>
          <a:xfrm>
            <a:off x="455259" y="5916955"/>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44" name="Picture 43">
            <a:extLst>
              <a:ext uri="{FF2B5EF4-FFF2-40B4-BE49-F238E27FC236}">
                <a16:creationId xmlns:a16="http://schemas.microsoft.com/office/drawing/2014/main" id="{70626111-5C71-24B0-5C7E-26BF8925B098}"/>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635466" y="5979052"/>
            <a:ext cx="260883" cy="338335"/>
          </a:xfrm>
          <a:prstGeom prst="rect">
            <a:avLst/>
          </a:prstGeom>
        </p:spPr>
      </p:pic>
      <p:sp>
        <p:nvSpPr>
          <p:cNvPr id="11" name="TextBox 10">
            <a:extLst>
              <a:ext uri="{FF2B5EF4-FFF2-40B4-BE49-F238E27FC236}">
                <a16:creationId xmlns:a16="http://schemas.microsoft.com/office/drawing/2014/main" id="{33336F59-2832-A436-B04E-79184912460A}"/>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48</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6" name="TextBox 5">
            <a:extLst>
              <a:ext uri="{FF2B5EF4-FFF2-40B4-BE49-F238E27FC236}">
                <a16:creationId xmlns:a16="http://schemas.microsoft.com/office/drawing/2014/main" id="{1B64D4B7-6EA7-3434-CC54-04F01176B282}"/>
              </a:ext>
            </a:extLst>
          </p:cNvPr>
          <p:cNvSpPr txBox="1"/>
          <p:nvPr/>
        </p:nvSpPr>
        <p:spPr>
          <a:xfrm>
            <a:off x="354106" y="2290520"/>
            <a:ext cx="5725319" cy="2276960"/>
          </a:xfrm>
          <a:prstGeom prst="rect">
            <a:avLst/>
          </a:prstGeom>
        </p:spPr>
        <p:txBody>
          <a:bodyPr wrap="square" lIns="0" tIns="0" rIns="0" bIns="0" numCol="1" spcCol="360000" rtlCol="0">
            <a:noAutofit/>
          </a:bodyPr>
          <a:lstStyle/>
          <a:p>
            <a:pPr lvl="0" defTabSz="914400">
              <a:spcBef>
                <a:spcPts val="300"/>
              </a:spcBef>
              <a:spcAft>
                <a:spcPts val="1200"/>
              </a:spcAft>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Gather the required participants and </a:t>
            </a:r>
            <a:r>
              <a:rPr lang="en-CA" sz="1400" b="1" dirty="0">
                <a:latin typeface="Roboto Condensed Light" panose="02000000000000000000" pitchFamily="2" charset="0"/>
                <a:ea typeface="Roboto Condensed Light" panose="02000000000000000000" pitchFamily="2" charset="0"/>
              </a:rPr>
              <a:t>leverage the </a:t>
            </a:r>
            <a:r>
              <a:rPr lang="en-CA" sz="1400" b="1" i="1" dirty="0" err="1">
                <a:latin typeface="Roboto Condensed Light" panose="02000000000000000000" pitchFamily="2" charset="0"/>
                <a:ea typeface="Roboto Condensed Light" panose="02000000000000000000" pitchFamily="2" charset="0"/>
              </a:rPr>
              <a:t>iSSDLC</a:t>
            </a:r>
            <a:r>
              <a:rPr lang="en-CA" sz="1400" b="1" dirty="0">
                <a:latin typeface="Roboto Condensed Light" panose="02000000000000000000" pitchFamily="2" charset="0"/>
                <a:ea typeface="Roboto Condensed Light" panose="02000000000000000000" pitchFamily="2" charset="0"/>
              </a:rPr>
              <a:t> </a:t>
            </a:r>
            <a:r>
              <a:rPr lang="en-CA" sz="1400" b="1" i="1" dirty="0">
                <a:latin typeface="Roboto Condensed Light" panose="02000000000000000000" pitchFamily="2" charset="0"/>
                <a:ea typeface="Roboto Condensed Light" panose="02000000000000000000" pitchFamily="2" charset="0"/>
              </a:rPr>
              <a:t>Capabilities Assessment Tool</a:t>
            </a:r>
            <a:r>
              <a:rPr lang="en-CA" sz="1400" b="1" dirty="0">
                <a:latin typeface="Roboto Condensed Light" panose="02000000000000000000" pitchFamily="2" charset="0"/>
                <a:ea typeface="Roboto Condensed Light" panose="02000000000000000000" pitchFamily="2" charset="0"/>
              </a:rPr>
              <a:t> to determine your target state.</a:t>
            </a:r>
            <a:endParaRPr lang="en-CA" sz="1400" b="1" dirty="0">
              <a:solidFill>
                <a:srgbClr val="000000"/>
              </a:solidFill>
              <a:latin typeface="Roboto Condensed Light" panose="02000000000000000000" pitchFamily="2" charset="0"/>
              <a:ea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Review current state: </a:t>
            </a:r>
            <a:r>
              <a:rPr lang="en-US" sz="1400" dirty="0">
                <a:solidFill>
                  <a:srgbClr val="000000"/>
                </a:solidFill>
                <a:latin typeface="Roboto Condensed Light" panose="02000000000000000000" pitchFamily="2" charset="0"/>
                <a:ea typeface="Roboto Condensed Light" panose="02000000000000000000" pitchFamily="2" charset="0"/>
              </a:rPr>
              <a:t>Review the list of capabilities and </a:t>
            </a:r>
            <a:r>
              <a:rPr lang="en-US" sz="1400" dirty="0">
                <a:latin typeface="Roboto Condensed Light" panose="02000000000000000000" pitchFamily="2" charset="0"/>
                <a:ea typeface="Roboto Condensed Light" panose="02000000000000000000" pitchFamily="2" charset="0"/>
              </a:rPr>
              <a:t>associated current maturity state.</a:t>
            </a:r>
            <a:endParaRPr lang="en-US" sz="1400" dirty="0">
              <a:solidFill>
                <a:srgbClr val="000000"/>
              </a:solidFill>
              <a:latin typeface="Roboto Condensed Light" panose="02000000000000000000" pitchFamily="2" charset="0"/>
              <a:ea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US" sz="1400" dirty="0">
                <a:latin typeface="Roboto Condensed Light" panose="02000000000000000000" pitchFamily="2" charset="0"/>
                <a:ea typeface="Roboto Condensed Light" panose="02000000000000000000" pitchFamily="2" charset="0"/>
              </a:rPr>
              <a:t>Determine target state: </a:t>
            </a:r>
            <a:r>
              <a:rPr lang="en-US" sz="1400" dirty="0">
                <a:solidFill>
                  <a:srgbClr val="000000"/>
                </a:solidFill>
                <a:latin typeface="Roboto Condensed Light" panose="02000000000000000000" pitchFamily="2" charset="0"/>
                <a:ea typeface="Roboto Condensed Light" panose="02000000000000000000" pitchFamily="2" charset="0"/>
              </a:rPr>
              <a:t>Determine your target maturity state</a:t>
            </a:r>
            <a:r>
              <a:rPr lang="en-US" sz="1400" dirty="0">
                <a:latin typeface="Roboto Condensed Light" panose="02000000000000000000" pitchFamily="2" charset="0"/>
                <a:ea typeface="Roboto Condensed Light" panose="02000000000000000000" pitchFamily="2" charset="0"/>
              </a:rPr>
              <a:t> for each applicable capability.</a:t>
            </a:r>
            <a:endParaRPr lang="en-US" sz="1400" dirty="0">
              <a:solidFill>
                <a:srgbClr val="000000"/>
              </a:solidFill>
              <a:latin typeface="Roboto Condensed Light" panose="02000000000000000000" pitchFamily="2" charset="0"/>
              <a:ea typeface="Roboto Condensed Light" panose="02000000000000000000" pitchFamily="2" charset="0"/>
            </a:endParaRPr>
          </a:p>
          <a:p>
            <a:pPr>
              <a:spcBef>
                <a:spcPts val="1200"/>
              </a:spcBef>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following slides provide more information on this step.</a:t>
            </a:r>
            <a:endParaRPr lang="en-US" sz="1400" b="1"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2584911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F401-6054-762C-9BC7-19BCD5D0B7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7E06BD-8953-8AC8-BB95-E0AF19EDBA0A}"/>
              </a:ext>
            </a:extLst>
          </p:cNvPr>
          <p:cNvSpPr>
            <a:spLocks noGrp="1"/>
          </p:cNvSpPr>
          <p:nvPr>
            <p:ph type="title"/>
          </p:nvPr>
        </p:nvSpPr>
        <p:spPr>
          <a:xfrm>
            <a:off x="364992" y="547738"/>
            <a:ext cx="11305392" cy="1028964"/>
          </a:xfrm>
        </p:spPr>
        <p:txBody>
          <a:bodyPr/>
          <a:lstStyle/>
          <a:p>
            <a:r>
              <a:rPr lang="en-US" dirty="0">
                <a:solidFill>
                  <a:srgbClr val="2576B7"/>
                </a:solidFill>
              </a:rPr>
              <a:t>2.2.1 </a:t>
            </a:r>
            <a:r>
              <a:rPr lang="en-CA" dirty="0"/>
              <a:t>Determine </a:t>
            </a:r>
            <a:r>
              <a:rPr lang="en-CA" dirty="0" err="1"/>
              <a:t>iSSDLC</a:t>
            </a:r>
            <a:r>
              <a:rPr lang="en-CA" dirty="0"/>
              <a:t> target state</a:t>
            </a:r>
            <a:endParaRPr lang="en-US" i="1" dirty="0">
              <a:solidFill>
                <a:schemeClr val="accent1"/>
              </a:solidFill>
            </a:endParaRPr>
          </a:p>
        </p:txBody>
      </p:sp>
      <p:sp>
        <p:nvSpPr>
          <p:cNvPr id="4" name="Rectangle 3">
            <a:extLst>
              <a:ext uri="{FF2B5EF4-FFF2-40B4-BE49-F238E27FC236}">
                <a16:creationId xmlns:a16="http://schemas.microsoft.com/office/drawing/2014/main" id="{5121AE8D-B5DD-5D8D-EA4D-B64B85500F0E}"/>
              </a:ext>
            </a:extLst>
          </p:cNvPr>
          <p:cNvSpPr/>
          <p:nvPr/>
        </p:nvSpPr>
        <p:spPr>
          <a:xfrm>
            <a:off x="971227" y="5842260"/>
            <a:ext cx="3822445"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a:t>
            </a:r>
            <a:r>
              <a:rPr kumimoji="0" lang="en-US" sz="1200" b="0" i="0" u="none" strike="noStrike" kern="1200" cap="none" spc="0" normalizeH="0" baseline="0" noProof="0" dirty="0" err="1">
                <a:ln>
                  <a:noFill/>
                </a:ln>
                <a:solidFill>
                  <a:srgbClr val="FFFFFF"/>
                </a:solidFill>
                <a:effectLst/>
                <a:uLnTx/>
                <a:uFillTx/>
                <a:latin typeface="Exo" panose="02000503000000000000" pitchFamily="2" charset="77"/>
                <a:ea typeface="+mn-ea"/>
                <a:cs typeface="+mn-cs"/>
              </a:rPr>
              <a:t>iSSDLC</a:t>
            </a: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 </a:t>
            </a:r>
            <a:r>
              <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sp>
        <p:nvSpPr>
          <p:cNvPr id="5" name="Rectangle 4">
            <a:extLst>
              <a:ext uri="{FF2B5EF4-FFF2-40B4-BE49-F238E27FC236}">
                <a16:creationId xmlns:a16="http://schemas.microsoft.com/office/drawing/2014/main" id="{C27602B4-1EA0-FBFA-B9B3-A2B78AB74C84}"/>
              </a:ext>
              <a:ext uri="{C183D7F6-B498-43B3-948B-1728B52AA6E4}">
                <adec:decorative xmlns:adec="http://schemas.microsoft.com/office/drawing/2017/decorative" val="1"/>
              </a:ext>
            </a:extLst>
          </p:cNvPr>
          <p:cNvSpPr>
            <a:spLocks noChangeAspect="1"/>
          </p:cNvSpPr>
          <p:nvPr/>
        </p:nvSpPr>
        <p:spPr>
          <a:xfrm>
            <a:off x="364992" y="5842262"/>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6" name="Picture 5">
            <a:extLst>
              <a:ext uri="{FF2B5EF4-FFF2-40B4-BE49-F238E27FC236}">
                <a16:creationId xmlns:a16="http://schemas.microsoft.com/office/drawing/2014/main" id="{2B9246D3-6C43-9D57-FCF1-8B4E333EDDF9}"/>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545199" y="5904359"/>
            <a:ext cx="260883" cy="338335"/>
          </a:xfrm>
          <a:prstGeom prst="rect">
            <a:avLst/>
          </a:prstGeom>
        </p:spPr>
      </p:pic>
      <p:pic>
        <p:nvPicPr>
          <p:cNvPr id="8" name="Picture 7">
            <a:extLst>
              <a:ext uri="{FF2B5EF4-FFF2-40B4-BE49-F238E27FC236}">
                <a16:creationId xmlns:a16="http://schemas.microsoft.com/office/drawing/2014/main" id="{C7ACAB70-8A19-1271-F6D1-1A11B77CEB1D}"/>
              </a:ext>
            </a:extLst>
          </p:cNvPr>
          <p:cNvPicPr>
            <a:picLocks noChangeAspect="1"/>
          </p:cNvPicPr>
          <p:nvPr/>
        </p:nvPicPr>
        <p:blipFill>
          <a:blip r:embed="rId5"/>
          <a:stretch>
            <a:fillRect/>
          </a:stretch>
        </p:blipFill>
        <p:spPr>
          <a:xfrm>
            <a:off x="4639584" y="1611987"/>
            <a:ext cx="6034451" cy="2919895"/>
          </a:xfrm>
          <a:prstGeom prst="rect">
            <a:avLst/>
          </a:prstGeom>
        </p:spPr>
      </p:pic>
      <p:pic>
        <p:nvPicPr>
          <p:cNvPr id="9" name="Picture 8">
            <a:extLst>
              <a:ext uri="{FF2B5EF4-FFF2-40B4-BE49-F238E27FC236}">
                <a16:creationId xmlns:a16="http://schemas.microsoft.com/office/drawing/2014/main" id="{CB72BA9B-D845-F2A2-0FC4-A7C40CFE5559}"/>
              </a:ext>
            </a:extLst>
          </p:cNvPr>
          <p:cNvPicPr>
            <a:picLocks noChangeAspect="1"/>
          </p:cNvPicPr>
          <p:nvPr/>
        </p:nvPicPr>
        <p:blipFill>
          <a:blip r:embed="rId6"/>
          <a:stretch>
            <a:fillRect/>
          </a:stretch>
        </p:blipFill>
        <p:spPr>
          <a:xfrm>
            <a:off x="5411110" y="2411802"/>
            <a:ext cx="6640060" cy="2467590"/>
          </a:xfrm>
          <a:prstGeom prst="rect">
            <a:avLst/>
          </a:prstGeom>
        </p:spPr>
      </p:pic>
      <p:sp>
        <p:nvSpPr>
          <p:cNvPr id="13" name="Right Arrow 18">
            <a:extLst>
              <a:ext uri="{FF2B5EF4-FFF2-40B4-BE49-F238E27FC236}">
                <a16:creationId xmlns:a16="http://schemas.microsoft.com/office/drawing/2014/main" id="{029CB885-6E1F-0B13-0333-AE1A910312FB}"/>
              </a:ext>
              <a:ext uri="{C183D7F6-B498-43B3-948B-1728B52AA6E4}">
                <adec:decorative xmlns:adec="http://schemas.microsoft.com/office/drawing/2017/decorative" val="1"/>
              </a:ext>
            </a:extLst>
          </p:cNvPr>
          <p:cNvSpPr/>
          <p:nvPr/>
        </p:nvSpPr>
        <p:spPr>
          <a:xfrm rot="16200000">
            <a:off x="11245228" y="5257001"/>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7" name="TextBox 8">
            <a:extLst>
              <a:ext uri="{FF2B5EF4-FFF2-40B4-BE49-F238E27FC236}">
                <a16:creationId xmlns:a16="http://schemas.microsoft.com/office/drawing/2014/main" id="{4EAB6768-3DB2-405A-3211-25B66C4E0DC8}"/>
              </a:ext>
            </a:extLst>
          </p:cNvPr>
          <p:cNvSpPr txBox="1"/>
          <p:nvPr/>
        </p:nvSpPr>
        <p:spPr>
          <a:xfrm>
            <a:off x="142418" y="1677525"/>
            <a:ext cx="4311887" cy="4062651"/>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a:solidFill>
                  <a:srgbClr val="000000"/>
                </a:solidFill>
                <a:latin typeface="Roboto Condensed Light" panose="02000000000000000000" pitchFamily="2" charset="0"/>
                <a:ea typeface="Roboto Condensed Light" panose="02000000000000000000" pitchFamily="2" charset="0"/>
              </a:rPr>
              <a:t>iSSDLC Capabilities Assessment Tool, </a:t>
            </a:r>
            <a:r>
              <a:rPr lang="en-CA" sz="1400" dirty="0">
                <a:solidFill>
                  <a:srgbClr val="000000"/>
                </a:solidFill>
                <a:latin typeface="Roboto Condensed Light" panose="02000000000000000000" pitchFamily="2" charset="0"/>
                <a:ea typeface="Roboto Condensed Light" panose="02000000000000000000" pitchFamily="2" charset="0"/>
              </a:rPr>
              <a:t>select your target state for each capability in cells M14:M43 of the Capabilities Assessment tab (Tab 4)</a:t>
            </a:r>
            <a:r>
              <a:rPr lang="en-CA" sz="1400" b="1" dirty="0">
                <a:solidFill>
                  <a:srgbClr val="000000"/>
                </a:solidFill>
                <a:latin typeface="Roboto Condensed Light" panose="02000000000000000000" pitchFamily="2" charset="0"/>
                <a:ea typeface="Roboto Condensed Light" panose="02000000000000000000" pitchFamily="2" charset="0"/>
              </a:rPr>
              <a:t>.</a:t>
            </a: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Consider the following factors when determining your target state:</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Alignment with business objectives and strategic priorities.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Current gaps and risk exposures that could be mitigated with a higher maturity level.</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Regulatory and industry compliance that requires a certain maturity to ensure audit readiness.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Organizational readiness and culture to support initiatives required to achieve target maturity.</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Automation potential that could increase scalability and reduce manual workload.</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574989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E600F-49C0-9993-E198-2669C8A572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695AB2-FA2D-23E5-4F23-F1B8FFAA7E0D}"/>
              </a:ext>
            </a:extLst>
          </p:cNvPr>
          <p:cNvSpPr>
            <a:spLocks noGrp="1"/>
          </p:cNvSpPr>
          <p:nvPr>
            <p:ph type="title"/>
          </p:nvPr>
        </p:nvSpPr>
        <p:spPr>
          <a:xfrm>
            <a:off x="364992" y="547738"/>
            <a:ext cx="11010931" cy="1028964"/>
          </a:xfrm>
        </p:spPr>
        <p:txBody>
          <a:bodyPr/>
          <a:lstStyle/>
          <a:p>
            <a:r>
              <a:rPr lang="en-CA" dirty="0"/>
              <a:t>Customize the iSSDLC capability prioritization (optional) </a:t>
            </a:r>
            <a:endParaRPr lang="en-US" i="1" dirty="0">
              <a:solidFill>
                <a:schemeClr val="accent1"/>
              </a:solidFill>
            </a:endParaRPr>
          </a:p>
        </p:txBody>
      </p:sp>
      <p:sp>
        <p:nvSpPr>
          <p:cNvPr id="4" name="TextBox 8">
            <a:extLst>
              <a:ext uri="{FF2B5EF4-FFF2-40B4-BE49-F238E27FC236}">
                <a16:creationId xmlns:a16="http://schemas.microsoft.com/office/drawing/2014/main" id="{7F5D0D26-61BB-0ACF-7F06-5C3F899C9FB9}"/>
              </a:ext>
            </a:extLst>
          </p:cNvPr>
          <p:cNvSpPr txBox="1"/>
          <p:nvPr/>
        </p:nvSpPr>
        <p:spPr>
          <a:xfrm>
            <a:off x="364992" y="1978509"/>
            <a:ext cx="6173460" cy="3685624"/>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dirty="0">
                <a:solidFill>
                  <a:srgbClr val="000000"/>
                </a:solidFill>
                <a:latin typeface="Roboto Condensed Light" panose="02000000000000000000" pitchFamily="2" charset="0"/>
                <a:ea typeface="Roboto Condensed Light" panose="02000000000000000000" pitchFamily="2" charset="0"/>
              </a:rPr>
              <a:t> </a:t>
            </a:r>
            <a:r>
              <a:rPr lang="en-CA" sz="1400" i="1" dirty="0">
                <a:solidFill>
                  <a:srgbClr val="000000"/>
                </a:solidFill>
                <a:latin typeface="Roboto Condensed Light" panose="02000000000000000000" pitchFamily="2" charset="0"/>
                <a:ea typeface="Roboto Condensed Light" panose="02000000000000000000" pitchFamily="2" charset="0"/>
              </a:rPr>
              <a:t>Capabilities Assessment Tool </a:t>
            </a:r>
            <a:r>
              <a:rPr lang="en-CA" sz="1400" dirty="0">
                <a:solidFill>
                  <a:srgbClr val="000000"/>
                </a:solidFill>
                <a:latin typeface="Roboto Condensed Light" panose="02000000000000000000" pitchFamily="2" charset="0"/>
                <a:ea typeface="Roboto Condensed Light" panose="02000000000000000000" pitchFamily="2" charset="0"/>
              </a:rPr>
              <a:t>allows for rapid prioritization of capabilities based on the extent to which each capability can enable your top business opportunities and mitigate your top security threats.</a:t>
            </a:r>
          </a:p>
          <a:p>
            <a:pPr marL="28575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Each capability has the potential to support every opportunity and mitigate every threat. However, to enable prioritization, the tool contains matrices showing the opportunities and threats each capability can most contribute to, as shown in the screenshot to the right.</a:t>
            </a:r>
          </a:p>
          <a:p>
            <a:pPr marL="28575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These matrices were developed by Info-Tech, combining the security expertise of Info-Tech’s research analysts with advanced AI.</a:t>
            </a:r>
          </a:p>
          <a:p>
            <a:pPr marL="28575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You may modify these matrices if desired, adding or changing the set business opportunities and security threats. </a:t>
            </a:r>
          </a:p>
          <a:p>
            <a:pPr marL="28575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matrices can be found in the tool by unhiding the “10. Capability Matrix” tab in the tool. </a:t>
            </a:r>
          </a:p>
          <a:p>
            <a:pPr marL="562996" lvl="1"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pic>
        <p:nvPicPr>
          <p:cNvPr id="8" name="Picture 7">
            <a:extLst>
              <a:ext uri="{FF2B5EF4-FFF2-40B4-BE49-F238E27FC236}">
                <a16:creationId xmlns:a16="http://schemas.microsoft.com/office/drawing/2014/main" id="{B12973A0-3640-D00D-2E61-CF7C9983330A}"/>
              </a:ext>
            </a:extLst>
          </p:cNvPr>
          <p:cNvPicPr>
            <a:picLocks noChangeAspect="1"/>
          </p:cNvPicPr>
          <p:nvPr/>
        </p:nvPicPr>
        <p:blipFill>
          <a:blip r:embed="rId3"/>
          <a:stretch>
            <a:fillRect/>
          </a:stretch>
        </p:blipFill>
        <p:spPr>
          <a:xfrm>
            <a:off x="6817142" y="1715604"/>
            <a:ext cx="5119466" cy="4419369"/>
          </a:xfrm>
          <a:prstGeom prst="rect">
            <a:avLst/>
          </a:prstGeom>
        </p:spPr>
      </p:pic>
    </p:spTree>
    <p:extLst>
      <p:ext uri="{BB962C8B-B14F-4D97-AF65-F5344CB8AC3E}">
        <p14:creationId xmlns:p14="http://schemas.microsoft.com/office/powerpoint/2010/main" val="1467636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0459-FE39-F64D-49D4-F44A2481ED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1114DD-1397-DF4A-7727-4772BC5C9B09}"/>
              </a:ext>
            </a:extLst>
          </p:cNvPr>
          <p:cNvSpPr>
            <a:spLocks noGrp="1"/>
          </p:cNvSpPr>
          <p:nvPr>
            <p:ph type="title"/>
          </p:nvPr>
        </p:nvSpPr>
        <p:spPr>
          <a:xfrm>
            <a:off x="364992" y="547738"/>
            <a:ext cx="7160415" cy="1028964"/>
          </a:xfrm>
        </p:spPr>
        <p:txBody>
          <a:bodyPr/>
          <a:lstStyle/>
          <a:p>
            <a:r>
              <a:rPr lang="en-CA" dirty="0"/>
              <a:t>Identify potential tools and technologies</a:t>
            </a:r>
            <a:endParaRPr lang="en-US" i="1" dirty="0">
              <a:solidFill>
                <a:schemeClr val="accent1"/>
              </a:solidFill>
            </a:endParaRPr>
          </a:p>
        </p:txBody>
      </p:sp>
      <p:pic>
        <p:nvPicPr>
          <p:cNvPr id="5" name="Picture 4">
            <a:extLst>
              <a:ext uri="{FF2B5EF4-FFF2-40B4-BE49-F238E27FC236}">
                <a16:creationId xmlns:a16="http://schemas.microsoft.com/office/drawing/2014/main" id="{C08870A5-12C3-92CF-4493-FAA007C03EBD}"/>
              </a:ext>
            </a:extLst>
          </p:cNvPr>
          <p:cNvPicPr>
            <a:picLocks noChangeAspect="1"/>
          </p:cNvPicPr>
          <p:nvPr/>
        </p:nvPicPr>
        <p:blipFill>
          <a:blip r:embed="rId3"/>
          <a:stretch>
            <a:fillRect/>
          </a:stretch>
        </p:blipFill>
        <p:spPr>
          <a:xfrm>
            <a:off x="7893602" y="732795"/>
            <a:ext cx="3510122" cy="4593388"/>
          </a:xfrm>
          <a:prstGeom prst="rect">
            <a:avLst/>
          </a:prstGeom>
        </p:spPr>
      </p:pic>
      <p:sp>
        <p:nvSpPr>
          <p:cNvPr id="4" name="TextBox 8">
            <a:extLst>
              <a:ext uri="{FF2B5EF4-FFF2-40B4-BE49-F238E27FC236}">
                <a16:creationId xmlns:a16="http://schemas.microsoft.com/office/drawing/2014/main" id="{005E00F7-7936-E98A-D3B4-65F42F8012E5}"/>
              </a:ext>
            </a:extLst>
          </p:cNvPr>
          <p:cNvSpPr txBox="1"/>
          <p:nvPr/>
        </p:nvSpPr>
        <p:spPr>
          <a:xfrm>
            <a:off x="364992" y="1759312"/>
            <a:ext cx="6528757" cy="3354765"/>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dirty="0">
                <a:solidFill>
                  <a:srgbClr val="000000"/>
                </a:solidFill>
                <a:latin typeface="Roboto Condensed Light" panose="02000000000000000000" pitchFamily="2" charset="0"/>
                <a:ea typeface="Roboto Condensed Light" panose="02000000000000000000" pitchFamily="2" charset="0"/>
              </a:rPr>
              <a:t> </a:t>
            </a:r>
            <a:r>
              <a:rPr lang="en-CA" sz="1400" i="1" dirty="0">
                <a:solidFill>
                  <a:srgbClr val="000000"/>
                </a:solidFill>
                <a:latin typeface="Roboto Condensed Light" panose="02000000000000000000" pitchFamily="2" charset="0"/>
                <a:ea typeface="Roboto Condensed Light" panose="02000000000000000000" pitchFamily="2" charset="0"/>
              </a:rPr>
              <a:t>Capabilities Assessment Tool, </a:t>
            </a:r>
            <a:r>
              <a:rPr lang="en-CA" sz="1400" dirty="0">
                <a:solidFill>
                  <a:srgbClr val="000000"/>
                </a:solidFill>
                <a:latin typeface="Roboto Condensed Light" panose="02000000000000000000" pitchFamily="2" charset="0"/>
                <a:ea typeface="Roboto Condensed Light" panose="02000000000000000000" pitchFamily="2" charset="0"/>
              </a:rPr>
              <a:t>select the Capabilities Assessment tab (Tab 4) to view the list of example tools and vendors in cells O14:P43.</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examples provides insights on the type of tools that can be leveraged to help automate tasks, reduce manual workload, and support AI readiness for scalability. </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When assessing technology and tools, consider some of the following factors: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Ease of integration:</a:t>
            </a:r>
            <a:r>
              <a:rPr lang="en-CA" sz="1400" dirty="0">
                <a:solidFill>
                  <a:srgbClr val="000000"/>
                </a:solidFill>
                <a:latin typeface="Roboto Condensed Light" panose="02000000000000000000" pitchFamily="2" charset="0"/>
                <a:ea typeface="Roboto Condensed Light" panose="02000000000000000000" pitchFamily="2" charset="0"/>
              </a:rPr>
              <a:t> Whether the tool can seamlessly integrate with your existing SDLC, CI/CD pipelines, developer toolchains, and other technologies.</a:t>
            </a:r>
            <a:endParaRPr lang="en-CA" sz="1400" b="1" dirty="0">
              <a:solidFill>
                <a:srgbClr val="000000"/>
              </a:solidFill>
              <a:latin typeface="Roboto Condensed Light" panose="02000000000000000000" pitchFamily="2" charset="0"/>
              <a:ea typeface="Roboto Condensed Light" panose="02000000000000000000" pitchFamily="2" charset="0"/>
            </a:endParaRP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Scalability:</a:t>
            </a:r>
            <a:r>
              <a:rPr lang="en-CA" sz="1400" dirty="0">
                <a:solidFill>
                  <a:srgbClr val="000000"/>
                </a:solidFill>
                <a:latin typeface="Roboto Condensed Light" panose="02000000000000000000" pitchFamily="2" charset="0"/>
                <a:ea typeface="Roboto Condensed Light" panose="02000000000000000000" pitchFamily="2" charset="0"/>
              </a:rPr>
              <a:t> Whether the tool can support future scalability and automation potential with its features.</a:t>
            </a:r>
            <a:endParaRPr lang="en-CA" sz="1400" b="1" dirty="0">
              <a:solidFill>
                <a:srgbClr val="000000"/>
              </a:solidFill>
              <a:latin typeface="Roboto Condensed Light" panose="02000000000000000000" pitchFamily="2" charset="0"/>
              <a:ea typeface="Roboto Condensed Light" panose="02000000000000000000" pitchFamily="2" charset="0"/>
            </a:endParaRP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Developer usability:</a:t>
            </a:r>
            <a:r>
              <a:rPr lang="en-CA" sz="1400" dirty="0">
                <a:solidFill>
                  <a:srgbClr val="000000"/>
                </a:solidFill>
                <a:latin typeface="Roboto Condensed Light" panose="02000000000000000000" pitchFamily="2" charset="0"/>
                <a:ea typeface="Roboto Condensed Light" panose="02000000000000000000" pitchFamily="2" charset="0"/>
              </a:rPr>
              <a:t> Whether the tools are developer-friendly and can provide actionable guidance and guardrails for developers to help remediate issues early.</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rPr>
              <a:t>Innovation</a:t>
            </a:r>
            <a:r>
              <a:rPr lang="en-CA" sz="1400" dirty="0">
                <a:solidFill>
                  <a:srgbClr val="000000"/>
                </a:solidFill>
                <a:latin typeface="Roboto Condensed Light" panose="02000000000000000000" pitchFamily="2" charset="0"/>
                <a:ea typeface="Roboto Condensed Light" panose="02000000000000000000" pitchFamily="2" charset="0"/>
              </a:rPr>
              <a:t> Whether the technology is innovative and embeds emerging technology and trends into their product lines.</a:t>
            </a:r>
            <a:endParaRPr lang="en-CA" sz="1400" b="1" dirty="0">
              <a:solidFill>
                <a:srgbClr val="000000"/>
              </a:solidFill>
              <a:latin typeface="Roboto Condensed Light" panose="02000000000000000000" pitchFamily="2" charset="0"/>
              <a:ea typeface="Roboto Condensed Light" panose="02000000000000000000" pitchFamily="2" charset="0"/>
            </a:endParaRPr>
          </a:p>
        </p:txBody>
      </p:sp>
      <p:sp>
        <p:nvSpPr>
          <p:cNvPr id="6" name="Rectangle 5">
            <a:extLst>
              <a:ext uri="{FF2B5EF4-FFF2-40B4-BE49-F238E27FC236}">
                <a16:creationId xmlns:a16="http://schemas.microsoft.com/office/drawing/2014/main" id="{81E7337B-696D-FF77-AB6C-3EAB445D1BB0}"/>
              </a:ext>
            </a:extLst>
          </p:cNvPr>
          <p:cNvSpPr/>
          <p:nvPr/>
        </p:nvSpPr>
        <p:spPr>
          <a:xfrm>
            <a:off x="364992" y="5559657"/>
            <a:ext cx="9833615" cy="1166138"/>
          </a:xfrm>
          <a:prstGeom prst="rect">
            <a:avLst/>
          </a:prstGeom>
          <a:gradFill>
            <a:gsLst>
              <a:gs pos="0">
                <a:srgbClr val="2576B7"/>
              </a:gs>
              <a:gs pos="100000">
                <a:schemeClr val="accent1">
                  <a:lumMod val="60000"/>
                  <a:lumOff val="40000"/>
                </a:schemeClr>
              </a:gs>
            </a:gsLst>
            <a:lin ang="2700000" scaled="0"/>
          </a:gradFill>
          <a:ln w="187325"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324000" tIns="324000" rIns="324000" bIns="324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Medium" pitchFamily="2" charset="77"/>
                <a:ea typeface="+mn-ea"/>
                <a:cs typeface="+mn-cs"/>
              </a:rPr>
              <a:t>Info-Tech Insight</a:t>
            </a:r>
          </a:p>
          <a:p>
            <a:pPr>
              <a:spcBef>
                <a:spcPts val="600"/>
              </a:spcBef>
              <a:defRPr/>
            </a:pPr>
            <a:r>
              <a:rPr lang="en-US" sz="1200" dirty="0">
                <a:solidFill>
                  <a:srgbClr val="FFFFFF"/>
                </a:solidFill>
                <a:latin typeface="Roboto Condensed Light" panose="02000000000000000000" pitchFamily="2" charset="0"/>
                <a:ea typeface="Roboto Condensed Light" panose="02000000000000000000" pitchFamily="2" charset="0"/>
              </a:rPr>
              <a:t>Security must be integrated into an SDLC from architecture to operation, and it must contain a structured process that supports governance, accountability, and culture.</a:t>
            </a:r>
          </a:p>
        </p:txBody>
      </p:sp>
      <p:sp>
        <p:nvSpPr>
          <p:cNvPr id="7" name="Rectangle 6">
            <a:extLst>
              <a:ext uri="{FF2B5EF4-FFF2-40B4-BE49-F238E27FC236}">
                <a16:creationId xmlns:a16="http://schemas.microsoft.com/office/drawing/2014/main" id="{D431E063-89D8-09F3-139D-0A9B13143444}"/>
              </a:ext>
              <a:ext uri="{C183D7F6-B498-43B3-948B-1728B52AA6E4}">
                <adec:decorative xmlns:adec="http://schemas.microsoft.com/office/drawing/2017/decorative" val="1"/>
              </a:ext>
            </a:extLst>
          </p:cNvPr>
          <p:cNvSpPr/>
          <p:nvPr/>
        </p:nvSpPr>
        <p:spPr>
          <a:xfrm>
            <a:off x="364994" y="5559657"/>
            <a:ext cx="9833614" cy="1166138"/>
          </a:xfrm>
          <a:prstGeom prst="rect">
            <a:avLst/>
          </a:prstGeom>
          <a:noFill/>
          <a:ln w="3175" cmpd="thinThick">
            <a:gradFill>
              <a:gsLst>
                <a:gs pos="0">
                  <a:srgbClr val="2576B7"/>
                </a:gs>
                <a:gs pos="50000">
                  <a:srgbClr val="2576B7">
                    <a:alpha val="0"/>
                  </a:srgbClr>
                </a:gs>
                <a:gs pos="99000">
                  <a:srgbClr val="2576B7"/>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216000" tIns="216000" rIns="216000" bIns="216000" rtlCol="0" anchor="ctr">
            <a:noAutofit/>
          </a:bodyPr>
          <a:lstStyle/>
          <a:p>
            <a:pPr marL="0" marR="0" lvl="0" indent="0" algn="l" defTabSz="554492" rtl="0" eaLnBrk="1" fontAlgn="auto" latinLnBrk="0" hangingPunct="1">
              <a:lnSpc>
                <a:spcPct val="100000"/>
              </a:lnSpc>
              <a:spcBef>
                <a:spcPts val="800"/>
              </a:spcBef>
              <a:spcAft>
                <a:spcPts val="0"/>
              </a:spcAft>
              <a:buClrTx/>
              <a:buSzTx/>
              <a:buFontTx/>
              <a:buNone/>
              <a:tabLst/>
              <a:defRPr/>
            </a:pPr>
            <a:endParaRPr kumimoji="0" lang="en-US" sz="1400" b="0" i="0" u="none" strike="noStrike" kern="1200" cap="none" spc="0" normalizeH="0" baseline="0" noProof="0" dirty="0">
              <a:ln>
                <a:noFill/>
              </a:ln>
              <a:solidFill>
                <a:srgbClr val="2576B7"/>
              </a:solidFill>
              <a:effectLst/>
              <a:uLnTx/>
              <a:uFillTx/>
              <a:latin typeface="Roboto Condensed Light" panose="02000000000000000000" pitchFamily="2" charset="0"/>
              <a:ea typeface="Roboto Condensed Light" panose="02000000000000000000" pitchFamily="2" charset="0"/>
              <a:cs typeface="+mn-cs"/>
            </a:endParaRPr>
          </a:p>
        </p:txBody>
      </p:sp>
    </p:spTree>
    <p:extLst>
      <p:ext uri="{BB962C8B-B14F-4D97-AF65-F5344CB8AC3E}">
        <p14:creationId xmlns:p14="http://schemas.microsoft.com/office/powerpoint/2010/main" val="7222814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18C5-2807-D884-0754-0F1CD3878C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5D0F603-2920-A2FF-3EE0-7734E7ADE43C}"/>
              </a:ext>
            </a:extLst>
          </p:cNvPr>
          <p:cNvSpPr>
            <a:spLocks noGrp="1"/>
          </p:cNvSpPr>
          <p:nvPr>
            <p:ph type="title"/>
          </p:nvPr>
        </p:nvSpPr>
        <p:spPr>
          <a:xfrm>
            <a:off x="364992" y="547738"/>
            <a:ext cx="6288056" cy="1028964"/>
          </a:xfrm>
        </p:spPr>
        <p:txBody>
          <a:bodyPr/>
          <a:lstStyle/>
          <a:p>
            <a:r>
              <a:rPr lang="en-CA" dirty="0"/>
              <a:t>Leverage SoftwareReviews.com</a:t>
            </a:r>
            <a:endParaRPr lang="en-US" i="1" dirty="0">
              <a:solidFill>
                <a:schemeClr val="accent1"/>
              </a:solidFill>
            </a:endParaRPr>
          </a:p>
        </p:txBody>
      </p:sp>
      <p:sp>
        <p:nvSpPr>
          <p:cNvPr id="5" name="TextBox 4">
            <a:extLst>
              <a:ext uri="{FF2B5EF4-FFF2-40B4-BE49-F238E27FC236}">
                <a16:creationId xmlns:a16="http://schemas.microsoft.com/office/drawing/2014/main" id="{AA2B16EC-DC77-A247-F760-DFB0ABCBD6EE}"/>
              </a:ext>
            </a:extLst>
          </p:cNvPr>
          <p:cNvSpPr txBox="1"/>
          <p:nvPr/>
        </p:nvSpPr>
        <p:spPr>
          <a:xfrm>
            <a:off x="364992" y="1762863"/>
            <a:ext cx="5619349" cy="4547399"/>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Info-Tech’s </a:t>
            </a:r>
            <a:r>
              <a:rPr lang="en-US" sz="1400" dirty="0">
                <a:solidFill>
                  <a:srgbClr val="000000"/>
                </a:solidFill>
                <a:latin typeface="Roboto Condensed Light" panose="02000000000000000000" pitchFamily="2" charset="0"/>
                <a:ea typeface="Roboto Condensed Light" panose="02000000000000000000" pitchFamily="2" charset="0"/>
                <a:hlinkClick r:id="rId3"/>
              </a:rPr>
              <a:t>SoftwareReviews</a:t>
            </a:r>
            <a:r>
              <a:rPr lang="en-US" sz="1400" dirty="0">
                <a:solidFill>
                  <a:srgbClr val="000000"/>
                </a:solidFill>
                <a:latin typeface="Roboto Condensed Light" panose="02000000000000000000" pitchFamily="2" charset="0"/>
                <a:ea typeface="Roboto Condensed Light" panose="02000000000000000000" pitchFamily="2" charset="0"/>
              </a:rPr>
              <a:t> provides a catalog of technology vendors grouped by software categories to help organizations accelerate and improve their software selection process.</a:t>
            </a:r>
          </a:p>
          <a:p>
            <a:pPr marL="285750" lvl="0"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Our catalog covers a wide of application security tools, including the following:</a:t>
            </a:r>
          </a:p>
          <a:p>
            <a:pPr marL="562996" lvl="1"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US" sz="1400" b="1" dirty="0">
                <a:solidFill>
                  <a:srgbClr val="000000"/>
                </a:solidFill>
                <a:latin typeface="Roboto Condensed Light" panose="02000000000000000000" pitchFamily="2" charset="0"/>
                <a:ea typeface="Roboto Condensed Light" panose="02000000000000000000" pitchFamily="2" charset="0"/>
                <a:hlinkClick r:id="rId4"/>
              </a:rPr>
              <a:t>API Security</a:t>
            </a:r>
            <a:r>
              <a:rPr lang="en-US" sz="1400" b="1" dirty="0">
                <a:solidFill>
                  <a:srgbClr val="000000"/>
                </a:solidFill>
                <a:latin typeface="Roboto Condensed Light" panose="02000000000000000000" pitchFamily="2" charset="0"/>
                <a:ea typeface="Roboto Condensed Light" panose="02000000000000000000" pitchFamily="2" charset="0"/>
              </a:rPr>
              <a:t>:</a:t>
            </a:r>
            <a:r>
              <a:rPr lang="en-US" sz="1400" dirty="0">
                <a:solidFill>
                  <a:srgbClr val="000000"/>
                </a:solidFill>
                <a:latin typeface="Roboto Condensed Light" panose="02000000000000000000" pitchFamily="2" charset="0"/>
                <a:ea typeface="Roboto Condensed Light" panose="02000000000000000000" pitchFamily="2" charset="0"/>
              </a:rPr>
              <a:t> Tools used to ensure that data from APIs is protected from cyberattacks.</a:t>
            </a:r>
          </a:p>
          <a:p>
            <a:pPr marL="562996" lvl="1"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US" sz="1400" b="1" dirty="0">
                <a:solidFill>
                  <a:srgbClr val="000000"/>
                </a:solidFill>
                <a:latin typeface="Roboto Condensed Light" panose="02000000000000000000" pitchFamily="2" charset="0"/>
                <a:ea typeface="Roboto Condensed Light" panose="02000000000000000000" pitchFamily="2" charset="0"/>
                <a:hlinkClick r:id="rId5"/>
              </a:rPr>
              <a:t>Application Security Testing Tools (AST): </a:t>
            </a:r>
            <a:r>
              <a:rPr lang="en-US" sz="1400" dirty="0">
                <a:solidFill>
                  <a:srgbClr val="000000"/>
                </a:solidFill>
                <a:latin typeface="Roboto Condensed Light" panose="02000000000000000000" pitchFamily="2" charset="0"/>
                <a:ea typeface="Roboto Condensed Light" panose="02000000000000000000" pitchFamily="2" charset="0"/>
              </a:rPr>
              <a:t>AST tools identify security vulnerabilities in applications and includes SAST (which analyzes source code), DAST (which tests code while it executes), and SCA (which identifies vulnerabilities in third-party components, modules, and libraries).</a:t>
            </a:r>
          </a:p>
          <a:p>
            <a:pPr marL="562996" lvl="1"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US" sz="1400" b="1" dirty="0">
                <a:solidFill>
                  <a:srgbClr val="000000"/>
                </a:solidFill>
                <a:latin typeface="Roboto Condensed Light" panose="02000000000000000000" pitchFamily="2" charset="0"/>
                <a:ea typeface="Roboto Condensed Light" panose="02000000000000000000" pitchFamily="2" charset="0"/>
                <a:hlinkClick r:id="rId6"/>
              </a:rPr>
              <a:t>Mobile Application Security Software</a:t>
            </a:r>
            <a:r>
              <a:rPr lang="en-US" sz="1400" b="1" dirty="0">
                <a:solidFill>
                  <a:srgbClr val="000000"/>
                </a:solidFill>
                <a:latin typeface="Roboto Condensed Light" panose="02000000000000000000" pitchFamily="2" charset="0"/>
                <a:ea typeface="Roboto Condensed Light" panose="02000000000000000000" pitchFamily="2" charset="0"/>
              </a:rPr>
              <a:t>:</a:t>
            </a:r>
            <a:r>
              <a:rPr lang="en-US" sz="1400" dirty="0">
                <a:solidFill>
                  <a:srgbClr val="000000"/>
                </a:solidFill>
                <a:latin typeface="Roboto Condensed Light" panose="02000000000000000000" pitchFamily="2" charset="0"/>
                <a:ea typeface="Roboto Condensed Light" panose="02000000000000000000" pitchFamily="2" charset="0"/>
              </a:rPr>
              <a:t> Tools can be used to identify and fix vulnerabilities before launch with app security testing, safeguard against real-time attacks with mobile threat defense, and shield applications at runtime with self-protection features.</a:t>
            </a:r>
          </a:p>
          <a:p>
            <a:pPr marL="562996" lvl="1" indent="-285750" defTabSz="914400">
              <a:spcBef>
                <a:spcPts val="300"/>
              </a:spcBef>
              <a:spcAft>
                <a:spcPts val="600"/>
              </a:spcAft>
              <a:buFont typeface="Arial" panose="020B0604020202020204" pitchFamily="34" charset="0"/>
              <a:buChar char="•"/>
              <a:defRPr sz="1800" b="0" i="0" u="none" strike="noStrike" kern="0" cap="none" spc="0" baseline="0">
                <a:solidFill>
                  <a:srgbClr val="000000"/>
                </a:solidFill>
                <a:uFillTx/>
              </a:defRPr>
            </a:pPr>
            <a:r>
              <a:rPr lang="en-CA" sz="1400" b="1" dirty="0">
                <a:solidFill>
                  <a:srgbClr val="000000"/>
                </a:solidFill>
                <a:latin typeface="Roboto Condensed Light" panose="02000000000000000000" pitchFamily="2" charset="0"/>
                <a:ea typeface="Roboto Condensed Light" panose="02000000000000000000" pitchFamily="2" charset="0"/>
                <a:hlinkClick r:id="rId7"/>
              </a:rPr>
              <a:t>Web Application Firewall (WAF) Software:</a:t>
            </a:r>
            <a:r>
              <a:rPr lang="en-CA" sz="1400" dirty="0">
                <a:solidFill>
                  <a:srgbClr val="000000"/>
                </a:solidFill>
                <a:latin typeface="Roboto Condensed Light" panose="02000000000000000000" pitchFamily="2" charset="0"/>
                <a:ea typeface="Roboto Condensed Light" panose="02000000000000000000" pitchFamily="2" charset="0"/>
                <a:hlinkClick r:id="rId7"/>
              </a:rPr>
              <a:t> </a:t>
            </a:r>
            <a:r>
              <a:rPr lang="en-CA" sz="1400" dirty="0">
                <a:solidFill>
                  <a:srgbClr val="000000"/>
                </a:solidFill>
                <a:latin typeface="Roboto Condensed Light" panose="02000000000000000000" pitchFamily="2" charset="0"/>
                <a:ea typeface="Roboto Condensed Light" panose="02000000000000000000" pitchFamily="2" charset="0"/>
              </a:rPr>
              <a:t>Security tool designed to protect web applications.</a:t>
            </a:r>
            <a:endParaRPr lang="en-CA" sz="1400" b="1" dirty="0">
              <a:solidFill>
                <a:srgbClr val="000000"/>
              </a:solidFill>
              <a:latin typeface="Roboto Condensed Light" panose="02000000000000000000" pitchFamily="2" charset="0"/>
              <a:ea typeface="Roboto Condensed Light" panose="02000000000000000000" pitchFamily="2" charset="0"/>
            </a:endParaRPr>
          </a:p>
        </p:txBody>
      </p:sp>
      <p:pic>
        <p:nvPicPr>
          <p:cNvPr id="4" name="Picture 3">
            <a:extLst>
              <a:ext uri="{FF2B5EF4-FFF2-40B4-BE49-F238E27FC236}">
                <a16:creationId xmlns:a16="http://schemas.microsoft.com/office/drawing/2014/main" id="{FCF5BB1F-F3C7-2935-F95E-E7BB5A438751}"/>
              </a:ext>
            </a:extLst>
          </p:cNvPr>
          <p:cNvPicPr>
            <a:picLocks noChangeAspect="1"/>
          </p:cNvPicPr>
          <p:nvPr/>
        </p:nvPicPr>
        <p:blipFill>
          <a:blip r:embed="rId8"/>
          <a:stretch>
            <a:fillRect/>
          </a:stretch>
        </p:blipFill>
        <p:spPr>
          <a:xfrm>
            <a:off x="6887423" y="833225"/>
            <a:ext cx="5306165" cy="5401429"/>
          </a:xfrm>
          <a:prstGeom prst="rect">
            <a:avLst/>
          </a:prstGeom>
        </p:spPr>
      </p:pic>
    </p:spTree>
    <p:extLst>
      <p:ext uri="{BB962C8B-B14F-4D97-AF65-F5344CB8AC3E}">
        <p14:creationId xmlns:p14="http://schemas.microsoft.com/office/powerpoint/2010/main" val="399676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8">
            <a:extLst>
              <a:ext uri="{FF2B5EF4-FFF2-40B4-BE49-F238E27FC236}">
                <a16:creationId xmlns:a16="http://schemas.microsoft.com/office/drawing/2014/main" id="{A9EB671C-0F6A-CF42-8E3C-8155D709DD51}"/>
              </a:ext>
            </a:extLst>
          </p:cNvPr>
          <p:cNvSpPr>
            <a:spLocks noGrp="1"/>
          </p:cNvSpPr>
          <p:nvPr>
            <p:ph type="title"/>
          </p:nvPr>
        </p:nvSpPr>
        <p:spPr>
          <a:xfrm>
            <a:off x="354106" y="530021"/>
            <a:ext cx="8480612" cy="519691"/>
          </a:xfrm>
        </p:spPr>
        <p:txBody>
          <a:bodyPr/>
          <a:lstStyle/>
          <a:p>
            <a:r>
              <a:rPr lang="en-CA" dirty="0"/>
              <a:t>Phase 3</a:t>
            </a:r>
            <a:endParaRPr lang="en-US" dirty="0"/>
          </a:p>
        </p:txBody>
      </p:sp>
      <p:sp>
        <p:nvSpPr>
          <p:cNvPr id="34" name="Text Placeholder 33">
            <a:extLst>
              <a:ext uri="{FF2B5EF4-FFF2-40B4-BE49-F238E27FC236}">
                <a16:creationId xmlns:a16="http://schemas.microsoft.com/office/drawing/2014/main" id="{6D284C46-39FD-3547-8CBC-FB0074A653CD}"/>
              </a:ext>
            </a:extLst>
          </p:cNvPr>
          <p:cNvSpPr>
            <a:spLocks noGrp="1"/>
          </p:cNvSpPr>
          <p:nvPr>
            <p:ph type="body" sz="quarter" idx="11"/>
          </p:nvPr>
        </p:nvSpPr>
        <p:spPr>
          <a:prstGeom prst="rect">
            <a:avLst/>
          </a:prstGeom>
        </p:spPr>
        <p:txBody>
          <a:bodyPr/>
          <a:lstStyle/>
          <a:p>
            <a:r>
              <a:rPr lang="en-CA" dirty="0"/>
              <a:t>Develop Strategic Plan</a:t>
            </a:r>
          </a:p>
        </p:txBody>
      </p:sp>
      <p:sp>
        <p:nvSpPr>
          <p:cNvPr id="24" name="Text Placeholder 2">
            <a:extLst>
              <a:ext uri="{FF2B5EF4-FFF2-40B4-BE49-F238E27FC236}">
                <a16:creationId xmlns:a16="http://schemas.microsoft.com/office/drawing/2014/main" id="{FA968B6C-3E8F-1AF1-9B48-9449D06BE3FB}"/>
              </a:ext>
            </a:extLst>
          </p:cNvPr>
          <p:cNvSpPr txBox="1">
            <a:spLocks/>
          </p:cNvSpPr>
          <p:nvPr/>
        </p:nvSpPr>
        <p:spPr>
          <a:xfrm>
            <a:off x="845910" y="3057098"/>
            <a:ext cx="2076769" cy="371902"/>
          </a:xfrm>
          <a:prstGeom prst="rect">
            <a:avLst/>
          </a:prstGeom>
        </p:spPr>
        <p:txBody>
          <a:bodyPr lIns="0" tIns="0" rIns="0" bIns="0">
            <a:noAutofit/>
          </a:bodyPr>
          <a:lstStyle>
            <a:lvl1pPr marL="0" indent="0" algn="ctr" defTabSz="914400" rtl="0" eaLnBrk="1" latinLnBrk="0" hangingPunct="1">
              <a:lnSpc>
                <a:spcPct val="110000"/>
              </a:lnSpc>
              <a:spcBef>
                <a:spcPts val="1000"/>
              </a:spcBef>
              <a:buFont typeface="Arial" panose="020B0604020202020204" pitchFamily="34" charset="0"/>
              <a:buNone/>
              <a:defRPr sz="2000" b="0" i="0" kern="1200">
                <a:solidFill>
                  <a:srgbClr val="2576B7"/>
                </a:solidFill>
                <a:latin typeface="Montserrat SemiBold"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Phase 1</a:t>
            </a:r>
          </a:p>
        </p:txBody>
      </p:sp>
      <p:sp>
        <p:nvSpPr>
          <p:cNvPr id="2" name="Text Placeholder 3">
            <a:extLst>
              <a:ext uri="{FF2B5EF4-FFF2-40B4-BE49-F238E27FC236}">
                <a16:creationId xmlns:a16="http://schemas.microsoft.com/office/drawing/2014/main" id="{B487F59F-19EB-1B9C-AAED-A920AB0D53A3}"/>
              </a:ext>
            </a:extLst>
          </p:cNvPr>
          <p:cNvSpPr txBox="1">
            <a:spLocks/>
          </p:cNvSpPr>
          <p:nvPr/>
        </p:nvSpPr>
        <p:spPr>
          <a:xfrm>
            <a:off x="974974" y="3400673"/>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1.1 Identify business and security requirements.</a:t>
            </a:r>
          </a:p>
          <a:p>
            <a:r>
              <a:rPr lang="en-US" dirty="0"/>
              <a:t>1.2 Identify goals.</a:t>
            </a:r>
          </a:p>
          <a:p>
            <a:r>
              <a:rPr lang="en-US" dirty="0"/>
              <a:t>1.3 Establish metrics.</a:t>
            </a:r>
          </a:p>
          <a:p>
            <a:r>
              <a:rPr lang="en-US" dirty="0"/>
              <a:t>1.4 Assign roles and responsibilities.</a:t>
            </a:r>
          </a:p>
        </p:txBody>
      </p:sp>
      <p:sp>
        <p:nvSpPr>
          <p:cNvPr id="26" name="Text Placeholder 4">
            <a:extLst>
              <a:ext uri="{FF2B5EF4-FFF2-40B4-BE49-F238E27FC236}">
                <a16:creationId xmlns:a16="http://schemas.microsoft.com/office/drawing/2014/main" id="{9DDE7A84-340D-0016-5E11-6F7AFE69E7D9}"/>
              </a:ext>
            </a:extLst>
          </p:cNvPr>
          <p:cNvSpPr txBox="1">
            <a:spLocks/>
          </p:cNvSpPr>
          <p:nvPr/>
        </p:nvSpPr>
        <p:spPr>
          <a:xfrm>
            <a:off x="3457030" y="3057098"/>
            <a:ext cx="2076769" cy="371902"/>
          </a:xfrm>
          <a:prstGeom prst="rect">
            <a:avLst/>
          </a:prstGeom>
        </p:spPr>
        <p:txBody>
          <a:bodyPr lIns="0" tIns="0" rIns="0" bIns="0">
            <a:noAutofit/>
          </a:bodyPr>
          <a:lstStyle>
            <a:lvl1pPr marL="0" indent="0" algn="ctr" defTabSz="914400" rtl="0" eaLnBrk="1" latinLnBrk="0" hangingPunct="1">
              <a:lnSpc>
                <a:spcPct val="110000"/>
              </a:lnSpc>
              <a:spcBef>
                <a:spcPts val="1000"/>
              </a:spcBef>
              <a:buFont typeface="Arial" panose="020B0604020202020204" pitchFamily="34" charset="0"/>
              <a:buNone/>
              <a:defRPr sz="2000" b="0" i="0" kern="1200">
                <a:solidFill>
                  <a:srgbClr val="2576B7"/>
                </a:solidFill>
                <a:latin typeface="Montserrat SemiBold"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Phase 2</a:t>
            </a:r>
          </a:p>
        </p:txBody>
      </p:sp>
      <p:sp>
        <p:nvSpPr>
          <p:cNvPr id="3" name="Text Placeholder 5">
            <a:extLst>
              <a:ext uri="{FF2B5EF4-FFF2-40B4-BE49-F238E27FC236}">
                <a16:creationId xmlns:a16="http://schemas.microsoft.com/office/drawing/2014/main" id="{44D8750F-256B-AB82-6B48-E30F55EBDD92}"/>
              </a:ext>
            </a:extLst>
          </p:cNvPr>
          <p:cNvSpPr txBox="1">
            <a:spLocks/>
          </p:cNvSpPr>
          <p:nvPr/>
        </p:nvSpPr>
        <p:spPr>
          <a:xfrm>
            <a:off x="3586094" y="3400673"/>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dirty="0"/>
              <a:t>2.1 Assess current application security state.</a:t>
            </a:r>
          </a:p>
          <a:p>
            <a:pPr lvl="0">
              <a:defRPr/>
            </a:pPr>
            <a:r>
              <a:rPr lang="en-US" dirty="0"/>
              <a:t>2.2 Determine target state.</a:t>
            </a:r>
          </a:p>
        </p:txBody>
      </p:sp>
      <p:sp>
        <p:nvSpPr>
          <p:cNvPr id="28" name="Text Placeholder 6">
            <a:extLst>
              <a:ext uri="{FF2B5EF4-FFF2-40B4-BE49-F238E27FC236}">
                <a16:creationId xmlns:a16="http://schemas.microsoft.com/office/drawing/2014/main" id="{4734466C-DC80-A862-21C4-1554D58FC095}"/>
              </a:ext>
            </a:extLst>
          </p:cNvPr>
          <p:cNvSpPr txBox="1">
            <a:spLocks/>
          </p:cNvSpPr>
          <p:nvPr/>
        </p:nvSpPr>
        <p:spPr>
          <a:xfrm>
            <a:off x="6068150" y="3057098"/>
            <a:ext cx="2076769" cy="371902"/>
          </a:xfrm>
          <a:prstGeom prst="rect">
            <a:avLst/>
          </a:prstGeom>
        </p:spPr>
        <p:txBody>
          <a:bodyPr lIns="0" tIns="0" rIns="0" bIns="0">
            <a:noAutofit/>
          </a:bodyPr>
          <a:lstStyle>
            <a:lvl1pPr marL="0" indent="0" algn="ctr" defTabSz="914400" rtl="0" eaLnBrk="1" latinLnBrk="0" hangingPunct="1">
              <a:lnSpc>
                <a:spcPct val="110000"/>
              </a:lnSpc>
              <a:spcBef>
                <a:spcPts val="1000"/>
              </a:spcBef>
              <a:buFont typeface="Arial" panose="020B0604020202020204" pitchFamily="34" charset="0"/>
              <a:buNone/>
              <a:defRPr sz="2000" b="0" i="0" kern="1200">
                <a:solidFill>
                  <a:srgbClr val="2576B7"/>
                </a:solidFill>
                <a:latin typeface="Montserrat SemiBold"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Phase 3</a:t>
            </a:r>
          </a:p>
        </p:txBody>
      </p:sp>
      <p:sp>
        <p:nvSpPr>
          <p:cNvPr id="4" name="Text Placeholder 7">
            <a:extLst>
              <a:ext uri="{FF2B5EF4-FFF2-40B4-BE49-F238E27FC236}">
                <a16:creationId xmlns:a16="http://schemas.microsoft.com/office/drawing/2014/main" id="{E4EAF916-47A7-43AA-026F-7966E30402E3}"/>
              </a:ext>
            </a:extLst>
          </p:cNvPr>
          <p:cNvSpPr txBox="1">
            <a:spLocks/>
          </p:cNvSpPr>
          <p:nvPr/>
        </p:nvSpPr>
        <p:spPr>
          <a:xfrm>
            <a:off x="6197214" y="3403208"/>
            <a:ext cx="1818640" cy="1048604"/>
          </a:xfrm>
          <a:prstGeom prst="rect">
            <a:avLst/>
          </a:prstGeom>
        </p:spPr>
        <p:txBody>
          <a:bodyPr lIns="0" tIns="0" rIns="0" bIns="0">
            <a:noAutofit/>
          </a:bodyPr>
          <a:lstStyle>
            <a:lvl1pPr marL="0" indent="0" algn="ctr" defTabSz="914400" rtl="0" eaLnBrk="1" latinLnBrk="0" hangingPunct="1">
              <a:lnSpc>
                <a:spcPct val="110000"/>
              </a:lnSpc>
              <a:spcBef>
                <a:spcPts val="0"/>
              </a:spcBef>
              <a:buFont typeface="Arial" panose="020B0604020202020204" pitchFamily="34" charset="0"/>
              <a:buNone/>
              <a:defRPr sz="1200" b="0" i="0" kern="1200">
                <a:solidFill>
                  <a:srgbClr val="2576B7"/>
                </a:solidFill>
                <a:latin typeface="Roboto Condensed Light" panose="02000000000000000000" pitchFamily="2" charset="0"/>
                <a:ea typeface="Roboto Condensed Light" panose="02000000000000000000" pitchFamily="2" charset="0"/>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defRPr/>
            </a:pPr>
            <a:r>
              <a:rPr lang="en-US" dirty="0"/>
              <a:t>3.1 Develop and prioritize initiatives.</a:t>
            </a:r>
          </a:p>
          <a:p>
            <a:pPr lvl="0">
              <a:defRPr/>
            </a:pPr>
            <a:r>
              <a:rPr lang="en-US" dirty="0"/>
              <a:t>3.2 Develop roadmap.</a:t>
            </a:r>
          </a:p>
          <a:p>
            <a:pPr lvl="0">
              <a:defRPr/>
            </a:pPr>
            <a:r>
              <a:rPr lang="en-US" dirty="0"/>
              <a:t>3.3 Develop strategy deck.</a:t>
            </a:r>
          </a:p>
        </p:txBody>
      </p:sp>
      <p:sp>
        <p:nvSpPr>
          <p:cNvPr id="31" name="Text Placeholder 103">
            <a:extLst>
              <a:ext uri="{FF2B5EF4-FFF2-40B4-BE49-F238E27FC236}">
                <a16:creationId xmlns:a16="http://schemas.microsoft.com/office/drawing/2014/main" id="{705E8DC1-812E-25FD-51C7-312FC017EAC3}"/>
              </a:ext>
            </a:extLst>
          </p:cNvPr>
          <p:cNvSpPr txBox="1">
            <a:spLocks/>
          </p:cNvSpPr>
          <p:nvPr/>
        </p:nvSpPr>
        <p:spPr>
          <a:xfrm>
            <a:off x="9362364" y="466165"/>
            <a:ext cx="2531187" cy="4893486"/>
          </a:xfrm>
          <a:prstGeom prst="rect">
            <a:avLst/>
          </a:prstGeom>
        </p:spPr>
        <p:txBody>
          <a:bodyPr lIns="0" tIns="0" rIns="0" bIns="0" numCol="1" spcCol="360000">
            <a:noAutofit/>
          </a:bodyPr>
          <a:lstStyle>
            <a:lvl1pPr marL="0" indent="0" algn="l" defTabSz="914400" rtl="0" eaLnBrk="1" latinLnBrk="0" hangingPunct="1">
              <a:lnSpc>
                <a:spcPct val="110000"/>
              </a:lnSpc>
              <a:spcBef>
                <a:spcPts val="1000"/>
              </a:spcBef>
              <a:buFont typeface="Arial" panose="020B0604020202020204" pitchFamily="34" charset="0"/>
              <a:buNone/>
              <a:defRPr sz="1200" b="0" i="0" kern="1200">
                <a:solidFill>
                  <a:schemeClr val="bg1"/>
                </a:solidFill>
                <a:latin typeface="Roboto Condensed Light" panose="02000000000000000000" pitchFamily="2" charset="0"/>
                <a:ea typeface="+mn-ea"/>
                <a:cs typeface="Arial Narrow" panose="020B0604020202020204" pitchFamily="34" charset="0"/>
              </a:defRPr>
            </a:lvl1pPr>
            <a:lvl2pPr marL="4572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700"/>
              </a:lnSpc>
              <a:spcBef>
                <a:spcPts val="500"/>
              </a:spcBef>
              <a:buFont typeface="Arial" panose="020B0604020202020204" pitchFamily="34" charset="0"/>
              <a:buNone/>
              <a:defRPr sz="1400" kern="1200">
                <a:solidFill>
                  <a:srgbClr val="4B4B4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CA"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This phase will walk you through the following activities:</a:t>
            </a:r>
          </a:p>
          <a:p>
            <a:pPr>
              <a:spcBef>
                <a:spcPts val="600"/>
              </a:spcBef>
            </a:pPr>
            <a:r>
              <a:rPr lang="en-US" dirty="0"/>
              <a:t>3.1 Develop and prioritize initiatives.</a:t>
            </a:r>
          </a:p>
          <a:p>
            <a:pPr>
              <a:spcBef>
                <a:spcPts val="600"/>
              </a:spcBef>
            </a:pPr>
            <a:r>
              <a:rPr lang="en-US" dirty="0"/>
              <a:t>3.2 Develop roadmap.</a:t>
            </a:r>
          </a:p>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Outcome:</a:t>
            </a:r>
            <a:r>
              <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  </a:t>
            </a:r>
          </a:p>
          <a:p>
            <a:pPr marL="171450" marR="0" lvl="0" indent="-1714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US" dirty="0">
                <a:solidFill>
                  <a:srgbClr val="FFFFFF"/>
                </a:solidFill>
              </a:rPr>
              <a:t>List of prioritized application security initiatives</a:t>
            </a:r>
          </a:p>
          <a:p>
            <a:pPr marL="171450" marR="0" lvl="0" indent="-1714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en-US" dirty="0">
                <a:solidFill>
                  <a:srgbClr val="FFFFFF"/>
                </a:solidFill>
              </a:rPr>
              <a:t>iSSDLC strategic roadmap deck</a:t>
            </a:r>
            <a:endParaRPr kumimoji="0" lang="en-US"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endParaRPr>
          </a:p>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CA" sz="1200" b="1"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This phase involves the following participants:</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CA" dirty="0">
                <a:solidFill>
                  <a:srgbClr val="FFFFFF"/>
                </a:solidFill>
              </a:rPr>
              <a:t>Information security</a:t>
            </a: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Application/delivery </a:t>
            </a:r>
            <a:r>
              <a:rPr lang="en-CA" dirty="0">
                <a:solidFill>
                  <a:srgbClr val="FFFFFF"/>
                </a:solidFill>
              </a:rPr>
              <a:t>m</a:t>
            </a:r>
            <a:r>
              <a:rPr kumimoji="0" lang="en-CA" sz="1200" b="0" i="0" u="none" strike="noStrike" kern="1200" cap="none" spc="0" normalizeH="0" baseline="0" noProof="0" dirty="0" err="1">
                <a:ln>
                  <a:noFill/>
                </a:ln>
                <a:solidFill>
                  <a:srgbClr val="FFFFFF"/>
                </a:solidFill>
                <a:effectLst/>
                <a:uLnTx/>
                <a:uFillTx/>
                <a:latin typeface="Roboto Condensed Light" panose="02000000000000000000" pitchFamily="2" charset="0"/>
                <a:ea typeface="+mn-ea"/>
              </a:rPr>
              <a:t>anagers</a:t>
            </a:r>
            <a:endParaRPr lang="en-CA" dirty="0">
              <a:solidFill>
                <a:srgbClr val="FFFFFF"/>
              </a:solidFill>
            </a:endParaRPr>
          </a:p>
          <a:p>
            <a:pPr marL="171450" marR="0" lvl="0" indent="-1714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CA" sz="1200" b="0" i="0" u="none" strike="noStrike" kern="1200" cap="none" spc="0" normalizeH="0" baseline="0" noProof="0" dirty="0">
                <a:ln>
                  <a:noFill/>
                </a:ln>
                <a:solidFill>
                  <a:srgbClr val="FFFFFF"/>
                </a:solidFill>
                <a:effectLst/>
                <a:uLnTx/>
                <a:uFillTx/>
                <a:latin typeface="Roboto Condensed Light" panose="02000000000000000000" pitchFamily="2" charset="0"/>
                <a:ea typeface="+mn-ea"/>
              </a:rPr>
              <a:t>Business</a:t>
            </a:r>
          </a:p>
        </p:txBody>
      </p:sp>
      <p:sp>
        <p:nvSpPr>
          <p:cNvPr id="30" name="Text Placeholder 90">
            <a:extLst>
              <a:ext uri="{FF2B5EF4-FFF2-40B4-BE49-F238E27FC236}">
                <a16:creationId xmlns:a16="http://schemas.microsoft.com/office/drawing/2014/main" id="{6C507B8C-0D26-0BF4-9E34-CA400A24358F}"/>
              </a:ext>
              <a:ext uri="{C183D7F6-B498-43B3-948B-1728B52AA6E4}">
                <adec:decorative xmlns:adec="http://schemas.microsoft.com/office/drawing/2017/decorative" val="1"/>
              </a:ext>
            </a:extLst>
          </p:cNvPr>
          <p:cNvSpPr txBox="1">
            <a:spLocks/>
          </p:cNvSpPr>
          <p:nvPr/>
        </p:nvSpPr>
        <p:spPr>
          <a:xfrm>
            <a:off x="9362364" y="5359651"/>
            <a:ext cx="2542732" cy="473616"/>
          </a:xfrm>
          <a:prstGeom prst="rect">
            <a:avLst/>
          </a:prstGeom>
        </p:spPr>
        <p:txBody>
          <a:bodyPr lIns="0" tIns="0" rIns="0" bIns="0">
            <a:noAutofit/>
          </a:bodyPr>
          <a:lstStyle>
            <a:lvl1pPr marL="0" indent="0" algn="l" defTabSz="914400" rtl="0" eaLnBrk="1" latinLnBrk="0" hangingPunct="1">
              <a:lnSpc>
                <a:spcPct val="110000"/>
              </a:lnSpc>
              <a:spcBef>
                <a:spcPts val="1000"/>
              </a:spcBef>
              <a:buFont typeface="Arial" panose="020B0604020202020204" pitchFamily="34" charset="0"/>
              <a:buNone/>
              <a:defRPr sz="1600" b="0" i="0" kern="1200">
                <a:solidFill>
                  <a:schemeClr val="bg1"/>
                </a:solidFill>
                <a:latin typeface="Exo" panose="02000503000000000000" pitchFamily="2" charset="77"/>
                <a:ea typeface="+mn-ea"/>
                <a:cs typeface="Arial" panose="020B0604020202020204" pitchFamily="34" charset="0"/>
              </a:defRPr>
            </a:lvl1pPr>
            <a:lvl2pPr marL="4572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ts val="1400"/>
              </a:lnSpc>
              <a:spcBef>
                <a:spcPts val="500"/>
              </a:spcBef>
              <a:buFont typeface="Arial" panose="020B0604020202020204" pitchFamily="34" charset="0"/>
              <a:buNone/>
              <a:defRPr sz="1400" kern="1200">
                <a:solidFill>
                  <a:srgbClr val="2576B7"/>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en-US" dirty="0">
                <a:solidFill>
                  <a:srgbClr val="FFFFFF"/>
                </a:solidFill>
              </a:rPr>
              <a:t>Develop a strategic plan for intelligent application security.</a:t>
            </a:r>
          </a:p>
        </p:txBody>
      </p:sp>
    </p:spTree>
    <p:extLst>
      <p:ext uri="{BB962C8B-B14F-4D97-AF65-F5344CB8AC3E}">
        <p14:creationId xmlns:p14="http://schemas.microsoft.com/office/powerpoint/2010/main" val="1688931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BA6F1-D316-A986-D471-57274B750F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D402AA-6D91-9BE7-FF9F-99424768E8AF}"/>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sp>
        <p:nvSpPr>
          <p:cNvPr id="3" name="Title 2">
            <a:extLst>
              <a:ext uri="{FF2B5EF4-FFF2-40B4-BE49-F238E27FC236}">
                <a16:creationId xmlns:a16="http://schemas.microsoft.com/office/drawing/2014/main" id="{3AED9239-B408-478A-0535-DFC468B41D51}"/>
              </a:ext>
            </a:extLst>
          </p:cNvPr>
          <p:cNvSpPr>
            <a:spLocks noGrp="1"/>
          </p:cNvSpPr>
          <p:nvPr>
            <p:ph type="title"/>
          </p:nvPr>
        </p:nvSpPr>
        <p:spPr>
          <a:xfrm>
            <a:off x="354106" y="544769"/>
            <a:ext cx="6668863" cy="1130188"/>
          </a:xfrm>
        </p:spPr>
        <p:txBody>
          <a:bodyPr/>
          <a:lstStyle/>
          <a:p>
            <a:r>
              <a:rPr lang="en-US" dirty="0">
                <a:solidFill>
                  <a:srgbClr val="2576B7"/>
                </a:solidFill>
              </a:rPr>
              <a:t>3.1 </a:t>
            </a:r>
            <a:r>
              <a:rPr lang="en-CA" dirty="0">
                <a:solidFill>
                  <a:schemeClr val="tx1"/>
                </a:solidFill>
              </a:rPr>
              <a:t>Develop and prioritize initiatives</a:t>
            </a:r>
            <a:endParaRPr lang="en-US" dirty="0">
              <a:solidFill>
                <a:schemeClr val="tx1"/>
              </a:solidFill>
            </a:endParaRPr>
          </a:p>
        </p:txBody>
      </p:sp>
      <p:sp>
        <p:nvSpPr>
          <p:cNvPr id="4" name="Text Placeholder 3">
            <a:extLst>
              <a:ext uri="{FF2B5EF4-FFF2-40B4-BE49-F238E27FC236}">
                <a16:creationId xmlns:a16="http://schemas.microsoft.com/office/drawing/2014/main" id="{97499F46-EB6C-9316-5EA3-999DC8FE5DC9}"/>
              </a:ext>
            </a:extLst>
          </p:cNvPr>
          <p:cNvSpPr>
            <a:spLocks noGrp="1"/>
          </p:cNvSpPr>
          <p:nvPr>
            <p:ph type="body" sz="quarter" idx="11"/>
          </p:nvPr>
        </p:nvSpPr>
        <p:spPr>
          <a:xfrm>
            <a:off x="455259" y="1844689"/>
            <a:ext cx="4116208" cy="304974"/>
          </a:xfrm>
        </p:spPr>
        <p:txBody>
          <a:bodyPr/>
          <a:lstStyle/>
          <a:p>
            <a:r>
              <a:rPr lang="en-US" sz="1600" dirty="0">
                <a:latin typeface="Exo" panose="02000503000000000000" pitchFamily="2" charset="77"/>
              </a:rPr>
              <a:t>2 hours</a:t>
            </a:r>
          </a:p>
        </p:txBody>
      </p:sp>
      <p:graphicFrame>
        <p:nvGraphicFramePr>
          <p:cNvPr id="38" name="Table 37">
            <a:extLst>
              <a:ext uri="{FF2B5EF4-FFF2-40B4-BE49-F238E27FC236}">
                <a16:creationId xmlns:a16="http://schemas.microsoft.com/office/drawing/2014/main" id="{711E2F36-10C4-CC7F-279D-D3B54E710720}"/>
              </a:ext>
            </a:extLst>
          </p:cNvPr>
          <p:cNvGraphicFramePr>
            <a:graphicFrameLocks noGrp="1"/>
          </p:cNvGraphicFramePr>
          <p:nvPr>
            <p:extLst>
              <p:ext uri="{D42A27DB-BD31-4B8C-83A1-F6EECF244321}">
                <p14:modId xmlns:p14="http://schemas.microsoft.com/office/powerpoint/2010/main" val="3414385156"/>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Maturity stage</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Obtain feedback on responsibilities</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List of initiatives</a:t>
                      </a:r>
                    </a:p>
                    <a:p>
                      <a:pPr marL="0" indent="0" defTabSz="914400">
                        <a:buSzPct val="100000"/>
                        <a:buFont typeface="Arial" pitchFamily="34"/>
                        <a:buNone/>
                        <a:defRPr sz="1800" b="0" i="0" u="none" strike="noStrike" kern="0" cap="none" spc="0" baseline="0">
                          <a:solidFill>
                            <a:srgbClr val="000000"/>
                          </a:solidFill>
                          <a:uFillTx/>
                        </a:defRPr>
                      </a:pPr>
                      <a:endPar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endParaRP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Whiteboard</a:t>
                      </a:r>
                    </a:p>
                    <a:p>
                      <a:pPr marL="173038" indent="-173038" rtl="0">
                        <a:lnSpc>
                          <a:spcPts val="1600"/>
                        </a:lnSpc>
                        <a:spcBef>
                          <a:spcPts val="800"/>
                        </a:spcBef>
                        <a:buSzPts val="1100"/>
                        <a:buFont typeface="Arial" panose="020B0604020202020204" pitchFamily="34" charset="0"/>
                        <a:buChar char="•"/>
                        <a:tabLst/>
                      </a:pPr>
                      <a:r>
                        <a:rPr lang="en-US" sz="1200" i="1" u="none" strike="noStrike" kern="1200" cap="none" spc="0" baseline="0" dirty="0" err="1">
                          <a:solidFill>
                            <a:srgbClr val="000000"/>
                          </a:solidFill>
                          <a:uFillTx/>
                          <a:latin typeface="Roboto Condensed Light" panose="02000000000000000000" pitchFamily="2" charset="0"/>
                          <a:ea typeface="Roboto Condensed Light" panose="02000000000000000000" pitchFamily="2" charset="0"/>
                        </a:rPr>
                        <a:t>iSSDLC</a:t>
                      </a:r>
                      <a:r>
                        <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 Capabilities Assessment Tool</a:t>
                      </a: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Others to be determined</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42" name="Rectangle 41">
            <a:extLst>
              <a:ext uri="{FF2B5EF4-FFF2-40B4-BE49-F238E27FC236}">
                <a16:creationId xmlns:a16="http://schemas.microsoft.com/office/drawing/2014/main" id="{3EFAB9E8-A055-D7E0-8943-1941C3D3358F}"/>
              </a:ext>
            </a:extLst>
          </p:cNvPr>
          <p:cNvSpPr/>
          <p:nvPr/>
        </p:nvSpPr>
        <p:spPr>
          <a:xfrm>
            <a:off x="1061495" y="5916953"/>
            <a:ext cx="3962037"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a:t>
            </a:r>
            <a:r>
              <a:rPr kumimoji="0" lang="en-US" sz="1200" b="0" i="1" u="none" strike="noStrike" kern="1200" cap="none" spc="0" normalizeH="0" baseline="0" noProof="0" dirty="0" err="1">
                <a:ln>
                  <a:noFill/>
                </a:ln>
                <a:solidFill>
                  <a:srgbClr val="FFFFFF"/>
                </a:solidFill>
                <a:effectLst/>
                <a:uLnTx/>
                <a:uFillTx/>
                <a:latin typeface="Exo" panose="02000503000000000000" pitchFamily="2" charset="77"/>
                <a:ea typeface="+mn-ea"/>
                <a:cs typeface="+mn-cs"/>
              </a:rPr>
              <a:t>iSSDLC</a:t>
            </a: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 </a:t>
            </a:r>
            <a:r>
              <a:rPr kumimoji="0" lang="en-US" sz="1200" b="0" i="1" u="none" strike="noStrike" kern="1200" cap="none" spc="0" normalizeH="0" baseline="0" noProof="0" dirty="0">
                <a:ln>
                  <a:noFill/>
                </a:ln>
                <a:solidFill>
                  <a:schemeClr val="bg1"/>
                </a:solidFill>
                <a:effectLst/>
                <a:uLnTx/>
                <a:uFillTx/>
                <a:latin typeface="Exo" panose="02000503000000000000" pitchFamily="2" charset="77"/>
                <a:ea typeface="+mn-ea"/>
                <a:cs typeface="+mn-cs"/>
                <a:hlinkClick r:id="rId3">
                  <a:extLst>
                    <a:ext uri="{A12FA001-AC4F-418D-AE19-62706E023703}">
                      <ahyp:hlinkClr xmlns:ahyp="http://schemas.microsoft.com/office/drawing/2018/hyperlinkcolor" val="tx"/>
                    </a:ext>
                  </a:extLst>
                </a:hlinkClick>
              </a:rPr>
              <a:t>Capabilities Assessment Tool</a:t>
            </a:r>
            <a:endParaRPr kumimoji="0" lang="en-US" sz="1200" b="0" i="0" u="none" strike="noStrike" kern="1200" cap="none" spc="0" normalizeH="0" baseline="0" noProof="0" dirty="0">
              <a:ln>
                <a:noFill/>
              </a:ln>
              <a:solidFill>
                <a:schemeClr val="bg1"/>
              </a:solidFill>
              <a:effectLst/>
              <a:uLnTx/>
              <a:uFillTx/>
              <a:latin typeface="Exo" panose="02000503000000000000" pitchFamily="2" charset="77"/>
              <a:ea typeface="+mn-ea"/>
              <a:cs typeface="+mn-cs"/>
            </a:endParaRPr>
          </a:p>
        </p:txBody>
      </p:sp>
      <p:sp>
        <p:nvSpPr>
          <p:cNvPr id="43" name="Rectangle 42">
            <a:extLst>
              <a:ext uri="{FF2B5EF4-FFF2-40B4-BE49-F238E27FC236}">
                <a16:creationId xmlns:a16="http://schemas.microsoft.com/office/drawing/2014/main" id="{83203E64-3CE1-C710-2AF6-05F1AABE298C}"/>
              </a:ext>
              <a:ext uri="{C183D7F6-B498-43B3-948B-1728B52AA6E4}">
                <adec:decorative xmlns:adec="http://schemas.microsoft.com/office/drawing/2017/decorative" val="1"/>
              </a:ext>
            </a:extLst>
          </p:cNvPr>
          <p:cNvSpPr>
            <a:spLocks noChangeAspect="1"/>
          </p:cNvSpPr>
          <p:nvPr/>
        </p:nvSpPr>
        <p:spPr>
          <a:xfrm>
            <a:off x="455259" y="5916955"/>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44" name="Picture 43">
            <a:extLst>
              <a:ext uri="{FF2B5EF4-FFF2-40B4-BE49-F238E27FC236}">
                <a16:creationId xmlns:a16="http://schemas.microsoft.com/office/drawing/2014/main" id="{338725A2-53B6-A2E4-F745-715C545FA89C}"/>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635466" y="5979052"/>
            <a:ext cx="260883" cy="338335"/>
          </a:xfrm>
          <a:prstGeom prst="rect">
            <a:avLst/>
          </a:prstGeom>
        </p:spPr>
      </p:pic>
      <p:sp>
        <p:nvSpPr>
          <p:cNvPr id="11" name="TextBox 10">
            <a:extLst>
              <a:ext uri="{FF2B5EF4-FFF2-40B4-BE49-F238E27FC236}">
                <a16:creationId xmlns:a16="http://schemas.microsoft.com/office/drawing/2014/main" id="{8D1A635D-4180-6D8B-297F-150CDF138CDF}"/>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54</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5" name="TextBox 4">
            <a:extLst>
              <a:ext uri="{FF2B5EF4-FFF2-40B4-BE49-F238E27FC236}">
                <a16:creationId xmlns:a16="http://schemas.microsoft.com/office/drawing/2014/main" id="{F47DEA03-C1FC-055A-B0AB-70106EE5469A}"/>
              </a:ext>
            </a:extLst>
          </p:cNvPr>
          <p:cNvSpPr txBox="1"/>
          <p:nvPr/>
        </p:nvSpPr>
        <p:spPr>
          <a:xfrm>
            <a:off x="455259" y="2501512"/>
            <a:ext cx="5725319" cy="2276960"/>
          </a:xfrm>
          <a:prstGeom prst="rect">
            <a:avLst/>
          </a:prstGeom>
        </p:spPr>
        <p:txBody>
          <a:bodyPr wrap="square" lIns="0" tIns="0" rIns="0" bIns="0" numCol="1" spcCol="360000" rtlCol="0">
            <a:noAutofit/>
          </a:bodyPr>
          <a:lstStyle/>
          <a:p>
            <a:pPr>
              <a:spcBef>
                <a:spcPts val="300"/>
              </a:spcBef>
              <a:spcAft>
                <a:spcPts val="1200"/>
              </a:spcAft>
              <a:defRPr sz="1800" b="0" i="0" u="none" strike="noStrike" kern="0" cap="none" spc="0" baseline="0">
                <a:solidFill>
                  <a:srgbClr val="000000"/>
                </a:solidFill>
                <a:uFillTx/>
              </a:defRPr>
            </a:pPr>
            <a:r>
              <a:rPr lang="en-CA" sz="1400" b="1" dirty="0">
                <a:latin typeface="Roboto Condensed Light" panose="02000000000000000000" pitchFamily="2" charset="0"/>
                <a:ea typeface="Roboto Condensed Light" panose="02000000000000000000" pitchFamily="2" charset="0"/>
              </a:rPr>
              <a:t>Gather the required participants and </a:t>
            </a:r>
            <a:r>
              <a:rPr lang="en-CA" sz="1400" b="1" kern="0" dirty="0">
                <a:latin typeface="Roboto Condensed Light" panose="02000000000000000000" pitchFamily="2" charset="0"/>
                <a:ea typeface="Roboto Condensed Light" panose="02000000000000000000" pitchFamily="2" charset="0"/>
              </a:rPr>
              <a:t>leverage the </a:t>
            </a:r>
            <a:r>
              <a:rPr lang="en-CA" sz="1400" b="1" i="1" kern="0" dirty="0" err="1">
                <a:latin typeface="Roboto Condensed Light" panose="02000000000000000000" pitchFamily="2" charset="0"/>
                <a:ea typeface="Roboto Condensed Light" panose="02000000000000000000" pitchFamily="2" charset="0"/>
              </a:rPr>
              <a:t>iSSDLC</a:t>
            </a:r>
            <a:r>
              <a:rPr lang="en-CA" sz="1400" b="1" kern="0" dirty="0">
                <a:latin typeface="Roboto Condensed Light" panose="02000000000000000000" pitchFamily="2" charset="0"/>
                <a:ea typeface="Roboto Condensed Light" panose="02000000000000000000" pitchFamily="2" charset="0"/>
              </a:rPr>
              <a:t> </a:t>
            </a:r>
            <a:r>
              <a:rPr lang="en-CA" sz="1400" b="1" i="1" kern="0" dirty="0">
                <a:latin typeface="Roboto Condensed Light" panose="02000000000000000000" pitchFamily="2" charset="0"/>
                <a:ea typeface="Roboto Condensed Light" panose="02000000000000000000" pitchFamily="2" charset="0"/>
              </a:rPr>
              <a:t>Capabilities Assessment Tool</a:t>
            </a:r>
            <a:r>
              <a:rPr lang="en-CA" sz="1400" b="1" kern="0" dirty="0">
                <a:latin typeface="Roboto Condensed Light" panose="02000000000000000000" pitchFamily="2" charset="0"/>
                <a:ea typeface="Roboto Condensed Light" panose="02000000000000000000" pitchFamily="2" charset="0"/>
              </a:rPr>
              <a:t> to develop and prioritize your initiatives.</a:t>
            </a:r>
            <a:endParaRPr lang="en-CA" sz="1400" b="1" dirty="0">
              <a:latin typeface="Roboto Condensed Light" panose="02000000000000000000" pitchFamily="2" charset="0"/>
              <a:ea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latin typeface="Roboto Condensed Light" panose="02000000000000000000" pitchFamily="2" charset="0"/>
                <a:ea typeface="Roboto Condensed Light" panose="02000000000000000000" pitchFamily="2" charset="0"/>
              </a:rPr>
              <a:t>Develop initiatives: </a:t>
            </a:r>
            <a:r>
              <a:rPr lang="en-US" sz="1400" kern="0" dirty="0">
                <a:latin typeface="Roboto Condensed Light" panose="02000000000000000000" pitchFamily="2" charset="0"/>
                <a:ea typeface="Roboto Condensed Light" panose="02000000000000000000" pitchFamily="2" charset="0"/>
              </a:rPr>
              <a:t>Develop gap closure initiatives.</a:t>
            </a:r>
          </a:p>
          <a:p>
            <a:pPr marL="342900" indent="-342900">
              <a:spcBef>
                <a:spcPts val="500"/>
              </a:spcBef>
              <a:buFont typeface="+mj-lt"/>
              <a:buAutoNum type="arabicPeriod"/>
              <a:defRPr sz="1800" b="0" i="0" u="none" strike="noStrike" kern="0" cap="none" spc="0" baseline="0">
                <a:solidFill>
                  <a:srgbClr val="000000"/>
                </a:solidFill>
                <a:uFillTx/>
              </a:defRPr>
            </a:pPr>
            <a:r>
              <a:rPr lang="en-US" sz="1400" kern="0" dirty="0">
                <a:latin typeface="Roboto Condensed Light" panose="02000000000000000000" pitchFamily="2" charset="0"/>
                <a:ea typeface="Roboto Condensed Light" panose="02000000000000000000" pitchFamily="2" charset="0"/>
              </a:rPr>
              <a:t>Prioritize initiatives: Prioritize your initiatives based on a cost-benefit analysis.</a:t>
            </a:r>
          </a:p>
          <a:p>
            <a:pPr>
              <a:spcBef>
                <a:spcPts val="1200"/>
              </a:spcBef>
              <a:defRPr sz="1800" b="0" i="0" u="none" strike="noStrike" kern="0" cap="none" spc="0" baseline="0">
                <a:solidFill>
                  <a:srgbClr val="000000"/>
                </a:solidFill>
                <a:uFillTx/>
              </a:defRPr>
            </a:pPr>
            <a:r>
              <a:rPr lang="en-CA" sz="1400" dirty="0">
                <a:latin typeface="Roboto Condensed Light" panose="02000000000000000000" pitchFamily="2" charset="0"/>
                <a:ea typeface="Roboto Condensed Light" panose="02000000000000000000" pitchFamily="2" charset="0"/>
              </a:rPr>
              <a:t>The following slides provide more information on this step.</a:t>
            </a:r>
            <a:endParaRPr lang="en-US" sz="1400" b="1" kern="0" dirty="0">
              <a:latin typeface="Roboto Condensed Light" panose="02000000000000000000" pitchFamily="2" charset="0"/>
              <a:ea typeface="Roboto Condensed Light" panose="02000000000000000000" pitchFamily="2" charset="0"/>
            </a:endParaRPr>
          </a:p>
          <a:p>
            <a:pPr>
              <a:spcBef>
                <a:spcPts val="1200"/>
              </a:spcBef>
              <a:defRPr sz="1800" b="0" i="0" u="none" strike="noStrike" kern="0" cap="none" spc="0" baseline="0">
                <a:solidFill>
                  <a:srgbClr val="000000"/>
                </a:solidFill>
                <a:uFillTx/>
              </a:defRPr>
            </a:pPr>
            <a:endParaRPr lang="en-US" sz="1400" b="1"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9050218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0FEF8-1506-912B-8DF4-F518EEB8E6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B944B4-6D5A-8280-E3E5-0F2BC667FA82}"/>
              </a:ext>
            </a:extLst>
          </p:cNvPr>
          <p:cNvSpPr>
            <a:spLocks noGrp="1"/>
          </p:cNvSpPr>
          <p:nvPr>
            <p:ph type="title"/>
          </p:nvPr>
        </p:nvSpPr>
        <p:spPr>
          <a:xfrm>
            <a:off x="364992" y="547738"/>
            <a:ext cx="11305392" cy="1028964"/>
          </a:xfrm>
        </p:spPr>
        <p:txBody>
          <a:bodyPr/>
          <a:lstStyle/>
          <a:p>
            <a:r>
              <a:rPr lang="en-US" dirty="0">
                <a:solidFill>
                  <a:srgbClr val="2576B7"/>
                </a:solidFill>
              </a:rPr>
              <a:t>3.1.1 </a:t>
            </a:r>
            <a:r>
              <a:rPr lang="en-CA" dirty="0"/>
              <a:t>Develop gap closure initiatives</a:t>
            </a:r>
            <a:endParaRPr lang="en-US" i="1" dirty="0">
              <a:solidFill>
                <a:schemeClr val="accent1"/>
              </a:solidFill>
            </a:endParaRPr>
          </a:p>
        </p:txBody>
      </p:sp>
      <p:pic>
        <p:nvPicPr>
          <p:cNvPr id="5" name="Picture 4">
            <a:extLst>
              <a:ext uri="{FF2B5EF4-FFF2-40B4-BE49-F238E27FC236}">
                <a16:creationId xmlns:a16="http://schemas.microsoft.com/office/drawing/2014/main" id="{6CA38C00-E7C1-AA34-E821-6FC1ABA9E3AB}"/>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5145011" y="1378002"/>
            <a:ext cx="4612868" cy="3241460"/>
          </a:xfrm>
          <a:prstGeom prst="rect">
            <a:avLst/>
          </a:prstGeom>
        </p:spPr>
      </p:pic>
      <p:sp>
        <p:nvSpPr>
          <p:cNvPr id="8" name="Rectangle 7">
            <a:extLst>
              <a:ext uri="{FF2B5EF4-FFF2-40B4-BE49-F238E27FC236}">
                <a16:creationId xmlns:a16="http://schemas.microsoft.com/office/drawing/2014/main" id="{ED9B88DD-AE5E-1CCA-96FC-16119751B333}"/>
              </a:ext>
            </a:extLst>
          </p:cNvPr>
          <p:cNvSpPr/>
          <p:nvPr/>
        </p:nvSpPr>
        <p:spPr>
          <a:xfrm>
            <a:off x="1120077" y="6076262"/>
            <a:ext cx="4227778"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iSSDLC </a:t>
            </a:r>
            <a:r>
              <a:rPr kumimoji="0" lang="en-US" sz="1200" b="0" i="1" u="none" strike="noStrike" kern="1200" cap="none" spc="0" normalizeH="0" baseline="0" noProof="0" dirty="0">
                <a:ln>
                  <a:noFill/>
                </a:ln>
                <a:solidFill>
                  <a:schemeClr val="bg1"/>
                </a:solidFill>
                <a:effectLst/>
                <a:uLnTx/>
                <a:uFillTx/>
                <a:latin typeface="Exo" panose="02000503000000000000" pitchFamily="2" charset="77"/>
                <a:ea typeface="+mn-ea"/>
                <a:cs typeface="+mn-cs"/>
                <a:hlinkClick r:id="rId4">
                  <a:extLst>
                    <a:ext uri="{A12FA001-AC4F-418D-AE19-62706E023703}">
                      <ahyp:hlinkClr xmlns:ahyp="http://schemas.microsoft.com/office/drawing/2018/hyperlinkcolor" val="tx"/>
                    </a:ext>
                  </a:extLst>
                </a:hlinkClick>
              </a:rPr>
              <a:t>Capabilities Assessment Tool</a:t>
            </a:r>
            <a:endParaRPr kumimoji="0" lang="en-US" sz="1200" b="0" i="1" u="none" strike="noStrike" kern="1200" cap="none" spc="0" normalizeH="0" baseline="0" noProof="0" dirty="0">
              <a:ln>
                <a:noFill/>
              </a:ln>
              <a:solidFill>
                <a:schemeClr val="bg1"/>
              </a:solidFill>
              <a:effectLst/>
              <a:uLnTx/>
              <a:uFillTx/>
              <a:latin typeface="Exo" panose="02000503000000000000" pitchFamily="2" charset="77"/>
              <a:ea typeface="+mn-ea"/>
              <a:cs typeface="+mn-cs"/>
            </a:endParaRPr>
          </a:p>
        </p:txBody>
      </p:sp>
      <p:sp>
        <p:nvSpPr>
          <p:cNvPr id="9" name="Rectangle 8">
            <a:extLst>
              <a:ext uri="{FF2B5EF4-FFF2-40B4-BE49-F238E27FC236}">
                <a16:creationId xmlns:a16="http://schemas.microsoft.com/office/drawing/2014/main" id="{DE85BF31-DDDA-9B2A-D650-2B33727302D5}"/>
              </a:ext>
              <a:ext uri="{C183D7F6-B498-43B3-948B-1728B52AA6E4}">
                <adec:decorative xmlns:adec="http://schemas.microsoft.com/office/drawing/2017/decorative" val="1"/>
              </a:ext>
            </a:extLst>
          </p:cNvPr>
          <p:cNvSpPr>
            <a:spLocks noChangeAspect="1"/>
          </p:cNvSpPr>
          <p:nvPr/>
        </p:nvSpPr>
        <p:spPr>
          <a:xfrm>
            <a:off x="513841" y="6076264"/>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10" name="Picture 9">
            <a:extLst>
              <a:ext uri="{FF2B5EF4-FFF2-40B4-BE49-F238E27FC236}">
                <a16:creationId xmlns:a16="http://schemas.microsoft.com/office/drawing/2014/main" id="{C3BF2C82-26FF-83C9-CC73-1E7F8D102605}"/>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5400000">
            <a:off x="694048" y="6138361"/>
            <a:ext cx="260883" cy="338335"/>
          </a:xfrm>
          <a:prstGeom prst="rect">
            <a:avLst/>
          </a:prstGeom>
        </p:spPr>
      </p:pic>
      <p:pic>
        <p:nvPicPr>
          <p:cNvPr id="14" name="Picture 13">
            <a:extLst>
              <a:ext uri="{FF2B5EF4-FFF2-40B4-BE49-F238E27FC236}">
                <a16:creationId xmlns:a16="http://schemas.microsoft.com/office/drawing/2014/main" id="{A6D0DE2A-F424-11B4-A2D5-D71F27DD3CAE}"/>
              </a:ext>
            </a:extLst>
          </p:cNvPr>
          <p:cNvPicPr>
            <a:picLocks noChangeAspect="1"/>
          </p:cNvPicPr>
          <p:nvPr/>
        </p:nvPicPr>
        <p:blipFill>
          <a:blip r:embed="rId6"/>
          <a:stretch>
            <a:fillRect/>
          </a:stretch>
        </p:blipFill>
        <p:spPr>
          <a:xfrm>
            <a:off x="6822241" y="2566298"/>
            <a:ext cx="4974563" cy="2795113"/>
          </a:xfrm>
          <a:prstGeom prst="rect">
            <a:avLst/>
          </a:prstGeom>
        </p:spPr>
      </p:pic>
      <p:sp>
        <p:nvSpPr>
          <p:cNvPr id="15" name="Right Arrow 18">
            <a:extLst>
              <a:ext uri="{FF2B5EF4-FFF2-40B4-BE49-F238E27FC236}">
                <a16:creationId xmlns:a16="http://schemas.microsoft.com/office/drawing/2014/main" id="{CD4196AC-24A7-7D40-7F41-C42C637367AF}"/>
              </a:ext>
              <a:ext uri="{C183D7F6-B498-43B3-948B-1728B52AA6E4}">
                <adec:decorative xmlns:adec="http://schemas.microsoft.com/office/drawing/2017/decorative" val="1"/>
              </a:ext>
            </a:extLst>
          </p:cNvPr>
          <p:cNvSpPr/>
          <p:nvPr/>
        </p:nvSpPr>
        <p:spPr>
          <a:xfrm rot="16200000">
            <a:off x="10692763" y="5614042"/>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4" name="TextBox 8">
            <a:extLst>
              <a:ext uri="{FF2B5EF4-FFF2-40B4-BE49-F238E27FC236}">
                <a16:creationId xmlns:a16="http://schemas.microsoft.com/office/drawing/2014/main" id="{6CEA3DB9-F076-99D4-329B-3244D538EDA2}"/>
              </a:ext>
            </a:extLst>
          </p:cNvPr>
          <p:cNvSpPr txBox="1"/>
          <p:nvPr/>
        </p:nvSpPr>
        <p:spPr>
          <a:xfrm>
            <a:off x="334014" y="1505396"/>
            <a:ext cx="4311887" cy="4708981"/>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a:solidFill>
                  <a:srgbClr val="000000"/>
                </a:solidFill>
                <a:latin typeface="Roboto Condensed Light" panose="02000000000000000000" pitchFamily="2" charset="0"/>
                <a:ea typeface="Roboto Condensed Light" panose="02000000000000000000" pitchFamily="2" charset="0"/>
              </a:rPr>
              <a:t>iSSDLC Capabilities Assessment Tool</a:t>
            </a:r>
            <a:r>
              <a:rPr lang="en-CA" sz="1400" dirty="0">
                <a:solidFill>
                  <a:srgbClr val="000000"/>
                </a:solidFill>
                <a:latin typeface="Roboto Condensed Light" panose="02000000000000000000" pitchFamily="2" charset="0"/>
                <a:ea typeface="Roboto Condensed Light" panose="02000000000000000000" pitchFamily="2" charset="0"/>
              </a:rPr>
              <a:t>, develop your initiatives in the Initiative List tab (Tab 5), which will be used to identify the initiative for each capability in the Capabilities Assessment tab (Tab 4).</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Develop your initiatives in cells C6:C45</a:t>
            </a:r>
            <a:r>
              <a:rPr lang="en-CA" sz="1400" b="1" dirty="0">
                <a:solidFill>
                  <a:srgbClr val="000000"/>
                </a:solidFill>
                <a:latin typeface="Roboto Condensed Light" panose="02000000000000000000" pitchFamily="2" charset="0"/>
                <a:ea typeface="Roboto Condensed Light" panose="02000000000000000000" pitchFamily="2" charset="0"/>
              </a:rPr>
              <a:t>.</a:t>
            </a:r>
            <a:r>
              <a:rPr lang="en-CA" sz="1400" dirty="0">
                <a:solidFill>
                  <a:srgbClr val="000000"/>
                </a:solidFill>
                <a:latin typeface="Roboto Condensed Light" panose="02000000000000000000" pitchFamily="2" charset="0"/>
                <a:ea typeface="Roboto Condensed Light" panose="02000000000000000000" pitchFamily="2" charset="0"/>
              </a:rPr>
              <a:t> Consider some of the following factors when developing your initiatives: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Ensure the initiatives are targeted, feasible, and outcome-driven.</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Prioritize initiatives that can support multiple capabilities.</a:t>
            </a:r>
          </a:p>
          <a:p>
            <a:pPr marL="562996" lvl="1" indent="-285750" defTabSz="914400">
              <a:spcBef>
                <a:spcPts val="300"/>
              </a:spcBef>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Ensure the initiatives can be measured and tracked with KPIs to assess progress and overall effectiveness.</a:t>
            </a:r>
          </a:p>
          <a:p>
            <a:pPr lvl="0" defTabSz="914400">
              <a:spcBef>
                <a:spcPts val="300"/>
              </a:spcBef>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cells N14:N43 of the Capabilities Assessment tab (Tab 4), select the appropriate initiative from the drop-down list of initiatives developed in Tab 5. </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
        <p:nvSpPr>
          <p:cNvPr id="6" name="Right Arrow 18">
            <a:extLst>
              <a:ext uri="{FF2B5EF4-FFF2-40B4-BE49-F238E27FC236}">
                <a16:creationId xmlns:a16="http://schemas.microsoft.com/office/drawing/2014/main" id="{B4418587-799F-C672-2618-ECA4C8A0AEA2}"/>
              </a:ext>
              <a:ext uri="{C183D7F6-B498-43B3-948B-1728B52AA6E4}">
                <adec:decorative xmlns:adec="http://schemas.microsoft.com/office/drawing/2017/decorative" val="1"/>
              </a:ext>
            </a:extLst>
          </p:cNvPr>
          <p:cNvSpPr/>
          <p:nvPr/>
        </p:nvSpPr>
        <p:spPr>
          <a:xfrm rot="16200000">
            <a:off x="5671638" y="4783778"/>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91736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5BF61-D00D-BB4D-B00F-D569C68A0E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58724E-E5C9-D217-A45F-FA9A485BD90B}"/>
              </a:ext>
            </a:extLst>
          </p:cNvPr>
          <p:cNvSpPr>
            <a:spLocks noGrp="1"/>
          </p:cNvSpPr>
          <p:nvPr>
            <p:ph type="title"/>
          </p:nvPr>
        </p:nvSpPr>
        <p:spPr>
          <a:xfrm>
            <a:off x="364992" y="547738"/>
            <a:ext cx="11305392" cy="671462"/>
          </a:xfrm>
        </p:spPr>
        <p:txBody>
          <a:bodyPr/>
          <a:lstStyle/>
          <a:p>
            <a:r>
              <a:rPr lang="en-US" dirty="0">
                <a:solidFill>
                  <a:srgbClr val="2576B7"/>
                </a:solidFill>
              </a:rPr>
              <a:t>3.1.2 </a:t>
            </a:r>
            <a:r>
              <a:rPr lang="en-CA" dirty="0"/>
              <a:t>Conduct cost-benefit analysis</a:t>
            </a:r>
            <a:endParaRPr lang="en-US" i="1" dirty="0">
              <a:solidFill>
                <a:schemeClr val="accent1"/>
              </a:solidFill>
            </a:endParaRPr>
          </a:p>
        </p:txBody>
      </p:sp>
      <p:pic>
        <p:nvPicPr>
          <p:cNvPr id="5" name="Picture 4">
            <a:extLst>
              <a:ext uri="{FF2B5EF4-FFF2-40B4-BE49-F238E27FC236}">
                <a16:creationId xmlns:a16="http://schemas.microsoft.com/office/drawing/2014/main" id="{D775776E-9907-F08B-BA16-EFDED57DA660}"/>
              </a:ext>
            </a:extLst>
          </p:cNvPr>
          <p:cNvPicPr>
            <a:picLocks noChangeAspect="1"/>
          </p:cNvPicPr>
          <p:nvPr/>
        </p:nvPicPr>
        <p:blipFill>
          <a:blip r:embed="rId3"/>
          <a:stretch>
            <a:fillRect/>
          </a:stretch>
        </p:blipFill>
        <p:spPr>
          <a:xfrm>
            <a:off x="5192467" y="1112318"/>
            <a:ext cx="6337329" cy="2621679"/>
          </a:xfrm>
          <a:prstGeom prst="rect">
            <a:avLst/>
          </a:prstGeom>
        </p:spPr>
      </p:pic>
      <p:pic>
        <p:nvPicPr>
          <p:cNvPr id="7" name="Picture 6">
            <a:extLst>
              <a:ext uri="{FF2B5EF4-FFF2-40B4-BE49-F238E27FC236}">
                <a16:creationId xmlns:a16="http://schemas.microsoft.com/office/drawing/2014/main" id="{2EE72658-DF0B-5DA3-FBB6-0E0911253974}"/>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5107272" y="3948403"/>
            <a:ext cx="2837400" cy="2448243"/>
          </a:xfrm>
          <a:prstGeom prst="rect">
            <a:avLst/>
          </a:prstGeom>
        </p:spPr>
      </p:pic>
      <p:sp>
        <p:nvSpPr>
          <p:cNvPr id="8" name="Right Arrow 18">
            <a:extLst>
              <a:ext uri="{FF2B5EF4-FFF2-40B4-BE49-F238E27FC236}">
                <a16:creationId xmlns:a16="http://schemas.microsoft.com/office/drawing/2014/main" id="{18C9DFAF-3DA0-CF55-554C-B15D5ECB37CA}"/>
              </a:ext>
              <a:ext uri="{C183D7F6-B498-43B3-948B-1728B52AA6E4}">
                <adec:decorative xmlns:adec="http://schemas.microsoft.com/office/drawing/2017/decorative" val="1"/>
              </a:ext>
            </a:extLst>
          </p:cNvPr>
          <p:cNvSpPr/>
          <p:nvPr/>
        </p:nvSpPr>
        <p:spPr>
          <a:xfrm rot="16200000">
            <a:off x="10276303" y="4102495"/>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9" name="Right Arrow 18">
            <a:extLst>
              <a:ext uri="{FF2B5EF4-FFF2-40B4-BE49-F238E27FC236}">
                <a16:creationId xmlns:a16="http://schemas.microsoft.com/office/drawing/2014/main" id="{21B1F4B5-458A-E66D-5A09-E10A3E06266D}"/>
              </a:ext>
              <a:ext uri="{C183D7F6-B498-43B3-948B-1728B52AA6E4}">
                <adec:decorative xmlns:adec="http://schemas.microsoft.com/office/drawing/2017/decorative" val="1"/>
              </a:ext>
            </a:extLst>
          </p:cNvPr>
          <p:cNvSpPr/>
          <p:nvPr/>
        </p:nvSpPr>
        <p:spPr>
          <a:xfrm rot="16200000">
            <a:off x="7818004" y="4084741"/>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0" name="Right Arrow 18">
            <a:extLst>
              <a:ext uri="{FF2B5EF4-FFF2-40B4-BE49-F238E27FC236}">
                <a16:creationId xmlns:a16="http://schemas.microsoft.com/office/drawing/2014/main" id="{3019A07D-8EB9-C29E-93C8-014916CA7C79}"/>
              </a:ext>
              <a:ext uri="{C183D7F6-B498-43B3-948B-1728B52AA6E4}">
                <adec:decorative xmlns:adec="http://schemas.microsoft.com/office/drawing/2017/decorative" val="1"/>
              </a:ext>
            </a:extLst>
          </p:cNvPr>
          <p:cNvSpPr/>
          <p:nvPr/>
        </p:nvSpPr>
        <p:spPr>
          <a:xfrm rot="16200000">
            <a:off x="8628573" y="4102495"/>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1" name="Right Arrow 18">
            <a:extLst>
              <a:ext uri="{FF2B5EF4-FFF2-40B4-BE49-F238E27FC236}">
                <a16:creationId xmlns:a16="http://schemas.microsoft.com/office/drawing/2014/main" id="{B4D5ACAC-5E6C-D19F-0A33-0400D82C95E9}"/>
              </a:ext>
              <a:ext uri="{C183D7F6-B498-43B3-948B-1728B52AA6E4}">
                <adec:decorative xmlns:adec="http://schemas.microsoft.com/office/drawing/2017/decorative" val="1"/>
              </a:ext>
            </a:extLst>
          </p:cNvPr>
          <p:cNvSpPr/>
          <p:nvPr/>
        </p:nvSpPr>
        <p:spPr>
          <a:xfrm rot="16200000">
            <a:off x="9439142" y="4102495"/>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2" name="Right Arrow 18">
            <a:extLst>
              <a:ext uri="{FF2B5EF4-FFF2-40B4-BE49-F238E27FC236}">
                <a16:creationId xmlns:a16="http://schemas.microsoft.com/office/drawing/2014/main" id="{3C62B3AE-4901-C7DE-AB86-600B3B471A46}"/>
              </a:ext>
              <a:ext uri="{C183D7F6-B498-43B3-948B-1728B52AA6E4}">
                <adec:decorative xmlns:adec="http://schemas.microsoft.com/office/drawing/2017/decorative" val="1"/>
              </a:ext>
            </a:extLst>
          </p:cNvPr>
          <p:cNvSpPr/>
          <p:nvPr/>
        </p:nvSpPr>
        <p:spPr>
          <a:xfrm>
            <a:off x="4150615" y="5597529"/>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14" name="TextBox 8">
            <a:extLst>
              <a:ext uri="{FF2B5EF4-FFF2-40B4-BE49-F238E27FC236}">
                <a16:creationId xmlns:a16="http://schemas.microsoft.com/office/drawing/2014/main" id="{B7171D7D-D028-7A8D-AEBF-73621AF12DEB}"/>
              </a:ext>
            </a:extLst>
          </p:cNvPr>
          <p:cNvSpPr txBox="1"/>
          <p:nvPr/>
        </p:nvSpPr>
        <p:spPr>
          <a:xfrm>
            <a:off x="334014" y="1505396"/>
            <a:ext cx="4311887" cy="4178067"/>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a:solidFill>
                  <a:srgbClr val="000000"/>
                </a:solidFill>
                <a:latin typeface="Roboto Condensed Light" panose="02000000000000000000" pitchFamily="2" charset="0"/>
                <a:ea typeface="Roboto Condensed Light" panose="02000000000000000000" pitchFamily="2" charset="0"/>
              </a:rPr>
              <a:t>iSSDLC Capabilities Assessment Tool</a:t>
            </a:r>
            <a:r>
              <a:rPr lang="en-CA" sz="1400" dirty="0">
                <a:solidFill>
                  <a:srgbClr val="000000"/>
                </a:solidFill>
                <a:latin typeface="Roboto Condensed Light" panose="02000000000000000000" pitchFamily="2" charset="0"/>
                <a:ea typeface="Roboto Condensed Light" panose="02000000000000000000" pitchFamily="2" charset="0"/>
              </a:rPr>
              <a:t>,</a:t>
            </a:r>
            <a:r>
              <a:rPr lang="en-CA" sz="1400" i="1" dirty="0">
                <a:solidFill>
                  <a:srgbClr val="000000"/>
                </a:solidFill>
                <a:latin typeface="Roboto Condensed Light" panose="02000000000000000000" pitchFamily="2" charset="0"/>
                <a:ea typeface="Roboto Condensed Light" panose="02000000000000000000" pitchFamily="2" charset="0"/>
              </a:rPr>
              <a:t> </a:t>
            </a:r>
            <a:r>
              <a:rPr lang="en-CA" sz="1400" dirty="0">
                <a:solidFill>
                  <a:srgbClr val="000000"/>
                </a:solidFill>
                <a:latin typeface="Roboto Condensed Light" panose="02000000000000000000" pitchFamily="2" charset="0"/>
                <a:ea typeface="Roboto Condensed Light" panose="02000000000000000000" pitchFamily="2" charset="0"/>
              </a:rPr>
              <a:t>conduct your cost-benefit analysis prioritization (Tab 6). </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columns D</a:t>
            </a:r>
            <a:r>
              <a:rPr lang="en-CA" sz="1400" b="1" dirty="0">
                <a:solidFill>
                  <a:srgbClr val="000000"/>
                </a:solidFill>
                <a:latin typeface="Roboto Condensed Light" panose="02000000000000000000" pitchFamily="2" charset="0"/>
                <a:ea typeface="Roboto Condensed Light" panose="02000000000000000000" pitchFamily="2" charset="0"/>
              </a:rPr>
              <a:t> </a:t>
            </a:r>
            <a:r>
              <a:rPr lang="en-CA" sz="1400" dirty="0">
                <a:solidFill>
                  <a:srgbClr val="000000"/>
                </a:solidFill>
                <a:latin typeface="Roboto Condensed Light" panose="02000000000000000000" pitchFamily="2" charset="0"/>
                <a:ea typeface="Roboto Condensed Light" panose="02000000000000000000" pitchFamily="2" charset="0"/>
              </a:rPr>
              <a:t>and E, estimate your initial and ongoing cost for each initiative. </a:t>
            </a:r>
          </a:p>
          <a:p>
            <a:pPr lvl="0" defTabSz="914400">
              <a:spcBef>
                <a:spcPts val="300"/>
              </a:spcBef>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columns F and G, estimate the initial and ongoing staffing hours and FTE.</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A cost/effort rating would be depicted in column H.</a:t>
            </a:r>
          </a:p>
          <a:p>
            <a:pPr lvl="0" defTabSz="914400">
              <a:spcBef>
                <a:spcPts val="300"/>
              </a:spcBef>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columns I</a:t>
            </a:r>
            <a:r>
              <a:rPr lang="en-CA" sz="1400" b="1" dirty="0">
                <a:solidFill>
                  <a:srgbClr val="000000"/>
                </a:solidFill>
                <a:latin typeface="Roboto Condensed Light" panose="02000000000000000000" pitchFamily="2" charset="0"/>
                <a:ea typeface="Roboto Condensed Light" panose="02000000000000000000" pitchFamily="2" charset="0"/>
              </a:rPr>
              <a:t> </a:t>
            </a:r>
            <a:r>
              <a:rPr lang="en-CA" sz="1400" dirty="0">
                <a:solidFill>
                  <a:srgbClr val="000000"/>
                </a:solidFill>
                <a:latin typeface="Roboto Condensed Light" panose="02000000000000000000" pitchFamily="2" charset="0"/>
                <a:ea typeface="Roboto Condensed Light" panose="02000000000000000000" pitchFamily="2" charset="0"/>
              </a:rPr>
              <a:t>and J, estimate the benefits in terms of whether the initiative will support multiple business opportunities and mitigate multiple security threats.</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A benefit rating would be depicted in column K.</a:t>
            </a: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
        <p:nvSpPr>
          <p:cNvPr id="15" name="Right Arrow 18">
            <a:extLst>
              <a:ext uri="{FF2B5EF4-FFF2-40B4-BE49-F238E27FC236}">
                <a16:creationId xmlns:a16="http://schemas.microsoft.com/office/drawing/2014/main" id="{808EEB92-6383-11E5-2BAD-9C2C6CC63BE6}"/>
              </a:ext>
              <a:ext uri="{C183D7F6-B498-43B3-948B-1728B52AA6E4}">
                <adec:decorative xmlns:adec="http://schemas.microsoft.com/office/drawing/2017/decorative" val="1"/>
              </a:ext>
            </a:extLst>
          </p:cNvPr>
          <p:cNvSpPr/>
          <p:nvPr/>
        </p:nvSpPr>
        <p:spPr>
          <a:xfrm rot="10800000">
            <a:off x="8089068" y="5326465"/>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6375057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1B74A-37D7-6CBF-A157-2E1C760649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0969177-878B-FB79-C29D-7192115704E3}"/>
              </a:ext>
            </a:extLst>
          </p:cNvPr>
          <p:cNvSpPr>
            <a:spLocks noGrp="1"/>
          </p:cNvSpPr>
          <p:nvPr>
            <p:ph type="title"/>
          </p:nvPr>
        </p:nvSpPr>
        <p:spPr>
          <a:xfrm>
            <a:off x="364992" y="547738"/>
            <a:ext cx="11305392" cy="671462"/>
          </a:xfrm>
        </p:spPr>
        <p:txBody>
          <a:bodyPr/>
          <a:lstStyle/>
          <a:p>
            <a:r>
              <a:rPr lang="en-US" dirty="0">
                <a:solidFill>
                  <a:srgbClr val="2576B7"/>
                </a:solidFill>
              </a:rPr>
              <a:t>3.1.3 </a:t>
            </a:r>
            <a:r>
              <a:rPr lang="en-CA" dirty="0"/>
              <a:t>Prioritize initiatives</a:t>
            </a:r>
            <a:endParaRPr lang="en-US" i="1" dirty="0">
              <a:solidFill>
                <a:schemeClr val="accent1"/>
              </a:solidFill>
            </a:endParaRPr>
          </a:p>
        </p:txBody>
      </p:sp>
      <p:sp>
        <p:nvSpPr>
          <p:cNvPr id="6" name="TextBox 8">
            <a:extLst>
              <a:ext uri="{FF2B5EF4-FFF2-40B4-BE49-F238E27FC236}">
                <a16:creationId xmlns:a16="http://schemas.microsoft.com/office/drawing/2014/main" id="{1B7C3D48-FEE4-FFF7-C696-E269B663DBDE}"/>
              </a:ext>
            </a:extLst>
          </p:cNvPr>
          <p:cNvSpPr txBox="1"/>
          <p:nvPr/>
        </p:nvSpPr>
        <p:spPr>
          <a:xfrm>
            <a:off x="364992" y="1591286"/>
            <a:ext cx="5742334" cy="4231928"/>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a:solidFill>
                  <a:srgbClr val="000000"/>
                </a:solidFill>
                <a:latin typeface="Roboto Condensed Light" panose="02000000000000000000" pitchFamily="2" charset="0"/>
                <a:ea typeface="Roboto Condensed Light" panose="02000000000000000000" pitchFamily="2" charset="0"/>
              </a:rPr>
              <a:t>iSSDLC Capabilities Assessment Tool</a:t>
            </a:r>
            <a:r>
              <a:rPr lang="en-CA" sz="1400" dirty="0">
                <a:solidFill>
                  <a:srgbClr val="000000"/>
                </a:solidFill>
                <a:latin typeface="Roboto Condensed Light" panose="02000000000000000000" pitchFamily="2" charset="0"/>
                <a:ea typeface="Roboto Condensed Light" panose="02000000000000000000" pitchFamily="2" charset="0"/>
              </a:rPr>
              <a:t>,</a:t>
            </a:r>
            <a:r>
              <a:rPr lang="en-CA" sz="1400" i="1" dirty="0">
                <a:solidFill>
                  <a:srgbClr val="000000"/>
                </a:solidFill>
                <a:latin typeface="Roboto Condensed Light" panose="02000000000000000000" pitchFamily="2" charset="0"/>
                <a:ea typeface="Roboto Condensed Light" panose="02000000000000000000" pitchFamily="2" charset="0"/>
              </a:rPr>
              <a:t> </a:t>
            </a:r>
            <a:r>
              <a:rPr lang="en-CA" sz="1400" dirty="0">
                <a:solidFill>
                  <a:srgbClr val="000000"/>
                </a:solidFill>
                <a:latin typeface="Roboto Condensed Light" panose="02000000000000000000" pitchFamily="2" charset="0"/>
                <a:ea typeface="Roboto Condensed Light" panose="02000000000000000000" pitchFamily="2" charset="0"/>
              </a:rPr>
              <a:t>prioritize your initiatives in the Prioritization tab (Tab 6). </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column N, determine the roadmap wave in which the initiatives should be implemented. Label the initiatives based on the following list of execution waves:</a:t>
            </a:r>
          </a:p>
          <a:p>
            <a:pPr marL="562996" lvl="1" indent="-285750" defTabSz="914400">
              <a:spcBef>
                <a:spcPts val="300"/>
              </a:spcBef>
              <a:spcAft>
                <a:spcPts val="600"/>
              </a:spcAft>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Wave 0 (In flight): Initiative currently implemented/being implemented.</a:t>
            </a:r>
          </a:p>
          <a:p>
            <a:pPr marL="562610" lvl="1" indent="-285750" defTabSz="914400">
              <a:spcBef>
                <a:spcPts val="300"/>
              </a:spcBef>
              <a:spcAft>
                <a:spcPts val="600"/>
              </a:spcAft>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Wave 1 (Must do): </a:t>
            </a:r>
            <a:r>
              <a:rPr lang="en-US" sz="1400" dirty="0">
                <a:solidFill>
                  <a:srgbClr val="000000"/>
                </a:solidFill>
                <a:latin typeface="Roboto Condensed Light" panose="02000000000000000000" pitchFamily="2" charset="0"/>
                <a:ea typeface="Roboto Condensed Light" panose="02000000000000000000" pitchFamily="2" charset="0"/>
              </a:rPr>
              <a:t>Initiatives that need to get moving right away. They may be quick wins, items with critical importance, or foundational projects upon which many other initiatives depend.</a:t>
            </a:r>
            <a:endPar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562610" lvl="1" indent="-285750" defTabSz="914400">
              <a:spcBef>
                <a:spcPts val="300"/>
              </a:spcBef>
              <a:spcAft>
                <a:spcPts val="600"/>
              </a:spcAft>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Wave 2 (Should do): </a:t>
            </a:r>
            <a:r>
              <a:rPr lang="en-US" sz="1400" dirty="0">
                <a:solidFill>
                  <a:srgbClr val="000000"/>
                </a:solidFill>
                <a:latin typeface="Roboto Condensed Light" panose="02000000000000000000" pitchFamily="2" charset="0"/>
                <a:ea typeface="Roboto Condensed Light" panose="02000000000000000000" pitchFamily="2" charset="0"/>
              </a:rPr>
              <a:t>Important initiatives that need to get done but cannot launch immediately due to budget constraints, dependencies, or business impacts that require preparation.</a:t>
            </a:r>
            <a:endParaRPr lang="en-CA" sz="1400" dirty="0">
              <a:solidFill>
                <a:srgbClr val="000000"/>
              </a:solidFill>
              <a:latin typeface="Roboto Condensed Light" panose="02000000000000000000" pitchFamily="2" charset="0"/>
              <a:ea typeface="Roboto Condensed Light" panose="02000000000000000000" pitchFamily="2" charset="0"/>
              <a:cs typeface="Roboto Condensed Light" panose="02000000000000000000" pitchFamily="2" charset="0"/>
            </a:endParaRPr>
          </a:p>
          <a:p>
            <a:pPr marL="562996" lvl="1" indent="-285750" defTabSz="914400">
              <a:spcBef>
                <a:spcPts val="300"/>
              </a:spcBef>
              <a:spcAft>
                <a:spcPts val="600"/>
              </a:spcAft>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Wave 3 (Could do): </a:t>
            </a:r>
            <a:r>
              <a:rPr lang="en-US" sz="1400" dirty="0">
                <a:solidFill>
                  <a:srgbClr val="000000"/>
                </a:solidFill>
                <a:latin typeface="Roboto Condensed Light" panose="02000000000000000000" pitchFamily="2" charset="0"/>
                <a:ea typeface="Roboto Condensed Light" panose="02000000000000000000" pitchFamily="2" charset="0"/>
              </a:rPr>
              <a:t>Initiatives that have merit but are not a priority.</a:t>
            </a:r>
            <a:endParaRPr lang="en-CA" sz="1400" dirty="0">
              <a:solidFill>
                <a:srgbClr val="000000"/>
              </a:solidFill>
              <a:latin typeface="Roboto Condensed Light" panose="02000000000000000000" pitchFamily="2" charset="0"/>
              <a:ea typeface="Roboto Condensed Light" panose="02000000000000000000" pitchFamily="2" charset="0"/>
            </a:endParaRPr>
          </a:p>
          <a:p>
            <a:pPr marL="562996" lvl="1" indent="-285750" defTabSz="914400">
              <a:spcBef>
                <a:spcPts val="300"/>
              </a:spcBef>
              <a:spcAft>
                <a:spcPts val="600"/>
              </a:spcAft>
              <a:buFont typeface="Courier New" panose="02070309020205020404" pitchFamily="49" charset="0"/>
              <a:buChar char="o"/>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Wave 4 (Won’t do): </a:t>
            </a:r>
            <a:r>
              <a:rPr lang="en-US" sz="1400" dirty="0">
                <a:solidFill>
                  <a:srgbClr val="000000"/>
                </a:solidFill>
                <a:latin typeface="Roboto Condensed Light" panose="02000000000000000000" pitchFamily="2" charset="0"/>
                <a:ea typeface="Roboto Condensed Light" panose="02000000000000000000" pitchFamily="2" charset="0"/>
              </a:rPr>
              <a:t>Initiatives where the costs outweigh the benefits.</a:t>
            </a:r>
            <a:endParaRPr lang="en-CA" sz="1400" b="1" dirty="0">
              <a:solidFill>
                <a:srgbClr val="000000"/>
              </a:solidFill>
              <a:latin typeface="Roboto Condensed Light" panose="02000000000000000000" pitchFamily="2" charset="0"/>
              <a:ea typeface="Roboto Condensed Light" panose="02000000000000000000" pitchFamily="2" charset="0"/>
            </a:endParaRPr>
          </a:p>
          <a:p>
            <a:pPr lvl="0" defTabSz="914400">
              <a:spcBef>
                <a:spcPts val="300"/>
              </a:spcBef>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pic>
        <p:nvPicPr>
          <p:cNvPr id="8" name="Picture 7">
            <a:extLst>
              <a:ext uri="{FF2B5EF4-FFF2-40B4-BE49-F238E27FC236}">
                <a16:creationId xmlns:a16="http://schemas.microsoft.com/office/drawing/2014/main" id="{77892202-4DED-9B17-286C-8B975D9C5423}"/>
              </a:ext>
            </a:extLst>
          </p:cNvPr>
          <p:cNvPicPr>
            <a:picLocks noChangeAspect="1"/>
          </p:cNvPicPr>
          <p:nvPr/>
        </p:nvPicPr>
        <p:blipFill>
          <a:blip r:embed="rId3"/>
          <a:stretch>
            <a:fillRect/>
          </a:stretch>
        </p:blipFill>
        <p:spPr>
          <a:xfrm>
            <a:off x="6642377" y="1219200"/>
            <a:ext cx="5114322" cy="3542923"/>
          </a:xfrm>
          <a:prstGeom prst="rect">
            <a:avLst/>
          </a:prstGeom>
        </p:spPr>
      </p:pic>
      <p:sp>
        <p:nvSpPr>
          <p:cNvPr id="2" name="Right Arrow 18">
            <a:extLst>
              <a:ext uri="{FF2B5EF4-FFF2-40B4-BE49-F238E27FC236}">
                <a16:creationId xmlns:a16="http://schemas.microsoft.com/office/drawing/2014/main" id="{51CD4A01-A556-4F2B-27ED-B94F1AFAFB90}"/>
              </a:ext>
              <a:ext uri="{C183D7F6-B498-43B3-948B-1728B52AA6E4}">
                <adec:decorative xmlns:adec="http://schemas.microsoft.com/office/drawing/2017/decorative" val="1"/>
              </a:ext>
            </a:extLst>
          </p:cNvPr>
          <p:cNvSpPr/>
          <p:nvPr/>
        </p:nvSpPr>
        <p:spPr>
          <a:xfrm rot="16200000">
            <a:off x="9413321" y="5162521"/>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543611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75BB4F-3BD6-3E47-844A-0D1C1B77ED32}"/>
              </a:ext>
            </a:extLst>
          </p:cNvPr>
          <p:cNvSpPr>
            <a:spLocks noGrp="1"/>
          </p:cNvSpPr>
          <p:nvPr>
            <p:ph type="title"/>
          </p:nvPr>
        </p:nvSpPr>
        <p:spPr>
          <a:xfrm>
            <a:off x="354106" y="544769"/>
            <a:ext cx="7801200" cy="1130188"/>
          </a:xfrm>
        </p:spPr>
        <p:txBody>
          <a:bodyPr/>
          <a:lstStyle/>
          <a:p>
            <a:r>
              <a:rPr lang="en-US" dirty="0">
                <a:solidFill>
                  <a:srgbClr val="2576B7"/>
                </a:solidFill>
              </a:rPr>
              <a:t>3.1.4 </a:t>
            </a:r>
            <a:r>
              <a:rPr lang="en-US" dirty="0"/>
              <a:t>Create an effort map</a:t>
            </a:r>
          </a:p>
        </p:txBody>
      </p:sp>
      <p:sp>
        <p:nvSpPr>
          <p:cNvPr id="5" name="Text Placeholder 4">
            <a:extLst>
              <a:ext uri="{FF2B5EF4-FFF2-40B4-BE49-F238E27FC236}">
                <a16:creationId xmlns:a16="http://schemas.microsoft.com/office/drawing/2014/main" id="{EF339750-B68F-5E41-8400-5569775AF401}"/>
              </a:ext>
            </a:extLst>
          </p:cNvPr>
          <p:cNvSpPr>
            <a:spLocks noGrp="1"/>
          </p:cNvSpPr>
          <p:nvPr>
            <p:ph type="body" sz="quarter" idx="33"/>
          </p:nvPr>
        </p:nvSpPr>
        <p:spPr>
          <a:xfrm>
            <a:off x="419865" y="2035470"/>
            <a:ext cx="5345920" cy="3220622"/>
          </a:xfrm>
          <a:prstGeom prst="rect">
            <a:avLst/>
          </a:prstGeom>
        </p:spPr>
        <p:txBody>
          <a:bodyPr numCol="1" spcCol="360000" anchor="ctr"/>
          <a:lstStyle/>
          <a:p>
            <a:pPr>
              <a:spcBef>
                <a:spcPts val="600"/>
              </a:spcBef>
              <a:spcAft>
                <a:spcPts val="600"/>
              </a:spcAft>
            </a:pPr>
            <a:r>
              <a:rPr lang="en-US" dirty="0"/>
              <a:t>The cost/effort and benefit ratings in columns H</a:t>
            </a:r>
            <a:r>
              <a:rPr lang="en-US" b="1" dirty="0"/>
              <a:t> </a:t>
            </a:r>
            <a:r>
              <a:rPr lang="en-US" dirty="0"/>
              <a:t>and K</a:t>
            </a:r>
            <a:r>
              <a:rPr lang="en-US" b="1" dirty="0"/>
              <a:t> </a:t>
            </a:r>
            <a:r>
              <a:rPr lang="en-US" dirty="0"/>
              <a:t>respectively can be assessed to determine the execution waves.</a:t>
            </a:r>
            <a:endParaRPr lang="en-US" kern="0" dirty="0"/>
          </a:p>
          <a:p>
            <a:pPr>
              <a:spcBef>
                <a:spcPts val="600"/>
              </a:spcBef>
              <a:spcAft>
                <a:spcPts val="600"/>
              </a:spcAft>
            </a:pPr>
            <a:r>
              <a:rPr lang="en-US" kern="0" dirty="0"/>
              <a:t>An effort map is a visual representation of a cost-benefit analysis you can use to illustrate the prioritization of your initiatives.</a:t>
            </a:r>
          </a:p>
          <a:p>
            <a:pPr>
              <a:spcBef>
                <a:spcPts val="600"/>
              </a:spcBef>
              <a:spcAft>
                <a:spcPts val="600"/>
              </a:spcAft>
            </a:pPr>
            <a:r>
              <a:rPr lang="en-US" kern="0" dirty="0"/>
              <a:t>In this example, the initiative “Integrate SAST tools in CI pipeline” is shown as a medium cost/effort (5) and medium benefit (6).</a:t>
            </a:r>
          </a:p>
          <a:p>
            <a:pPr marL="534988" indent="-174625">
              <a:spcBef>
                <a:spcPts val="600"/>
              </a:spcBef>
              <a:spcAft>
                <a:spcPts val="600"/>
              </a:spcAft>
              <a:buFont typeface="+mj-lt"/>
              <a:buAutoNum type="arabicPeriod"/>
            </a:pPr>
            <a:r>
              <a:rPr lang="en-US" kern="0" dirty="0"/>
              <a:t>On a whiteboard, draw the quadrant diagram shown.</a:t>
            </a:r>
          </a:p>
          <a:p>
            <a:pPr marL="534988" indent="-174625">
              <a:spcBef>
                <a:spcPts val="600"/>
              </a:spcBef>
              <a:spcAft>
                <a:spcPts val="600"/>
              </a:spcAft>
              <a:buFont typeface="+mj-lt"/>
              <a:buAutoNum type="arabicPeriod"/>
            </a:pPr>
            <a:r>
              <a:rPr lang="en-US" kern="0" dirty="0"/>
              <a:t>Create sticky notes for each initiative on your initiative list.</a:t>
            </a:r>
          </a:p>
          <a:p>
            <a:pPr marL="534988" indent="-174625">
              <a:spcBef>
                <a:spcPts val="600"/>
              </a:spcBef>
              <a:spcAft>
                <a:spcPts val="600"/>
              </a:spcAft>
              <a:buFont typeface="+mj-lt"/>
              <a:buAutoNum type="arabicPeriod"/>
            </a:pPr>
            <a:r>
              <a:rPr lang="en-US" kern="0" dirty="0"/>
              <a:t>For each initiative, use the cost/effort rating and the benefit rating calculated on the Prioritization tab to place the corresponding sticky note onto the diagram.</a:t>
            </a:r>
          </a:p>
        </p:txBody>
      </p:sp>
      <p:grpSp>
        <p:nvGrpSpPr>
          <p:cNvPr id="9" name="Group 70">
            <a:extLst>
              <a:ext uri="{FF2B5EF4-FFF2-40B4-BE49-F238E27FC236}">
                <a16:creationId xmlns:a16="http://schemas.microsoft.com/office/drawing/2014/main" id="{D088F2B3-CC72-46B3-B944-2D2E74A3F0FA}"/>
              </a:ext>
            </a:extLst>
          </p:cNvPr>
          <p:cNvGrpSpPr/>
          <p:nvPr/>
        </p:nvGrpSpPr>
        <p:grpSpPr>
          <a:xfrm>
            <a:off x="6468483" y="1747453"/>
            <a:ext cx="5521033" cy="4405752"/>
            <a:chOff x="1945566" y="2025040"/>
            <a:chExt cx="5074710" cy="3597972"/>
          </a:xfrm>
        </p:grpSpPr>
        <p:cxnSp>
          <p:nvCxnSpPr>
            <p:cNvPr id="12" name="Straight Arrow Connector 77">
              <a:extLst>
                <a:ext uri="{FF2B5EF4-FFF2-40B4-BE49-F238E27FC236}">
                  <a16:creationId xmlns:a16="http://schemas.microsoft.com/office/drawing/2014/main" id="{27DE02F0-E1DF-4737-97A4-B49D016FB88A}"/>
                </a:ext>
              </a:extLst>
            </p:cNvPr>
            <p:cNvCxnSpPr/>
            <p:nvPr/>
          </p:nvCxnSpPr>
          <p:spPr>
            <a:xfrm>
              <a:off x="4491308" y="2260250"/>
              <a:ext cx="2966" cy="31733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78">
              <a:extLst>
                <a:ext uri="{FF2B5EF4-FFF2-40B4-BE49-F238E27FC236}">
                  <a16:creationId xmlns:a16="http://schemas.microsoft.com/office/drawing/2014/main" id="{667CFC20-8898-4E97-9B33-D8F7ADB09934}"/>
                </a:ext>
              </a:extLst>
            </p:cNvPr>
            <p:cNvCxnSpPr/>
            <p:nvPr/>
          </p:nvCxnSpPr>
          <p:spPr>
            <a:xfrm>
              <a:off x="2795934" y="3855507"/>
              <a:ext cx="340822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79">
              <a:extLst>
                <a:ext uri="{FF2B5EF4-FFF2-40B4-BE49-F238E27FC236}">
                  <a16:creationId xmlns:a16="http://schemas.microsoft.com/office/drawing/2014/main" id="{4C787B18-26E3-49E2-AB96-766310670B5E}"/>
                </a:ext>
              </a:extLst>
            </p:cNvPr>
            <p:cNvSpPr txBox="1"/>
            <p:nvPr/>
          </p:nvSpPr>
          <p:spPr>
            <a:xfrm>
              <a:off x="4222160" y="2025040"/>
              <a:ext cx="555773" cy="175943"/>
            </a:xfrm>
            <a:prstGeom prst="rect">
              <a:avLst/>
            </a:prstGeom>
          </p:spPr>
          <p:txBody>
            <a:bodyPr wrap="none" rtlCol="0">
              <a:spAutoFit/>
            </a:bodyPr>
            <a:lstStyle/>
            <a:p>
              <a:pPr algn="ctr"/>
              <a:r>
                <a:rPr lang="en-CA" sz="800" dirty="0">
                  <a:latin typeface="Exo Light" panose="02000303000000000000" pitchFamily="2" charset="0"/>
                </a:rPr>
                <a:t>Low cost</a:t>
              </a:r>
            </a:p>
          </p:txBody>
        </p:sp>
        <p:sp>
          <p:nvSpPr>
            <p:cNvPr id="15" name="TextBox 81">
              <a:extLst>
                <a:ext uri="{FF2B5EF4-FFF2-40B4-BE49-F238E27FC236}">
                  <a16:creationId xmlns:a16="http://schemas.microsoft.com/office/drawing/2014/main" id="{B6CC3F80-8C53-43EB-8DC2-0F88DDB90F7A}"/>
                </a:ext>
              </a:extLst>
            </p:cNvPr>
            <p:cNvSpPr txBox="1"/>
            <p:nvPr/>
          </p:nvSpPr>
          <p:spPr>
            <a:xfrm>
              <a:off x="6248875" y="3767536"/>
              <a:ext cx="771401" cy="175943"/>
            </a:xfrm>
            <a:prstGeom prst="rect">
              <a:avLst/>
            </a:prstGeom>
          </p:spPr>
          <p:txBody>
            <a:bodyPr wrap="square" rtlCol="0">
              <a:spAutoFit/>
            </a:bodyPr>
            <a:lstStyle/>
            <a:p>
              <a:pPr algn="ctr"/>
              <a:r>
                <a:rPr lang="en-CA" sz="800" dirty="0">
                  <a:latin typeface="Exo Light" panose="02000303000000000000" pitchFamily="2" charset="0"/>
                </a:rPr>
                <a:t>High benefit</a:t>
              </a:r>
            </a:p>
          </p:txBody>
        </p:sp>
        <p:sp>
          <p:nvSpPr>
            <p:cNvPr id="16" name="TextBox 82">
              <a:extLst>
                <a:ext uri="{FF2B5EF4-FFF2-40B4-BE49-F238E27FC236}">
                  <a16:creationId xmlns:a16="http://schemas.microsoft.com/office/drawing/2014/main" id="{BD3F1EF7-D953-4F69-AB9B-5F3556181A5E}"/>
                </a:ext>
              </a:extLst>
            </p:cNvPr>
            <p:cNvSpPr txBox="1"/>
            <p:nvPr/>
          </p:nvSpPr>
          <p:spPr>
            <a:xfrm>
              <a:off x="1945566" y="3767536"/>
              <a:ext cx="747432" cy="175943"/>
            </a:xfrm>
            <a:prstGeom prst="rect">
              <a:avLst/>
            </a:prstGeom>
          </p:spPr>
          <p:txBody>
            <a:bodyPr wrap="square" rtlCol="0">
              <a:spAutoFit/>
            </a:bodyPr>
            <a:lstStyle/>
            <a:p>
              <a:pPr algn="ctr"/>
              <a:r>
                <a:rPr lang="en-CA" sz="800" dirty="0">
                  <a:latin typeface="Exo Light" panose="02000303000000000000" pitchFamily="2" charset="0"/>
                </a:rPr>
                <a:t>Low benefit</a:t>
              </a:r>
            </a:p>
          </p:txBody>
        </p:sp>
        <p:sp>
          <p:nvSpPr>
            <p:cNvPr id="17" name="TextBox 80">
              <a:extLst>
                <a:ext uri="{FF2B5EF4-FFF2-40B4-BE49-F238E27FC236}">
                  <a16:creationId xmlns:a16="http://schemas.microsoft.com/office/drawing/2014/main" id="{C64F0FD9-C52E-4BF2-B09C-636CA32392FC}"/>
                </a:ext>
              </a:extLst>
            </p:cNvPr>
            <p:cNvSpPr txBox="1"/>
            <p:nvPr/>
          </p:nvSpPr>
          <p:spPr>
            <a:xfrm>
              <a:off x="4208284" y="5447069"/>
              <a:ext cx="571980" cy="175943"/>
            </a:xfrm>
            <a:prstGeom prst="rect">
              <a:avLst/>
            </a:prstGeom>
          </p:spPr>
          <p:txBody>
            <a:bodyPr wrap="none" rtlCol="0">
              <a:spAutoFit/>
            </a:bodyPr>
            <a:lstStyle/>
            <a:p>
              <a:pPr algn="ctr"/>
              <a:r>
                <a:rPr lang="en-CA" sz="800" dirty="0">
                  <a:latin typeface="Exo Light" panose="02000303000000000000" pitchFamily="2" charset="0"/>
                </a:rPr>
                <a:t>High cost</a:t>
              </a:r>
            </a:p>
          </p:txBody>
        </p:sp>
      </p:grpSp>
      <p:cxnSp>
        <p:nvCxnSpPr>
          <p:cNvPr id="36" name="Straight Connector 35">
            <a:extLst>
              <a:ext uri="{FF2B5EF4-FFF2-40B4-BE49-F238E27FC236}">
                <a16:creationId xmlns:a16="http://schemas.microsoft.com/office/drawing/2014/main" id="{80F235A1-2D5E-4928-B8C4-8D8BBAEB52F5}"/>
              </a:ext>
            </a:extLst>
          </p:cNvPr>
          <p:cNvCxnSpPr>
            <a:cxnSpLocks/>
          </p:cNvCxnSpPr>
          <p:nvPr/>
        </p:nvCxnSpPr>
        <p:spPr>
          <a:xfrm flipV="1">
            <a:off x="6639452" y="2207205"/>
            <a:ext cx="3813283" cy="2231018"/>
          </a:xfrm>
          <a:prstGeom prst="line">
            <a:avLst/>
          </a:prstGeom>
          <a:ln>
            <a:gradFill>
              <a:gsLst>
                <a:gs pos="0">
                  <a:srgbClr val="00B0F0"/>
                </a:gs>
                <a:gs pos="74000">
                  <a:schemeClr val="accent1">
                    <a:lumMod val="40000"/>
                    <a:lumOff val="60000"/>
                  </a:schemeClr>
                </a:gs>
                <a:gs pos="83000">
                  <a:schemeClr val="accent1">
                    <a:lumMod val="20000"/>
                    <a:lumOff val="80000"/>
                  </a:schemeClr>
                </a:gs>
                <a:gs pos="100000">
                  <a:schemeClr val="accent1">
                    <a:lumMod val="20000"/>
                    <a:lumOff val="80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0F7DB75-C3D1-4FE6-BA2C-A2D5431A0081}"/>
              </a:ext>
            </a:extLst>
          </p:cNvPr>
          <p:cNvCxnSpPr>
            <a:cxnSpLocks/>
          </p:cNvCxnSpPr>
          <p:nvPr/>
        </p:nvCxnSpPr>
        <p:spPr>
          <a:xfrm flipV="1">
            <a:off x="8176233" y="2531055"/>
            <a:ext cx="2597056" cy="3457440"/>
          </a:xfrm>
          <a:prstGeom prst="line">
            <a:avLst/>
          </a:prstGeom>
          <a:ln>
            <a:gradFill>
              <a:gsLst>
                <a:gs pos="0">
                  <a:srgbClr val="00B0F0"/>
                </a:gs>
                <a:gs pos="74000">
                  <a:schemeClr val="accent1">
                    <a:lumMod val="40000"/>
                    <a:lumOff val="60000"/>
                  </a:schemeClr>
                </a:gs>
                <a:gs pos="83000">
                  <a:schemeClr val="accent1">
                    <a:lumMod val="20000"/>
                    <a:lumOff val="80000"/>
                  </a:schemeClr>
                </a:gs>
                <a:gs pos="100000">
                  <a:schemeClr val="accent1">
                    <a:lumMod val="20000"/>
                    <a:lumOff val="80000"/>
                  </a:schemeClr>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26" name="Picture 134">
            <a:extLst>
              <a:ext uri="{FF2B5EF4-FFF2-40B4-BE49-F238E27FC236}">
                <a16:creationId xmlns:a16="http://schemas.microsoft.com/office/drawing/2014/main" id="{34CB1755-17B1-4BB0-9EB8-480DDD24211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0412248" y="2170464"/>
            <a:ext cx="383197" cy="386391"/>
          </a:xfrm>
          <a:prstGeom prst="rect">
            <a:avLst/>
          </a:prstGeom>
        </p:spPr>
      </p:pic>
      <p:grpSp>
        <p:nvGrpSpPr>
          <p:cNvPr id="18" name="Group 17">
            <a:extLst>
              <a:ext uri="{FF2B5EF4-FFF2-40B4-BE49-F238E27FC236}">
                <a16:creationId xmlns:a16="http://schemas.microsoft.com/office/drawing/2014/main" id="{13F30732-011C-445F-A3D1-14790684F5F1}"/>
              </a:ext>
            </a:extLst>
          </p:cNvPr>
          <p:cNvGrpSpPr/>
          <p:nvPr/>
        </p:nvGrpSpPr>
        <p:grpSpPr>
          <a:xfrm>
            <a:off x="6534175" y="4401765"/>
            <a:ext cx="1714102" cy="1624398"/>
            <a:chOff x="5425195" y="4468719"/>
            <a:chExt cx="1769352" cy="1711051"/>
          </a:xfrm>
        </p:grpSpPr>
        <p:pic>
          <p:nvPicPr>
            <p:cNvPr id="19" name="Picture 134">
              <a:extLst>
                <a:ext uri="{FF2B5EF4-FFF2-40B4-BE49-F238E27FC236}">
                  <a16:creationId xmlns:a16="http://schemas.microsoft.com/office/drawing/2014/main" id="{F4D68A92-FF75-45DC-8291-715C6F908A8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425195" y="4468719"/>
              <a:ext cx="1752685" cy="1711051"/>
            </a:xfrm>
            <a:prstGeom prst="rect">
              <a:avLst/>
            </a:prstGeom>
          </p:spPr>
        </p:pic>
        <p:sp>
          <p:nvSpPr>
            <p:cNvPr id="20" name="TextBox 19">
              <a:extLst>
                <a:ext uri="{FF2B5EF4-FFF2-40B4-BE49-F238E27FC236}">
                  <a16:creationId xmlns:a16="http://schemas.microsoft.com/office/drawing/2014/main" id="{EAB9E7A2-9680-42D6-8934-BAC9BAA57C73}"/>
                </a:ext>
              </a:extLst>
            </p:cNvPr>
            <p:cNvSpPr txBox="1"/>
            <p:nvPr/>
          </p:nvSpPr>
          <p:spPr>
            <a:xfrm>
              <a:off x="5576790" y="4738133"/>
              <a:ext cx="1548979" cy="778068"/>
            </a:xfrm>
            <a:prstGeom prst="rect">
              <a:avLst/>
            </a:prstGeom>
          </p:spPr>
          <p:txBody>
            <a:bodyPr wrap="square" rtlCol="0">
              <a:spAutoFit/>
            </a:bodyPr>
            <a:lstStyle/>
            <a:p>
              <a:pPr algn="ctr"/>
              <a:r>
                <a:rPr lang="en-CA" sz="1400" b="1" dirty="0">
                  <a:latin typeface="Montserrat SemiBold" panose="00000700000000000000" pitchFamily="2" charset="0"/>
                </a:rPr>
                <a:t>Integrate SAST tools in CI pipeline</a:t>
              </a:r>
            </a:p>
          </p:txBody>
        </p:sp>
        <p:sp>
          <p:nvSpPr>
            <p:cNvPr id="23" name="TextBox 22">
              <a:extLst>
                <a:ext uri="{FF2B5EF4-FFF2-40B4-BE49-F238E27FC236}">
                  <a16:creationId xmlns:a16="http://schemas.microsoft.com/office/drawing/2014/main" id="{69F62335-1691-41CB-937E-8F1C37D6A4A5}"/>
                </a:ext>
              </a:extLst>
            </p:cNvPr>
            <p:cNvSpPr txBox="1"/>
            <p:nvPr/>
          </p:nvSpPr>
          <p:spPr>
            <a:xfrm>
              <a:off x="6625008" y="5680351"/>
              <a:ext cx="569539" cy="421454"/>
            </a:xfrm>
            <a:prstGeom prst="rect">
              <a:avLst/>
            </a:prstGeom>
          </p:spPr>
          <p:txBody>
            <a:bodyPr wrap="none" rtlCol="0">
              <a:spAutoFit/>
            </a:bodyPr>
            <a:lstStyle/>
            <a:p>
              <a:pPr algn="ctr"/>
              <a:r>
                <a:rPr lang="en-CA" sz="1000" dirty="0">
                  <a:latin typeface="Roboto Condensed Light" panose="02000000000000000000" pitchFamily="2" charset="0"/>
                  <a:ea typeface="Roboto Condensed Light" panose="02000000000000000000" pitchFamily="2" charset="0"/>
                </a:rPr>
                <a:t>Benefit </a:t>
              </a:r>
            </a:p>
            <a:p>
              <a:pPr algn="ctr"/>
              <a:r>
                <a:rPr lang="en-CA" sz="1000" dirty="0">
                  <a:latin typeface="Roboto Condensed Light" panose="02000000000000000000" pitchFamily="2" charset="0"/>
                  <a:ea typeface="Roboto Condensed Light" panose="02000000000000000000" pitchFamily="2" charset="0"/>
                </a:rPr>
                <a:t>6</a:t>
              </a:r>
            </a:p>
          </p:txBody>
        </p:sp>
        <p:sp>
          <p:nvSpPr>
            <p:cNvPr id="24" name="TextBox 23">
              <a:extLst>
                <a:ext uri="{FF2B5EF4-FFF2-40B4-BE49-F238E27FC236}">
                  <a16:creationId xmlns:a16="http://schemas.microsoft.com/office/drawing/2014/main" id="{B32F353F-358E-437F-AE87-F43E3D5D2E34}"/>
                </a:ext>
              </a:extLst>
            </p:cNvPr>
            <p:cNvSpPr txBox="1"/>
            <p:nvPr/>
          </p:nvSpPr>
          <p:spPr>
            <a:xfrm>
              <a:off x="5539070" y="5680351"/>
              <a:ext cx="443784" cy="421454"/>
            </a:xfrm>
            <a:prstGeom prst="rect">
              <a:avLst/>
            </a:prstGeom>
          </p:spPr>
          <p:txBody>
            <a:bodyPr wrap="none" rtlCol="0">
              <a:spAutoFit/>
            </a:bodyPr>
            <a:lstStyle/>
            <a:p>
              <a:pPr algn="ctr"/>
              <a:r>
                <a:rPr lang="en-CA" sz="1000" dirty="0">
                  <a:latin typeface="Roboto Condensed Light" panose="02000000000000000000" pitchFamily="2" charset="0"/>
                  <a:ea typeface="Roboto Condensed Light" panose="02000000000000000000" pitchFamily="2" charset="0"/>
                </a:rPr>
                <a:t>Cost </a:t>
              </a:r>
            </a:p>
            <a:p>
              <a:pPr algn="ctr"/>
              <a:r>
                <a:rPr lang="en-CA" sz="1000" dirty="0">
                  <a:latin typeface="Roboto Condensed Light" panose="02000000000000000000" pitchFamily="2" charset="0"/>
                  <a:ea typeface="Roboto Condensed Light" panose="02000000000000000000" pitchFamily="2" charset="0"/>
                </a:rPr>
                <a:t>5</a:t>
              </a:r>
            </a:p>
          </p:txBody>
        </p:sp>
      </p:grpSp>
    </p:spTree>
    <p:extLst>
      <p:ext uri="{BB962C8B-B14F-4D97-AF65-F5344CB8AC3E}">
        <p14:creationId xmlns:p14="http://schemas.microsoft.com/office/powerpoint/2010/main" val="42118413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2BAA-7285-9834-9286-6905D8622A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000E42-52C5-9045-8040-60615E89A86C}"/>
              </a:ext>
            </a:extLst>
          </p:cNvPr>
          <p:cNvSpPr>
            <a:spLocks noGrp="1"/>
          </p:cNvSpPr>
          <p:nvPr>
            <p:ph type="title"/>
          </p:nvPr>
        </p:nvSpPr>
        <p:spPr>
          <a:xfrm>
            <a:off x="364992" y="547738"/>
            <a:ext cx="9546263" cy="671462"/>
          </a:xfrm>
        </p:spPr>
        <p:txBody>
          <a:bodyPr/>
          <a:lstStyle/>
          <a:p>
            <a:r>
              <a:rPr lang="en-US" dirty="0">
                <a:solidFill>
                  <a:srgbClr val="2576B7"/>
                </a:solidFill>
              </a:rPr>
              <a:t>3.1.5 </a:t>
            </a:r>
            <a:r>
              <a:rPr lang="en-CA" dirty="0"/>
              <a:t>Develop one-page information slides for top initiatives</a:t>
            </a:r>
            <a:endParaRPr lang="en-US" i="1" dirty="0">
              <a:solidFill>
                <a:schemeClr val="accent1"/>
              </a:solidFill>
            </a:endParaRPr>
          </a:p>
        </p:txBody>
      </p:sp>
      <p:pic>
        <p:nvPicPr>
          <p:cNvPr id="5" name="Picture 4">
            <a:extLst>
              <a:ext uri="{FF2B5EF4-FFF2-40B4-BE49-F238E27FC236}">
                <a16:creationId xmlns:a16="http://schemas.microsoft.com/office/drawing/2014/main" id="{D029F10A-C53E-91F8-407C-3CE066345E94}"/>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4957634" y="1702119"/>
            <a:ext cx="6870962" cy="3733068"/>
          </a:xfrm>
          <a:prstGeom prst="rect">
            <a:avLst/>
          </a:prstGeom>
        </p:spPr>
      </p:pic>
      <p:sp>
        <p:nvSpPr>
          <p:cNvPr id="6" name="TextBox 8">
            <a:extLst>
              <a:ext uri="{FF2B5EF4-FFF2-40B4-BE49-F238E27FC236}">
                <a16:creationId xmlns:a16="http://schemas.microsoft.com/office/drawing/2014/main" id="{FE507BE8-E19F-63C0-3258-AE291F292F2A}"/>
              </a:ext>
            </a:extLst>
          </p:cNvPr>
          <p:cNvSpPr txBox="1"/>
          <p:nvPr/>
        </p:nvSpPr>
        <p:spPr>
          <a:xfrm>
            <a:off x="364992" y="2118731"/>
            <a:ext cx="4170794" cy="1892826"/>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In the </a:t>
            </a:r>
            <a:r>
              <a:rPr lang="en-CA" sz="1400" i="1" dirty="0" err="1">
                <a:solidFill>
                  <a:srgbClr val="000000"/>
                </a:solidFill>
                <a:latin typeface="Roboto Condensed Light" panose="02000000000000000000" pitchFamily="2" charset="0"/>
                <a:ea typeface="Roboto Condensed Light" panose="02000000000000000000" pitchFamily="2" charset="0"/>
              </a:rPr>
              <a:t>iSSDLC</a:t>
            </a:r>
            <a:r>
              <a:rPr lang="en-CA" sz="1400" i="1" dirty="0">
                <a:solidFill>
                  <a:srgbClr val="000000"/>
                </a:solidFill>
                <a:latin typeface="Roboto Condensed Light" panose="02000000000000000000" pitchFamily="2" charset="0"/>
                <a:ea typeface="Roboto Condensed Light" panose="02000000000000000000" pitchFamily="2" charset="0"/>
              </a:rPr>
              <a:t> Strategic Plan Template, </a:t>
            </a:r>
            <a:r>
              <a:rPr lang="en-CA" sz="1400" dirty="0">
                <a:solidFill>
                  <a:srgbClr val="000000"/>
                </a:solidFill>
                <a:latin typeface="Roboto Condensed Light" panose="02000000000000000000" pitchFamily="2" charset="0"/>
                <a:ea typeface="Roboto Condensed Light" panose="02000000000000000000" pitchFamily="2" charset="0"/>
              </a:rPr>
              <a:t>develop your one-pager slide for key initiatives that will be presented to stakeholders. A sample of the one-pager slide is on slide 29, which can be customized to update the project description, benefits, cost, and timeline.</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562996" lvl="1"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
        <p:nvSpPr>
          <p:cNvPr id="7" name="Rectangle 6">
            <a:extLst>
              <a:ext uri="{FF2B5EF4-FFF2-40B4-BE49-F238E27FC236}">
                <a16:creationId xmlns:a16="http://schemas.microsoft.com/office/drawing/2014/main" id="{3E90C2A2-61B5-1143-C868-60D370003EF5}"/>
              </a:ext>
            </a:extLst>
          </p:cNvPr>
          <p:cNvSpPr/>
          <p:nvPr/>
        </p:nvSpPr>
        <p:spPr>
          <a:xfrm>
            <a:off x="1120077" y="6076262"/>
            <a:ext cx="44172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the iSSDLC </a:t>
            </a:r>
            <a:r>
              <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hlinkClick r:id="rId4"/>
              </a:rPr>
              <a:t>Strategic Plan Template</a:t>
            </a:r>
            <a:endPar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sp>
        <p:nvSpPr>
          <p:cNvPr id="8" name="Rectangle 7">
            <a:extLst>
              <a:ext uri="{FF2B5EF4-FFF2-40B4-BE49-F238E27FC236}">
                <a16:creationId xmlns:a16="http://schemas.microsoft.com/office/drawing/2014/main" id="{E796D68E-F212-F4B3-911E-FE80E55B82A1}"/>
              </a:ext>
              <a:ext uri="{C183D7F6-B498-43B3-948B-1728B52AA6E4}">
                <adec:decorative xmlns:adec="http://schemas.microsoft.com/office/drawing/2017/decorative" val="1"/>
              </a:ext>
            </a:extLst>
          </p:cNvPr>
          <p:cNvSpPr>
            <a:spLocks noChangeAspect="1"/>
          </p:cNvSpPr>
          <p:nvPr/>
        </p:nvSpPr>
        <p:spPr>
          <a:xfrm>
            <a:off x="513841" y="6076264"/>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9" name="Picture 8">
            <a:extLst>
              <a:ext uri="{FF2B5EF4-FFF2-40B4-BE49-F238E27FC236}">
                <a16:creationId xmlns:a16="http://schemas.microsoft.com/office/drawing/2014/main" id="{8E207162-7E5E-61D2-CDB3-9A1216EC2905}"/>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rot="5400000">
            <a:off x="694048" y="6138361"/>
            <a:ext cx="260883" cy="338335"/>
          </a:xfrm>
          <a:prstGeom prst="rect">
            <a:avLst/>
          </a:prstGeom>
        </p:spPr>
      </p:pic>
    </p:spTree>
    <p:extLst>
      <p:ext uri="{BB962C8B-B14F-4D97-AF65-F5344CB8AC3E}">
        <p14:creationId xmlns:p14="http://schemas.microsoft.com/office/powerpoint/2010/main" val="9102340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26F1C-D51D-67C3-4CCB-F1E0454C7F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82B98C3-CE1B-EAFF-299E-3E23D820DA3E}"/>
              </a:ext>
              <a:ext uri="{C183D7F6-B498-43B3-948B-1728B52AA6E4}">
                <adec:decorative xmlns:adec="http://schemas.microsoft.com/office/drawing/2017/decorative" val="1"/>
              </a:ext>
            </a:extLst>
          </p:cNvPr>
          <p:cNvSpPr/>
          <p:nvPr/>
        </p:nvSpPr>
        <p:spPr>
          <a:xfrm>
            <a:off x="7170057" y="0"/>
            <a:ext cx="5023531" cy="6858000"/>
          </a:xfrm>
          <a:prstGeom prst="rect">
            <a:avLst/>
          </a:prstGeom>
          <a:solidFill>
            <a:schemeClr val="bg2"/>
          </a:solidFill>
          <a:ln>
            <a:noFill/>
          </a:ln>
          <a:effectLst>
            <a:outerShdw blurRad="254000" sx="105000" sy="105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092" b="0" i="0" u="none" strike="noStrike" kern="1200" cap="none" spc="0" normalizeH="0" baseline="0" noProof="0" dirty="0">
              <a:ln>
                <a:noFill/>
              </a:ln>
              <a:solidFill>
                <a:srgbClr val="FFFFFF"/>
              </a:solidFill>
              <a:effectLst/>
              <a:uLnTx/>
              <a:uFillTx/>
              <a:latin typeface="Roboto Condensed Light" panose="02000000000000000000" pitchFamily="2" charset="0"/>
              <a:ea typeface="+mn-ea"/>
              <a:cs typeface="+mn-cs"/>
            </a:endParaRPr>
          </a:p>
        </p:txBody>
      </p:sp>
      <p:sp>
        <p:nvSpPr>
          <p:cNvPr id="3" name="Title 2">
            <a:extLst>
              <a:ext uri="{FF2B5EF4-FFF2-40B4-BE49-F238E27FC236}">
                <a16:creationId xmlns:a16="http://schemas.microsoft.com/office/drawing/2014/main" id="{C3202FFC-0C0E-9A66-B52A-F4566A28D4CA}"/>
              </a:ext>
            </a:extLst>
          </p:cNvPr>
          <p:cNvSpPr>
            <a:spLocks noGrp="1"/>
          </p:cNvSpPr>
          <p:nvPr>
            <p:ph type="title"/>
          </p:nvPr>
        </p:nvSpPr>
        <p:spPr>
          <a:xfrm>
            <a:off x="354106" y="544769"/>
            <a:ext cx="6668863" cy="1130188"/>
          </a:xfrm>
        </p:spPr>
        <p:txBody>
          <a:bodyPr/>
          <a:lstStyle/>
          <a:p>
            <a:r>
              <a:rPr lang="en-US" dirty="0">
                <a:solidFill>
                  <a:srgbClr val="2576B7"/>
                </a:solidFill>
              </a:rPr>
              <a:t>3.2 </a:t>
            </a:r>
            <a:r>
              <a:rPr lang="en-CA" dirty="0">
                <a:solidFill>
                  <a:schemeClr val="tx1"/>
                </a:solidFill>
              </a:rPr>
              <a:t>Build roadmap</a:t>
            </a:r>
            <a:endParaRPr lang="en-US" dirty="0">
              <a:solidFill>
                <a:schemeClr val="tx1"/>
              </a:solidFill>
            </a:endParaRPr>
          </a:p>
        </p:txBody>
      </p:sp>
      <p:sp>
        <p:nvSpPr>
          <p:cNvPr id="4" name="Text Placeholder 3">
            <a:extLst>
              <a:ext uri="{FF2B5EF4-FFF2-40B4-BE49-F238E27FC236}">
                <a16:creationId xmlns:a16="http://schemas.microsoft.com/office/drawing/2014/main" id="{79BD3C80-3F9B-3094-D05D-DF0F96133A45}"/>
              </a:ext>
            </a:extLst>
          </p:cNvPr>
          <p:cNvSpPr>
            <a:spLocks noGrp="1"/>
          </p:cNvSpPr>
          <p:nvPr>
            <p:ph type="body" sz="quarter" idx="11"/>
          </p:nvPr>
        </p:nvSpPr>
        <p:spPr>
          <a:xfrm>
            <a:off x="354106" y="1401069"/>
            <a:ext cx="4116208" cy="304974"/>
          </a:xfrm>
        </p:spPr>
        <p:txBody>
          <a:bodyPr/>
          <a:lstStyle/>
          <a:p>
            <a:r>
              <a:rPr lang="en-US" sz="1600" dirty="0">
                <a:latin typeface="Exo" panose="02000503000000000000" pitchFamily="2" charset="77"/>
              </a:rPr>
              <a:t>2 hours</a:t>
            </a:r>
          </a:p>
        </p:txBody>
      </p:sp>
      <p:graphicFrame>
        <p:nvGraphicFramePr>
          <p:cNvPr id="38" name="Table 37">
            <a:extLst>
              <a:ext uri="{FF2B5EF4-FFF2-40B4-BE49-F238E27FC236}">
                <a16:creationId xmlns:a16="http://schemas.microsoft.com/office/drawing/2014/main" id="{51CCFEBB-825A-BA06-CEEA-C5EBDC765E5A}"/>
              </a:ext>
            </a:extLst>
          </p:cNvPr>
          <p:cNvGraphicFramePr>
            <a:graphicFrameLocks noGrp="1"/>
          </p:cNvGraphicFramePr>
          <p:nvPr>
            <p:extLst>
              <p:ext uri="{D42A27DB-BD31-4B8C-83A1-F6EECF244321}">
                <p14:modId xmlns:p14="http://schemas.microsoft.com/office/powerpoint/2010/main" val="2418165372"/>
              </p:ext>
            </p:extLst>
          </p:nvPr>
        </p:nvGraphicFramePr>
        <p:xfrm>
          <a:off x="7177086" y="0"/>
          <a:ext cx="5016502" cy="6858001"/>
        </p:xfrm>
        <a:graphic>
          <a:graphicData uri="http://schemas.openxmlformats.org/drawingml/2006/table">
            <a:tbl>
              <a:tblPr firstRow="1" bandRow="1">
                <a:effectLst/>
                <a:tableStyleId>{5C22544A-7EE6-4342-B048-85BDC9FD1C3A}</a:tableStyleId>
              </a:tblPr>
              <a:tblGrid>
                <a:gridCol w="2508251">
                  <a:extLst>
                    <a:ext uri="{9D8B030D-6E8A-4147-A177-3AD203B41FA5}">
                      <a16:colId xmlns:a16="http://schemas.microsoft.com/office/drawing/2014/main" val="866264451"/>
                    </a:ext>
                  </a:extLst>
                </a:gridCol>
                <a:gridCol w="2508251">
                  <a:extLst>
                    <a:ext uri="{9D8B030D-6E8A-4147-A177-3AD203B41FA5}">
                      <a16:colId xmlns:a16="http://schemas.microsoft.com/office/drawing/2014/main" val="2703970457"/>
                    </a:ext>
                  </a:extLst>
                </a:gridCol>
              </a:tblGrid>
              <a:tr h="717885">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Input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indent="0" algn="ctr">
                        <a:lnSpc>
                          <a:spcPts val="1000"/>
                        </a:lnSpc>
                        <a:spcBef>
                          <a:spcPts val="1000"/>
                        </a:spcBef>
                        <a:buFont typeface="Arial" panose="020B0604020202020204" pitchFamily="34" charset="0"/>
                        <a:buNone/>
                      </a:pPr>
                      <a:r>
                        <a:rPr lang="en-US" sz="1800" b="0" i="0" dirty="0">
                          <a:solidFill>
                            <a:schemeClr val="bg1"/>
                          </a:solidFill>
                          <a:latin typeface="Exo" panose="02000503000000000000" pitchFamily="2" charset="77"/>
                          <a:ea typeface="Roboto Condensed Light" panose="02000000000000000000" pitchFamily="2" charset="0"/>
                        </a:rPr>
                        <a:t>Output</a:t>
                      </a:r>
                    </a:p>
                  </a:txBody>
                  <a:tcPr marL="0" marR="0" marT="320040" marB="228600" anchor="ctr">
                    <a:lnL w="12700" cmpd="sng">
                      <a:noFill/>
                    </a:lnL>
                    <a:lnR w="12700" cmpd="sng">
                      <a:noFill/>
                    </a:lnR>
                    <a:lnT w="12700" cmpd="sng">
                      <a:noFill/>
                    </a:lnT>
                    <a:lnB w="381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1610303713"/>
                  </a:ext>
                </a:extLst>
              </a:tr>
              <a:tr h="2691120">
                <a:tc>
                  <a:txBody>
                    <a:bodyPr/>
                    <a:lstStyle/>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Capabilities assessment</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Cost-benefit analysis</a:t>
                      </a:r>
                    </a:p>
                    <a:p>
                      <a:pPr marL="173038" indent="-173038" rtl="0">
                        <a:lnSpc>
                          <a:spcPts val="1600"/>
                        </a:lnSpc>
                        <a:spcBef>
                          <a:spcPts val="800"/>
                        </a:spcBef>
                        <a:buSzPts val="1100"/>
                        <a:buFont typeface="Arial" panose="020B0604020202020204" pitchFamily="34" charset="0"/>
                        <a:buChar char="•"/>
                        <a:tabLst/>
                      </a:pPr>
                      <a:r>
                        <a:rPr lang="en-US" sz="1200" b="0" i="0" u="none" strike="noStrike" baseline="0" dirty="0">
                          <a:solidFill>
                            <a:srgbClr val="000000"/>
                          </a:solidFill>
                          <a:latin typeface="Roboto Condensed Light" panose="02000000000000000000" pitchFamily="2" charset="0"/>
                          <a:ea typeface="Roboto Condensed Light" panose="02000000000000000000" pitchFamily="2" charset="0"/>
                        </a:rPr>
                        <a:t>Prioritized initiative list</a:t>
                      </a:r>
                    </a:p>
                    <a:p>
                      <a:pPr marL="176214" indent="-176214" defTabSz="914400">
                        <a:buSzPct val="100000"/>
                        <a:buFont typeface="Arial" pitchFamily="34"/>
                        <a:buChar char="•"/>
                        <a:defRPr sz="1800" b="0" i="0" u="none" strike="noStrike" kern="0" cap="none" spc="0" baseline="0">
                          <a:solidFill>
                            <a:srgbClr val="000000"/>
                          </a:solidFill>
                          <a:uFillTx/>
                        </a:defRPr>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lnB w="12700" cmpd="sng">
                      <a:noFill/>
                    </a:lnB>
                    <a:solidFill>
                      <a:schemeClr val="bg1"/>
                    </a:solidFill>
                  </a:tcPr>
                </a:tc>
                <a:tc>
                  <a:txBody>
                    <a:bodyPr/>
                    <a:lstStyle/>
                    <a:p>
                      <a:pPr marL="176214" indent="-176214" defTabSz="914400">
                        <a:buSzPct val="100000"/>
                        <a:buFont typeface="Arial" pitchFamily="34"/>
                        <a:buChar char="•"/>
                        <a:defRPr sz="1800" b="0" i="0" u="none" strike="noStrike" kern="0" cap="none" spc="0" baseline="0">
                          <a:solidFill>
                            <a:srgbClr val="000000"/>
                          </a:solidFill>
                          <a:uFillTx/>
                        </a:defRPr>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iSSDLC strategic roadmap</a:t>
                      </a:r>
                    </a:p>
                    <a:p>
                      <a:pPr marL="0" indent="0" defTabSz="914400">
                        <a:buSzPct val="100000"/>
                        <a:buFont typeface="Arial" pitchFamily="34"/>
                        <a:buNone/>
                        <a:defRPr sz="1800" b="0" i="0" u="none" strike="noStrike" kern="0" cap="none" spc="0" baseline="0">
                          <a:solidFill>
                            <a:srgbClr val="000000"/>
                          </a:solidFill>
                          <a:uFillTx/>
                        </a:defRPr>
                      </a:pPr>
                      <a:endPar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endParaRP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lnB w="12700" cmpd="sng">
                      <a:noFill/>
                    </a:lnB>
                    <a:solidFill>
                      <a:schemeClr val="bg1"/>
                    </a:solidFill>
                  </a:tcPr>
                </a:tc>
                <a:extLst>
                  <a:ext uri="{0D108BD9-81ED-4DB2-BD59-A6C34878D82A}">
                    <a16:rowId xmlns:a16="http://schemas.microsoft.com/office/drawing/2014/main" val="686074955"/>
                  </a:ext>
                </a:extLst>
              </a:tr>
              <a:tr h="717885">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Materials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tc>
                  <a:txBody>
                    <a:bodyPr/>
                    <a:lstStyle/>
                    <a:p>
                      <a:pPr marL="0" marR="0" lvl="0" indent="0" algn="ctr" defTabSz="914400" rtl="0" eaLnBrk="1" fontAlgn="auto" latinLnBrk="0" hangingPunct="1">
                        <a:lnSpc>
                          <a:spcPts val="1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Exo" panose="02000503000000000000" pitchFamily="2" charset="77"/>
                          <a:ea typeface="Roboto Condensed Light" panose="02000000000000000000" pitchFamily="2" charset="0"/>
                          <a:cs typeface="+mn-cs"/>
                        </a:rPr>
                        <a:t>Participants</a:t>
                      </a:r>
                    </a:p>
                  </a:txBody>
                  <a:tcPr marL="0" marR="0" marT="320040" marB="228600">
                    <a:lnL w="12700" cmpd="sng">
                      <a:noFill/>
                    </a:lnL>
                    <a:lnR w="12700" cmpd="sng">
                      <a:noFill/>
                    </a:lnR>
                    <a:lnT w="38100" cmpd="sng">
                      <a:noFill/>
                    </a:lnT>
                    <a:lnB w="12700" cmpd="sng">
                      <a:noFill/>
                    </a:lnB>
                    <a:lnTlToBr w="12700" cmpd="sng">
                      <a:noFill/>
                      <a:prstDash val="solid"/>
                    </a:lnTlToBr>
                    <a:lnBlToTr w="12700" cmpd="sng">
                      <a:noFill/>
                      <a:prstDash val="solid"/>
                    </a:lnBlToTr>
                    <a:gradFill>
                      <a:gsLst>
                        <a:gs pos="0">
                          <a:schemeClr val="accent1">
                            <a:lumMod val="60000"/>
                            <a:lumOff val="40000"/>
                          </a:schemeClr>
                        </a:gs>
                        <a:gs pos="95000">
                          <a:srgbClr val="2576B7"/>
                        </a:gs>
                      </a:gsLst>
                      <a:lin ang="3000000" scaled="0"/>
                    </a:gradFill>
                  </a:tcPr>
                </a:tc>
                <a:extLst>
                  <a:ext uri="{0D108BD9-81ED-4DB2-BD59-A6C34878D82A}">
                    <a16:rowId xmlns:a16="http://schemas.microsoft.com/office/drawing/2014/main" val="4151227522"/>
                  </a:ext>
                </a:extLst>
              </a:tr>
              <a:tr h="2731111">
                <a:tc>
                  <a:txBody>
                    <a:bodyPr/>
                    <a:lstStyle/>
                    <a:p>
                      <a:pPr marL="173038" indent="-173038" rtl="0">
                        <a:lnSpc>
                          <a:spcPts val="1600"/>
                        </a:lnSpc>
                        <a:spcBef>
                          <a:spcPts val="800"/>
                        </a:spcBef>
                        <a:buSzPts val="1100"/>
                        <a:buFont typeface="Arial" panose="020B0604020202020204" pitchFamily="34" charset="0"/>
                        <a:buChar char="•"/>
                        <a:tabLst/>
                      </a:pPr>
                      <a:r>
                        <a:rPr lang="en-US" sz="12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Whiteboard</a:t>
                      </a:r>
                    </a:p>
                    <a:p>
                      <a:pPr marL="173038" indent="-173038" rtl="0">
                        <a:lnSpc>
                          <a:spcPts val="1600"/>
                        </a:lnSpc>
                        <a:spcBef>
                          <a:spcPts val="800"/>
                        </a:spcBef>
                        <a:buSzPts val="1100"/>
                        <a:buFont typeface="Arial" panose="020B0604020202020204" pitchFamily="34" charset="0"/>
                        <a:buChar char="•"/>
                        <a:tabLst/>
                      </a:pPr>
                      <a:r>
                        <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iSSDLC Capabilities Assessment Tool</a:t>
                      </a:r>
                    </a:p>
                    <a:p>
                      <a:pPr marL="173038" indent="-173038" rtl="0">
                        <a:lnSpc>
                          <a:spcPts val="1600"/>
                        </a:lnSpc>
                        <a:spcBef>
                          <a:spcPts val="800"/>
                        </a:spcBef>
                        <a:buSzPts val="1100"/>
                        <a:buFont typeface="Arial" panose="020B0604020202020204" pitchFamily="34" charset="0"/>
                        <a:buChar char="•"/>
                        <a:tabLst/>
                      </a:pPr>
                      <a:r>
                        <a:rPr lang="en-US" sz="1200" i="1" u="none" strike="noStrike" kern="1200" cap="none" spc="0" baseline="0">
                          <a:solidFill>
                            <a:srgbClr val="000000"/>
                          </a:solidFill>
                          <a:uFillTx/>
                          <a:latin typeface="Roboto Condensed Light" panose="02000000000000000000" pitchFamily="2" charset="0"/>
                          <a:ea typeface="Roboto Condensed Light" panose="02000000000000000000" pitchFamily="2" charset="0"/>
                        </a:rPr>
                        <a:t>iSSDLC Strategic Plan Template</a:t>
                      </a:r>
                      <a:endParaRPr lang="en-US" sz="1200" i="1"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endParaRPr>
                    </a:p>
                    <a:p>
                      <a:pPr marL="173038" indent="-173038" rtl="0">
                        <a:lnSpc>
                          <a:spcPts val="1600"/>
                        </a:lnSpc>
                        <a:spcBef>
                          <a:spcPts val="800"/>
                        </a:spcBef>
                        <a:buSzPts val="1100"/>
                        <a:buFont typeface="Arial" panose="020B0604020202020204" pitchFamily="34" charset="0"/>
                        <a:buChar char="•"/>
                        <a:tabLst/>
                      </a:pPr>
                      <a:endParaRPr lang="en-US" sz="1200" b="0" i="0" u="none" strike="noStrike" baseline="0" dirty="0">
                        <a:solidFill>
                          <a:srgbClr val="000000"/>
                        </a:solidFill>
                        <a:latin typeface="Roboto Condensed Light" panose="02000000000000000000" pitchFamily="2" charset="0"/>
                        <a:ea typeface="Roboto Condensed Light" panose="02000000000000000000" pitchFamily="2" charset="0"/>
                      </a:endParaRPr>
                    </a:p>
                  </a:txBody>
                  <a:tcPr marL="288000" marR="288000" marT="251999" marB="288000">
                    <a:lnR w="3175" cap="flat" cmpd="sng" algn="ctr">
                      <a:solidFill>
                        <a:schemeClr val="bg1">
                          <a:lumMod val="75000"/>
                        </a:schemeClr>
                      </a:solidFill>
                      <a:prstDash val="solid"/>
                      <a:round/>
                      <a:headEnd type="none" w="med" len="med"/>
                      <a:tailEnd type="none" w="med" len="med"/>
                    </a:lnR>
                    <a:lnT w="38100" cmpd="sng">
                      <a:noFill/>
                    </a:lnT>
                    <a:solidFill>
                      <a:schemeClr val="bg1"/>
                    </a:solidFill>
                  </a:tcPr>
                </a:tc>
                <a:tc>
                  <a:txBody>
                    <a:bodyPr/>
                    <a:lstStyle/>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Information security</a:t>
                      </a:r>
                    </a:p>
                    <a:p>
                      <a:pPr marL="173038" indent="-173038">
                        <a:lnSpc>
                          <a:spcPts val="1600"/>
                        </a:lnSpc>
                        <a:spcBef>
                          <a:spcPts val="800"/>
                        </a:spcBef>
                        <a:buFont typeface="Arial" panose="020B0604020202020204" pitchFamily="34" charset="0"/>
                        <a:buChar char="•"/>
                        <a:tabLst/>
                      </a:pPr>
                      <a:r>
                        <a:rPr lang="en-US" sz="1200" b="0" i="0" dirty="0">
                          <a:solidFill>
                            <a:srgbClr val="000000"/>
                          </a:solidFill>
                          <a:latin typeface="Roboto Condensed Light" panose="02000000000000000000" pitchFamily="2" charset="0"/>
                          <a:ea typeface="Roboto Condensed Light" panose="02000000000000000000" pitchFamily="2" charset="0"/>
                        </a:rPr>
                        <a:t>Others to be determined</a:t>
                      </a:r>
                    </a:p>
                  </a:txBody>
                  <a:tcPr marL="288000" marR="288000" marT="251999" marB="288000">
                    <a:lnL w="3175" cap="flat" cmpd="sng" algn="ctr">
                      <a:solidFill>
                        <a:schemeClr val="bg1">
                          <a:lumMod val="75000"/>
                        </a:schemeClr>
                      </a:solidFill>
                      <a:prstDash val="solid"/>
                      <a:round/>
                      <a:headEnd type="none" w="med" len="med"/>
                      <a:tailEnd type="none" w="med" len="med"/>
                    </a:lnL>
                    <a:lnT w="38100" cmpd="sng">
                      <a:noFill/>
                    </a:lnT>
                    <a:solidFill>
                      <a:schemeClr val="bg1"/>
                    </a:solidFill>
                  </a:tcPr>
                </a:tc>
                <a:extLst>
                  <a:ext uri="{0D108BD9-81ED-4DB2-BD59-A6C34878D82A}">
                    <a16:rowId xmlns:a16="http://schemas.microsoft.com/office/drawing/2014/main" val="2918002838"/>
                  </a:ext>
                </a:extLst>
              </a:tr>
            </a:tbl>
          </a:graphicData>
        </a:graphic>
      </p:graphicFrame>
      <p:sp>
        <p:nvSpPr>
          <p:cNvPr id="42" name="Rectangle 41">
            <a:extLst>
              <a:ext uri="{FF2B5EF4-FFF2-40B4-BE49-F238E27FC236}">
                <a16:creationId xmlns:a16="http://schemas.microsoft.com/office/drawing/2014/main" id="{65D2825E-87CD-0013-D365-4A68B60EE7FE}"/>
              </a:ext>
            </a:extLst>
          </p:cNvPr>
          <p:cNvSpPr/>
          <p:nvPr/>
        </p:nvSpPr>
        <p:spPr>
          <a:xfrm>
            <a:off x="1061495" y="5916953"/>
            <a:ext cx="4417294" cy="468000"/>
          </a:xfrm>
          <a:prstGeom prst="rect">
            <a:avLst/>
          </a:prstGeom>
          <a:solidFill>
            <a:srgbClr val="2576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Exo" panose="02000503000000000000" pitchFamily="2" charset="77"/>
                <a:ea typeface="+mn-ea"/>
                <a:cs typeface="+mn-cs"/>
              </a:rPr>
              <a:t>Download </a:t>
            </a:r>
            <a:r>
              <a:rPr kumimoji="0" lang="en-US" sz="1200" b="0" u="none" strike="noStrike" kern="1200" cap="none" spc="0" normalizeH="0" baseline="0" noProof="0" dirty="0">
                <a:ln>
                  <a:noFill/>
                </a:ln>
                <a:solidFill>
                  <a:srgbClr val="FFFFFF"/>
                </a:solidFill>
                <a:effectLst/>
                <a:uLnTx/>
                <a:uFillTx/>
                <a:latin typeface="Exo" panose="02000503000000000000" pitchFamily="2" charset="77"/>
                <a:ea typeface="+mn-ea"/>
                <a:cs typeface="+mn-cs"/>
              </a:rPr>
              <a:t>the </a:t>
            </a:r>
            <a:r>
              <a:rPr kumimoji="0" lang="en-US" sz="1200" b="0" u="none" strike="noStrike" kern="1200" cap="none" spc="0" normalizeH="0" baseline="0" noProof="0" dirty="0" err="1">
                <a:ln>
                  <a:noFill/>
                </a:ln>
                <a:solidFill>
                  <a:srgbClr val="FFFFFF"/>
                </a:solidFill>
                <a:effectLst/>
                <a:uLnTx/>
                <a:uFillTx/>
                <a:latin typeface="Exo" panose="02000503000000000000" pitchFamily="2" charset="77"/>
                <a:ea typeface="+mn-ea"/>
                <a:cs typeface="+mn-cs"/>
              </a:rPr>
              <a:t>iSSDLC</a:t>
            </a:r>
            <a:r>
              <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rPr>
              <a:t> </a:t>
            </a:r>
            <a:r>
              <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hlinkClick r:id="rId3"/>
              </a:rPr>
              <a:t>Capabilities Assessment Tool</a:t>
            </a:r>
            <a:endParaRPr kumimoji="0" lang="en-US" sz="1200" b="0" i="1"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sp>
        <p:nvSpPr>
          <p:cNvPr id="43" name="Rectangle 42">
            <a:extLst>
              <a:ext uri="{FF2B5EF4-FFF2-40B4-BE49-F238E27FC236}">
                <a16:creationId xmlns:a16="http://schemas.microsoft.com/office/drawing/2014/main" id="{591807C1-7EDA-91A6-595D-8AE1071206F2}"/>
              </a:ext>
              <a:ext uri="{C183D7F6-B498-43B3-948B-1728B52AA6E4}">
                <adec:decorative xmlns:adec="http://schemas.microsoft.com/office/drawing/2017/decorative" val="1"/>
              </a:ext>
            </a:extLst>
          </p:cNvPr>
          <p:cNvSpPr>
            <a:spLocks noChangeAspect="1"/>
          </p:cNvSpPr>
          <p:nvPr/>
        </p:nvSpPr>
        <p:spPr>
          <a:xfrm>
            <a:off x="455259" y="5916955"/>
            <a:ext cx="606941" cy="468000"/>
          </a:xfrm>
          <a:prstGeom prst="rect">
            <a:avLst/>
          </a:prstGeom>
          <a:solidFill>
            <a:srgbClr val="1E5E9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492"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Exo" panose="02000503000000000000" pitchFamily="2" charset="77"/>
              <a:ea typeface="+mn-ea"/>
              <a:cs typeface="+mn-cs"/>
            </a:endParaRPr>
          </a:p>
        </p:txBody>
      </p:sp>
      <p:pic>
        <p:nvPicPr>
          <p:cNvPr id="44" name="Picture 43">
            <a:extLst>
              <a:ext uri="{FF2B5EF4-FFF2-40B4-BE49-F238E27FC236}">
                <a16:creationId xmlns:a16="http://schemas.microsoft.com/office/drawing/2014/main" id="{06B6DC72-6687-4954-63EC-E14C8403B27E}"/>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5400000">
            <a:off x="635466" y="5979052"/>
            <a:ext cx="260883" cy="338335"/>
          </a:xfrm>
          <a:prstGeom prst="rect">
            <a:avLst/>
          </a:prstGeom>
        </p:spPr>
      </p:pic>
      <p:sp>
        <p:nvSpPr>
          <p:cNvPr id="11" name="TextBox 10">
            <a:extLst>
              <a:ext uri="{FF2B5EF4-FFF2-40B4-BE49-F238E27FC236}">
                <a16:creationId xmlns:a16="http://schemas.microsoft.com/office/drawing/2014/main" id="{495BBB04-8D3D-227D-E7C7-9E0771C96FDF}"/>
              </a:ext>
              <a:ext uri="{C183D7F6-B498-43B3-948B-1728B52AA6E4}">
                <adec:decorative xmlns:adec="http://schemas.microsoft.com/office/drawing/2017/decorative" val="1"/>
              </a:ext>
            </a:extLst>
          </p:cNvPr>
          <p:cNvSpPr txBox="1"/>
          <p:nvPr/>
        </p:nvSpPr>
        <p:spPr>
          <a:xfrm>
            <a:off x="8804021" y="6449568"/>
            <a:ext cx="3438335" cy="123111"/>
          </a:xfrm>
          <a:prstGeom prst="rect">
            <a:avLst/>
          </a:prstGeom>
        </p:spPr>
        <p:txBody>
          <a:bodyPr vert="horz" wrap="square" lIns="0" tIns="0" rIns="91440" bIns="0" rtlCol="0">
            <a:spAutoFit/>
          </a:bodyPr>
          <a:lstStyle/>
          <a:p>
            <a:pPr marL="7701" marR="242975" lvl="0" indent="0" algn="r" defTabSz="554492" rtl="0" eaLnBrk="1" fontAlgn="auto" latinLnBrk="0" hangingPunct="1">
              <a:lnSpc>
                <a:spcPct val="100000"/>
              </a:lnSpc>
              <a:spcBef>
                <a:spcPts val="55"/>
              </a:spcBef>
              <a:spcAft>
                <a:spcPts val="0"/>
              </a:spcAft>
              <a:buClrTx/>
              <a:buSzTx/>
              <a:buFontTx/>
              <a:buNone/>
              <a:tabLst/>
              <a:defRPr/>
            </a:pPr>
            <a:r>
              <a:rPr kumimoji="0" lang="en-CA" sz="800" b="0" i="0" u="none" strike="noStrike" kern="1200" cap="none" spc="-18" normalizeH="0" baseline="0" noProof="0" dirty="0">
                <a:ln>
                  <a:noFill/>
                </a:ln>
                <a:solidFill>
                  <a:srgbClr val="494949">
                    <a:lumMod val="50000"/>
                  </a:srgbClr>
                </a:solidFill>
                <a:effectLst/>
                <a:uLnTx/>
                <a:uFillTx/>
                <a:latin typeface="Exo" panose="02000503000000000000" pitchFamily="2" charset="77"/>
                <a:ea typeface="+mn-ea"/>
                <a:cs typeface="+mn-cs"/>
              </a:rPr>
              <a:t>Info-</a:t>
            </a:r>
            <a:r>
              <a:rPr kumimoji="0" lang="en-CA" sz="800" b="0" i="0" u="none" strike="noStrike" kern="1200" cap="none" spc="-103" normalizeH="0" baseline="0" noProof="0" dirty="0">
                <a:ln>
                  <a:noFill/>
                </a:ln>
                <a:solidFill>
                  <a:srgbClr val="494949">
                    <a:lumMod val="50000"/>
                  </a:srgbClr>
                </a:solidFill>
                <a:effectLst/>
                <a:uLnTx/>
                <a:uFillTx/>
                <a:latin typeface="Exo" panose="02000503000000000000" pitchFamily="2" charset="77"/>
                <a:ea typeface="+mn-ea"/>
                <a:cs typeface="+mn-cs"/>
              </a:rPr>
              <a:t>T</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ec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Researc</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h</a:t>
            </a:r>
            <a:r>
              <a:rPr kumimoji="0" lang="en-CA" sz="800" b="0" i="0" u="none" strike="noStrike" kern="1200" cap="none" spc="-39" normalizeH="0" baseline="0" noProof="0" dirty="0">
                <a:ln>
                  <a:noFill/>
                </a:ln>
                <a:solidFill>
                  <a:srgbClr val="494949">
                    <a:lumMod val="50000"/>
                  </a:srgbClr>
                </a:solidFill>
                <a:effectLst/>
                <a:uLnTx/>
                <a:uFillTx/>
                <a:latin typeface="Exo" panose="02000503000000000000" pitchFamily="2" charset="77"/>
                <a:ea typeface="+mn-ea"/>
                <a:cs typeface="+mn-cs"/>
              </a:rPr>
              <a:t> </a:t>
            </a:r>
            <a:r>
              <a:rPr kumimoji="0" lang="en-CA" sz="800" b="0" i="0" u="none" strike="noStrike" kern="1200" cap="none" spc="-15" normalizeH="0" baseline="0" noProof="0" dirty="0">
                <a:ln>
                  <a:noFill/>
                </a:ln>
                <a:solidFill>
                  <a:srgbClr val="494949">
                    <a:lumMod val="50000"/>
                  </a:srgbClr>
                </a:solidFill>
                <a:effectLst/>
                <a:uLnTx/>
                <a:uFillTx/>
                <a:latin typeface="Exo" panose="02000503000000000000" pitchFamily="2" charset="77"/>
                <a:ea typeface="+mn-ea"/>
                <a:cs typeface="+mn-cs"/>
              </a:rPr>
              <a:t>Grou</a:t>
            </a:r>
            <a:r>
              <a:rPr kumimoji="0" lang="en-CA"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mn-cs"/>
              </a:rPr>
              <a:t>p   |   </a:t>
            </a:r>
            <a:fld id="{81D60167-4931-47E6-BA6A-407CBD079E47}" type="slidenum">
              <a:rPr kumimoji="0" lang="en-CA" sz="800" b="0" i="0" u="none" strike="noStrike" kern="1200" cap="none" spc="6" normalizeH="0" baseline="0" noProof="0" smtClean="0">
                <a:ln>
                  <a:noFill/>
                </a:ln>
                <a:solidFill>
                  <a:srgbClr val="494949">
                    <a:lumMod val="50000"/>
                  </a:srgbClr>
                </a:solidFill>
                <a:effectLst/>
                <a:uLnTx/>
                <a:uFillTx/>
                <a:latin typeface="Exo" panose="02000503000000000000" pitchFamily="2" charset="77"/>
                <a:ea typeface="+mn-ea"/>
                <a:cs typeface="Arial" panose="020B0604020202020204" pitchFamily="34" charset="0"/>
              </a:rPr>
              <a:pPr marL="7701" marR="242975" lvl="0" indent="0" algn="r" defTabSz="554492" rtl="0" eaLnBrk="1" fontAlgn="auto" latinLnBrk="0" hangingPunct="1">
                <a:lnSpc>
                  <a:spcPct val="100000"/>
                </a:lnSpc>
                <a:spcBef>
                  <a:spcPts val="55"/>
                </a:spcBef>
                <a:spcAft>
                  <a:spcPts val="0"/>
                </a:spcAft>
                <a:buClrTx/>
                <a:buSzTx/>
                <a:buFontTx/>
                <a:buNone/>
                <a:tabLst/>
                <a:defRPr/>
              </a:pPr>
              <a:t>60</a:t>
            </a:fld>
            <a:endParaRPr kumimoji="0" sz="800" b="0" i="0" u="none" strike="noStrike" kern="1200" cap="none" spc="6" normalizeH="0" baseline="0" noProof="0" dirty="0">
              <a:ln>
                <a:noFill/>
              </a:ln>
              <a:solidFill>
                <a:srgbClr val="494949">
                  <a:lumMod val="50000"/>
                </a:srgbClr>
              </a:solidFill>
              <a:effectLst/>
              <a:uLnTx/>
              <a:uFillTx/>
              <a:latin typeface="Exo" panose="02000503000000000000" pitchFamily="2" charset="77"/>
              <a:ea typeface="+mn-ea"/>
              <a:cs typeface="Arial" panose="020B0604020202020204" pitchFamily="34" charset="0"/>
            </a:endParaRPr>
          </a:p>
        </p:txBody>
      </p:sp>
      <p:sp>
        <p:nvSpPr>
          <p:cNvPr id="6" name="TextBox 5">
            <a:extLst>
              <a:ext uri="{FF2B5EF4-FFF2-40B4-BE49-F238E27FC236}">
                <a16:creationId xmlns:a16="http://schemas.microsoft.com/office/drawing/2014/main" id="{AC7E6EDE-6F5B-E96F-F11B-D1B054FDBD92}"/>
              </a:ext>
            </a:extLst>
          </p:cNvPr>
          <p:cNvSpPr txBox="1"/>
          <p:nvPr/>
        </p:nvSpPr>
        <p:spPr>
          <a:xfrm>
            <a:off x="354106" y="2027319"/>
            <a:ext cx="5725319" cy="2276960"/>
          </a:xfrm>
          <a:prstGeom prst="rect">
            <a:avLst/>
          </a:prstGeom>
        </p:spPr>
        <p:txBody>
          <a:bodyPr wrap="square" lIns="0" tIns="0" rIns="0" bIns="0" numCol="1" spcCol="360000" rtlCol="0">
            <a:noAutofit/>
          </a:bodyPr>
          <a:lstStyle/>
          <a:p>
            <a:pPr>
              <a:spcBef>
                <a:spcPts val="300"/>
              </a:spcBef>
              <a:spcAft>
                <a:spcPts val="1200"/>
              </a:spcAft>
              <a:defRPr sz="1800" b="0" i="0" u="none" strike="noStrike" kern="0" cap="none" spc="0" baseline="0">
                <a:solidFill>
                  <a:srgbClr val="000000"/>
                </a:solidFill>
                <a:uFillTx/>
              </a:defRPr>
            </a:pPr>
            <a:r>
              <a:rPr lang="en-CA" sz="1400" b="1" dirty="0">
                <a:latin typeface="Roboto Condensed Light" panose="02000000000000000000" pitchFamily="2" charset="0"/>
                <a:ea typeface="Roboto Condensed Light" panose="02000000000000000000" pitchFamily="2" charset="0"/>
              </a:rPr>
              <a:t>Gather the required participants and </a:t>
            </a:r>
            <a:r>
              <a:rPr lang="en-CA" sz="1400" b="1" kern="0" dirty="0">
                <a:latin typeface="Roboto Condensed Light" panose="02000000000000000000" pitchFamily="2" charset="0"/>
                <a:ea typeface="Roboto Condensed Light" panose="02000000000000000000" pitchFamily="2" charset="0"/>
              </a:rPr>
              <a:t>leverage the </a:t>
            </a:r>
            <a:r>
              <a:rPr lang="en-CA" sz="1400" b="1" i="1" kern="0" dirty="0" err="1">
                <a:latin typeface="Roboto Condensed Light" panose="02000000000000000000" pitchFamily="2" charset="0"/>
                <a:ea typeface="Roboto Condensed Light" panose="02000000000000000000" pitchFamily="2" charset="0"/>
              </a:rPr>
              <a:t>iSSDLC</a:t>
            </a:r>
            <a:r>
              <a:rPr lang="en-CA" sz="1400" b="1" kern="0" dirty="0">
                <a:latin typeface="Roboto Condensed Light" panose="02000000000000000000" pitchFamily="2" charset="0"/>
                <a:ea typeface="Roboto Condensed Light" panose="02000000000000000000" pitchFamily="2" charset="0"/>
              </a:rPr>
              <a:t> </a:t>
            </a:r>
            <a:r>
              <a:rPr lang="en-CA" sz="1400" b="1" i="1" kern="0" dirty="0">
                <a:latin typeface="Roboto Condensed Light" panose="02000000000000000000" pitchFamily="2" charset="0"/>
                <a:ea typeface="Roboto Condensed Light" panose="02000000000000000000" pitchFamily="2" charset="0"/>
              </a:rPr>
              <a:t>Capabilities Assessment Tool</a:t>
            </a:r>
            <a:r>
              <a:rPr lang="en-CA" sz="1400" b="1" kern="0" dirty="0">
                <a:latin typeface="Roboto Condensed Light" panose="02000000000000000000" pitchFamily="2" charset="0"/>
                <a:ea typeface="Roboto Condensed Light" panose="02000000000000000000" pitchFamily="2" charset="0"/>
              </a:rPr>
              <a:t> to build your roadmap.</a:t>
            </a:r>
            <a:endParaRPr lang="en-CA" sz="1400" b="1" dirty="0">
              <a:latin typeface="Roboto Condensed Light" panose="02000000000000000000" pitchFamily="2" charset="0"/>
              <a:ea typeface="Roboto Condensed Light" panose="02000000000000000000" pitchFamily="2" charset="0"/>
            </a:endParaRPr>
          </a:p>
          <a:p>
            <a:pPr marL="342900" indent="-342900">
              <a:spcBef>
                <a:spcPts val="500"/>
              </a:spcBef>
              <a:buFont typeface="+mj-lt"/>
              <a:buAutoNum type="arabicPeriod"/>
              <a:defRPr sz="1800" b="0" i="0" u="none" strike="noStrike" kern="0" cap="none" spc="0" baseline="0">
                <a:solidFill>
                  <a:srgbClr val="000000"/>
                </a:solidFill>
                <a:uFillTx/>
              </a:defRPr>
            </a:pPr>
            <a:r>
              <a:rPr lang="en-CA" sz="1400" dirty="0">
                <a:latin typeface="Roboto Condensed Light" panose="02000000000000000000" pitchFamily="2" charset="0"/>
                <a:ea typeface="Roboto Condensed Light" panose="02000000000000000000" pitchFamily="2" charset="0"/>
              </a:rPr>
              <a:t>Develop and review your roadmap: </a:t>
            </a:r>
            <a:r>
              <a:rPr lang="en-US" sz="1400" kern="0" dirty="0">
                <a:latin typeface="Roboto Condensed Light" panose="02000000000000000000" pitchFamily="2" charset="0"/>
                <a:ea typeface="Roboto Condensed Light" panose="02000000000000000000" pitchFamily="2" charset="0"/>
              </a:rPr>
              <a:t>Schedule your initiatives using the Gantt chart.</a:t>
            </a:r>
          </a:p>
          <a:p>
            <a:pPr marL="342900" indent="-342900">
              <a:spcBef>
                <a:spcPts val="500"/>
              </a:spcBef>
              <a:buFont typeface="+mj-lt"/>
              <a:buAutoNum type="arabicPeriod"/>
              <a:defRPr sz="1800" b="0" i="0" u="none" strike="noStrike" kern="0" cap="none" spc="0" baseline="0">
                <a:solidFill>
                  <a:srgbClr val="000000"/>
                </a:solidFill>
                <a:uFillTx/>
              </a:defRPr>
            </a:pPr>
            <a:r>
              <a:rPr lang="en-US" sz="1400" kern="0" dirty="0">
                <a:latin typeface="Roboto Condensed Light" panose="02000000000000000000" pitchFamily="2" charset="0"/>
                <a:ea typeface="Roboto Condensed Light" panose="02000000000000000000" pitchFamily="2" charset="0"/>
              </a:rPr>
              <a:t>Develop and review your iSSDLC strategy deck: Finalize your communication deck, which will be leveraged to communicate to stakeholders.</a:t>
            </a:r>
          </a:p>
          <a:p>
            <a:pPr>
              <a:spcBef>
                <a:spcPts val="1200"/>
              </a:spcBef>
              <a:defRPr sz="1800" b="0" i="0" u="none" strike="noStrike" kern="0" cap="none" spc="0" baseline="0">
                <a:solidFill>
                  <a:srgbClr val="000000"/>
                </a:solidFill>
                <a:uFillTx/>
              </a:defRPr>
            </a:pPr>
            <a:r>
              <a:rPr lang="en-CA" sz="1400" dirty="0">
                <a:latin typeface="Roboto Condensed Light" panose="02000000000000000000" pitchFamily="2" charset="0"/>
                <a:ea typeface="Roboto Condensed Light" panose="02000000000000000000" pitchFamily="2" charset="0"/>
              </a:rPr>
              <a:t>The following slides provide more information on this step.</a:t>
            </a:r>
            <a:endParaRPr lang="en-US" sz="1400" b="1" kern="0" dirty="0">
              <a:latin typeface="Roboto Condensed Light" panose="02000000000000000000" pitchFamily="2" charset="0"/>
              <a:ea typeface="Roboto Condensed Light" panose="02000000000000000000" pitchFamily="2" charset="0"/>
            </a:endParaRPr>
          </a:p>
          <a:p>
            <a:pPr>
              <a:spcBef>
                <a:spcPts val="1200"/>
              </a:spcBef>
              <a:defRPr sz="1800" b="0" i="0" u="none" strike="noStrike" kern="0" cap="none" spc="0" baseline="0">
                <a:solidFill>
                  <a:srgbClr val="000000"/>
                </a:solidFill>
                <a:uFillTx/>
              </a:defRPr>
            </a:pPr>
            <a:endParaRPr lang="en-US" sz="1400" b="1" kern="0" dirty="0">
              <a:latin typeface="Roboto Condensed ExtraLight" panose="02000000000000000000" pitchFamily="2" charset="0"/>
              <a:ea typeface="Roboto Condensed ExtraLight" panose="02000000000000000000" pitchFamily="2" charset="0"/>
            </a:endParaRPr>
          </a:p>
        </p:txBody>
      </p:sp>
    </p:spTree>
    <p:extLst>
      <p:ext uri="{BB962C8B-B14F-4D97-AF65-F5344CB8AC3E}">
        <p14:creationId xmlns:p14="http://schemas.microsoft.com/office/powerpoint/2010/main" val="6337047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E0A78-B9A4-EC0A-F394-19A1ED4EC8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943E062-D91D-5EBE-A3FA-2985D71E56E5}"/>
              </a:ext>
            </a:extLst>
          </p:cNvPr>
          <p:cNvSpPr>
            <a:spLocks noGrp="1"/>
          </p:cNvSpPr>
          <p:nvPr>
            <p:ph type="title"/>
          </p:nvPr>
        </p:nvSpPr>
        <p:spPr>
          <a:xfrm>
            <a:off x="364992" y="547738"/>
            <a:ext cx="11305392" cy="671462"/>
          </a:xfrm>
        </p:spPr>
        <p:txBody>
          <a:bodyPr/>
          <a:lstStyle/>
          <a:p>
            <a:r>
              <a:rPr lang="en-US" dirty="0">
                <a:solidFill>
                  <a:srgbClr val="2576B7"/>
                </a:solidFill>
              </a:rPr>
              <a:t>3.2.1</a:t>
            </a:r>
            <a:r>
              <a:rPr lang="en-CA" dirty="0"/>
              <a:t> Schedule initiatives using the Gantt chart</a:t>
            </a:r>
            <a:endParaRPr lang="en-US" i="1" dirty="0">
              <a:solidFill>
                <a:schemeClr val="accent1"/>
              </a:solidFill>
            </a:endParaRPr>
          </a:p>
        </p:txBody>
      </p:sp>
      <p:pic>
        <p:nvPicPr>
          <p:cNvPr id="7" name="Picture 6">
            <a:extLst>
              <a:ext uri="{FF2B5EF4-FFF2-40B4-BE49-F238E27FC236}">
                <a16:creationId xmlns:a16="http://schemas.microsoft.com/office/drawing/2014/main" id="{7D28D220-E4BF-5B6E-0120-B55E19987E1D}"/>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5745018" y="2290103"/>
            <a:ext cx="6214610" cy="2277793"/>
          </a:xfrm>
          <a:prstGeom prst="rect">
            <a:avLst/>
          </a:prstGeom>
        </p:spPr>
      </p:pic>
      <p:sp>
        <p:nvSpPr>
          <p:cNvPr id="9" name="TextBox 8">
            <a:extLst>
              <a:ext uri="{FF2B5EF4-FFF2-40B4-BE49-F238E27FC236}">
                <a16:creationId xmlns:a16="http://schemas.microsoft.com/office/drawing/2014/main" id="{34E1FC40-B815-9551-90D0-0D572A0A4BF5}"/>
              </a:ext>
            </a:extLst>
          </p:cNvPr>
          <p:cNvSpPr txBox="1"/>
          <p:nvPr/>
        </p:nvSpPr>
        <p:spPr>
          <a:xfrm>
            <a:off x="233960" y="2038428"/>
            <a:ext cx="4519109" cy="3593291"/>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On the Gantt Chart tab for each initiative, enter an owner (the individual who will be primarily responsible for execution).</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The Owner column can help identify resourcing constraints. If a single individual is responsible for many different initiatives that are planned to start at the same time, consider staggering those initiatives.</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US"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Next, enter a start month and year for the initiative and the expected duration in months.</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CA" sz="1400" dirty="0">
                <a:solidFill>
                  <a:srgbClr val="000000"/>
                </a:solidFill>
                <a:latin typeface="Roboto Condensed Light" panose="02000000000000000000" pitchFamily="2" charset="0"/>
                <a:ea typeface="Roboto Condensed Light" panose="02000000000000000000" pitchFamily="2" charset="0"/>
              </a:rPr>
              <a:t>The expected hours column will help estimate the total FTE that will be required to complete the initiative.</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CA" sz="1400" dirty="0">
              <a:solidFill>
                <a:srgbClr val="000000"/>
              </a:solidFill>
              <a:latin typeface="Roboto Condensed Light" panose="02000000000000000000" pitchFamily="2" charset="0"/>
              <a:ea typeface="Roboto Condensed Light" panose="02000000000000000000" pitchFamily="2" charset="0"/>
            </a:endParaRPr>
          </a:p>
        </p:txBody>
      </p:sp>
      <p:sp>
        <p:nvSpPr>
          <p:cNvPr id="2" name="Right Arrow 18">
            <a:extLst>
              <a:ext uri="{FF2B5EF4-FFF2-40B4-BE49-F238E27FC236}">
                <a16:creationId xmlns:a16="http://schemas.microsoft.com/office/drawing/2014/main" id="{B9C9C278-3FB3-BB23-2C8D-FED34B747D79}"/>
              </a:ext>
              <a:ext uri="{C183D7F6-B498-43B3-948B-1728B52AA6E4}">
                <adec:decorative xmlns:adec="http://schemas.microsoft.com/office/drawing/2017/decorative" val="1"/>
              </a:ext>
            </a:extLst>
          </p:cNvPr>
          <p:cNvSpPr/>
          <p:nvPr/>
        </p:nvSpPr>
        <p:spPr>
          <a:xfrm rot="16200000">
            <a:off x="9140052" y="4857721"/>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4" name="Right Arrow 18">
            <a:extLst>
              <a:ext uri="{FF2B5EF4-FFF2-40B4-BE49-F238E27FC236}">
                <a16:creationId xmlns:a16="http://schemas.microsoft.com/office/drawing/2014/main" id="{5621A623-EFE0-ACE9-AB73-E2B18CC0074C}"/>
              </a:ext>
              <a:ext uri="{C183D7F6-B498-43B3-948B-1728B52AA6E4}">
                <adec:decorative xmlns:adec="http://schemas.microsoft.com/office/drawing/2017/decorative" val="1"/>
              </a:ext>
            </a:extLst>
          </p:cNvPr>
          <p:cNvSpPr/>
          <p:nvPr/>
        </p:nvSpPr>
        <p:spPr>
          <a:xfrm rot="16200000">
            <a:off x="10485376" y="4857721"/>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5" name="Right Arrow 18">
            <a:extLst>
              <a:ext uri="{FF2B5EF4-FFF2-40B4-BE49-F238E27FC236}">
                <a16:creationId xmlns:a16="http://schemas.microsoft.com/office/drawing/2014/main" id="{1DDB7063-4A54-9CBA-8BB8-63ABBFC76C64}"/>
              </a:ext>
              <a:ext uri="{C183D7F6-B498-43B3-948B-1728B52AA6E4}">
                <adec:decorative xmlns:adec="http://schemas.microsoft.com/office/drawing/2017/decorative" val="1"/>
              </a:ext>
            </a:extLst>
          </p:cNvPr>
          <p:cNvSpPr/>
          <p:nvPr/>
        </p:nvSpPr>
        <p:spPr>
          <a:xfrm rot="16200000">
            <a:off x="11245228" y="4857722"/>
            <a:ext cx="850312" cy="542128"/>
          </a:xfrm>
          <a:prstGeom prst="rightArrow">
            <a:avLst/>
          </a:prstGeom>
          <a:gradFill>
            <a:gsLst>
              <a:gs pos="0">
                <a:srgbClr val="2576B7"/>
              </a:gs>
              <a:gs pos="100000">
                <a:schemeClr val="accent1">
                  <a:lumMod val="60000"/>
                  <a:lumOff val="4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15691536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3E173-A32A-CC50-B917-FD76747CDD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2E964A-6FCA-555F-C235-3F78187639EE}"/>
              </a:ext>
            </a:extLst>
          </p:cNvPr>
          <p:cNvSpPr>
            <a:spLocks noGrp="1"/>
          </p:cNvSpPr>
          <p:nvPr>
            <p:ph type="title"/>
          </p:nvPr>
        </p:nvSpPr>
        <p:spPr>
          <a:xfrm>
            <a:off x="364992" y="547738"/>
            <a:ext cx="11305392" cy="671462"/>
          </a:xfrm>
        </p:spPr>
        <p:txBody>
          <a:bodyPr/>
          <a:lstStyle/>
          <a:p>
            <a:r>
              <a:rPr lang="en-US" dirty="0">
                <a:solidFill>
                  <a:srgbClr val="2576B7"/>
                </a:solidFill>
              </a:rPr>
              <a:t>3.2.2 </a:t>
            </a:r>
            <a:r>
              <a:rPr lang="en-CA" dirty="0"/>
              <a:t>Review your roadmap</a:t>
            </a:r>
            <a:endParaRPr lang="en-US" i="1" dirty="0">
              <a:solidFill>
                <a:schemeClr val="accent1"/>
              </a:solidFill>
            </a:endParaRPr>
          </a:p>
        </p:txBody>
      </p:sp>
      <p:pic>
        <p:nvPicPr>
          <p:cNvPr id="7" name="Picture 6">
            <a:extLst>
              <a:ext uri="{FF2B5EF4-FFF2-40B4-BE49-F238E27FC236}">
                <a16:creationId xmlns:a16="http://schemas.microsoft.com/office/drawing/2014/main" id="{AE4C3EDF-B4AA-6DDE-E37F-4FF1ADC2C6BA}"/>
              </a:ext>
            </a:extLst>
          </p:cNvPr>
          <p:cNvPicPr>
            <a:picLocks noChangeAspect="1"/>
          </p:cNvPicPr>
          <p:nvPr/>
        </p:nvPicPr>
        <p:blipFill>
          <a:blip r:embed="rId3"/>
          <a:stretch>
            <a:fillRect/>
          </a:stretch>
        </p:blipFill>
        <p:spPr>
          <a:xfrm>
            <a:off x="156337" y="3566921"/>
            <a:ext cx="11722702" cy="2743341"/>
          </a:xfrm>
          <a:prstGeom prst="rect">
            <a:avLst/>
          </a:prstGeom>
        </p:spPr>
      </p:pic>
      <p:sp>
        <p:nvSpPr>
          <p:cNvPr id="5" name="Text Placeholder 4">
            <a:extLst>
              <a:ext uri="{FF2B5EF4-FFF2-40B4-BE49-F238E27FC236}">
                <a16:creationId xmlns:a16="http://schemas.microsoft.com/office/drawing/2014/main" id="{597C4F59-33CB-1167-0CBF-78BD50A3ECCE}"/>
              </a:ext>
            </a:extLst>
          </p:cNvPr>
          <p:cNvSpPr txBox="1">
            <a:spLocks/>
          </p:cNvSpPr>
          <p:nvPr/>
        </p:nvSpPr>
        <p:spPr>
          <a:xfrm>
            <a:off x="364992" y="1535113"/>
            <a:ext cx="11611417" cy="1893887"/>
          </a:xfrm>
          <a:prstGeom prst="rect">
            <a:avLst/>
          </a:prstGeom>
        </p:spPr>
        <p:txBody>
          <a:bodyPr lIns="0" tIns="0" rIns="0" bIns="0" numCol="2" spcCol="360000"/>
          <a:lstStyle>
            <a:lvl1pPr marL="179388" indent="-179388" algn="l" defTabSz="914400" rtl="0" eaLnBrk="1" latinLnBrk="0" hangingPunct="1">
              <a:lnSpc>
                <a:spcPct val="110000"/>
              </a:lnSpc>
              <a:spcBef>
                <a:spcPts val="10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1pPr>
            <a:lvl2pPr marL="628650" indent="-171450"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2pPr>
            <a:lvl3pPr marL="1089025" indent="-174625"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3pPr>
            <a:lvl4pPr marL="1549400" indent="-177800"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4pPr>
            <a:lvl5pPr marL="2000250" indent="-171450"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buFont typeface="+mj-lt"/>
              <a:buAutoNum type="arabicPeriod"/>
            </a:pPr>
            <a:r>
              <a:rPr lang="en-US" kern="0" dirty="0"/>
              <a:t>Review the roadmap to ensure the outcome is reasonable. Consider:</a:t>
            </a:r>
          </a:p>
          <a:p>
            <a:pPr marL="792162" lvl="1" indent="-342900">
              <a:buFont typeface="+mj-lt"/>
              <a:buAutoNum type="alphaLcParenR"/>
            </a:pPr>
            <a:r>
              <a:rPr lang="en-US" kern="0" dirty="0"/>
              <a:t>Do you have other IT or business projects planned during this time frame that may impact your resourcing or scheduling?</a:t>
            </a:r>
          </a:p>
          <a:p>
            <a:pPr marL="792162" lvl="1" indent="-342900">
              <a:buFont typeface="+mj-lt"/>
              <a:buAutoNum type="alphaLcParenR"/>
            </a:pPr>
            <a:r>
              <a:rPr lang="en-US" kern="0" dirty="0"/>
              <a:t>Does your organization have regular change freezes throughout the year that will impact the schedule?</a:t>
            </a:r>
          </a:p>
          <a:p>
            <a:pPr marL="792162" lvl="1" indent="-342900">
              <a:buFont typeface="+mj-lt"/>
              <a:buAutoNum type="alphaLcParenR"/>
            </a:pPr>
            <a:r>
              <a:rPr lang="en-US" kern="0" dirty="0"/>
              <a:t>Do you have oversubscribed resources? You can filter the list on the Owner column to identify potential oversubscription of resources.</a:t>
            </a:r>
          </a:p>
          <a:p>
            <a:pPr marL="792162" lvl="1" indent="-342900">
              <a:buFont typeface="+mj-lt"/>
              <a:buAutoNum type="alphaLcParenR"/>
            </a:pPr>
            <a:r>
              <a:rPr lang="en-US" kern="0" dirty="0"/>
              <a:t>Have you considered any long vacations, sabbaticals, parental leaves, or other planned longer-term absences?</a:t>
            </a:r>
          </a:p>
          <a:p>
            <a:pPr marL="792162" lvl="1" indent="-342900">
              <a:buFont typeface="+mj-lt"/>
              <a:buAutoNum type="alphaLcParenR"/>
            </a:pPr>
            <a:r>
              <a:rPr lang="en-US" kern="0" dirty="0"/>
              <a:t>Are your initiatives adequately aligned to your budget cycle? For instance, if you have an initiative that is expected to make recommendations for capital expenditure, it must be completed prior to budget planning.</a:t>
            </a:r>
          </a:p>
          <a:p>
            <a:pPr marL="735012" lvl="1" indent="-285750"/>
            <a:endParaRPr lang="en-US" dirty="0">
              <a:solidFill>
                <a:srgbClr val="333333"/>
              </a:solidFill>
            </a:endParaRPr>
          </a:p>
        </p:txBody>
      </p:sp>
    </p:spTree>
    <p:extLst>
      <p:ext uri="{BB962C8B-B14F-4D97-AF65-F5344CB8AC3E}">
        <p14:creationId xmlns:p14="http://schemas.microsoft.com/office/powerpoint/2010/main" val="21270808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D0122-5AA5-A0BC-784B-BF5CE7136D3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F75EE4-5F31-65C8-5C32-4BBAAD2318E7}"/>
              </a:ext>
            </a:extLst>
          </p:cNvPr>
          <p:cNvSpPr>
            <a:spLocks noGrp="1"/>
          </p:cNvSpPr>
          <p:nvPr>
            <p:ph type="title"/>
          </p:nvPr>
        </p:nvSpPr>
        <p:spPr>
          <a:xfrm>
            <a:off x="364992" y="547738"/>
            <a:ext cx="11305392" cy="671462"/>
          </a:xfrm>
        </p:spPr>
        <p:txBody>
          <a:bodyPr/>
          <a:lstStyle/>
          <a:p>
            <a:r>
              <a:rPr lang="en-US" dirty="0">
                <a:solidFill>
                  <a:srgbClr val="2576B7"/>
                </a:solidFill>
              </a:rPr>
              <a:t>3.2.3</a:t>
            </a:r>
            <a:r>
              <a:rPr lang="en-CA" dirty="0"/>
              <a:t> Review expected roadmap progression</a:t>
            </a:r>
            <a:endParaRPr lang="en-US" i="1" dirty="0">
              <a:solidFill>
                <a:schemeClr val="accent1"/>
              </a:solidFill>
            </a:endParaRPr>
          </a:p>
        </p:txBody>
      </p:sp>
      <p:sp>
        <p:nvSpPr>
          <p:cNvPr id="9" name="TextBox 8">
            <a:extLst>
              <a:ext uri="{FF2B5EF4-FFF2-40B4-BE49-F238E27FC236}">
                <a16:creationId xmlns:a16="http://schemas.microsoft.com/office/drawing/2014/main" id="{BD69A439-52C9-3BE3-0DBB-E8EB07218025}"/>
              </a:ext>
            </a:extLst>
          </p:cNvPr>
          <p:cNvSpPr txBox="1"/>
          <p:nvPr/>
        </p:nvSpPr>
        <p:spPr>
          <a:xfrm>
            <a:off x="215853" y="1956947"/>
            <a:ext cx="11164353" cy="1031051"/>
          </a:xfrm>
          <a:prstGeom prst="rect">
            <a:avLst/>
          </a:prstGeom>
          <a:noFill/>
          <a:ln cap="flat">
            <a:noFill/>
          </a:ln>
        </p:spPr>
        <p:txBody>
          <a:bodyPr vert="horz" wrap="square" lIns="91440" tIns="45720" rIns="91440" bIns="45720" anchor="t" anchorCtr="0" compatLnSpc="1">
            <a:spAutoFit/>
          </a:bodyPr>
          <a:lstStyle/>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Once the capabilities assessment has been completed, you can review your iSSDLC current and target maturity state in the Results tab (Tab 8).</a:t>
            </a: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endParaRPr lang="en-US" sz="1400" dirty="0">
              <a:solidFill>
                <a:srgbClr val="000000"/>
              </a:solidFill>
              <a:latin typeface="Roboto Condensed Light" panose="02000000000000000000" pitchFamily="2" charset="0"/>
              <a:ea typeface="Roboto Condensed Light" panose="02000000000000000000" pitchFamily="2" charset="0"/>
            </a:endParaRPr>
          </a:p>
          <a:p>
            <a:pPr marL="285750" lvl="0" indent="-285750" defTabSz="914400">
              <a:spcBef>
                <a:spcPts val="300"/>
              </a:spcBef>
              <a:buFont typeface="Arial" panose="020B0604020202020204" pitchFamily="34" charset="0"/>
              <a:buChar char="•"/>
              <a:defRPr sz="1800" b="0" i="0" u="none" strike="noStrike" kern="0" cap="none" spc="0" baseline="0">
                <a:solidFill>
                  <a:srgbClr val="000000"/>
                </a:solidFill>
                <a:uFillTx/>
              </a:defRPr>
            </a:pPr>
            <a:r>
              <a:rPr lang="en-US" sz="1400" dirty="0">
                <a:solidFill>
                  <a:srgbClr val="000000"/>
                </a:solidFill>
                <a:latin typeface="Roboto Condensed Light" panose="02000000000000000000" pitchFamily="2" charset="0"/>
                <a:ea typeface="Roboto Condensed Light" panose="02000000000000000000" pitchFamily="2" charset="0"/>
              </a:rPr>
              <a:t>Review the roadmap progression along with the associated charts that visualize your maturity for each SDLC phase. Remember that the expected maturity at the end of the roadmap assumes that you will complete all the initiatives (including wave 4 initiatives).</a:t>
            </a:r>
            <a:endParaRPr lang="en-CA" sz="1400" dirty="0">
              <a:solidFill>
                <a:srgbClr val="000000"/>
              </a:solidFill>
              <a:latin typeface="Roboto Condensed Light" panose="02000000000000000000" pitchFamily="2" charset="0"/>
              <a:ea typeface="Roboto Condensed Light" panose="02000000000000000000" pitchFamily="2" charset="0"/>
            </a:endParaRPr>
          </a:p>
        </p:txBody>
      </p:sp>
      <p:pic>
        <p:nvPicPr>
          <p:cNvPr id="4" name="Picture 3">
            <a:extLst>
              <a:ext uri="{FF2B5EF4-FFF2-40B4-BE49-F238E27FC236}">
                <a16:creationId xmlns:a16="http://schemas.microsoft.com/office/drawing/2014/main" id="{88C907F8-A912-C2CD-AAF1-AAF92E8BB063}"/>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902656" y="3263774"/>
            <a:ext cx="8331880" cy="912912"/>
          </a:xfrm>
          <a:prstGeom prst="rect">
            <a:avLst/>
          </a:prstGeom>
        </p:spPr>
      </p:pic>
      <p:pic>
        <p:nvPicPr>
          <p:cNvPr id="6" name="Picture 5">
            <a:extLst>
              <a:ext uri="{FF2B5EF4-FFF2-40B4-BE49-F238E27FC236}">
                <a16:creationId xmlns:a16="http://schemas.microsoft.com/office/drawing/2014/main" id="{5DBABCD1-7965-484B-5B61-5060E250BA63}"/>
              </a:ext>
            </a:extLst>
          </p:cNvPr>
          <p:cNvPicPr>
            <a:picLocks noChangeAspect="1"/>
          </p:cNvPicPr>
          <p:nvPr/>
        </p:nvPicPr>
        <p:blipFill>
          <a:blip r:embed="rId4"/>
          <a:stretch>
            <a:fillRect/>
          </a:stretch>
        </p:blipFill>
        <p:spPr>
          <a:xfrm>
            <a:off x="1794042" y="4285329"/>
            <a:ext cx="7220321" cy="2476627"/>
          </a:xfrm>
          <a:prstGeom prst="rect">
            <a:avLst/>
          </a:prstGeom>
        </p:spPr>
      </p:pic>
    </p:spTree>
    <p:extLst>
      <p:ext uri="{BB962C8B-B14F-4D97-AF65-F5344CB8AC3E}">
        <p14:creationId xmlns:p14="http://schemas.microsoft.com/office/powerpoint/2010/main" val="39005820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9ED73-5B85-8DC1-B07A-2D3FC3712A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2FD74-C8E6-E038-217A-A4A8E5D6851A}"/>
              </a:ext>
            </a:extLst>
          </p:cNvPr>
          <p:cNvSpPr>
            <a:spLocks noGrp="1"/>
          </p:cNvSpPr>
          <p:nvPr>
            <p:ph type="title"/>
          </p:nvPr>
        </p:nvSpPr>
        <p:spPr>
          <a:xfrm>
            <a:off x="364992" y="547738"/>
            <a:ext cx="11305392" cy="671462"/>
          </a:xfrm>
        </p:spPr>
        <p:txBody>
          <a:bodyPr/>
          <a:lstStyle/>
          <a:p>
            <a:r>
              <a:rPr lang="en-US" dirty="0">
                <a:solidFill>
                  <a:srgbClr val="2576B7"/>
                </a:solidFill>
              </a:rPr>
              <a:t>3.3 </a:t>
            </a:r>
            <a:r>
              <a:rPr lang="en-CA" dirty="0"/>
              <a:t>Develop </a:t>
            </a:r>
            <a:r>
              <a:rPr lang="en-CA" dirty="0" err="1"/>
              <a:t>iSSDLC</a:t>
            </a:r>
            <a:r>
              <a:rPr lang="en-CA" dirty="0"/>
              <a:t> strategy deck</a:t>
            </a:r>
            <a:endParaRPr lang="en-US" i="1" dirty="0">
              <a:solidFill>
                <a:schemeClr val="accent1"/>
              </a:solidFill>
            </a:endParaRPr>
          </a:p>
        </p:txBody>
      </p:sp>
      <p:sp>
        <p:nvSpPr>
          <p:cNvPr id="4" name="Text Placeholder 4">
            <a:extLst>
              <a:ext uri="{FF2B5EF4-FFF2-40B4-BE49-F238E27FC236}">
                <a16:creationId xmlns:a16="http://schemas.microsoft.com/office/drawing/2014/main" id="{EB35603E-DC36-1FB6-D33C-39D7E01611BC}"/>
              </a:ext>
            </a:extLst>
          </p:cNvPr>
          <p:cNvSpPr txBox="1">
            <a:spLocks/>
          </p:cNvSpPr>
          <p:nvPr/>
        </p:nvSpPr>
        <p:spPr>
          <a:xfrm>
            <a:off x="364992" y="1501590"/>
            <a:ext cx="5373542" cy="4304647"/>
          </a:xfrm>
          <a:prstGeom prst="rect">
            <a:avLst/>
          </a:prstGeom>
        </p:spPr>
        <p:txBody>
          <a:bodyPr lIns="0" tIns="0" rIns="0" bIns="0" numCol="1" spcCol="292608"/>
          <a:lstStyle>
            <a:lvl1pPr marL="179388" indent="-179388" algn="l" defTabSz="914400" rtl="0" eaLnBrk="1" latinLnBrk="0" hangingPunct="1">
              <a:lnSpc>
                <a:spcPct val="110000"/>
              </a:lnSpc>
              <a:spcBef>
                <a:spcPts val="10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1pPr>
            <a:lvl2pPr marL="628650" indent="-171450"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2pPr>
            <a:lvl3pPr marL="1089025" indent="-174625"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3pPr>
            <a:lvl4pPr marL="1549400" indent="-177800"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4pPr>
            <a:lvl5pPr marL="2000250" indent="-171450" algn="l" defTabSz="914400" rtl="0" eaLnBrk="1" latinLnBrk="0" hangingPunct="1">
              <a:lnSpc>
                <a:spcPct val="110000"/>
              </a:lnSpc>
              <a:spcBef>
                <a:spcPts val="500"/>
              </a:spcBef>
              <a:buFont typeface="Arial" panose="020B0604020202020204" pitchFamily="34" charset="0"/>
              <a:buChar char="•"/>
              <a:tabLst/>
              <a:defRPr sz="1400" kern="1200">
                <a:solidFill>
                  <a:srgbClr val="000000"/>
                </a:solidFill>
                <a:latin typeface="Roboto Condensed Light" panose="02000000000000000000" pitchFamily="2" charset="0"/>
                <a:ea typeface="Roboto Condensed Light"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buFont typeface="+mj-lt"/>
              <a:buAutoNum type="arabicPeriod"/>
            </a:pPr>
            <a:r>
              <a:rPr lang="en-US" kern="0" dirty="0"/>
              <a:t>Review the </a:t>
            </a:r>
            <a:r>
              <a:rPr lang="en-US" kern="0" dirty="0" err="1"/>
              <a:t>iSSDLC</a:t>
            </a:r>
            <a:r>
              <a:rPr lang="en-US" kern="0" dirty="0"/>
              <a:t> strategy deck. Identify slides that contain instructions in red text boxes. Follow the instructions then delete the boxes.</a:t>
            </a:r>
          </a:p>
          <a:p>
            <a:pPr marL="176213" indent="0">
              <a:buFont typeface="Arial" panose="020B0604020202020204" pitchFamily="34" charset="0"/>
              <a:buNone/>
            </a:pPr>
            <a:r>
              <a:rPr lang="en-US" kern="0" dirty="0"/>
              <a:t>Most slides only require you to copy and paste screenshots or tables from your tools into the slides. However, some require that you customize or add text explanations that reflect unique findings. </a:t>
            </a:r>
          </a:p>
          <a:p>
            <a:pPr marL="176213" indent="0">
              <a:buFont typeface="Arial" panose="020B0604020202020204" pitchFamily="34" charset="0"/>
              <a:buNone/>
            </a:pPr>
            <a:r>
              <a:rPr lang="en-US" kern="0" dirty="0"/>
              <a:t>Pay close attention to the Next Steps slide at the end of the deck. This will likely have a large impact on your audience.</a:t>
            </a:r>
          </a:p>
          <a:p>
            <a:pPr marL="176213" indent="-176213">
              <a:buFont typeface="+mj-lt"/>
              <a:buAutoNum type="arabicPeriod" startAt="2"/>
            </a:pPr>
            <a:r>
              <a:rPr lang="en-US" kern="0" dirty="0"/>
              <a:t>Once you customize the existing slides, consider whether you need additional slides. For instance, you may wish to add more context to the risk assessment or pressure analysis diagrams or provide details on high-priority initiatives.</a:t>
            </a:r>
          </a:p>
          <a:p>
            <a:pPr marL="176213" indent="-176213">
              <a:buFont typeface="+mj-lt"/>
              <a:buAutoNum type="arabicPeriod" startAt="2"/>
            </a:pPr>
            <a:r>
              <a:rPr lang="en-US" kern="0" dirty="0"/>
              <a:t>Consider developing targeted presentations for different audiences. Senior management may only want an executive summary, while the CIO may be more interested in the methodology used to develop the strategy.</a:t>
            </a:r>
          </a:p>
          <a:p>
            <a:pPr marL="176213" lvl="1" indent="0">
              <a:buFont typeface="Arial" panose="020B0604020202020204" pitchFamily="34" charset="0"/>
              <a:buNone/>
            </a:pPr>
            <a:r>
              <a:rPr lang="en-US" kern="0" dirty="0"/>
              <a:t>A useful tactic is to build a core presentation with an appendix of additional slides to supplement the deck as needed.</a:t>
            </a:r>
          </a:p>
          <a:p>
            <a:pPr marL="176213" indent="-176213">
              <a:buFont typeface="+mj-lt"/>
              <a:buAutoNum type="arabicPeriod" startAt="2"/>
            </a:pPr>
            <a:endParaRPr lang="en-US" dirty="0">
              <a:solidFill>
                <a:srgbClr val="333333"/>
              </a:solidFill>
            </a:endParaRPr>
          </a:p>
        </p:txBody>
      </p:sp>
      <p:pic>
        <p:nvPicPr>
          <p:cNvPr id="6" name="Picture 5">
            <a:extLst>
              <a:ext uri="{FF2B5EF4-FFF2-40B4-BE49-F238E27FC236}">
                <a16:creationId xmlns:a16="http://schemas.microsoft.com/office/drawing/2014/main" id="{98C1D44B-E6D3-7427-092B-C0C808173AD1}"/>
              </a:ext>
            </a:extLst>
          </p:cNvPr>
          <p:cNvPicPr>
            <a:picLocks noChangeAspect="1"/>
          </p:cNvPicPr>
          <p:nvPr/>
        </p:nvPicPr>
        <p:blipFill>
          <a:blip r:embed="rId3"/>
          <a:stretch>
            <a:fillRect/>
          </a:stretch>
        </p:blipFill>
        <p:spPr>
          <a:xfrm>
            <a:off x="6544386" y="2970120"/>
            <a:ext cx="5505777" cy="3026240"/>
          </a:xfrm>
          <a:prstGeom prst="rect">
            <a:avLst/>
          </a:prstGeom>
        </p:spPr>
      </p:pic>
      <p:pic>
        <p:nvPicPr>
          <p:cNvPr id="7" name="Picture 6">
            <a:extLst>
              <a:ext uri="{FF2B5EF4-FFF2-40B4-BE49-F238E27FC236}">
                <a16:creationId xmlns:a16="http://schemas.microsoft.com/office/drawing/2014/main" id="{DCD632BF-3E70-0337-E3F4-73A0088A7C11}"/>
              </a:ext>
            </a:extLst>
          </p:cNvPr>
          <p:cNvPicPr>
            <a:picLocks noChangeAspect="1"/>
          </p:cNvPicPr>
          <p:nvPr/>
        </p:nvPicPr>
        <p:blipFill>
          <a:blip r:embed="rId4"/>
          <a:stretch>
            <a:fillRect/>
          </a:stretch>
        </p:blipFill>
        <p:spPr>
          <a:xfrm>
            <a:off x="6096794" y="1898794"/>
            <a:ext cx="5208775" cy="2892264"/>
          </a:xfrm>
          <a:prstGeom prst="rect">
            <a:avLst/>
          </a:prstGeom>
        </p:spPr>
      </p:pic>
    </p:spTree>
    <p:extLst>
      <p:ext uri="{BB962C8B-B14F-4D97-AF65-F5344CB8AC3E}">
        <p14:creationId xmlns:p14="http://schemas.microsoft.com/office/powerpoint/2010/main" val="41196635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241DE5-C440-AB43-B5ED-9A0E88324E93}"/>
              </a:ext>
            </a:extLst>
          </p:cNvPr>
          <p:cNvSpPr>
            <a:spLocks noGrp="1"/>
          </p:cNvSpPr>
          <p:nvPr>
            <p:ph type="body" sz="quarter" idx="33"/>
          </p:nvPr>
        </p:nvSpPr>
        <p:spPr>
          <a:xfrm>
            <a:off x="380302" y="1845632"/>
            <a:ext cx="6604359" cy="4085076"/>
          </a:xfrm>
        </p:spPr>
        <p:txBody>
          <a:bodyPr/>
          <a:lstStyle/>
          <a:p>
            <a:pPr marL="0" indent="0">
              <a:lnSpc>
                <a:spcPct val="100000"/>
              </a:lnSpc>
              <a:buNone/>
            </a:pPr>
            <a:r>
              <a:rPr lang="en-CA" b="1" dirty="0"/>
              <a:t>Knowledge gained:</a:t>
            </a:r>
          </a:p>
          <a:p>
            <a:pPr>
              <a:lnSpc>
                <a:spcPct val="100000"/>
              </a:lnSpc>
              <a:spcBef>
                <a:spcPts val="300"/>
              </a:spcBef>
            </a:pPr>
            <a:r>
              <a:rPr lang="en-US" sz="1400" dirty="0">
                <a:solidFill>
                  <a:srgbClr val="000000"/>
                </a:solidFill>
                <a:latin typeface="Roboto Condensed Light" panose="02000000000000000000" pitchFamily="2" charset="0"/>
                <a:ea typeface="Roboto Condensed Light" panose="02000000000000000000" pitchFamily="2" charset="0"/>
              </a:rPr>
              <a:t>Defined goals around business opportunities supported and security threats mitigated through a modernized application security program.</a:t>
            </a:r>
          </a:p>
          <a:p>
            <a:pPr>
              <a:lnSpc>
                <a:spcPct val="100000"/>
              </a:lnSpc>
              <a:spcBef>
                <a:spcPts val="300"/>
              </a:spcBef>
            </a:pPr>
            <a:r>
              <a:rPr lang="en-US" dirty="0"/>
              <a:t>Enhanced understanding of the application security capability landscape required for an intelligent secure software development lifecycle.</a:t>
            </a:r>
          </a:p>
          <a:p>
            <a:pPr>
              <a:lnSpc>
                <a:spcPct val="100000"/>
              </a:lnSpc>
              <a:spcBef>
                <a:spcPts val="300"/>
              </a:spcBef>
            </a:pPr>
            <a:r>
              <a:rPr lang="en-US" sz="1400" dirty="0">
                <a:solidFill>
                  <a:srgbClr val="000000"/>
                </a:solidFill>
                <a:latin typeface="Roboto Condensed Light" panose="02000000000000000000" pitchFamily="2" charset="0"/>
                <a:ea typeface="Roboto Condensed Light" panose="02000000000000000000" pitchFamily="2" charset="0"/>
              </a:rPr>
              <a:t>Developed maturity model that fosters automation and AI readiness.</a:t>
            </a:r>
          </a:p>
          <a:p>
            <a:pPr>
              <a:lnSpc>
                <a:spcPct val="100000"/>
              </a:lnSpc>
              <a:spcBef>
                <a:spcPts val="300"/>
              </a:spcBef>
            </a:pPr>
            <a:r>
              <a:rPr lang="en-US" sz="1400" dirty="0">
                <a:solidFill>
                  <a:srgbClr val="000000"/>
                </a:solidFill>
                <a:latin typeface="Roboto Condensed Light" panose="02000000000000000000" pitchFamily="2" charset="0"/>
                <a:ea typeface="Roboto Condensed Light" panose="02000000000000000000" pitchFamily="2" charset="0"/>
              </a:rPr>
              <a:t>Improved prioritization framework based on a cost-benefit analysis to assist in the development of an application security roadmap.</a:t>
            </a:r>
          </a:p>
          <a:p>
            <a:pPr>
              <a:lnSpc>
                <a:spcPct val="100000"/>
              </a:lnSpc>
              <a:spcBef>
                <a:spcPts val="300"/>
              </a:spcBef>
            </a:pPr>
            <a:r>
              <a:rPr lang="en-US" dirty="0"/>
              <a:t>Defined application security governance model, with clear roles and responsibilities.</a:t>
            </a:r>
          </a:p>
          <a:p>
            <a:pPr marL="0" indent="0">
              <a:lnSpc>
                <a:spcPct val="100000"/>
              </a:lnSpc>
              <a:spcBef>
                <a:spcPts val="300"/>
              </a:spcBef>
              <a:buNone/>
            </a:pPr>
            <a:endParaRPr lang="en-US" b="1" dirty="0"/>
          </a:p>
          <a:p>
            <a:pPr marL="0" indent="0">
              <a:lnSpc>
                <a:spcPct val="100000"/>
              </a:lnSpc>
              <a:spcBef>
                <a:spcPts val="300"/>
              </a:spcBef>
              <a:buNone/>
            </a:pPr>
            <a:r>
              <a:rPr lang="en-CA" b="1" dirty="0"/>
              <a:t>Processes optimized:</a:t>
            </a:r>
          </a:p>
          <a:p>
            <a:pPr>
              <a:lnSpc>
                <a:spcPct val="100000"/>
              </a:lnSpc>
              <a:spcBef>
                <a:spcPts val="300"/>
              </a:spcBef>
            </a:pPr>
            <a:r>
              <a:rPr lang="en-US" dirty="0"/>
              <a:t>Application security governance and accountability</a:t>
            </a:r>
          </a:p>
          <a:p>
            <a:pPr>
              <a:lnSpc>
                <a:spcPct val="100000"/>
              </a:lnSpc>
              <a:spcBef>
                <a:spcPts val="300"/>
              </a:spcBef>
            </a:pPr>
            <a:r>
              <a:rPr lang="en-US" dirty="0"/>
              <a:t>Maturity assessment for application security</a:t>
            </a:r>
            <a:endParaRPr lang="en-CA" dirty="0"/>
          </a:p>
          <a:p>
            <a:pPr marL="0" indent="0">
              <a:lnSpc>
                <a:spcPct val="100000"/>
              </a:lnSpc>
              <a:spcBef>
                <a:spcPts val="1800"/>
              </a:spcBef>
              <a:buNone/>
            </a:pPr>
            <a:r>
              <a:rPr lang="en-CA" b="1" dirty="0"/>
              <a:t>Deliverables completed:</a:t>
            </a:r>
          </a:p>
          <a:p>
            <a:pPr>
              <a:lnSpc>
                <a:spcPct val="100000"/>
              </a:lnSpc>
              <a:spcBef>
                <a:spcPts val="300"/>
              </a:spcBef>
            </a:pPr>
            <a:r>
              <a:rPr lang="en-US" dirty="0"/>
              <a:t>iSSDLC Capabilities Assessment Tool</a:t>
            </a:r>
          </a:p>
          <a:p>
            <a:pPr>
              <a:lnSpc>
                <a:spcPct val="100000"/>
              </a:lnSpc>
              <a:spcBef>
                <a:spcPts val="300"/>
              </a:spcBef>
            </a:pPr>
            <a:r>
              <a:rPr lang="en-US" dirty="0"/>
              <a:t>iSSDLC Strategic Plan Template</a:t>
            </a:r>
            <a:endParaRPr lang="en-CA" dirty="0"/>
          </a:p>
        </p:txBody>
      </p:sp>
      <p:sp>
        <p:nvSpPr>
          <p:cNvPr id="3" name="TextBox 2">
            <a:extLst>
              <a:ext uri="{FF2B5EF4-FFF2-40B4-BE49-F238E27FC236}">
                <a16:creationId xmlns:a16="http://schemas.microsoft.com/office/drawing/2014/main" id="{0AE77EA5-1BE7-CC0D-5FCD-1014747AAB35}"/>
              </a:ext>
            </a:extLst>
          </p:cNvPr>
          <p:cNvSpPr txBox="1"/>
          <p:nvPr/>
        </p:nvSpPr>
        <p:spPr>
          <a:xfrm>
            <a:off x="8460606" y="739094"/>
            <a:ext cx="3128212" cy="1668992"/>
          </a:xfrm>
          <a:prstGeom prst="rect">
            <a:avLst/>
          </a:prstGeom>
        </p:spPr>
        <p:txBody>
          <a:bodyPr vert="horz" wrap="square" lIns="0" tIns="6931" rIns="0" bIns="0" rtlCol="0">
            <a:noAutofit/>
          </a:bodyPr>
          <a:lstStyle/>
          <a:p>
            <a:pPr rtl="0">
              <a:lnSpc>
                <a:spcPct val="110000"/>
              </a:lnSpc>
              <a:buSzPts val="2800"/>
              <a:buFont typeface="Arial" panose="020B0604020202020204" pitchFamily="34" charset="0"/>
              <a:buNone/>
            </a:pPr>
            <a:r>
              <a:rPr lang="en-US" sz="2000" b="1" i="0" u="none" strike="noStrike" kern="1200" baseline="0" dirty="0">
                <a:solidFill>
                  <a:schemeClr val="bg1"/>
                </a:solidFill>
                <a:latin typeface="Montserrat SemiBold" pitchFamily="2" charset="77"/>
              </a:rPr>
              <a:t>If you would like additional support, have our analysts guide you through other phases as part of an Info-Tech workshop.</a:t>
            </a:r>
          </a:p>
        </p:txBody>
      </p:sp>
      <p:sp>
        <p:nvSpPr>
          <p:cNvPr id="4" name="TextBox 3">
            <a:extLst>
              <a:ext uri="{FF2B5EF4-FFF2-40B4-BE49-F238E27FC236}">
                <a16:creationId xmlns:a16="http://schemas.microsoft.com/office/drawing/2014/main" id="{831DEBB4-9717-F33B-30C8-B0449623CED2}"/>
              </a:ext>
            </a:extLst>
          </p:cNvPr>
          <p:cNvSpPr txBox="1"/>
          <p:nvPr/>
        </p:nvSpPr>
        <p:spPr>
          <a:xfrm>
            <a:off x="8441356" y="2914403"/>
            <a:ext cx="3628724" cy="1481761"/>
          </a:xfrm>
          <a:prstGeom prst="rect">
            <a:avLst/>
          </a:prstGeom>
        </p:spPr>
        <p:txBody>
          <a:bodyPr vert="horz" wrap="square" lIns="0" tIns="6931" rIns="0" bIns="0" rtlCol="0">
            <a:noAutofit/>
          </a:bodyPr>
          <a:lstStyle/>
          <a:p>
            <a:pPr marL="7701" marR="242975" lvl="0" indent="0" algn="l" defTabSz="554492" rtl="0" eaLnBrk="1" fontAlgn="auto" latinLnBrk="0" hangingPunct="1">
              <a:lnSpc>
                <a:spcPct val="110000"/>
              </a:lnSpc>
              <a:spcBef>
                <a:spcPts val="1000"/>
              </a:spcBef>
              <a:spcAft>
                <a:spcPts val="0"/>
              </a:spcAft>
              <a:buClrTx/>
              <a:buSzTx/>
              <a:buFontTx/>
              <a:buNone/>
              <a:tabLst/>
              <a:defRPr/>
            </a:pPr>
            <a:r>
              <a:rPr lang="en-US" sz="1600" dirty="0">
                <a:solidFill>
                  <a:schemeClr val="bg1"/>
                </a:solidFill>
                <a:latin typeface="Exo" panose="02000503000000000000" pitchFamily="2" charset="77"/>
              </a:rPr>
              <a:t>Contact your account representative for more information.</a:t>
            </a:r>
          </a:p>
          <a:p>
            <a:pPr marL="7701" marR="242975" lvl="0" indent="0" algn="l" defTabSz="554492" rtl="0" eaLnBrk="1" fontAlgn="auto" latinLnBrk="0" hangingPunct="1">
              <a:lnSpc>
                <a:spcPct val="110000"/>
              </a:lnSpc>
              <a:spcBef>
                <a:spcPts val="1000"/>
              </a:spcBef>
              <a:spcAft>
                <a:spcPts val="0"/>
              </a:spcAft>
              <a:buClrTx/>
              <a:buSzTx/>
              <a:buFontTx/>
              <a:buNone/>
              <a:tabLst/>
              <a:defRPr/>
            </a:pPr>
            <a:r>
              <a:rPr lang="en-US" sz="1600" dirty="0">
                <a:solidFill>
                  <a:schemeClr val="bg1"/>
                </a:solidFill>
                <a:latin typeface="Exo" panose="02000503000000000000" pitchFamily="2" charset="77"/>
              </a:rPr>
              <a:t>workshops@infotech.com  </a:t>
            </a:r>
            <a:br>
              <a:rPr lang="en-US" sz="1600" dirty="0">
                <a:solidFill>
                  <a:schemeClr val="bg1"/>
                </a:solidFill>
                <a:latin typeface="Exo" panose="02000503000000000000" pitchFamily="2" charset="77"/>
              </a:rPr>
            </a:br>
            <a:r>
              <a:rPr lang="en-US" sz="1600" dirty="0">
                <a:solidFill>
                  <a:schemeClr val="bg1"/>
                </a:solidFill>
                <a:latin typeface="Exo" panose="02000503000000000000" pitchFamily="2" charset="77"/>
              </a:rPr>
              <a:t>1-888-670-8889</a:t>
            </a: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chemeClr val="bg1"/>
              </a:solidFill>
              <a:latin typeface="Exo" panose="02000503000000000000" pitchFamily="2" charset="77"/>
            </a:endParaRPr>
          </a:p>
        </p:txBody>
      </p:sp>
    </p:spTree>
    <p:extLst>
      <p:ext uri="{BB962C8B-B14F-4D97-AF65-F5344CB8AC3E}">
        <p14:creationId xmlns:p14="http://schemas.microsoft.com/office/powerpoint/2010/main" val="15062491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3ACC36-DFFC-7C1F-4F4E-65968E078B42}"/>
              </a:ext>
            </a:extLst>
          </p:cNvPr>
          <p:cNvSpPr txBox="1"/>
          <p:nvPr/>
        </p:nvSpPr>
        <p:spPr>
          <a:xfrm>
            <a:off x="362227" y="1163682"/>
            <a:ext cx="4059302" cy="1481761"/>
          </a:xfrm>
          <a:prstGeom prst="rect">
            <a:avLst/>
          </a:prstGeom>
        </p:spPr>
        <p:txBody>
          <a:bodyPr vert="horz" wrap="square" lIns="0" tIns="6931" rIns="0" bIns="0" rtlCol="0">
            <a:noAutofit/>
          </a:bodyPr>
          <a:lstStyle/>
          <a:p>
            <a:pPr marL="7701" marR="242975" lvl="0" indent="0" algn="l" defTabSz="554492" rtl="0" eaLnBrk="1" fontAlgn="auto" latinLnBrk="0" hangingPunct="1">
              <a:lnSpc>
                <a:spcPct val="110000"/>
              </a:lnSpc>
              <a:spcBef>
                <a:spcPts val="1000"/>
              </a:spcBef>
              <a:spcAft>
                <a:spcPts val="0"/>
              </a:spcAft>
              <a:buClrTx/>
              <a:buSzTx/>
              <a:buFontTx/>
              <a:buNone/>
              <a:tabLst/>
              <a:defRPr/>
            </a:pPr>
            <a:r>
              <a:rPr lang="en-US" sz="1600" dirty="0">
                <a:solidFill>
                  <a:srgbClr val="000000"/>
                </a:solidFill>
                <a:latin typeface="Exo" panose="02000503000000000000" pitchFamily="2" charset="77"/>
              </a:rPr>
              <a:t>If you would like additional support, have our analysts guide you through other phases as part of an Info-Tech Workshop.</a:t>
            </a: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rgbClr val="000000"/>
              </a:solidFill>
              <a:latin typeface="Exo" panose="02000503000000000000" pitchFamily="2" charset="77"/>
            </a:endParaRP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rgbClr val="000000"/>
              </a:solidFill>
              <a:latin typeface="Exo" panose="02000503000000000000" pitchFamily="2" charset="77"/>
            </a:endParaRPr>
          </a:p>
          <a:p>
            <a:pPr marL="7701" marR="242975" lvl="0" indent="0" algn="l" defTabSz="554492" rtl="0" eaLnBrk="1" fontAlgn="auto" latinLnBrk="0" hangingPunct="1">
              <a:lnSpc>
                <a:spcPct val="110000"/>
              </a:lnSpc>
              <a:spcBef>
                <a:spcPts val="1000"/>
              </a:spcBef>
              <a:spcAft>
                <a:spcPts val="0"/>
              </a:spcAft>
              <a:buClrTx/>
              <a:buSzTx/>
              <a:buFontTx/>
              <a:buNone/>
              <a:tabLst/>
              <a:defRPr/>
            </a:pPr>
            <a:endParaRPr lang="en-US" sz="1600" dirty="0">
              <a:solidFill>
                <a:srgbClr val="000000"/>
              </a:solidFill>
              <a:latin typeface="Exo" panose="02000503000000000000" pitchFamily="2" charset="77"/>
            </a:endParaRPr>
          </a:p>
        </p:txBody>
      </p:sp>
      <p:sp>
        <p:nvSpPr>
          <p:cNvPr id="56" name="Text Placeholder 55"/>
          <p:cNvSpPr>
            <a:spLocks noGrp="1"/>
          </p:cNvSpPr>
          <p:nvPr>
            <p:ph type="body" sz="quarter" idx="36"/>
          </p:nvPr>
        </p:nvSpPr>
        <p:spPr>
          <a:xfrm>
            <a:off x="7336972" y="778330"/>
            <a:ext cx="4447486" cy="1028700"/>
          </a:xfrm>
        </p:spPr>
        <p:txBody>
          <a:bodyPr/>
          <a:lstStyle/>
          <a:p>
            <a:r>
              <a:rPr lang="en-US" dirty="0"/>
              <a:t>Contact your account representative for more information.</a:t>
            </a:r>
            <a:br>
              <a:rPr lang="en-US" dirty="0"/>
            </a:br>
            <a:r>
              <a:rPr lang="en-US" b="1" dirty="0"/>
              <a:t>workshops@infotech.com   1-888-670-8889</a:t>
            </a:r>
          </a:p>
        </p:txBody>
      </p:sp>
      <p:sp>
        <p:nvSpPr>
          <p:cNvPr id="60" name="Text Placeholder 59"/>
          <p:cNvSpPr>
            <a:spLocks noGrp="1"/>
          </p:cNvSpPr>
          <p:nvPr>
            <p:ph type="body" sz="quarter" idx="40"/>
          </p:nvPr>
        </p:nvSpPr>
        <p:spPr/>
        <p:txBody>
          <a:bodyPr/>
          <a:lstStyle/>
          <a:p>
            <a:r>
              <a:rPr lang="en-US" dirty="0"/>
              <a:t>To accelerate this project, engage your IT team in an Info-Tech workshop with an Info-Tech analyst team.</a:t>
            </a:r>
          </a:p>
          <a:p>
            <a:r>
              <a:rPr lang="en-US" dirty="0"/>
              <a:t>Info-Tech analysts will join you and your team at your location or welcome you to Info-Tech’s historic Toronto office to participate in an innovative onsite workshop.</a:t>
            </a:r>
          </a:p>
          <a:p>
            <a:endParaRPr lang="en-CA" dirty="0"/>
          </a:p>
        </p:txBody>
      </p:sp>
      <p:sp>
        <p:nvSpPr>
          <p:cNvPr id="55" name="Text Placeholder 54"/>
          <p:cNvSpPr>
            <a:spLocks noGrp="1"/>
          </p:cNvSpPr>
          <p:nvPr>
            <p:ph type="body" sz="quarter" idx="35"/>
          </p:nvPr>
        </p:nvSpPr>
        <p:spPr/>
        <p:txBody>
          <a:bodyPr/>
          <a:lstStyle/>
          <a:p>
            <a:r>
              <a:rPr lang="en-US" dirty="0"/>
              <a:t>The following are sample activities that will be conducted by Info-Tech analysts with your team:</a:t>
            </a:r>
          </a:p>
          <a:p>
            <a:endParaRPr lang="en-CA" dirty="0"/>
          </a:p>
        </p:txBody>
      </p:sp>
      <p:sp>
        <p:nvSpPr>
          <p:cNvPr id="6" name="Text Placeholder 5">
            <a:extLst>
              <a:ext uri="{FF2B5EF4-FFF2-40B4-BE49-F238E27FC236}">
                <a16:creationId xmlns:a16="http://schemas.microsoft.com/office/drawing/2014/main" id="{603ED7A5-D74C-E747-844A-1B9ACBC43748}"/>
              </a:ext>
            </a:extLst>
          </p:cNvPr>
          <p:cNvSpPr>
            <a:spLocks noGrp="1"/>
          </p:cNvSpPr>
          <p:nvPr>
            <p:ph type="body" sz="quarter" idx="14"/>
          </p:nvPr>
        </p:nvSpPr>
        <p:spPr/>
        <p:txBody>
          <a:bodyPr/>
          <a:lstStyle/>
          <a:p>
            <a:r>
              <a:rPr lang="en-US" dirty="0"/>
              <a:t>Performing Capabilities Assessment</a:t>
            </a:r>
          </a:p>
        </p:txBody>
      </p:sp>
      <p:sp>
        <p:nvSpPr>
          <p:cNvPr id="58" name="Text Placeholder 57"/>
          <p:cNvSpPr>
            <a:spLocks noGrp="1"/>
          </p:cNvSpPr>
          <p:nvPr>
            <p:ph type="body" sz="quarter" idx="38"/>
          </p:nvPr>
        </p:nvSpPr>
        <p:spPr>
          <a:xfrm>
            <a:off x="6096794" y="5312419"/>
            <a:ext cx="2507890" cy="441372"/>
          </a:xfrm>
        </p:spPr>
        <p:txBody>
          <a:bodyPr/>
          <a:lstStyle/>
          <a:p>
            <a:pPr defTabSz="914400">
              <a:defRPr sz="1800" b="0" i="0" u="none" strike="noStrike" kern="0" cap="none" spc="0" baseline="0">
                <a:solidFill>
                  <a:srgbClr val="000000"/>
                </a:solidFill>
                <a:uFillTx/>
              </a:defRPr>
            </a:pPr>
            <a:r>
              <a:rPr lang="en-CA" sz="14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Facilitate requirements gathering and draft your vendor security policy.​</a:t>
            </a:r>
          </a:p>
        </p:txBody>
      </p:sp>
      <p:sp>
        <p:nvSpPr>
          <p:cNvPr id="7" name="Text Placeholder 6">
            <a:extLst>
              <a:ext uri="{FF2B5EF4-FFF2-40B4-BE49-F238E27FC236}">
                <a16:creationId xmlns:a16="http://schemas.microsoft.com/office/drawing/2014/main" id="{9946E0E7-03EB-6F49-9B5E-A935120D7FF0}"/>
              </a:ext>
            </a:extLst>
          </p:cNvPr>
          <p:cNvSpPr>
            <a:spLocks noGrp="1"/>
          </p:cNvSpPr>
          <p:nvPr>
            <p:ph type="body" sz="quarter" idx="16"/>
          </p:nvPr>
        </p:nvSpPr>
        <p:spPr/>
        <p:txBody>
          <a:bodyPr/>
          <a:lstStyle/>
          <a:p>
            <a:r>
              <a:rPr lang="en-US" dirty="0"/>
              <a:t>Developing iSSDLC Strategy Deck</a:t>
            </a:r>
          </a:p>
        </p:txBody>
      </p:sp>
      <p:sp>
        <p:nvSpPr>
          <p:cNvPr id="59" name="Text Placeholder 58"/>
          <p:cNvSpPr>
            <a:spLocks noGrp="1"/>
          </p:cNvSpPr>
          <p:nvPr>
            <p:ph type="body" sz="quarter" idx="39"/>
          </p:nvPr>
        </p:nvSpPr>
        <p:spPr>
          <a:xfrm>
            <a:off x="9166946" y="5312419"/>
            <a:ext cx="2762323" cy="661714"/>
          </a:xfrm>
        </p:spPr>
        <p:txBody>
          <a:bodyPr/>
          <a:lstStyle/>
          <a:p>
            <a:pPr defTabSz="914400">
              <a:spcAft>
                <a:spcPts val="200"/>
              </a:spcAft>
              <a:defRPr sz="1800" b="0" i="0" u="none" strike="noStrike" kern="0" cap="none" spc="0" baseline="0">
                <a:solidFill>
                  <a:srgbClr val="000000"/>
                </a:solidFill>
                <a:uFillTx/>
              </a:defRPr>
            </a:pPr>
            <a:r>
              <a:rPr lang="en-CA" sz="1400" u="none" strike="noStrike" kern="1200" cap="none" spc="0" baseline="0" dirty="0">
                <a:solidFill>
                  <a:srgbClr val="000000"/>
                </a:solidFill>
                <a:uFillTx/>
                <a:latin typeface="Roboto Condensed Light" panose="02000000000000000000" pitchFamily="2" charset="0"/>
                <a:ea typeface="Roboto Condensed Light" panose="02000000000000000000" pitchFamily="2" charset="0"/>
              </a:rPr>
              <a:t>Facilitate the development of a RACI matrix and a set of process diagrams.​</a:t>
            </a:r>
          </a:p>
        </p:txBody>
      </p:sp>
      <p:pic>
        <p:nvPicPr>
          <p:cNvPr id="2" name="Picture 1">
            <a:extLst>
              <a:ext uri="{FF2B5EF4-FFF2-40B4-BE49-F238E27FC236}">
                <a16:creationId xmlns:a16="http://schemas.microsoft.com/office/drawing/2014/main" id="{98A13AB6-3C76-67B3-087D-A521810C74F4}"/>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543"/>
          <a:stretch/>
        </p:blipFill>
        <p:spPr>
          <a:xfrm>
            <a:off x="6219744" y="171770"/>
            <a:ext cx="914035" cy="1347866"/>
          </a:xfrm>
          <a:prstGeom prst="rect">
            <a:avLst/>
          </a:prstGeom>
        </p:spPr>
      </p:pic>
      <p:pic>
        <p:nvPicPr>
          <p:cNvPr id="8" name="Picture 7">
            <a:extLst>
              <a:ext uri="{FF2B5EF4-FFF2-40B4-BE49-F238E27FC236}">
                <a16:creationId xmlns:a16="http://schemas.microsoft.com/office/drawing/2014/main" id="{BA5F308B-60BA-75B2-0B67-2468A2BB664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61143" y="3178312"/>
            <a:ext cx="3605803" cy="1293469"/>
          </a:xfrm>
          <a:prstGeom prst="rect">
            <a:avLst/>
          </a:prstGeom>
        </p:spPr>
      </p:pic>
      <p:pic>
        <p:nvPicPr>
          <p:cNvPr id="9" name="Picture 8">
            <a:extLst>
              <a:ext uri="{FF2B5EF4-FFF2-40B4-BE49-F238E27FC236}">
                <a16:creationId xmlns:a16="http://schemas.microsoft.com/office/drawing/2014/main" id="{0A0ED8A6-438F-687C-1567-D8EE035A1C0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462238" y="3143447"/>
            <a:ext cx="2467031" cy="1363201"/>
          </a:xfrm>
          <a:prstGeom prst="rect">
            <a:avLst/>
          </a:prstGeom>
        </p:spPr>
      </p:pic>
    </p:spTree>
    <p:extLst>
      <p:ext uri="{BB962C8B-B14F-4D97-AF65-F5344CB8AC3E}">
        <p14:creationId xmlns:p14="http://schemas.microsoft.com/office/powerpoint/2010/main" val="2915827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EAD027D-8990-D947-806B-B272E9113907}"/>
              </a:ext>
            </a:extLst>
          </p:cNvPr>
          <p:cNvSpPr>
            <a:spLocks noGrp="1"/>
          </p:cNvSpPr>
          <p:nvPr>
            <p:ph type="title"/>
          </p:nvPr>
        </p:nvSpPr>
        <p:spPr/>
        <p:txBody>
          <a:bodyPr/>
          <a:lstStyle/>
          <a:p>
            <a:r>
              <a:rPr lang="en-US" dirty="0"/>
              <a:t>Related Info-Tech Research</a:t>
            </a:r>
          </a:p>
        </p:txBody>
      </p:sp>
      <p:sp>
        <p:nvSpPr>
          <p:cNvPr id="16" name="Text Placeholder 15">
            <a:extLst>
              <a:ext uri="{FF2B5EF4-FFF2-40B4-BE49-F238E27FC236}">
                <a16:creationId xmlns:a16="http://schemas.microsoft.com/office/drawing/2014/main" id="{0FDA441D-E2C2-46A1-99F0-69F4D7C52A89}"/>
              </a:ext>
            </a:extLst>
          </p:cNvPr>
          <p:cNvSpPr>
            <a:spLocks noGrp="1"/>
          </p:cNvSpPr>
          <p:nvPr>
            <p:ph type="body" sz="quarter" idx="15"/>
          </p:nvPr>
        </p:nvSpPr>
        <p:spPr>
          <a:xfrm>
            <a:off x="3661721" y="2265802"/>
            <a:ext cx="2435073" cy="446087"/>
          </a:xfrm>
        </p:spPr>
        <p:txBody>
          <a:bodyPr/>
          <a:lstStyle/>
          <a:p>
            <a:r>
              <a:rPr lang="en-US" dirty="0">
                <a:hlinkClick r:id="rId2"/>
              </a:rPr>
              <a:t>Evolve Your Software Development Lifecycle Into a Solution Delivery Lifecycle</a:t>
            </a:r>
            <a:endParaRPr lang="en-CA" dirty="0"/>
          </a:p>
        </p:txBody>
      </p:sp>
      <p:sp>
        <p:nvSpPr>
          <p:cNvPr id="19" name="Text Placeholder 18">
            <a:extLst>
              <a:ext uri="{FF2B5EF4-FFF2-40B4-BE49-F238E27FC236}">
                <a16:creationId xmlns:a16="http://schemas.microsoft.com/office/drawing/2014/main" id="{2768B145-C90C-4C3F-BC86-AF6E1CEF28D7}"/>
              </a:ext>
            </a:extLst>
          </p:cNvPr>
          <p:cNvSpPr>
            <a:spLocks noGrp="1"/>
          </p:cNvSpPr>
          <p:nvPr>
            <p:ph type="body" sz="quarter" idx="33"/>
          </p:nvPr>
        </p:nvSpPr>
        <p:spPr>
          <a:xfrm>
            <a:off x="3661721" y="3446142"/>
            <a:ext cx="2551371" cy="3153834"/>
          </a:xfrm>
        </p:spPr>
        <p:txBody>
          <a:bodyPr/>
          <a:lstStyle/>
          <a:p>
            <a:pPr>
              <a:lnSpc>
                <a:spcPct val="100000"/>
              </a:lnSpc>
            </a:pPr>
            <a:r>
              <a:rPr lang="en-US" dirty="0">
                <a:solidFill>
                  <a:srgbClr val="000000"/>
                </a:solidFill>
              </a:rPr>
              <a:t>Transform your SDLC into a solution delivery lifecycle that encompasses the people, processes, and tools needed to deliver value to the end consumers of </a:t>
            </a:r>
            <a:r>
              <a:rPr lang="en-US" dirty="0"/>
              <a:t>the solution. </a:t>
            </a:r>
            <a:endParaRPr lang="en-US" dirty="0">
              <a:solidFill>
                <a:srgbClr val="000000"/>
              </a:solidFill>
            </a:endParaRPr>
          </a:p>
          <a:p>
            <a:pPr>
              <a:lnSpc>
                <a:spcPct val="100000"/>
              </a:lnSpc>
            </a:pPr>
            <a:r>
              <a:rPr lang="en-US" dirty="0">
                <a:solidFill>
                  <a:srgbClr val="000000"/>
                </a:solidFill>
              </a:rPr>
              <a:t>Develop a product-centric approach </a:t>
            </a:r>
            <a:r>
              <a:rPr lang="en-US" dirty="0"/>
              <a:t>that</a:t>
            </a:r>
            <a:r>
              <a:rPr lang="en-US" dirty="0">
                <a:solidFill>
                  <a:srgbClr val="000000"/>
                </a:solidFill>
              </a:rPr>
              <a:t> promotes the continuous delivery of value to end users.</a:t>
            </a:r>
          </a:p>
          <a:p>
            <a:pPr>
              <a:lnSpc>
                <a:spcPct val="100000"/>
              </a:lnSpc>
            </a:pPr>
            <a:r>
              <a:rPr lang="en-US" dirty="0"/>
              <a:t>Embed quality and compliance standards into each step of your delivery team’s methodology using definitions of done.</a:t>
            </a:r>
          </a:p>
          <a:p>
            <a:pPr marL="0" indent="0">
              <a:lnSpc>
                <a:spcPct val="100000"/>
              </a:lnSpc>
              <a:buNone/>
            </a:pPr>
            <a:endParaRPr lang="en-CA" dirty="0"/>
          </a:p>
        </p:txBody>
      </p:sp>
      <p:sp>
        <p:nvSpPr>
          <p:cNvPr id="17" name="Text Placeholder 16">
            <a:extLst>
              <a:ext uri="{FF2B5EF4-FFF2-40B4-BE49-F238E27FC236}">
                <a16:creationId xmlns:a16="http://schemas.microsoft.com/office/drawing/2014/main" id="{C0E22084-2211-4154-8983-8ACF5A6404A1}"/>
              </a:ext>
            </a:extLst>
          </p:cNvPr>
          <p:cNvSpPr>
            <a:spLocks noGrp="1"/>
          </p:cNvSpPr>
          <p:nvPr>
            <p:ph type="body" sz="quarter" idx="19"/>
          </p:nvPr>
        </p:nvSpPr>
        <p:spPr>
          <a:xfrm>
            <a:off x="6476173" y="2265802"/>
            <a:ext cx="2435073" cy="446087"/>
          </a:xfrm>
        </p:spPr>
        <p:txBody>
          <a:bodyPr/>
          <a:lstStyle/>
          <a:p>
            <a:r>
              <a:rPr lang="en-US" dirty="0">
                <a:hlinkClick r:id="rId3"/>
              </a:rPr>
              <a:t>Build a Software Quality Assurance Program</a:t>
            </a:r>
            <a:endParaRPr lang="en-CA" dirty="0"/>
          </a:p>
        </p:txBody>
      </p:sp>
      <p:sp>
        <p:nvSpPr>
          <p:cNvPr id="20" name="Text Placeholder 19">
            <a:extLst>
              <a:ext uri="{FF2B5EF4-FFF2-40B4-BE49-F238E27FC236}">
                <a16:creationId xmlns:a16="http://schemas.microsoft.com/office/drawing/2014/main" id="{F006078E-AD74-4A35-A528-51B24900B75B}"/>
              </a:ext>
            </a:extLst>
          </p:cNvPr>
          <p:cNvSpPr>
            <a:spLocks noGrp="1"/>
          </p:cNvSpPr>
          <p:nvPr>
            <p:ph type="body" sz="quarter" idx="34"/>
          </p:nvPr>
        </p:nvSpPr>
        <p:spPr>
          <a:xfrm>
            <a:off x="6586435" y="3446142"/>
            <a:ext cx="2551371" cy="2361396"/>
          </a:xfrm>
        </p:spPr>
        <p:txBody>
          <a:bodyPr/>
          <a:lstStyle/>
          <a:p>
            <a:pPr>
              <a:lnSpc>
                <a:spcPct val="100000"/>
              </a:lnSpc>
            </a:pPr>
            <a:r>
              <a:rPr lang="en-US" dirty="0">
                <a:solidFill>
                  <a:srgbClr val="000000"/>
                </a:solidFill>
              </a:rPr>
              <a:t>Build a robust strategy and ensure quality is at the core of everything you do.</a:t>
            </a:r>
          </a:p>
          <a:p>
            <a:pPr>
              <a:lnSpc>
                <a:spcPct val="100000"/>
              </a:lnSpc>
            </a:pPr>
            <a:r>
              <a:rPr lang="en-US" dirty="0"/>
              <a:t>Standardize your definition of quality. Come to an organizational agreement of what attributes define a high-quality solution. Accommodate both business and IT perspectives in your definition.</a:t>
            </a:r>
          </a:p>
          <a:p>
            <a:pPr>
              <a:lnSpc>
                <a:spcPct val="100000"/>
              </a:lnSpc>
            </a:pPr>
            <a:r>
              <a:rPr lang="en-US" dirty="0"/>
              <a:t>Adopt good QA practices to better support your quality definition and business and IT environments and priorities.</a:t>
            </a:r>
          </a:p>
          <a:p>
            <a:pPr marL="0" indent="0">
              <a:lnSpc>
                <a:spcPct val="100000"/>
              </a:lnSpc>
              <a:buNone/>
            </a:pPr>
            <a:endParaRPr lang="en-CA" dirty="0"/>
          </a:p>
        </p:txBody>
      </p:sp>
      <p:sp>
        <p:nvSpPr>
          <p:cNvPr id="18" name="Text Placeholder 17">
            <a:extLst>
              <a:ext uri="{FF2B5EF4-FFF2-40B4-BE49-F238E27FC236}">
                <a16:creationId xmlns:a16="http://schemas.microsoft.com/office/drawing/2014/main" id="{B88DA5D4-858C-479E-A1D3-AE0957484701}"/>
              </a:ext>
            </a:extLst>
          </p:cNvPr>
          <p:cNvSpPr>
            <a:spLocks noGrp="1"/>
          </p:cNvSpPr>
          <p:nvPr>
            <p:ph type="body" sz="quarter" idx="21"/>
          </p:nvPr>
        </p:nvSpPr>
        <p:spPr>
          <a:xfrm>
            <a:off x="9284687" y="2265802"/>
            <a:ext cx="2435073" cy="446087"/>
          </a:xfrm>
        </p:spPr>
        <p:txBody>
          <a:bodyPr/>
          <a:lstStyle/>
          <a:p>
            <a:r>
              <a:rPr lang="en-US" dirty="0">
                <a:hlinkClick r:id="rId4"/>
              </a:rPr>
              <a:t>Build an Automation Roadmap to Streamline Security Processes</a:t>
            </a:r>
            <a:endParaRPr lang="en-CA" dirty="0"/>
          </a:p>
        </p:txBody>
      </p:sp>
      <p:sp>
        <p:nvSpPr>
          <p:cNvPr id="21" name="Text Placeholder 20">
            <a:extLst>
              <a:ext uri="{FF2B5EF4-FFF2-40B4-BE49-F238E27FC236}">
                <a16:creationId xmlns:a16="http://schemas.microsoft.com/office/drawing/2014/main" id="{26D7ACDE-9FBD-4878-B108-F9D05AF81B3E}"/>
              </a:ext>
            </a:extLst>
          </p:cNvPr>
          <p:cNvSpPr>
            <a:spLocks noGrp="1"/>
          </p:cNvSpPr>
          <p:nvPr>
            <p:ph type="body" sz="quarter" idx="35"/>
          </p:nvPr>
        </p:nvSpPr>
        <p:spPr>
          <a:xfrm>
            <a:off x="9374162" y="3437775"/>
            <a:ext cx="2551371" cy="2870822"/>
          </a:xfrm>
        </p:spPr>
        <p:txBody>
          <a:bodyPr/>
          <a:lstStyle/>
          <a:p>
            <a:pPr>
              <a:lnSpc>
                <a:spcPct val="100000"/>
              </a:lnSpc>
            </a:pPr>
            <a:r>
              <a:rPr lang="en-US" dirty="0">
                <a:solidFill>
                  <a:srgbClr val="000000"/>
                </a:solidFill>
              </a:rPr>
              <a:t>Start by examining the current state of all your security processes, from ad hoc to fully autonomized.</a:t>
            </a:r>
          </a:p>
          <a:p>
            <a:pPr>
              <a:lnSpc>
                <a:spcPct val="100000"/>
              </a:lnSpc>
            </a:pPr>
            <a:r>
              <a:rPr lang="en-US" dirty="0">
                <a:solidFill>
                  <a:srgbClr val="000000"/>
                </a:solidFill>
              </a:rPr>
              <a:t>Assess the presence of showstopping prerequisites such as technology underpinnings, training, or incurred costs.</a:t>
            </a:r>
          </a:p>
          <a:p>
            <a:pPr>
              <a:lnSpc>
                <a:spcPct val="100000"/>
              </a:lnSpc>
            </a:pPr>
            <a:r>
              <a:rPr lang="en-US" dirty="0"/>
              <a:t>Implementing automation is the end goal, but your roadmap will also contain initiatives that address critical prerequisites to this goal.</a:t>
            </a:r>
          </a:p>
          <a:p>
            <a:pPr marL="0" indent="0">
              <a:lnSpc>
                <a:spcPct val="100000"/>
              </a:lnSpc>
              <a:buNone/>
            </a:pPr>
            <a:endParaRPr lang="en-US" dirty="0"/>
          </a:p>
        </p:txBody>
      </p:sp>
      <p:pic>
        <p:nvPicPr>
          <p:cNvPr id="6" name="Picture 5">
            <a:extLst>
              <a:ext uri="{FF2B5EF4-FFF2-40B4-BE49-F238E27FC236}">
                <a16:creationId xmlns:a16="http://schemas.microsoft.com/office/drawing/2014/main" id="{8CC884AA-85E1-6ABA-B07D-A5B03643DF0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665455" y="468769"/>
            <a:ext cx="2528794" cy="1386702"/>
          </a:xfrm>
          <a:prstGeom prst="rect">
            <a:avLst/>
          </a:prstGeom>
        </p:spPr>
      </p:pic>
      <p:pic>
        <p:nvPicPr>
          <p:cNvPr id="8" name="Picture 7">
            <a:extLst>
              <a:ext uri="{FF2B5EF4-FFF2-40B4-BE49-F238E27FC236}">
                <a16:creationId xmlns:a16="http://schemas.microsoft.com/office/drawing/2014/main" id="{846FD5DB-240A-ADCD-4EB3-BC4CD208B16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6476173" y="468769"/>
            <a:ext cx="2551371" cy="1412960"/>
          </a:xfrm>
          <a:prstGeom prst="rect">
            <a:avLst/>
          </a:prstGeom>
        </p:spPr>
      </p:pic>
      <p:pic>
        <p:nvPicPr>
          <p:cNvPr id="10" name="Picture 9">
            <a:extLst>
              <a:ext uri="{FF2B5EF4-FFF2-40B4-BE49-F238E27FC236}">
                <a16:creationId xmlns:a16="http://schemas.microsoft.com/office/drawing/2014/main" id="{0DD54844-7506-2F0B-BC67-B12E1F180A8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9385451" y="481245"/>
            <a:ext cx="2528795" cy="1400484"/>
          </a:xfrm>
          <a:prstGeom prst="rect">
            <a:avLst/>
          </a:prstGeom>
        </p:spPr>
      </p:pic>
    </p:spTree>
    <p:extLst>
      <p:ext uri="{BB962C8B-B14F-4D97-AF65-F5344CB8AC3E}">
        <p14:creationId xmlns:p14="http://schemas.microsoft.com/office/powerpoint/2010/main" val="15378619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626062-C3E0-C440-8080-B1BE42E1C4FF}"/>
              </a:ext>
            </a:extLst>
          </p:cNvPr>
          <p:cNvSpPr>
            <a:spLocks noGrp="1"/>
          </p:cNvSpPr>
          <p:nvPr>
            <p:ph type="title"/>
          </p:nvPr>
        </p:nvSpPr>
        <p:spPr/>
        <p:txBody>
          <a:bodyPr/>
          <a:lstStyle/>
          <a:p>
            <a:r>
              <a:rPr lang="en-US" dirty="0"/>
              <a:t>Bibliography</a:t>
            </a:r>
          </a:p>
        </p:txBody>
      </p:sp>
      <p:sp>
        <p:nvSpPr>
          <p:cNvPr id="3" name="Text Placeholder 1">
            <a:extLst>
              <a:ext uri="{FF2B5EF4-FFF2-40B4-BE49-F238E27FC236}">
                <a16:creationId xmlns:a16="http://schemas.microsoft.com/office/drawing/2014/main" id="{86F5E2EC-F651-30C4-82B2-BFFCF1DEC5D9}"/>
              </a:ext>
            </a:extLst>
          </p:cNvPr>
          <p:cNvSpPr txBox="1">
            <a:spLocks/>
          </p:cNvSpPr>
          <p:nvPr/>
        </p:nvSpPr>
        <p:spPr>
          <a:xfrm>
            <a:off x="281754" y="1326776"/>
            <a:ext cx="5312222" cy="4944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“2024 Accelerate State of DevOps Report.” </a:t>
            </a:r>
            <a:r>
              <a:rPr lang="en-US" sz="1200" i="1" dirty="0">
                <a:solidFill>
                  <a:srgbClr val="000000"/>
                </a:solidFill>
                <a:latin typeface="Roboto Condensed Light" panose="02000000000000000000" pitchFamily="2" charset="0"/>
                <a:ea typeface="Roboto Condensed Light" panose="02000000000000000000" pitchFamily="2" charset="0"/>
              </a:rPr>
              <a:t>DORA</a:t>
            </a:r>
            <a:r>
              <a:rPr lang="en-US" sz="1200" dirty="0">
                <a:solidFill>
                  <a:srgbClr val="000000"/>
                </a:solidFill>
                <a:latin typeface="Roboto Condensed Light" panose="02000000000000000000" pitchFamily="2" charset="0"/>
                <a:ea typeface="Roboto Condensed Light" panose="02000000000000000000" pitchFamily="2" charset="0"/>
              </a:rPr>
              <a:t>, 22 Oct</a:t>
            </a:r>
            <a:r>
              <a:rPr lang="en-US" sz="1200">
                <a:solidFill>
                  <a:srgbClr val="000000"/>
                </a:solidFill>
                <a:latin typeface="Roboto Condensed Light" panose="02000000000000000000" pitchFamily="2" charset="0"/>
                <a:ea typeface="Roboto Condensed Light" panose="02000000000000000000" pitchFamily="2" charset="0"/>
              </a:rPr>
              <a:t>. 2024</a:t>
            </a:r>
            <a:r>
              <a:rPr lang="en-US" sz="1200">
                <a:solidFill>
                  <a:srgbClr val="000000"/>
                </a:solidFill>
                <a:latin typeface="Roboto Condensed Light" panose="02000000000000000000" pitchFamily="2" charset="0"/>
                <a:ea typeface="Roboto Condensed Light" panose="02000000000000000000" pitchFamily="2" charset="0"/>
                <a:hlinkClick r:id="rId3"/>
              </a:rPr>
              <a:t>.</a:t>
            </a:r>
            <a:r>
              <a:rPr lang="en-US" sz="1200">
                <a:solidFill>
                  <a:srgbClr val="000000"/>
                </a:solidFill>
                <a:latin typeface="Roboto Condensed Light" panose="02000000000000000000" pitchFamily="2" charset="0"/>
                <a:ea typeface="Roboto Condensed Light" panose="02000000000000000000" pitchFamily="2" charset="0"/>
              </a:rPr>
              <a:t>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“2024 Software Vulnerability Snapshot.”</a:t>
            </a:r>
            <a:r>
              <a:rPr lang="en-US" sz="1200" i="1" dirty="0">
                <a:solidFill>
                  <a:srgbClr val="000000"/>
                </a:solidFill>
                <a:latin typeface="Roboto Condensed Light" panose="02000000000000000000" pitchFamily="2" charset="0"/>
                <a:ea typeface="Roboto Condensed Light" panose="02000000000000000000" pitchFamily="2" charset="0"/>
              </a:rPr>
              <a:t> Black Duck Software,</a:t>
            </a:r>
            <a:r>
              <a:rPr lang="en-US" sz="1200" dirty="0">
                <a:solidFill>
                  <a:srgbClr val="000000"/>
                </a:solidFill>
                <a:latin typeface="Roboto Condensed Light" panose="02000000000000000000" pitchFamily="2" charset="0"/>
                <a:ea typeface="Roboto Condensed Light" panose="02000000000000000000" pitchFamily="2" charset="0"/>
              </a:rPr>
              <a:t> Nov</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“2024 State of Application Security Report.” </a:t>
            </a:r>
            <a:r>
              <a:rPr lang="en-US" sz="1200" i="1" dirty="0">
                <a:solidFill>
                  <a:srgbClr val="000000"/>
                </a:solidFill>
                <a:latin typeface="Roboto Condensed Light" panose="02000000000000000000" pitchFamily="2" charset="0"/>
                <a:ea typeface="Roboto Condensed Light" panose="02000000000000000000" pitchFamily="2" charset="0"/>
              </a:rPr>
              <a:t>CrowdStrike</a:t>
            </a:r>
            <a:r>
              <a:rPr lang="en-US" sz="1200" dirty="0">
                <a:solidFill>
                  <a:srgbClr val="000000"/>
                </a:solidFill>
                <a:latin typeface="Roboto Condensed Light" panose="02000000000000000000" pitchFamily="2" charset="0"/>
                <a:ea typeface="Roboto Condensed Light" panose="02000000000000000000" pitchFamily="2" charset="0"/>
              </a:rPr>
              <a:t>, Feb</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“2025 Application Security Threat Report.”</a:t>
            </a:r>
            <a:r>
              <a:rPr lang="en-US" sz="1200" i="1" dirty="0">
                <a:solidFill>
                  <a:srgbClr val="000000"/>
                </a:solidFill>
                <a:latin typeface="Roboto Condensed Light" panose="02000000000000000000" pitchFamily="2" charset="0"/>
                <a:ea typeface="Roboto Condensed Light" panose="02000000000000000000" pitchFamily="2" charset="0"/>
              </a:rPr>
              <a:t> Digital.ai</a:t>
            </a:r>
            <a:r>
              <a:rPr lang="en-US" sz="1200" i="1">
                <a:solidFill>
                  <a:srgbClr val="000000"/>
                </a:solidFill>
                <a:latin typeface="Roboto Condensed Light" panose="02000000000000000000" pitchFamily="2" charset="0"/>
                <a:ea typeface="Roboto Condensed Light" panose="02000000000000000000" pitchFamily="2" charset="0"/>
              </a:rPr>
              <a:t>,</a:t>
            </a:r>
            <a:r>
              <a:rPr lang="en-US" sz="1200">
                <a:solidFill>
                  <a:srgbClr val="000000"/>
                </a:solidFill>
                <a:latin typeface="Roboto Condensed Light" panose="02000000000000000000" pitchFamily="2" charset="0"/>
                <a:ea typeface="Roboto Condensed Light" panose="02000000000000000000" pitchFamily="2" charset="0"/>
              </a:rPr>
              <a:t>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“2025 State of Application Risk: An ASPM View of the Security of Software Factories.” </a:t>
            </a:r>
            <a:r>
              <a:rPr lang="en-US" sz="1200" i="1" dirty="0">
                <a:solidFill>
                  <a:srgbClr val="000000"/>
                </a:solidFill>
                <a:latin typeface="Roboto Condensed Light" panose="02000000000000000000" pitchFamily="2" charset="0"/>
                <a:ea typeface="Roboto Condensed Light" panose="02000000000000000000" pitchFamily="2" charset="0"/>
              </a:rPr>
              <a:t>Legit Security</a:t>
            </a:r>
            <a:r>
              <a:rPr lang="en-US" sz="1200" dirty="0">
                <a:solidFill>
                  <a:srgbClr val="000000"/>
                </a:solidFill>
                <a:latin typeface="Roboto Condensed Light" panose="02000000000000000000" pitchFamily="2" charset="0"/>
                <a:ea typeface="Roboto Condensed Light" panose="02000000000000000000" pitchFamily="2" charset="0"/>
              </a:rPr>
              <a:t>, 22 Jan</a:t>
            </a:r>
            <a:r>
              <a:rPr lang="en-US" sz="1200">
                <a:solidFill>
                  <a:srgbClr val="000000"/>
                </a:solidFill>
                <a:latin typeface="Roboto Condensed Light" panose="02000000000000000000" pitchFamily="2" charset="0"/>
                <a:ea typeface="Roboto Condensed Light" panose="02000000000000000000" pitchFamily="2" charset="0"/>
              </a:rPr>
              <a:t>.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“API Security in 2025: Securing the Nervous System of the Digital Enterprise.”</a:t>
            </a:r>
            <a:r>
              <a:rPr lang="en-US" sz="1200" i="1" dirty="0">
                <a:solidFill>
                  <a:srgbClr val="000000"/>
                </a:solidFill>
                <a:latin typeface="Roboto Condensed Light" panose="02000000000000000000" pitchFamily="2" charset="0"/>
                <a:ea typeface="Roboto Condensed Light" panose="02000000000000000000" pitchFamily="2" charset="0"/>
              </a:rPr>
              <a:t> Risk Insights Hub</a:t>
            </a:r>
            <a:r>
              <a:rPr lang="en-US" sz="1200" dirty="0">
                <a:solidFill>
                  <a:srgbClr val="000000"/>
                </a:solidFill>
                <a:latin typeface="Roboto Condensed Light" panose="02000000000000000000" pitchFamily="2" charset="0"/>
                <a:ea typeface="Roboto Condensed Light" panose="02000000000000000000" pitchFamily="2" charset="0"/>
              </a:rPr>
              <a:t>, 15 </a:t>
            </a:r>
            <a:r>
              <a:rPr lang="en-US" sz="1200">
                <a:solidFill>
                  <a:srgbClr val="000000"/>
                </a:solidFill>
                <a:latin typeface="Roboto Condensed Light" panose="02000000000000000000" pitchFamily="2" charset="0"/>
                <a:ea typeface="Roboto Condensed Light" panose="02000000000000000000" pitchFamily="2" charset="0"/>
              </a:rPr>
              <a:t>May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“Application Security: A Practitioner’s Guide.” </a:t>
            </a:r>
            <a:r>
              <a:rPr lang="en-US" sz="1200" i="1" dirty="0">
                <a:solidFill>
                  <a:srgbClr val="000000"/>
                </a:solidFill>
                <a:latin typeface="Roboto Condensed Light" panose="02000000000000000000" pitchFamily="2" charset="0"/>
                <a:ea typeface="Roboto Condensed Light" panose="02000000000000000000" pitchFamily="2" charset="0"/>
              </a:rPr>
              <a:t>Palo Alto Networks </a:t>
            </a:r>
            <a:r>
              <a:rPr lang="en-US" sz="1200" i="1" err="1">
                <a:solidFill>
                  <a:srgbClr val="000000"/>
                </a:solidFill>
                <a:latin typeface="Roboto Condensed Light" panose="02000000000000000000" pitchFamily="2" charset="0"/>
                <a:ea typeface="Roboto Condensed Light" panose="02000000000000000000" pitchFamily="2" charset="0"/>
              </a:rPr>
              <a:t>Cyberpedia</a:t>
            </a:r>
            <a:r>
              <a:rPr lang="en-US" sz="1200">
                <a:solidFill>
                  <a:srgbClr val="000000"/>
                </a:solidFill>
                <a:latin typeface="Roboto Condensed Light" panose="02000000000000000000" pitchFamily="2" charset="0"/>
                <a:ea typeface="Roboto Condensed Light" panose="02000000000000000000" pitchFamily="2" charset="0"/>
              </a:rPr>
              <a:t>,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“Application Security Strategy Guide.” Black Duck Software</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p:txBody>
      </p:sp>
      <p:sp>
        <p:nvSpPr>
          <p:cNvPr id="4" name="TextBox 3">
            <a:extLst>
              <a:ext uri="{FF2B5EF4-FFF2-40B4-BE49-F238E27FC236}">
                <a16:creationId xmlns:a16="http://schemas.microsoft.com/office/drawing/2014/main" id="{A9E927D2-BE96-956C-A351-265FB9CD4058}"/>
              </a:ext>
            </a:extLst>
          </p:cNvPr>
          <p:cNvSpPr txBox="1"/>
          <p:nvPr/>
        </p:nvSpPr>
        <p:spPr>
          <a:xfrm>
            <a:off x="6070880" y="1326776"/>
            <a:ext cx="5802873" cy="3395801"/>
          </a:xfrm>
          <a:prstGeom prst="rect">
            <a:avLst/>
          </a:prstGeom>
          <a:noFill/>
        </p:spPr>
        <p:txBody>
          <a:bodyPr wrap="square">
            <a:spAutoFit/>
          </a:bodyPr>
          <a:lstStyle/>
          <a:p>
            <a:pPr>
              <a:spcBef>
                <a:spcPts val="400"/>
              </a:spcBef>
              <a:spcAft>
                <a:spcPts val="400"/>
              </a:spcAft>
            </a:pPr>
            <a:r>
              <a:rPr lang="en-US" sz="1200" dirty="0">
                <a:solidFill>
                  <a:srgbClr val="000000"/>
                </a:solidFill>
                <a:latin typeface="Roboto Condensed Light" panose="02000000000000000000" pitchFamily="2" charset="0"/>
                <a:ea typeface="Roboto Condensed Light" panose="02000000000000000000" pitchFamily="2" charset="0"/>
              </a:rPr>
              <a:t>“AppSec Strategy Guide: A Step-by-Step Breakdown to Achieve </a:t>
            </a:r>
            <a:r>
              <a:rPr lang="en-US" sz="1200" dirty="0" err="1">
                <a:solidFill>
                  <a:srgbClr val="000000"/>
                </a:solidFill>
                <a:latin typeface="Roboto Condensed Light" panose="02000000000000000000" pitchFamily="2" charset="0"/>
                <a:ea typeface="Roboto Condensed Light" panose="02000000000000000000" pitchFamily="2" charset="0"/>
              </a:rPr>
              <a:t>DevSecOps</a:t>
            </a:r>
            <a:r>
              <a:rPr lang="en-US" sz="1200" dirty="0">
                <a:solidFill>
                  <a:srgbClr val="000000"/>
                </a:solidFill>
                <a:latin typeface="Roboto Condensed Light" panose="02000000000000000000" pitchFamily="2" charset="0"/>
                <a:ea typeface="Roboto Condensed Light" panose="02000000000000000000" pitchFamily="2" charset="0"/>
              </a:rPr>
              <a:t>.” </a:t>
            </a:r>
            <a:r>
              <a:rPr lang="en-US" sz="1200" i="1" dirty="0">
                <a:solidFill>
                  <a:srgbClr val="000000"/>
                </a:solidFill>
                <a:latin typeface="Roboto Condensed Light" panose="02000000000000000000" pitchFamily="2" charset="0"/>
                <a:ea typeface="Roboto Condensed Light" panose="02000000000000000000" pitchFamily="2" charset="0"/>
              </a:rPr>
              <a:t>Black Duck Software</a:t>
            </a:r>
            <a:r>
              <a:rPr lang="en-US" sz="1200">
                <a:solidFill>
                  <a:srgbClr val="000000"/>
                </a:solidFill>
                <a:latin typeface="Roboto Condensed Light" panose="02000000000000000000" pitchFamily="2" charset="0"/>
                <a:ea typeface="Roboto Condensed Light" panose="02000000000000000000" pitchFamily="2" charset="0"/>
              </a:rPr>
              <a:t>, 2023.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dirty="0" err="1">
                <a:solidFill>
                  <a:srgbClr val="000000"/>
                </a:solidFill>
                <a:latin typeface="Roboto Condensed Light" panose="02000000000000000000" pitchFamily="2" charset="0"/>
                <a:ea typeface="Roboto Condensed Light" panose="02000000000000000000" pitchFamily="2" charset="0"/>
              </a:rPr>
              <a:t>Chawdhary</a:t>
            </a:r>
            <a:r>
              <a:rPr lang="en-US" sz="1200" dirty="0">
                <a:solidFill>
                  <a:srgbClr val="000000"/>
                </a:solidFill>
                <a:latin typeface="Roboto Condensed Light" panose="02000000000000000000" pitchFamily="2" charset="0"/>
                <a:ea typeface="Roboto Condensed Light" panose="02000000000000000000" pitchFamily="2" charset="0"/>
              </a:rPr>
              <a:t>, Gyan. “Top 15 Application Security Best Practices.” </a:t>
            </a:r>
            <a:r>
              <a:rPr lang="en-US" sz="1200" i="1" dirty="0">
                <a:solidFill>
                  <a:srgbClr val="000000"/>
                </a:solidFill>
                <a:latin typeface="Roboto Condensed Light" panose="02000000000000000000" pitchFamily="2" charset="0"/>
                <a:ea typeface="Roboto Condensed Light" panose="02000000000000000000" pitchFamily="2" charset="0"/>
              </a:rPr>
              <a:t>Security Compass</a:t>
            </a:r>
            <a:r>
              <a:rPr lang="en-US" sz="1200" dirty="0">
                <a:solidFill>
                  <a:srgbClr val="000000"/>
                </a:solidFill>
                <a:latin typeface="Roboto Condensed Light" panose="02000000000000000000" pitchFamily="2" charset="0"/>
                <a:ea typeface="Roboto Condensed Light" panose="02000000000000000000" pitchFamily="2" charset="0"/>
              </a:rPr>
              <a:t>, 21 Mar</a:t>
            </a:r>
            <a:r>
              <a:rPr lang="en-US" sz="1200">
                <a:solidFill>
                  <a:srgbClr val="000000"/>
                </a:solidFill>
                <a:latin typeface="Roboto Condensed Light" panose="02000000000000000000" pitchFamily="2" charset="0"/>
                <a:ea typeface="Roboto Condensed Light" panose="02000000000000000000" pitchFamily="2" charset="0"/>
              </a:rPr>
              <a:t>.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a:solidFill>
                  <a:srgbClr val="000000"/>
                </a:solidFill>
                <a:latin typeface="Roboto Condensed Light" panose="02000000000000000000" pitchFamily="2" charset="0"/>
                <a:ea typeface="Roboto Condensed Light" panose="02000000000000000000" pitchFamily="2" charset="0"/>
              </a:rPr>
              <a:t>Vizard, Michael. “CISO </a:t>
            </a:r>
            <a:r>
              <a:rPr lang="en-US" sz="1200" dirty="0">
                <a:solidFill>
                  <a:srgbClr val="000000"/>
                </a:solidFill>
                <a:latin typeface="Roboto Condensed Light" panose="02000000000000000000" pitchFamily="2" charset="0"/>
                <a:ea typeface="Roboto Condensed Light" panose="02000000000000000000" pitchFamily="2" charset="0"/>
              </a:rPr>
              <a:t>Survey Surfaces Shift in Application Security Responsibilities.” </a:t>
            </a:r>
            <a:r>
              <a:rPr lang="en-US" sz="1200" i="1" dirty="0">
                <a:solidFill>
                  <a:srgbClr val="000000"/>
                </a:solidFill>
                <a:latin typeface="Roboto Condensed Light" panose="02000000000000000000" pitchFamily="2" charset="0"/>
                <a:ea typeface="Roboto Condensed Light" panose="02000000000000000000" pitchFamily="2" charset="0"/>
              </a:rPr>
              <a:t>Security Boulevard</a:t>
            </a:r>
            <a:r>
              <a:rPr lang="en-US" sz="1200" dirty="0">
                <a:solidFill>
                  <a:srgbClr val="000000"/>
                </a:solidFill>
                <a:latin typeface="Roboto Condensed Light" panose="02000000000000000000" pitchFamily="2" charset="0"/>
                <a:ea typeface="Roboto Condensed Light" panose="02000000000000000000" pitchFamily="2" charset="0"/>
              </a:rPr>
              <a:t>, 13 </a:t>
            </a:r>
            <a:r>
              <a:rPr lang="en-US" sz="1200">
                <a:solidFill>
                  <a:srgbClr val="000000"/>
                </a:solidFill>
                <a:latin typeface="Roboto Condensed Light" panose="02000000000000000000" pitchFamily="2" charset="0"/>
                <a:ea typeface="Roboto Condensed Light" panose="02000000000000000000" pitchFamily="2" charset="0"/>
              </a:rPr>
              <a:t>May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dirty="0">
                <a:solidFill>
                  <a:srgbClr val="000000"/>
                </a:solidFill>
                <a:latin typeface="Roboto Condensed Light" panose="02000000000000000000" pitchFamily="2" charset="0"/>
                <a:ea typeface="Roboto Condensed Light" panose="02000000000000000000" pitchFamily="2" charset="0"/>
              </a:rPr>
              <a:t>“</a:t>
            </a:r>
            <a:r>
              <a:rPr lang="en-US" sz="1200" dirty="0" err="1">
                <a:solidFill>
                  <a:srgbClr val="000000"/>
                </a:solidFill>
                <a:latin typeface="Roboto Condensed Light" panose="02000000000000000000" pitchFamily="2" charset="0"/>
                <a:ea typeface="Roboto Condensed Light" panose="02000000000000000000" pitchFamily="2" charset="0"/>
              </a:rPr>
              <a:t>DevSecOps</a:t>
            </a:r>
            <a:r>
              <a:rPr lang="en-US" sz="1200" dirty="0">
                <a:solidFill>
                  <a:srgbClr val="000000"/>
                </a:solidFill>
                <a:latin typeface="Roboto Condensed Light" panose="02000000000000000000" pitchFamily="2" charset="0"/>
                <a:ea typeface="Roboto Condensed Light" panose="02000000000000000000" pitchFamily="2" charset="0"/>
              </a:rPr>
              <a:t> Evolution.”</a:t>
            </a:r>
            <a:r>
              <a:rPr lang="en-US" sz="1200" i="1" dirty="0">
                <a:solidFill>
                  <a:srgbClr val="000000"/>
                </a:solidFill>
                <a:latin typeface="Roboto Condensed Light" panose="02000000000000000000" pitchFamily="2" charset="0"/>
                <a:ea typeface="Roboto Condensed Light" panose="02000000000000000000" pitchFamily="2" charset="0"/>
              </a:rPr>
              <a:t> </a:t>
            </a:r>
            <a:r>
              <a:rPr lang="en-US" sz="1200" i="1" dirty="0" err="1">
                <a:solidFill>
                  <a:srgbClr val="000000"/>
                </a:solidFill>
                <a:latin typeface="Roboto Condensed Light" panose="02000000000000000000" pitchFamily="2" charset="0"/>
                <a:ea typeface="Roboto Condensed Light" panose="02000000000000000000" pitchFamily="2" charset="0"/>
              </a:rPr>
              <a:t>Checkmarx</a:t>
            </a:r>
            <a:r>
              <a:rPr lang="en-US" sz="1200" i="1" dirty="0">
                <a:solidFill>
                  <a:srgbClr val="000000"/>
                </a:solidFill>
                <a:latin typeface="Roboto Condensed Light" panose="02000000000000000000" pitchFamily="2" charset="0"/>
                <a:ea typeface="Roboto Condensed Light" panose="02000000000000000000" pitchFamily="2" charset="0"/>
              </a:rPr>
              <a:t>,</a:t>
            </a:r>
            <a:r>
              <a:rPr lang="en-US" sz="1200" dirty="0">
                <a:solidFill>
                  <a:srgbClr val="000000"/>
                </a:solidFill>
                <a:latin typeface="Roboto Condensed Light" panose="02000000000000000000" pitchFamily="2" charset="0"/>
                <a:ea typeface="Roboto Condensed Light" panose="02000000000000000000" pitchFamily="2" charset="0"/>
              </a:rPr>
              <a:t> Mar</a:t>
            </a:r>
            <a:r>
              <a:rPr lang="en-US" sz="1200">
                <a:solidFill>
                  <a:srgbClr val="000000"/>
                </a:solidFill>
                <a:latin typeface="Roboto Condensed Light" panose="02000000000000000000" pitchFamily="2" charset="0"/>
                <a:ea typeface="Roboto Condensed Light" panose="02000000000000000000" pitchFamily="2" charset="0"/>
              </a:rPr>
              <a:t>. 2025.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dirty="0">
                <a:solidFill>
                  <a:srgbClr val="000000"/>
                </a:solidFill>
                <a:latin typeface="Roboto Condensed Light" panose="02000000000000000000" pitchFamily="2" charset="0"/>
                <a:ea typeface="Roboto Condensed Light" panose="02000000000000000000" pitchFamily="2" charset="0"/>
              </a:rPr>
              <a:t>“</a:t>
            </a:r>
            <a:r>
              <a:rPr lang="en-US" sz="1200" dirty="0" err="1">
                <a:solidFill>
                  <a:srgbClr val="000000"/>
                </a:solidFill>
                <a:latin typeface="Roboto Condensed Light" panose="02000000000000000000" pitchFamily="2" charset="0"/>
                <a:ea typeface="Roboto Condensed Light" panose="02000000000000000000" pitchFamily="2" charset="0"/>
              </a:rPr>
              <a:t>DevSecOps</a:t>
            </a:r>
            <a:r>
              <a:rPr lang="en-US" sz="1200" dirty="0">
                <a:solidFill>
                  <a:srgbClr val="000000"/>
                </a:solidFill>
                <a:latin typeface="Roboto Condensed Light" panose="02000000000000000000" pitchFamily="2" charset="0"/>
                <a:ea typeface="Roboto Condensed Light" panose="02000000000000000000" pitchFamily="2" charset="0"/>
              </a:rPr>
              <a:t> Is Just the Beginning Playbook.” </a:t>
            </a:r>
            <a:r>
              <a:rPr lang="en-US" sz="1200" i="1" dirty="0" err="1">
                <a:solidFill>
                  <a:srgbClr val="000000"/>
                </a:solidFill>
                <a:latin typeface="Roboto Condensed Light" panose="02000000000000000000" pitchFamily="2" charset="0"/>
                <a:ea typeface="Roboto Condensed Light" panose="02000000000000000000" pitchFamily="2" charset="0"/>
              </a:rPr>
              <a:t>Snyk</a:t>
            </a:r>
            <a:r>
              <a:rPr lang="en-US" sz="1200" i="1" dirty="0">
                <a:solidFill>
                  <a:srgbClr val="000000"/>
                </a:solidFill>
                <a:latin typeface="Roboto Condensed Light" panose="02000000000000000000" pitchFamily="2" charset="0"/>
                <a:ea typeface="Roboto Condensed Light" panose="02000000000000000000" pitchFamily="2" charset="0"/>
              </a:rPr>
              <a:t> Ltd</a:t>
            </a:r>
            <a:r>
              <a:rPr lang="en-US" sz="1200">
                <a:solidFill>
                  <a:srgbClr val="000000"/>
                </a:solidFill>
                <a:latin typeface="Roboto Condensed Light" panose="02000000000000000000" pitchFamily="2" charset="0"/>
                <a:ea typeface="Roboto Condensed Light" panose="02000000000000000000" pitchFamily="2" charset="0"/>
              </a:rPr>
              <a:t>., 2023.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dirty="0">
                <a:solidFill>
                  <a:srgbClr val="000000"/>
                </a:solidFill>
                <a:latin typeface="Roboto Condensed Light" panose="02000000000000000000" pitchFamily="2" charset="0"/>
                <a:ea typeface="Roboto Condensed Light" panose="02000000000000000000" pitchFamily="2" charset="0"/>
              </a:rPr>
              <a:t>“Digital Fortresses Under Siege: Threats to Modern Application Architectures.” </a:t>
            </a:r>
            <a:r>
              <a:rPr lang="en-US" sz="1200" i="1" dirty="0">
                <a:solidFill>
                  <a:srgbClr val="000000"/>
                </a:solidFill>
                <a:latin typeface="Roboto Condensed Light" panose="02000000000000000000" pitchFamily="2" charset="0"/>
                <a:ea typeface="Roboto Condensed Light" panose="02000000000000000000" pitchFamily="2" charset="0"/>
              </a:rPr>
              <a:t>Akamai Technologies</a:t>
            </a:r>
            <a:r>
              <a:rPr lang="en-US" sz="1200" i="1">
                <a:solidFill>
                  <a:srgbClr val="000000"/>
                </a:solidFill>
                <a:latin typeface="Roboto Condensed Light" panose="02000000000000000000" pitchFamily="2" charset="0"/>
                <a:ea typeface="Roboto Condensed Light" panose="02000000000000000000" pitchFamily="2" charset="0"/>
              </a:rPr>
              <a:t>,</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dirty="0">
                <a:solidFill>
                  <a:srgbClr val="000000"/>
                </a:solidFill>
                <a:latin typeface="Roboto Condensed Light" panose="02000000000000000000" pitchFamily="2" charset="0"/>
                <a:ea typeface="Roboto Condensed Light" panose="02000000000000000000" pitchFamily="2" charset="0"/>
              </a:rPr>
              <a:t>“Digital Fortresses Under Siege: Threats to Modern Application Architectures.” </a:t>
            </a:r>
            <a:r>
              <a:rPr lang="en-US" sz="1200" i="1" dirty="0">
                <a:solidFill>
                  <a:srgbClr val="000000"/>
                </a:solidFill>
                <a:latin typeface="Roboto Condensed Light" panose="02000000000000000000" pitchFamily="2" charset="0"/>
                <a:ea typeface="Roboto Condensed Light" panose="02000000000000000000" pitchFamily="2" charset="0"/>
              </a:rPr>
              <a:t>Akamai Technologies</a:t>
            </a:r>
            <a:r>
              <a:rPr lang="en-US" sz="1200" dirty="0">
                <a:solidFill>
                  <a:srgbClr val="000000"/>
                </a:solidFill>
                <a:latin typeface="Roboto Condensed Light" panose="02000000000000000000" pitchFamily="2" charset="0"/>
                <a:ea typeface="Roboto Condensed Light" panose="02000000000000000000" pitchFamily="2" charset="0"/>
              </a:rPr>
              <a:t>, 1 </a:t>
            </a:r>
            <a:r>
              <a:rPr lang="en-US" sz="1200">
                <a:solidFill>
                  <a:srgbClr val="000000"/>
                </a:solidFill>
                <a:latin typeface="Roboto Condensed Light" panose="02000000000000000000" pitchFamily="2" charset="0"/>
                <a:ea typeface="Roboto Condensed Light" panose="02000000000000000000" pitchFamily="2" charset="0"/>
              </a:rPr>
              <a:t>July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a:spcBef>
                <a:spcPts val="400"/>
              </a:spcBef>
              <a:spcAft>
                <a:spcPts val="400"/>
              </a:spcAft>
            </a:pPr>
            <a:r>
              <a:rPr lang="en-US" sz="1200" dirty="0">
                <a:solidFill>
                  <a:srgbClr val="000000"/>
                </a:solidFill>
                <a:latin typeface="Roboto Condensed Light" panose="02000000000000000000" pitchFamily="2" charset="0"/>
                <a:ea typeface="Roboto Condensed Light" panose="02000000000000000000" pitchFamily="2" charset="0"/>
              </a:rPr>
              <a:t>“Eliminating Vulnerabilities Early in the SDLC for Société Française du Radiotelephone.” </a:t>
            </a:r>
            <a:r>
              <a:rPr lang="en-US" sz="1200" i="1" dirty="0">
                <a:solidFill>
                  <a:srgbClr val="000000"/>
                </a:solidFill>
                <a:latin typeface="Roboto Condensed Light" panose="02000000000000000000" pitchFamily="2" charset="0"/>
                <a:ea typeface="Roboto Condensed Light" panose="02000000000000000000" pitchFamily="2" charset="0"/>
              </a:rPr>
              <a:t>Black Duck Software</a:t>
            </a:r>
            <a:r>
              <a:rPr lang="en-US" sz="1200" dirty="0">
                <a:solidFill>
                  <a:srgbClr val="000000"/>
                </a:solidFill>
                <a:latin typeface="Roboto Condensed Light" panose="02000000000000000000" pitchFamily="2" charset="0"/>
                <a:ea typeface="Roboto Condensed Light" panose="02000000000000000000" pitchFamily="2" charset="0"/>
              </a:rPr>
              <a:t>, Oct</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p:txBody>
      </p:sp>
    </p:spTree>
    <p:extLst>
      <p:ext uri="{BB962C8B-B14F-4D97-AF65-F5344CB8AC3E}">
        <p14:creationId xmlns:p14="http://schemas.microsoft.com/office/powerpoint/2010/main" val="28402209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DA76F-E3E9-8431-0F23-70C3A47580E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BCE06A-7E29-097A-72EB-EE1D7A5B067D}"/>
              </a:ext>
            </a:extLst>
          </p:cNvPr>
          <p:cNvSpPr>
            <a:spLocks noGrp="1"/>
          </p:cNvSpPr>
          <p:nvPr>
            <p:ph type="title"/>
          </p:nvPr>
        </p:nvSpPr>
        <p:spPr/>
        <p:txBody>
          <a:bodyPr/>
          <a:lstStyle/>
          <a:p>
            <a:r>
              <a:rPr lang="en-US" dirty="0"/>
              <a:t>Bibliography</a:t>
            </a:r>
          </a:p>
        </p:txBody>
      </p:sp>
      <p:sp>
        <p:nvSpPr>
          <p:cNvPr id="3" name="Text Placeholder 1">
            <a:extLst>
              <a:ext uri="{FF2B5EF4-FFF2-40B4-BE49-F238E27FC236}">
                <a16:creationId xmlns:a16="http://schemas.microsoft.com/office/drawing/2014/main" id="{9926E5C2-37D7-2E59-0AF2-56F12FBA46D7}"/>
              </a:ext>
            </a:extLst>
          </p:cNvPr>
          <p:cNvSpPr txBox="1">
            <a:spLocks/>
          </p:cNvSpPr>
          <p:nvPr/>
        </p:nvSpPr>
        <p:spPr>
          <a:xfrm>
            <a:off x="281754" y="1326776"/>
            <a:ext cx="5312222" cy="4944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spcAft>
                <a:spcPts val="400"/>
              </a:spcAft>
              <a:buNone/>
            </a:pPr>
            <a:r>
              <a:rPr lang="en-US" sz="1200">
                <a:solidFill>
                  <a:srgbClr val="000000"/>
                </a:solidFill>
                <a:latin typeface="Roboto Condensed Light" panose="02000000000000000000" pitchFamily="2" charset="0"/>
                <a:ea typeface="Roboto Condensed Light" panose="02000000000000000000" pitchFamily="2" charset="0"/>
              </a:rPr>
              <a:t>Gazit, Tiferet. “</a:t>
            </a:r>
            <a:r>
              <a:rPr lang="en-US" sz="1200" dirty="0">
                <a:solidFill>
                  <a:srgbClr val="000000"/>
                </a:solidFill>
                <a:latin typeface="Roboto Condensed Light" panose="02000000000000000000" pitchFamily="2" charset="0"/>
                <a:ea typeface="Roboto Condensed Light" panose="02000000000000000000" pitchFamily="2" charset="0"/>
              </a:rPr>
              <a:t>Fixing Security Vulnerabilities with AI.” </a:t>
            </a:r>
            <a:r>
              <a:rPr lang="en-US" sz="1200" i="1" dirty="0">
                <a:solidFill>
                  <a:srgbClr val="000000"/>
                </a:solidFill>
                <a:latin typeface="Roboto Condensed Light" panose="02000000000000000000" pitchFamily="2" charset="0"/>
                <a:ea typeface="Roboto Condensed Light" panose="02000000000000000000" pitchFamily="2" charset="0"/>
              </a:rPr>
              <a:t>GitHub Blog</a:t>
            </a:r>
            <a:r>
              <a:rPr lang="en-US" sz="1200" dirty="0">
                <a:solidFill>
                  <a:srgbClr val="000000"/>
                </a:solidFill>
                <a:latin typeface="Roboto Condensed Light" panose="02000000000000000000" pitchFamily="2" charset="0"/>
                <a:ea typeface="Roboto Condensed Light" panose="02000000000000000000" pitchFamily="2" charset="0"/>
              </a:rPr>
              <a:t>, 14 Feb</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“The Future of Application Security 2024.” </a:t>
            </a:r>
            <a:r>
              <a:rPr lang="en-US" sz="1200" i="1" dirty="0" err="1">
                <a:solidFill>
                  <a:srgbClr val="000000"/>
                </a:solidFill>
                <a:latin typeface="Roboto Condensed Light" panose="02000000000000000000" pitchFamily="2" charset="0"/>
                <a:ea typeface="Roboto Condensed Light" panose="02000000000000000000" pitchFamily="2" charset="0"/>
              </a:rPr>
              <a:t>Checkmarx</a:t>
            </a:r>
            <a:r>
              <a:rPr lang="en-US" sz="1200" dirty="0">
                <a:solidFill>
                  <a:srgbClr val="000000"/>
                </a:solidFill>
                <a:latin typeface="Roboto Condensed Light" panose="02000000000000000000" pitchFamily="2" charset="0"/>
                <a:ea typeface="Roboto Condensed Light" panose="02000000000000000000" pitchFamily="2" charset="0"/>
              </a:rPr>
              <a:t>, </a:t>
            </a:r>
            <a:r>
              <a:rPr lang="en-US" sz="1200">
                <a:solidFill>
                  <a:srgbClr val="000000"/>
                </a:solidFill>
                <a:latin typeface="Roboto Condensed Light" panose="02000000000000000000" pitchFamily="2" charset="0"/>
                <a:ea typeface="Roboto Condensed Light" panose="02000000000000000000" pitchFamily="2" charset="0"/>
              </a:rPr>
              <a:t>February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spcBef>
                <a:spcPts val="400"/>
              </a:spcBef>
              <a:spcAft>
                <a:spcPts val="400"/>
              </a:spcAft>
              <a:buNone/>
            </a:pPr>
            <a:r>
              <a:rPr lang="en-US" sz="1200">
                <a:solidFill>
                  <a:srgbClr val="000000"/>
                </a:solidFill>
                <a:latin typeface="Roboto Condensed Light" panose="02000000000000000000" pitchFamily="2" charset="0"/>
                <a:ea typeface="Roboto Condensed Light" panose="02000000000000000000" pitchFamily="2" charset="0"/>
              </a:rPr>
              <a:t>Kungla, Valter. “</a:t>
            </a:r>
            <a:r>
              <a:rPr lang="en-US" sz="1200" dirty="0">
                <a:solidFill>
                  <a:srgbClr val="000000"/>
                </a:solidFill>
                <a:latin typeface="Roboto Condensed Light" panose="02000000000000000000" pitchFamily="2" charset="0"/>
                <a:ea typeface="Roboto Condensed Light" panose="02000000000000000000" pitchFamily="2" charset="0"/>
              </a:rPr>
              <a:t>GitHub Autonomous Software Development Levels (ASDL</a:t>
            </a:r>
            <a:r>
              <a:rPr lang="en-US" sz="1200">
                <a:solidFill>
                  <a:srgbClr val="000000"/>
                </a:solidFill>
                <a:latin typeface="Roboto Condensed Light" panose="02000000000000000000" pitchFamily="2" charset="0"/>
                <a:ea typeface="Roboto Condensed Light" panose="02000000000000000000" pitchFamily="2" charset="0"/>
              </a:rPr>
              <a:t>)” </a:t>
            </a:r>
            <a:r>
              <a:rPr lang="en-US" sz="1200" i="1">
                <a:solidFill>
                  <a:srgbClr val="000000"/>
                </a:solidFill>
                <a:latin typeface="Roboto Condensed Light" panose="02000000000000000000" pitchFamily="2" charset="0"/>
                <a:ea typeface="Roboto Condensed Light" panose="02000000000000000000" pitchFamily="2" charset="0"/>
              </a:rPr>
              <a:t>GitHub</a:t>
            </a:r>
            <a:r>
              <a:rPr lang="en-US" sz="1200">
                <a:solidFill>
                  <a:srgbClr val="000000"/>
                </a:solidFill>
                <a:latin typeface="Roboto Condensed Light" panose="02000000000000000000" pitchFamily="2" charset="0"/>
                <a:ea typeface="Roboto Condensed Light" panose="02000000000000000000" pitchFamily="2" charset="0"/>
              </a:rPr>
              <a:t>, </a:t>
            </a:r>
            <a:r>
              <a:rPr lang="en-US" sz="1200" dirty="0">
                <a:solidFill>
                  <a:srgbClr val="000000"/>
                </a:solidFill>
                <a:latin typeface="Roboto Condensed Light" panose="02000000000000000000" pitchFamily="2" charset="0"/>
                <a:ea typeface="Roboto Condensed Light" panose="02000000000000000000" pitchFamily="2" charset="0"/>
              </a:rPr>
              <a:t>2025</a:t>
            </a:r>
            <a:r>
              <a:rPr lang="en-US" sz="1200">
                <a:solidFill>
                  <a:srgbClr val="000000"/>
                </a:solidFill>
                <a:latin typeface="Roboto Condensed Light" panose="02000000000000000000" pitchFamily="2" charset="0"/>
                <a:ea typeface="Roboto Condensed Light" panose="02000000000000000000" pitchFamily="2" charset="0"/>
              </a:rPr>
              <a:t>. Accessed </a:t>
            </a:r>
            <a:r>
              <a:rPr lang="en-US" sz="1200" dirty="0">
                <a:solidFill>
                  <a:srgbClr val="000000"/>
                </a:solidFill>
                <a:latin typeface="Roboto Condensed Light" panose="02000000000000000000" pitchFamily="2" charset="0"/>
                <a:ea typeface="Roboto Condensed Light" panose="02000000000000000000" pitchFamily="2" charset="0"/>
              </a:rPr>
              <a:t>30 June 2025.</a:t>
            </a:r>
          </a:p>
          <a:p>
            <a:pPr marL="0" indent="0">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“GitLab 2024 Global </a:t>
            </a:r>
            <a:r>
              <a:rPr lang="en-US" sz="1200" dirty="0" err="1">
                <a:solidFill>
                  <a:srgbClr val="000000"/>
                </a:solidFill>
                <a:latin typeface="Roboto Condensed Light" panose="02000000000000000000" pitchFamily="2" charset="0"/>
                <a:ea typeface="Roboto Condensed Light" panose="02000000000000000000" pitchFamily="2" charset="0"/>
              </a:rPr>
              <a:t>DevSecOps</a:t>
            </a:r>
            <a:r>
              <a:rPr lang="en-US" sz="1200" dirty="0">
                <a:solidFill>
                  <a:srgbClr val="000000"/>
                </a:solidFill>
                <a:latin typeface="Roboto Condensed Light" panose="02000000000000000000" pitchFamily="2" charset="0"/>
                <a:ea typeface="Roboto Condensed Light" panose="02000000000000000000" pitchFamily="2" charset="0"/>
              </a:rPr>
              <a:t> Survey.” </a:t>
            </a:r>
            <a:r>
              <a:rPr lang="en-US" sz="1200" i="1" dirty="0">
                <a:solidFill>
                  <a:srgbClr val="000000"/>
                </a:solidFill>
                <a:latin typeface="Roboto Condensed Light" panose="02000000000000000000" pitchFamily="2" charset="0"/>
                <a:ea typeface="Roboto Condensed Light" panose="02000000000000000000" pitchFamily="2" charset="0"/>
              </a:rPr>
              <a:t>GitLab</a:t>
            </a:r>
            <a:r>
              <a:rPr lang="en-US" sz="1200">
                <a:solidFill>
                  <a:srgbClr val="000000"/>
                </a:solidFill>
                <a:latin typeface="Roboto Condensed Light" panose="02000000000000000000" pitchFamily="2" charset="0"/>
                <a:ea typeface="Roboto Condensed Light" panose="02000000000000000000" pitchFamily="2" charset="0"/>
              </a:rPr>
              <a:t>,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“OWASP Software Assurance Maturity Model (SAMM)” </a:t>
            </a:r>
            <a:r>
              <a:rPr lang="en-US" sz="1200">
                <a:solidFill>
                  <a:srgbClr val="000000"/>
                </a:solidFill>
                <a:latin typeface="Roboto Condensed Light" panose="02000000000000000000" pitchFamily="2" charset="0"/>
                <a:ea typeface="Roboto Condensed Light" panose="02000000000000000000" pitchFamily="2" charset="0"/>
              </a:rPr>
              <a:t>OWASP Foundation. </a:t>
            </a:r>
            <a:r>
              <a:rPr lang="en-US" sz="1200" dirty="0">
                <a:solidFill>
                  <a:srgbClr val="000000"/>
                </a:solidFill>
                <a:latin typeface="Roboto Condensed Light" panose="02000000000000000000" pitchFamily="2" charset="0"/>
                <a:ea typeface="Roboto Condensed Light" panose="02000000000000000000" pitchFamily="2" charset="0"/>
              </a:rPr>
              <a:t>Accessed 5 May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“OWASP Top Ten.” OWASP Foundation</a:t>
            </a:r>
            <a:r>
              <a:rPr lang="en-US" sz="1200">
                <a:solidFill>
                  <a:srgbClr val="000000"/>
                </a:solidFill>
                <a:latin typeface="Roboto Condensed Light" panose="02000000000000000000" pitchFamily="2" charset="0"/>
                <a:ea typeface="Roboto Condensed Light" panose="02000000000000000000" pitchFamily="2" charset="0"/>
              </a:rPr>
              <a:t>, 2021.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endParaRPr lang="en-US" sz="1200" dirty="0">
              <a:solidFill>
                <a:srgbClr val="000000"/>
              </a:solidFill>
              <a:latin typeface="Roboto Condensed Light" panose="02000000000000000000" pitchFamily="2" charset="0"/>
              <a:ea typeface="Roboto Condensed Light" panose="02000000000000000000" pitchFamily="2" charset="0"/>
            </a:endParaRPr>
          </a:p>
        </p:txBody>
      </p:sp>
      <p:sp>
        <p:nvSpPr>
          <p:cNvPr id="2" name="Text Placeholder 1">
            <a:extLst>
              <a:ext uri="{FF2B5EF4-FFF2-40B4-BE49-F238E27FC236}">
                <a16:creationId xmlns:a16="http://schemas.microsoft.com/office/drawing/2014/main" id="{D34A9E79-FB88-35FC-ACAB-D9702F58F00A}"/>
              </a:ext>
            </a:extLst>
          </p:cNvPr>
          <p:cNvSpPr txBox="1">
            <a:spLocks/>
          </p:cNvSpPr>
          <p:nvPr/>
        </p:nvSpPr>
        <p:spPr>
          <a:xfrm>
            <a:off x="6235186" y="1294821"/>
            <a:ext cx="5312222" cy="49440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“Recommendations for Securing a Development Lifecycle.” </a:t>
            </a:r>
            <a:r>
              <a:rPr lang="en-US" sz="1200" i="1" dirty="0">
                <a:solidFill>
                  <a:srgbClr val="000000"/>
                </a:solidFill>
                <a:latin typeface="Roboto Condensed Light" panose="02000000000000000000" pitchFamily="2" charset="0"/>
                <a:ea typeface="Roboto Condensed Light" panose="02000000000000000000" pitchFamily="2" charset="0"/>
              </a:rPr>
              <a:t>Microsoft Learn</a:t>
            </a:r>
            <a:r>
              <a:rPr lang="en-US" sz="1200" dirty="0">
                <a:solidFill>
                  <a:srgbClr val="000000"/>
                </a:solidFill>
                <a:latin typeface="Roboto Condensed Light" panose="02000000000000000000" pitchFamily="2" charset="0"/>
                <a:ea typeface="Roboto Condensed Light" panose="02000000000000000000" pitchFamily="2" charset="0"/>
              </a:rPr>
              <a:t>, 10 </a:t>
            </a:r>
            <a:r>
              <a:rPr lang="en-US" sz="1200">
                <a:solidFill>
                  <a:srgbClr val="000000"/>
                </a:solidFill>
                <a:latin typeface="Roboto Condensed Light" panose="02000000000000000000" pitchFamily="2" charset="0"/>
                <a:ea typeface="Roboto Condensed Light" panose="02000000000000000000" pitchFamily="2" charset="0"/>
              </a:rPr>
              <a:t>May 2024. </a:t>
            </a:r>
            <a:r>
              <a:rPr lang="en-US" sz="1200" dirty="0">
                <a:solidFill>
                  <a:srgbClr val="000000"/>
                </a:solidFill>
                <a:latin typeface="Roboto Condensed Light" panose="02000000000000000000" pitchFamily="2" charset="0"/>
                <a:ea typeface="Roboto Condensed Light" panose="02000000000000000000" pitchFamily="2" charset="0"/>
              </a:rPr>
              <a:t>Accessed 31 July 2025.</a:t>
            </a:r>
          </a:p>
          <a:p>
            <a:pPr marL="0" indent="0">
              <a:lnSpc>
                <a:spcPct val="100000"/>
              </a:lnSpc>
              <a:spcBef>
                <a:spcPts val="400"/>
              </a:spcBef>
              <a:spcAft>
                <a:spcPts val="400"/>
              </a:spcAft>
              <a:buNone/>
            </a:pPr>
            <a:r>
              <a:rPr lang="en-US" sz="1200" dirty="0">
                <a:solidFill>
                  <a:srgbClr val="000000"/>
                </a:solidFill>
                <a:latin typeface="Roboto Condensed Light" panose="02000000000000000000" pitchFamily="2" charset="0"/>
                <a:ea typeface="Roboto Condensed Light" panose="02000000000000000000" pitchFamily="2" charset="0"/>
              </a:rPr>
              <a:t>“Secure Development Lifecycle for Power Platform.” Microsoft </a:t>
            </a:r>
            <a:r>
              <a:rPr lang="en-US" sz="1200">
                <a:solidFill>
                  <a:srgbClr val="000000"/>
                </a:solidFill>
                <a:latin typeface="Roboto Condensed Light" panose="02000000000000000000" pitchFamily="2" charset="0"/>
                <a:ea typeface="Roboto Condensed Light" panose="02000000000000000000" pitchFamily="2" charset="0"/>
              </a:rPr>
              <a:t>Learn, </a:t>
            </a:r>
            <a:r>
              <a:rPr lang="en-US" sz="1200" dirty="0">
                <a:solidFill>
                  <a:srgbClr val="000000"/>
                </a:solidFill>
                <a:latin typeface="Roboto Condensed Light" panose="02000000000000000000" pitchFamily="2" charset="0"/>
                <a:ea typeface="Roboto Condensed Light" panose="02000000000000000000" pitchFamily="2" charset="0"/>
              </a:rPr>
              <a:t>16 </a:t>
            </a:r>
            <a:r>
              <a:rPr lang="en-US" sz="1200">
                <a:solidFill>
                  <a:srgbClr val="000000"/>
                </a:solidFill>
                <a:latin typeface="Roboto Condensed Light" panose="02000000000000000000" pitchFamily="2" charset="0"/>
                <a:ea typeface="Roboto Condensed Light" panose="02000000000000000000" pitchFamily="2" charset="0"/>
              </a:rPr>
              <a:t>May 2024. Accessed </a:t>
            </a:r>
            <a:r>
              <a:rPr lang="en-US" sz="1200" dirty="0">
                <a:solidFill>
                  <a:srgbClr val="000000"/>
                </a:solidFill>
                <a:latin typeface="Roboto Condensed Light" panose="02000000000000000000" pitchFamily="2" charset="0"/>
                <a:ea typeface="Roboto Condensed Light" panose="02000000000000000000" pitchFamily="2" charset="0"/>
              </a:rPr>
              <a:t>31 July 2025.</a:t>
            </a:r>
          </a:p>
          <a:p>
            <a:pPr marL="0" indent="0">
              <a:lnSpc>
                <a:spcPct val="100000"/>
              </a:lnSpc>
              <a:spcBef>
                <a:spcPts val="400"/>
              </a:spcBef>
              <a:spcAft>
                <a:spcPts val="400"/>
              </a:spcAft>
              <a:buNone/>
            </a:pPr>
            <a:r>
              <a:rPr lang="en-US" sz="1200">
                <a:solidFill>
                  <a:srgbClr val="000000"/>
                </a:solidFill>
                <a:latin typeface="Roboto Condensed Light" panose="02000000000000000000" pitchFamily="2" charset="0"/>
                <a:ea typeface="Roboto Condensed Light" panose="02000000000000000000" pitchFamily="2" charset="0"/>
              </a:rPr>
              <a:t>Souppaya, Murugiah et al. “</a:t>
            </a:r>
            <a:r>
              <a:rPr lang="en-US" sz="1200" dirty="0">
                <a:solidFill>
                  <a:srgbClr val="000000"/>
                </a:solidFill>
                <a:latin typeface="Roboto Condensed Light" panose="02000000000000000000" pitchFamily="2" charset="0"/>
                <a:ea typeface="Roboto Condensed Light" panose="02000000000000000000" pitchFamily="2" charset="0"/>
              </a:rPr>
              <a:t>SP 800-218 Secure Software Development Framework (SSDF) Version 1.1: Recommendations for Mitigating the Risk of Software Vulnerabilities” </a:t>
            </a:r>
            <a:r>
              <a:rPr lang="en-US" sz="1200" i="1" dirty="0">
                <a:solidFill>
                  <a:srgbClr val="000000"/>
                </a:solidFill>
                <a:latin typeface="Roboto Condensed Light" panose="02000000000000000000" pitchFamily="2" charset="0"/>
                <a:ea typeface="Roboto Condensed Light" panose="02000000000000000000" pitchFamily="2" charset="0"/>
              </a:rPr>
              <a:t>NIST</a:t>
            </a:r>
            <a:r>
              <a:rPr lang="en-US" sz="1200">
                <a:solidFill>
                  <a:srgbClr val="000000"/>
                </a:solidFill>
                <a:latin typeface="Roboto Condensed Light" panose="02000000000000000000" pitchFamily="2" charset="0"/>
                <a:ea typeface="Roboto Condensed Light" panose="02000000000000000000" pitchFamily="2" charset="0"/>
              </a:rPr>
              <a:t>, Feb. 2022. Accessed </a:t>
            </a:r>
            <a:r>
              <a:rPr lang="en-US" sz="1200" dirty="0">
                <a:solidFill>
                  <a:srgbClr val="000000"/>
                </a:solidFill>
                <a:latin typeface="Roboto Condensed Light" panose="02000000000000000000" pitchFamily="2" charset="0"/>
                <a:ea typeface="Roboto Condensed Light" panose="02000000000000000000" pitchFamily="2" charset="0"/>
              </a:rPr>
              <a:t>5 May 2025.</a:t>
            </a:r>
          </a:p>
          <a:p>
            <a:pPr marL="0" indent="0">
              <a:lnSpc>
                <a:spcPct val="100000"/>
              </a:lnSpc>
              <a:spcBef>
                <a:spcPts val="400"/>
              </a:spcBef>
              <a:spcAft>
                <a:spcPts val="400"/>
              </a:spcAft>
              <a:buNone/>
            </a:pPr>
            <a:endParaRPr lang="en-US" sz="1200" dirty="0">
              <a:solidFill>
                <a:srgbClr val="000000"/>
              </a:solidFill>
              <a:latin typeface="Roboto Condensed Light" panose="02000000000000000000" pitchFamily="2" charset="0"/>
              <a:ea typeface="Roboto Condensed Light" panose="02000000000000000000" pitchFamily="2" charset="0"/>
            </a:endParaRPr>
          </a:p>
          <a:p>
            <a:pPr marL="0" indent="0">
              <a:lnSpc>
                <a:spcPct val="100000"/>
              </a:lnSpc>
              <a:spcBef>
                <a:spcPts val="400"/>
              </a:spcBef>
              <a:spcAft>
                <a:spcPts val="400"/>
              </a:spcAft>
              <a:buNone/>
            </a:pPr>
            <a:endParaRPr lang="en-US" sz="1200" dirty="0">
              <a:solidFill>
                <a:srgbClr val="000000"/>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3031541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03BAE-1D6F-D732-DC20-0D3CE9744172}"/>
            </a:ext>
          </a:extLst>
        </p:cNvPr>
        <p:cNvGrpSpPr/>
        <p:nvPr/>
      </p:nvGrpSpPr>
      <p:grpSpPr>
        <a:xfrm>
          <a:off x="0" y="0"/>
          <a:ext cx="0" cy="0"/>
          <a:chOff x="0" y="0"/>
          <a:chExt cx="0" cy="0"/>
        </a:xfrm>
      </p:grpSpPr>
    </p:spTree>
    <p:extLst>
      <p:ext uri="{BB962C8B-B14F-4D97-AF65-F5344CB8AC3E}">
        <p14:creationId xmlns:p14="http://schemas.microsoft.com/office/powerpoint/2010/main" val="11815821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 name="HTML_SHAPEINFO" val="&lt;ThreeDShapeInfo&gt;&lt;uuid val=&quot;{AFA3460B-1D53-42B3-AEE9-E160A75B4DD1}&quot;/&gt;&lt;isInvalidForFieldText val=&quot;0&quot;/&gt;&lt;Image&gt;&lt;filename val=&quot;C:\Users\natalie.sansone\AppData\Local\Temp\CP8220724968Session\CPTrustFolder8220724984\PPTImport822012416828\data\asimages\{AFA3460B-1D53-42B3-AEE9-E160A75B4DD1}_16.png&quot;/&gt;&lt;left val=&quot;956&quot;/&gt;&lt;top val=&quot;-1&quot;/&gt;&lt;width val=&quot;324&quot;/&gt;&lt;height val=&quot;722&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 name="HTML_SHAPEINFO" val="&lt;ThreeDShapeInfo&gt;&lt;uuid val=&quot;{42C41969-24DE-4EB9-8B46-A382E2CC6BF7}&quot;/&gt;&lt;isInvalidForFieldText val=&quot;0&quot;/&gt;&lt;Image&gt;&lt;filename val=&quot;C:\Users\natalie.sansone\AppData\Local\Temp\CP8220724968Session\CPTrustFolder8220724984\PPTImport822012416828\data\asimages\{42C41969-24DE-4EB9-8B46-A382E2CC6BF7}_16.png&quot;/&gt;&lt;left val=&quot;4&quot;/&gt;&lt;top val=&quot;28&quot;/&gt;&lt;width val=&quot;733&quot;/&gt;&lt;height val=&quot;146&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 name="HTML_SHAPEINFO" val="&lt;ThreeDShapeInfo&gt;&lt;uuid val=&quot;{A29F339E-C602-40BD-9DCA-E448DEF8B45F}&quot;/&gt;&lt;isInvalidForFieldText val=&quot;0&quot;/&gt;&lt;Image&gt;&lt;filename val=&quot;C:\Users\natalie.sansone\AppData\Local\Temp\CP8220724968Session\CPTrustFolder8220724984\PPTImport822012416828\data\asimages\{A29F339E-C602-40BD-9DCA-E448DEF8B45F}_16.png&quot;/&gt;&lt;left val=&quot;20&quot;/&gt;&lt;top val=&quot;120&quot;/&gt;&lt;width val=&quot;801&quot;/&gt;&lt;height val=&quot;80&quot;/&gt;&lt;hasText val=&quot;1&quot;/&gt;&lt;/Image&gt;&lt;/ThreeDShape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13&quot;/&gt;&lt;lineCharCount val=&quot;11&quot;/&gt;&lt;lineCharCount val=&quot;10&quot;/&gt;&lt;lineCharCount val=&quot;1&quot;/&gt;&lt;lineCharCount val=&quot;11&quot;/&gt;&lt;lineCharCount val=&quot;1&quot;/&gt;&lt;lineCharCount val=&quot;18&quot;/&gt;&lt;lineCharCount val=&quot;1&quot;/&gt;&lt;lineCharCount val=&quot;10&quot;/&gt;&lt;/TableIndex&gt;&lt;/ShapeTextInfo&gt;"/>
  <p:tag name="HTML_SHAPEINFO" val="&lt;ThreeDShapeInfo&gt;&lt;uuid val=&quot;{4E849F1B-288C-489E-B5ED-1EB974316CE9}&quot;/&gt;&lt;isInvalidForFieldText val=&quot;0&quot;/&gt;&lt;Image&gt;&lt;filename val=&quot;C:\Users\natalie.sansone\AppData\Local\Temp\CP8220724968Session\CPTrustFolder8220724984\PPTImport822012416828\data\asimages\{4E849F1B-288C-489E-B5ED-1EB974316CE9}_16.png&quot;/&gt;&lt;left val=&quot;990&quot;/&gt;&lt;top val=&quot;183&quot;/&gt;&lt;width val=&quot;272&quot;/&gt;&lt;height val=&quot;322&quot;/&gt;&lt;hasText val=&quot;1&quot;/&gt;&lt;/Image&gt;&lt;/ThreeDShapeInfo&gt;"/>
</p:tagLst>
</file>

<file path=ppt/tags/tag5.xml><?xml version="1.0" encoding="utf-8"?>
<p:tagLst xmlns:a="http://schemas.openxmlformats.org/drawingml/2006/main" xmlns:r="http://schemas.openxmlformats.org/officeDocument/2006/relationships" xmlns:p="http://schemas.openxmlformats.org/presentationml/2006/main">
  <p:tag name="PRESENTER_SHAPEINFO" val="&lt;ThreeDShapeInfo&gt;&lt;uuid val=&quot;{A207E574-932B-4458-8098-133C4B777F71}&quot;/&gt;&lt;isInvalidForFieldText val=&quot;0&quot;/&gt;&lt;Image&gt;&lt;filename val=&quot;C:\Users\natalie.sansone\AppData\Local\Temp\CP8220724968Session\CPTrustFolder8220724984\PPTImport822012416828\data\asimages\{A207E574-932B-4458-8098-133C4B777F71}_16.png&quot;/&gt;&lt;left val=&quot;30&quot;/&gt;&lt;top val=&quot;218&quot;/&gt;&lt;width val=&quot;910&quot;/&gt;&lt;height val=&quot;108&quot;/&gt;&lt;hasText val=&quot;1&quot;/&gt;&lt;/Image&gt;&lt;/ThreeDShape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9&quot;/&gt;&lt;lineCharCount val=&quot;7&quot;/&gt;&lt;lineCharCount val=&quot;12&quot;/&gt;&lt;lineCharCount val=&quot;10&quot;/&gt;&lt;/TableIndex&gt;&lt;/ShapeTextInfo&gt;"/>
  <p:tag name="HTML_SHAPEINFO" val="&lt;ThreeDShapeInfo&gt;&lt;uuid val=&quot;{C1C9C7AA-DE78-4977-A3C5-14E7A430BD5F}&quot;/&gt;&lt;isInvalidForFieldText val=&quot;0&quot;/&gt;&lt;Image&gt;&lt;filename val=&quot;C:\Users\natalie.sansone\AppData\Local\Temp\CP8220724968Session\CPTrustFolder8220724984\PPTImport822012416828\data\asimages\{C1C9C7AA-DE78-4977-A3C5-14E7A430BD5F}_16.png&quot;/&gt;&lt;left val=&quot;256&quot;/&gt;&lt;top val=&quot;346&quot;/&gt;&lt;width val=&quot;114&quot;/&gt;&lt;height val=&quot;107&quot;/&gt;&lt;hasText val=&quot;1&quot;/&gt;&lt;/Image&gt;&lt;/ThreeDShape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16&quot;/&gt;&lt;lineCharCount val=&quot;10&quot;/&gt;&lt;lineCharCount val=&quot;18&quot;/&gt;&lt;lineCharCount val=&quot;14&quot;/&gt;&lt;/TableIndex&gt;&lt;/ShapeTextInfo&gt;"/>
  <p:tag name="HTML_SHAPEINFO" val="&lt;ThreeDShapeInfo&gt;&lt;uuid val=&quot;{E09F5014-2C4C-48F5-9407-A8024D46B161}&quot;/&gt;&lt;isInvalidForFieldText val=&quot;0&quot;/&gt;&lt;Image&gt;&lt;filename val=&quot;C:\Users\natalie.sansone\AppData\Local\Temp\CP8220724968Session\CPTrustFolder8220724984\PPTImport822012416828\data\asimages\{E09F5014-2C4C-48F5-9407-A8024D46B161}_16.png&quot;/&gt;&lt;left val=&quot;421&quot;/&gt;&lt;top val=&quot;352&quot;/&gt;&lt;width val=&quot;150&quot;/&gt;&lt;height val=&quot;106&quot;/&gt;&lt;hasText val=&quot;1&quot;/&gt;&lt;/Image&gt;&lt;/ThreeDShape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9&quot;/&gt;&lt;lineCharCount val=&quot;13&quot;/&gt;&lt;lineCharCount val=&quot;12&quot;/&gt;&lt;lineCharCount val=&quot;12&quot;/&gt;&lt;/TableIndex&gt;&lt;/ShapeTextInfo&gt;"/>
  <p:tag name="HTML_SHAPEINFO" val="&lt;ThreeDShapeInfo&gt;&lt;uuid val=&quot;{90D34A26-61AB-4A28-AE69-393D70125EE8}&quot;/&gt;&lt;isInvalidForFieldText val=&quot;0&quot;/&gt;&lt;Image&gt;&lt;filename val=&quot;C:\Users\natalie.sansone\AppData\Local\Temp\CP8220724968Session\CPTrustFolder8220724984\PPTImport822012416828\data\asimages\{90D34A26-61AB-4A28-AE69-393D70125EE8}_16.png&quot;/&gt;&lt;left val=&quot;421&quot;/&gt;&lt;top val=&quot;490&quot;/&gt;&lt;width val=&quot;126&quot;/&gt;&lt;height val=&quot;107&quot;/&gt;&lt;hasText val=&quot;1&quot;/&gt;&lt;/Image&gt;&lt;/ThreeDShape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16&quot;/&gt;&lt;lineCharCount val=&quot;11&quot;/&gt;&lt;lineCharCount val=&quot;15&quot;/&gt;&lt;lineCharCount val=&quot;12&quot;/&gt;&lt;lineCharCount val=&quot;10&quot;/&gt;&lt;/TableIndex&gt;&lt;/ShapeTextInfo&gt;"/>
  <p:tag name="HTML_SHAPEINFO" val="&lt;ThreeDShapeInfo&gt;&lt;uuid val=&quot;{9D041F7F-B4D1-4CFA-8BF6-476072E66827}&quot;/&gt;&lt;isInvalidForFieldText val=&quot;0&quot;/&gt;&lt;Image&gt;&lt;filename val=&quot;C:\Users\natalie.sansone\AppData\Local\Temp\CP8220724968Session\CPTrustFolder8220724984\PPTImport822012416828\data\asimages\{9D041F7F-B4D1-4CFA-8BF6-476072E66827}_16.png&quot;/&gt;&lt;left val=&quot;592&quot;/&gt;&lt;top val=&quot;352&quot;/&gt;&lt;width val=&quot;137&quot;/&gt;&lt;height val=&quot;130&quot;/&gt;&lt;hasText val=&quot;1&quot;/&gt;&lt;/Image&gt;&lt;/ThreeDShape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9&quot;/&gt;&lt;lineCharCount val=&quot;14&quot;/&gt;&lt;lineCharCount val=&quot;12&quot;/&gt;&lt;lineCharCount val=&quot;14&quot;/&gt;&lt;/TableIndex&gt;&lt;/ShapeTextInfo&gt;"/>
  <p:tag name="HTML_SHAPEINFO" val="&lt;ThreeDShapeInfo&gt;&lt;uuid val=&quot;{E014B474-F32A-4372-807B-DB4C9B862E10}&quot;/&gt;&lt;isInvalidForFieldText val=&quot;0&quot;/&gt;&lt;Image&gt;&lt;filename val=&quot;C:\Users\natalie.sansone\AppData\Local\Temp\CP8220724968Session\CPTrustFolder8220724984\PPTImport822012416828\data\asimages\{E014B474-F32A-4372-807B-DB4C9B862E10}_16.png&quot;/&gt;&lt;left val=&quot;592&quot;/&gt;&lt;top val=&quot;490&quot;/&gt;&lt;width val=&quot;118&quot;/&gt;&lt;height val=&quot;107&quot;/&gt;&lt;hasText val=&quot;1&quot;/&gt;&lt;/Image&gt;&lt;/ThreeDShapeInfo&gt;"/>
</p:tagLst>
</file>

<file path=ppt/tags/tag11.xml><?xml version="1.0" encoding="utf-8"?>
<p:tagLst xmlns:a="http://schemas.openxmlformats.org/drawingml/2006/main" xmlns:r="http://schemas.openxmlformats.org/officeDocument/2006/relationships" xmlns:p="http://schemas.openxmlformats.org/presentationml/2006/main">
  <p:tag name="PRESENTER_SHAPEINFO" val="&lt;ThreeDShapeInfo&gt;&lt;uuid val=&quot;{84E51CE0-FFE7-42C5-9268-C69AD7260F57}&quot;/&gt;&lt;isInvalidForFieldText val=&quot;0&quot;/&gt;&lt;Image&gt;&lt;filename val=&quot;C:\Users\natalie.sansone\AppData\Local\Temp\CP8220724968Session\CPTrustFolder8220724984\PPTImport822012416828\data\asimages\{84E51CE0-FFE7-42C5-9268-C69AD7260F57}_16.png&quot;/&gt;&lt;left val=&quot;568&quot;/&gt;&lt;top val=&quot;403&quot;/&gt;&lt;width val=&quot;3&quot;/&gt;&lt;height val=&quot;89&quot;/&gt;&lt;hasText val=&quot;1&quot;/&gt;&lt;/Image&gt;&lt;/ThreeDShapeInfo&gt;"/>
</p:tagLst>
</file>

<file path=ppt/tags/tag12.xml><?xml version="1.0" encoding="utf-8"?>
<p:tagLst xmlns:a="http://schemas.openxmlformats.org/drawingml/2006/main" xmlns:r="http://schemas.openxmlformats.org/officeDocument/2006/relationships" xmlns:p="http://schemas.openxmlformats.org/presentationml/2006/main">
  <p:tag name="PRESENTER_SHAPEINFO" val="&lt;ThreeDShapeInfo&gt;&lt;uuid val=&quot;{06C6706C-9433-4BB1-953C-066E225E5BF9}&quot;/&gt;&lt;isInvalidForFieldText val=&quot;0&quot;/&gt;&lt;Image&gt;&lt;filename val=&quot;C:\Users\natalie.sansone\AppData\Local\Temp\CP8220724968Session\CPTrustFolder8220724984\PPTImport822012416828\data\asimages\{06C6706C-9433-4BB1-953C-066E225E5BF9}_16.png&quot;/&gt;&lt;left val=&quot;541&quot;/&gt;&lt;top val=&quot;490&quot;/&gt;&lt;width val=&quot;55&quot;/&gt;&lt;height val=&quot;56&quot;/&gt;&lt;hasText val=&quot;1&quot;/&gt;&lt;/Image&gt;&lt;/ThreeDShape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 name="HTML_SHAPEINFO" val="&lt;ThreeDShapeInfo&gt;&lt;uuid val=&quot;{755F8865-0CC6-44E8-9126-E90AD3BD4A28}&quot;/&gt;&lt;isInvalidForFieldText val=&quot;0&quot;/&gt;&lt;Image&gt;&lt;filename val=&quot;C:\Users\natalie.sansone\AppData\Local\Temp\CP8220724968Session\CPTrustFolder8220724984\PPTImport822012416828\data\asimages\{755F8865-0CC6-44E8-9126-E90AD3BD4A28}_16.png&quot;/&gt;&lt;left val=&quot;1012&quot;/&gt;&lt;top val=&quot;674&quot;/&gt;&lt;width val=&quot;243&quot;/&gt;&lt;height val=&quot;23&quot;/&gt;&lt;hasText val=&quot;1&quot;/&gt;&lt;/Image&gt;&lt;/ThreeDShapeInfo&gt;"/>
</p:tagLst>
</file>

<file path=ppt/tags/tag14.xml><?xml version="1.0" encoding="utf-8"?>
<p:tagLst xmlns:a="http://schemas.openxmlformats.org/drawingml/2006/main" xmlns:r="http://schemas.openxmlformats.org/officeDocument/2006/relationships" xmlns:p="http://schemas.openxmlformats.org/presentationml/2006/main">
  <p:tag name="PRESENTER_SHAPEINFO" val="&lt;ThreeDShapeInfo&gt;&lt;uuid val=&quot;{957A5C40-2D77-4E9D-BFF5-367129A249E2}&quot;/&gt;&lt;isInvalidForFieldText val=&quot;0&quot;/&gt;&lt;Image&gt;&lt;filename val=&quot;C:\Users\natalie.sansone\AppData\Local\Temp\CP8220724968Session\CPTrustFolder8220724984\PPTImport822012416828\data\asimages\{957A5C40-2D77-4E9D-BFF5-367129A249E2}_16.png&quot;/&gt;&lt;left val=&quot;206&quot;/&gt;&lt;top val=&quot;342&quot;/&gt;&lt;width val=&quot;55&quot;/&gt;&lt;height val=&quot;56&quot;/&gt;&lt;hasText val=&quot;1&quot;/&gt;&lt;/Image&gt;&lt;/ThreeDShapeInfo&gt;"/>
</p:tagLst>
</file>

<file path=ppt/tags/tag15.xml><?xml version="1.0" encoding="utf-8"?>
<p:tagLst xmlns:a="http://schemas.openxmlformats.org/drawingml/2006/main" xmlns:r="http://schemas.openxmlformats.org/officeDocument/2006/relationships" xmlns:p="http://schemas.openxmlformats.org/presentationml/2006/main">
  <p:tag name="PRESENTER_SHAPEINFO" val="&lt;ThreeDShapeInfo&gt;&lt;uuid val=&quot;{96C38A4A-71C8-4492-8A9B-ECF53A4F5231}&quot;/&gt;&lt;isInvalidForFieldText val=&quot;0&quot;/&gt;&lt;Image&gt;&lt;filename val=&quot;C:\Users\natalie.sansone\AppData\Local\Temp\CP8220724968Session\CPTrustFolder8220724984\PPTImport822012416828\data\asimages\{96C38A4A-71C8-4492-8A9B-ECF53A4F5231}_16.png&quot;/&gt;&lt;left val=&quot;372&quot;/&gt;&lt;top val=&quot;347&quot;/&gt;&lt;width val=&quot;56&quot;/&gt;&lt;height val=&quot;55&quot;/&gt;&lt;hasText val=&quot;1&quot;/&gt;&lt;/Image&gt;&lt;/ThreeDShapeInfo&gt;"/>
</p:tagLst>
</file>

<file path=ppt/tags/tag16.xml><?xml version="1.0" encoding="utf-8"?>
<p:tagLst xmlns:a="http://schemas.openxmlformats.org/drawingml/2006/main" xmlns:r="http://schemas.openxmlformats.org/officeDocument/2006/relationships" xmlns:p="http://schemas.openxmlformats.org/presentationml/2006/main">
  <p:tag name="PRESENTER_SHAPEINFO" val="&lt;ThreeDShapeInfo&gt;&lt;uuid val=&quot;{75AB799E-8B97-4459-A2A5-85A23343DE6C}&quot;/&gt;&lt;isInvalidForFieldText val=&quot;0&quot;/&gt;&lt;Image&gt;&lt;filename val=&quot;C:\Users\natalie.sansone\AppData\Local\Temp\CP8220724968Session\CPTrustFolder8220724984\PPTImport822012416828\data\asimages\{75AB799E-8B97-4459-A2A5-85A23343DE6C}_16.png&quot;/&gt;&lt;left val=&quot;397&quot;/&gt;&lt;top val=&quot;402&quot;/&gt;&lt;width val=&quot;4&quot;/&gt;&lt;height val=&quot;89&quot;/&gt;&lt;hasText val=&quot;1&quot;/&gt;&lt;/Image&gt;&lt;/ThreeDShapeInfo&gt;"/>
</p:tagLst>
</file>

<file path=ppt/tags/tag17.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098DC-DAB6-4EBE-A50C-7EF82B98056F}&quot;/&gt;&lt;isInvalidForFieldText val=&quot;0&quot;/&gt;&lt;Image&gt;&lt;filename val=&quot;C:\Users\natalie.sansone\AppData\Local\Temp\CP8220724968Session\CPTrustFolder8220724984\PPTImport822012416828\data\asimages\{F87098DC-DAB6-4EBE-A50C-7EF82B98056F}_16.png&quot;/&gt;&lt;left val=&quot;371&quot;/&gt;&lt;top val=&quot;489&quot;/&gt;&lt;width val=&quot;56&quot;/&gt;&lt;height val=&quot;56&quot;/&gt;&lt;hasText val=&quot;1&quot;/&gt;&lt;/Image&gt;&lt;/ThreeDShapeInfo&gt;"/>
</p:tagLst>
</file>

<file path=ppt/tags/tag18.xml><?xml version="1.0" encoding="utf-8"?>
<p:tagLst xmlns:a="http://schemas.openxmlformats.org/drawingml/2006/main" xmlns:r="http://schemas.openxmlformats.org/officeDocument/2006/relationships" xmlns:p="http://schemas.openxmlformats.org/presentationml/2006/main">
  <p:tag name="PRESENTER_SHAPEINFO" val="&lt;ThreeDShapeInfo&gt;&lt;uuid val=&quot;{7381C16A-FA89-4C4B-8C06-BF439964DC40}&quot;/&gt;&lt;isInvalidForFieldText val=&quot;0&quot;/&gt;&lt;Image&gt;&lt;filename val=&quot;C:\Users\natalie.sansone\AppData\Local\Temp\CP8220724968Session\CPTrustFolder8220724984\PPTImport822012416828\data\asimages\{7381C16A-FA89-4C4B-8C06-BF439964DC40}_16.png&quot;/&gt;&lt;left val=&quot;542&quot;/&gt;&lt;top val=&quot;348&quot;/&gt;&lt;width val=&quot;55&quot;/&gt;&lt;height val=&quot;55&quot;/&gt;&lt;hasText val=&quot;1&quot;/&gt;&lt;/Image&gt;&lt;/ThreeDShape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9&quot;/&gt;&lt;lineCharCount val=&quot;13&quot;/&gt;&lt;lineCharCount val=&quot;12&quot;/&gt;&lt;lineCharCount val=&quot;12&quot;/&gt;&lt;/TableIndex&gt;&lt;/ShapeTextInfo&gt;"/>
  <p:tag name="HTML_SHAPEINFO" val="&lt;ThreeDShapeInfo&gt;&lt;uuid val=&quot;{90D34A26-61AB-4A28-AE69-393D70125EE8}&quot;/&gt;&lt;isInvalidForFieldText val=&quot;0&quot;/&gt;&lt;Image&gt;&lt;filename val=&quot;C:\Users\natalie.sansone\AppData\Local\Temp\CP8220724968Session\CPTrustFolder8220724984\PPTImport822012416828\data\asimages\{90D34A26-61AB-4A28-AE69-393D70125EE8}_16.png&quot;/&gt;&lt;left val=&quot;421&quot;/&gt;&lt;top val=&quot;490&quot;/&gt;&lt;width val=&quot;126&quot;/&gt;&lt;height val=&quot;107&quot;/&gt;&lt;hasText val=&quot;1&quot;/&gt;&lt;/Image&gt;&lt;/ThreeDShapeInfo&gt;"/>
</p:tagLst>
</file>

<file path=ppt/tags/tag20.xml><?xml version="1.0" encoding="utf-8"?>
<p:tagLst xmlns:a="http://schemas.openxmlformats.org/drawingml/2006/main" xmlns:r="http://schemas.openxmlformats.org/officeDocument/2006/relationships" xmlns:p="http://schemas.openxmlformats.org/presentationml/2006/main">
  <p:tag name="PRESENTER_SHAPEINFO" val="&lt;ThreeDShapeInfo&gt;&lt;uuid val=&quot;{75AB799E-8B97-4459-A2A5-85A23343DE6C}&quot;/&gt;&lt;isInvalidForFieldText val=&quot;0&quot;/&gt;&lt;Image&gt;&lt;filename val=&quot;C:\Users\natalie.sansone\AppData\Local\Temp\CP8220724968Session\CPTrustFolder8220724984\PPTImport822012416828\data\asimages\{75AB799E-8B97-4459-A2A5-85A23343DE6C}_16.png&quot;/&gt;&lt;left val=&quot;397&quot;/&gt;&lt;top val=&quot;402&quot;/&gt;&lt;width val=&quot;4&quot;/&gt;&lt;height val=&quot;89&quot;/&gt;&lt;hasText val=&quot;1&quot;/&gt;&lt;/Image&gt;&lt;/ThreeDShapeInfo&gt;"/>
</p:tagLst>
</file>

<file path=ppt/tags/tag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F87098DC-DAB6-4EBE-A50C-7EF82B98056F}&quot;/&gt;&lt;isInvalidForFieldText val=&quot;0&quot;/&gt;&lt;Image&gt;&lt;filename val=&quot;C:\Users\natalie.sansone\AppData\Local\Temp\CP8220724968Session\CPTrustFolder8220724984\PPTImport822012416828\data\asimages\{F87098DC-DAB6-4EBE-A50C-7EF82B98056F}_16.png&quot;/&gt;&lt;left val=&quot;371&quot;/&gt;&lt;top val=&quot;489&quot;/&gt;&lt;width val=&quot;56&quot;/&gt;&lt;height val=&quot;56&quot;/&gt;&lt;hasText val=&quot;1&quot;/&gt;&lt;/Image&gt;&lt;/ThreeDShapeInfo&gt;"/>
</p:tagLst>
</file>

<file path=ppt/theme/theme1.xml><?xml version="1.0" encoding="utf-8"?>
<a:theme xmlns:a="http://schemas.openxmlformats.org/drawingml/2006/main" name="FronCovers-Dark">
  <a:themeElements>
    <a:clrScheme name="Info-Tech-ResearchDeck">
      <a:dk1>
        <a:srgbClr val="494A4A"/>
      </a:dk1>
      <a:lt1>
        <a:srgbClr val="FFFFFF"/>
      </a:lt1>
      <a:dk2>
        <a:srgbClr val="494A4A"/>
      </a:dk2>
      <a:lt2>
        <a:srgbClr val="FFFFFF"/>
      </a:lt2>
      <a:accent1>
        <a:srgbClr val="2576B6"/>
      </a:accent1>
      <a:accent2>
        <a:srgbClr val="5D3291"/>
      </a:accent2>
      <a:accent3>
        <a:srgbClr val="F7C435"/>
      </a:accent3>
      <a:accent4>
        <a:srgbClr val="299C47"/>
      </a:accent4>
      <a:accent5>
        <a:srgbClr val="B3252E"/>
      </a:accent5>
      <a:accent6>
        <a:srgbClr val="F07925"/>
      </a:accent6>
      <a:hlink>
        <a:srgbClr val="2576B6"/>
      </a:hlink>
      <a:folHlink>
        <a:srgbClr val="1647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theme>
</file>

<file path=ppt/theme/theme2.xml><?xml version="1.0" encoding="utf-8"?>
<a:theme xmlns:a="http://schemas.openxmlformats.org/drawingml/2006/main" name="Slide-Generic">
  <a:themeElements>
    <a:clrScheme name="ITRG">
      <a:dk1>
        <a:srgbClr val="494949"/>
      </a:dk1>
      <a:lt1>
        <a:srgbClr val="FFFFFF"/>
      </a:lt1>
      <a:dk2>
        <a:srgbClr val="494949"/>
      </a:dk2>
      <a:lt2>
        <a:srgbClr val="FFFFFF"/>
      </a:lt2>
      <a:accent1>
        <a:srgbClr val="2576B7"/>
      </a:accent1>
      <a:accent2>
        <a:srgbClr val="5E3391"/>
      </a:accent2>
      <a:accent3>
        <a:srgbClr val="EFC351"/>
      </a:accent3>
      <a:accent4>
        <a:srgbClr val="289D48"/>
      </a:accent4>
      <a:accent5>
        <a:srgbClr val="B3242E"/>
      </a:accent5>
      <a:accent6>
        <a:srgbClr val="F17926"/>
      </a:accent6>
      <a:hlink>
        <a:srgbClr val="2476B7"/>
      </a:hlink>
      <a:folHlink>
        <a:srgbClr val="16476E"/>
      </a:folHlink>
    </a:clrScheme>
    <a:fontScheme name="_ITRG">
      <a:majorFont>
        <a:latin typeface="Montserrat SemiBold"/>
        <a:ea typeface=""/>
        <a:cs typeface=""/>
      </a:majorFont>
      <a:minorFont>
        <a:latin typeface="Roboto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lide-Generic">
  <a:themeElements>
    <a:clrScheme name="Custom 1">
      <a:dk1>
        <a:srgbClr val="494949"/>
      </a:dk1>
      <a:lt1>
        <a:srgbClr val="FFFFFF"/>
      </a:lt1>
      <a:dk2>
        <a:srgbClr val="494949"/>
      </a:dk2>
      <a:lt2>
        <a:srgbClr val="FFFFFF"/>
      </a:lt2>
      <a:accent1>
        <a:srgbClr val="2576B7"/>
      </a:accent1>
      <a:accent2>
        <a:srgbClr val="5E3391"/>
      </a:accent2>
      <a:accent3>
        <a:srgbClr val="EFC351"/>
      </a:accent3>
      <a:accent4>
        <a:srgbClr val="289D48"/>
      </a:accent4>
      <a:accent5>
        <a:srgbClr val="B3242E"/>
      </a:accent5>
      <a:accent6>
        <a:srgbClr val="F17926"/>
      </a:accent6>
      <a:hlink>
        <a:srgbClr val="2476B7"/>
      </a:hlink>
      <a:folHlink>
        <a:srgbClr val="16476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Slide-Generic">
  <a:themeElements>
    <a:clrScheme name="ITRG">
      <a:dk1>
        <a:srgbClr val="494949"/>
      </a:dk1>
      <a:lt1>
        <a:srgbClr val="FFFFFF"/>
      </a:lt1>
      <a:dk2>
        <a:srgbClr val="494949"/>
      </a:dk2>
      <a:lt2>
        <a:srgbClr val="FFFFFF"/>
      </a:lt2>
      <a:accent1>
        <a:srgbClr val="2576B7"/>
      </a:accent1>
      <a:accent2>
        <a:srgbClr val="5E3391"/>
      </a:accent2>
      <a:accent3>
        <a:srgbClr val="EFC351"/>
      </a:accent3>
      <a:accent4>
        <a:srgbClr val="289D48"/>
      </a:accent4>
      <a:accent5>
        <a:srgbClr val="B3242E"/>
      </a:accent5>
      <a:accent6>
        <a:srgbClr val="F17926"/>
      </a:accent6>
      <a:hlink>
        <a:srgbClr val="2476B7"/>
      </a:hlink>
      <a:folHlink>
        <a:srgbClr val="16476E"/>
      </a:folHlink>
    </a:clrScheme>
    <a:fontScheme name="_ITRG">
      <a:majorFont>
        <a:latin typeface="Montserrat SemiBold"/>
        <a:ea typeface=""/>
        <a:cs typeface=""/>
      </a:majorFont>
      <a:minorFont>
        <a:latin typeface="Roboto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Slide-Generic">
  <a:themeElements>
    <a:clrScheme name="ITRG">
      <a:dk1>
        <a:srgbClr val="494949"/>
      </a:dk1>
      <a:lt1>
        <a:srgbClr val="FFFFFF"/>
      </a:lt1>
      <a:dk2>
        <a:srgbClr val="494949"/>
      </a:dk2>
      <a:lt2>
        <a:srgbClr val="FFFFFF"/>
      </a:lt2>
      <a:accent1>
        <a:srgbClr val="2576B7"/>
      </a:accent1>
      <a:accent2>
        <a:srgbClr val="5E3391"/>
      </a:accent2>
      <a:accent3>
        <a:srgbClr val="EFC351"/>
      </a:accent3>
      <a:accent4>
        <a:srgbClr val="289D48"/>
      </a:accent4>
      <a:accent5>
        <a:srgbClr val="B3242E"/>
      </a:accent5>
      <a:accent6>
        <a:srgbClr val="F17926"/>
      </a:accent6>
      <a:hlink>
        <a:srgbClr val="2476B7"/>
      </a:hlink>
      <a:folHlink>
        <a:srgbClr val="16476E"/>
      </a:folHlink>
    </a:clrScheme>
    <a:fontScheme name="_ITRG">
      <a:majorFont>
        <a:latin typeface="Montserrat SemiBold"/>
        <a:ea typeface=""/>
        <a:cs typeface=""/>
      </a:majorFont>
      <a:minorFont>
        <a:latin typeface="Roboto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wrap="square" lIns="0" tIns="0" rIns="0" bIns="0" numCol="1" spcCol="360000" rtlCol="0">
        <a:noAutofit/>
      </a:bodyPr>
      <a:lstStyle>
        <a:defPPr marL="179388" indent="-179388" algn="l">
          <a:lnSpc>
            <a:spcPct val="110000"/>
          </a:lnSpc>
          <a:buFont typeface="Arial" panose="020B0604020202020204" pitchFamily="34" charset="0"/>
          <a:buChar char="•"/>
          <a:tabLst/>
          <a:defRPr sz="1400" dirty="0" err="1" smtClean="0">
            <a:solidFill>
              <a:schemeClr val="tx1">
                <a:lumMod val="50000"/>
              </a:schemeClr>
            </a:solidFill>
            <a:latin typeface="Roboto Condensed Light" panose="02000000000000000000" pitchFamily="2" charset="0"/>
            <a:ea typeface="Roboto Condensed Light" panose="02000000000000000000"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10298</Words>
  <Application>Microsoft Office PowerPoint</Application>
  <PresentationFormat>Custom</PresentationFormat>
  <Paragraphs>1089</Paragraphs>
  <Slides>70</Slides>
  <Notes>64</Notes>
  <HiddenSlides>0</HiddenSlides>
  <MMClips>0</MMClips>
  <ScaleCrop>false</ScaleCrop>
  <HeadingPairs>
    <vt:vector size="6" baseType="variant">
      <vt:variant>
        <vt:lpstr>Fonts Used</vt:lpstr>
      </vt:variant>
      <vt:variant>
        <vt:i4>13</vt:i4>
      </vt:variant>
      <vt:variant>
        <vt:lpstr>Theme</vt:lpstr>
      </vt:variant>
      <vt:variant>
        <vt:i4>6</vt:i4>
      </vt:variant>
      <vt:variant>
        <vt:lpstr>Slide Titles</vt:lpstr>
      </vt:variant>
      <vt:variant>
        <vt:i4>70</vt:i4>
      </vt:variant>
    </vt:vector>
  </HeadingPairs>
  <TitlesOfParts>
    <vt:vector size="89" baseType="lpstr">
      <vt:lpstr>Montserrat Medium</vt:lpstr>
      <vt:lpstr>Exo Light</vt:lpstr>
      <vt:lpstr>Aptos Display</vt:lpstr>
      <vt:lpstr>Montserrat</vt:lpstr>
      <vt:lpstr>Courier New</vt:lpstr>
      <vt:lpstr>Arial</vt:lpstr>
      <vt:lpstr>Calibri</vt:lpstr>
      <vt:lpstr>Montserrat SemiBold</vt:lpstr>
      <vt:lpstr>Exo</vt:lpstr>
      <vt:lpstr>Aptos</vt:lpstr>
      <vt:lpstr>Roboto</vt:lpstr>
      <vt:lpstr>Roboto Condensed ExtraLight</vt:lpstr>
      <vt:lpstr>Roboto Condensed Light</vt:lpstr>
      <vt:lpstr>FronCovers-Dark</vt:lpstr>
      <vt:lpstr>Slide-Generic</vt:lpstr>
      <vt:lpstr>1_Slide-Generic</vt:lpstr>
      <vt:lpstr>Office Theme</vt:lpstr>
      <vt:lpstr>2_Slide-Generic</vt:lpstr>
      <vt:lpstr>3_Slide-Generic</vt:lpstr>
      <vt:lpstr>PowerPoint Presentation</vt:lpstr>
      <vt:lpstr>Analyst perspective</vt:lpstr>
      <vt:lpstr>Executive summary</vt:lpstr>
      <vt:lpstr>Challenge</vt:lpstr>
      <vt:lpstr>Common obstacles</vt:lpstr>
      <vt:lpstr>PowerPoint Presentation</vt:lpstr>
      <vt:lpstr>Info-Tech’s methodology for modernizing your application security services</vt:lpstr>
      <vt:lpstr>Insight summary</vt:lpstr>
      <vt:lpstr>Blueprint deliverables</vt:lpstr>
      <vt:lpstr>Blueprint benefits </vt:lpstr>
      <vt:lpstr>Info-Tech offers various levels of support to best suit your needs</vt:lpstr>
      <vt:lpstr>Guided Implementation</vt:lpstr>
      <vt:lpstr>Workshop overview</vt:lpstr>
      <vt:lpstr>PowerPoint Presentation</vt:lpstr>
      <vt:lpstr>Case study</vt:lpstr>
      <vt:lpstr>Phase 1</vt:lpstr>
      <vt:lpstr>1.1 Define requirements for application security</vt:lpstr>
      <vt:lpstr>Define requirements</vt:lpstr>
      <vt:lpstr>1.2 Define goals for the iSSDLC​</vt:lpstr>
      <vt:lpstr>1.2.1 Identify business opportunities​</vt:lpstr>
      <vt:lpstr>Examples of business opportunities​</vt:lpstr>
      <vt:lpstr>Select business opportunities​</vt:lpstr>
      <vt:lpstr>1.2.2 Identify security threats</vt:lpstr>
      <vt:lpstr>Security threats</vt:lpstr>
      <vt:lpstr>1.2.3 Identify threat impacts</vt:lpstr>
      <vt:lpstr>Selecting security threats</vt:lpstr>
      <vt:lpstr>Prioritize capabilities</vt:lpstr>
      <vt:lpstr>1.3 Establish metrics​</vt:lpstr>
      <vt:lpstr>Sample metrics</vt:lpstr>
      <vt:lpstr>Select metrics</vt:lpstr>
      <vt:lpstr>1.3.1 Document baseline metrics​</vt:lpstr>
      <vt:lpstr>1.4 Assign roles and responsibilities</vt:lpstr>
      <vt:lpstr>Complete the RACI matrix</vt:lpstr>
      <vt:lpstr>Phase 2</vt:lpstr>
      <vt:lpstr>2.1 Assess current state</vt:lpstr>
      <vt:lpstr>iSSDLC capabilities assessment</vt:lpstr>
      <vt:lpstr>iSSLDC Capabilities</vt:lpstr>
      <vt:lpstr>iSSDLC capabilities definitions Analyze and design phase</vt:lpstr>
      <vt:lpstr>iSSDLC capabilities definitions Build phase</vt:lpstr>
      <vt:lpstr>iSSDLC capabilities definitions Test phase</vt:lpstr>
      <vt:lpstr>iSSDLC capabilities definitions Deploy phase</vt:lpstr>
      <vt:lpstr>iSSDLC capabilities definitions Operate and maintain phase</vt:lpstr>
      <vt:lpstr>Reduce the impact of false positives on your development lifecycle</vt:lpstr>
      <vt:lpstr>iSSDLC capabilities for mitigating false positives</vt:lpstr>
      <vt:lpstr>iSSDLC maturity model</vt:lpstr>
      <vt:lpstr>iSSDLC Maturity Model</vt:lpstr>
      <vt:lpstr>2.1.1 Assess iSSDLC current state</vt:lpstr>
      <vt:lpstr>2.2 Determine target state</vt:lpstr>
      <vt:lpstr>2.2.1 Determine iSSDLC target state</vt:lpstr>
      <vt:lpstr>Customize the iSSDLC capability prioritization (optional) </vt:lpstr>
      <vt:lpstr>Identify potential tools and technologies</vt:lpstr>
      <vt:lpstr>Leverage SoftwareReviews.com</vt:lpstr>
      <vt:lpstr>Phase 3</vt:lpstr>
      <vt:lpstr>3.1 Develop and prioritize initiatives</vt:lpstr>
      <vt:lpstr>3.1.1 Develop gap closure initiatives</vt:lpstr>
      <vt:lpstr>3.1.2 Conduct cost-benefit analysis</vt:lpstr>
      <vt:lpstr>3.1.3 Prioritize initiatives</vt:lpstr>
      <vt:lpstr>3.1.4 Create an effort map</vt:lpstr>
      <vt:lpstr>3.1.5 Develop one-page information slides for top initiatives</vt:lpstr>
      <vt:lpstr>3.2 Build roadmap</vt:lpstr>
      <vt:lpstr>3.2.1 Schedule initiatives using the Gantt chart</vt:lpstr>
      <vt:lpstr>3.2.2 Review your roadmap</vt:lpstr>
      <vt:lpstr>3.2.3 Review expected roadmap progression</vt:lpstr>
      <vt:lpstr>3.3 Develop iSSDLC strategy deck</vt:lpstr>
      <vt:lpstr>PowerPoint Presentation</vt:lpstr>
      <vt:lpstr>PowerPoint Presentation</vt:lpstr>
      <vt:lpstr>Related Info-Tech Research</vt:lpstr>
      <vt:lpstr>Bibliography</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2025-12-08T20:14:06Z</dcterms:created>
  <dcterms:modified xsi:type="dcterms:W3CDTF">2025-12-08T20:14:41Z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d24214e-5322-4789-8422-cbe411bc3a74_Enabled">
    <vt:lpwstr>true</vt:lpwstr>
  </property>
  <property fmtid="{D5CDD505-2E9C-101B-9397-08002B2CF9AE}" pid="3" name="MSIP_Label_7d24214e-5322-4789-8422-cbe411bc3a74_SetDate">
    <vt:lpwstr>2025-12-08T20:14:15Z</vt:lpwstr>
  </property>
  <property fmtid="{D5CDD505-2E9C-101B-9397-08002B2CF9AE}" pid="4" name="MSIP_Label_7d24214e-5322-4789-8422-cbe411bc3a74_Method">
    <vt:lpwstr>Standard</vt:lpwstr>
  </property>
  <property fmtid="{D5CDD505-2E9C-101B-9397-08002B2CF9AE}" pid="5" name="MSIP_Label_7d24214e-5322-4789-8422-cbe411bc3a74_Name">
    <vt:lpwstr>7d24214e-5322-4789-8422-cbe411bc3a74</vt:lpwstr>
  </property>
  <property fmtid="{D5CDD505-2E9C-101B-9397-08002B2CF9AE}" pid="6" name="MSIP_Label_7d24214e-5322-4789-8422-cbe411bc3a74_SiteId">
    <vt:lpwstr>113d1920-a1e0-48cf-a70a-868cbb03f3f6</vt:lpwstr>
  </property>
  <property fmtid="{D5CDD505-2E9C-101B-9397-08002B2CF9AE}" pid="7" name="MSIP_Label_7d24214e-5322-4789-8422-cbe411bc3a74_ActionId">
    <vt:lpwstr>e81ac3f3-d69b-446b-bdec-f708ac977a00</vt:lpwstr>
  </property>
  <property fmtid="{D5CDD505-2E9C-101B-9397-08002B2CF9AE}" pid="8" name="MSIP_Label_7d24214e-5322-4789-8422-cbe411bc3a74_ContentBits">
    <vt:lpwstr>0</vt:lpwstr>
  </property>
  <property fmtid="{D5CDD505-2E9C-101B-9397-08002B2CF9AE}" pid="9" name="MSIP_Label_7d24214e-5322-4789-8422-cbe411bc3a74_Tag">
    <vt:lpwstr>10, 3, 0, 1</vt:lpwstr>
  </property>
</Properties>
</file>