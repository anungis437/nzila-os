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slideLayouts/slideLayout2.xml" ContentType="application/vnd.openxmlformats-officedocument.presentationml.slideLayout+xml"/>
  <Override PartName="/ppt/theme/theme3.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4.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8.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2.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p:sldMasterIdLst>
    <p:sldMasterId id="2147483648" r:id="rId1"/>
    <p:sldMasterId id="2147483771" r:id="rId2"/>
    <p:sldMasterId id="2147483788" r:id="rId3"/>
    <p:sldMasterId id="2147483667" r:id="rId4"/>
    <p:sldMasterId id="2147483817" r:id="rId5"/>
  </p:sldMasterIdLst>
  <p:notesMasterIdLst>
    <p:notesMasterId r:id="rId37"/>
  </p:notesMasterIdLst>
  <p:handoutMasterIdLst>
    <p:handoutMasterId r:id="rId38"/>
  </p:handoutMasterIdLst>
  <p:sldIdLst>
    <p:sldId id="350" r:id="rId6"/>
    <p:sldId id="2147471370" r:id="rId7"/>
    <p:sldId id="440" r:id="rId8"/>
    <p:sldId id="2147471371" r:id="rId9"/>
    <p:sldId id="2147471372" r:id="rId10"/>
    <p:sldId id="2147471373" r:id="rId11"/>
    <p:sldId id="2147471374" r:id="rId12"/>
    <p:sldId id="2147471375" r:id="rId13"/>
    <p:sldId id="2147471376" r:id="rId14"/>
    <p:sldId id="4274" r:id="rId15"/>
    <p:sldId id="392" r:id="rId16"/>
    <p:sldId id="418" r:id="rId17"/>
    <p:sldId id="388" r:id="rId18"/>
    <p:sldId id="390" r:id="rId19"/>
    <p:sldId id="393" r:id="rId20"/>
    <p:sldId id="2147471379" r:id="rId21"/>
    <p:sldId id="2147473763" r:id="rId22"/>
    <p:sldId id="2147473759" r:id="rId23"/>
    <p:sldId id="2147473760" r:id="rId24"/>
    <p:sldId id="2147473768" r:id="rId25"/>
    <p:sldId id="2147473766" r:id="rId26"/>
    <p:sldId id="532" r:id="rId27"/>
    <p:sldId id="399" r:id="rId28"/>
    <p:sldId id="408" r:id="rId29"/>
    <p:sldId id="2147473765" r:id="rId30"/>
    <p:sldId id="511" r:id="rId31"/>
    <p:sldId id="2147473756" r:id="rId32"/>
    <p:sldId id="2147473757" r:id="rId33"/>
    <p:sldId id="2147473767" r:id="rId34"/>
    <p:sldId id="2147473762" r:id="rId35"/>
    <p:sldId id="2147473769" r:id="rId36"/>
  </p:sldIdLst>
  <p:sldSz cx="12193588" cy="6858000"/>
  <p:notesSz cx="11309350" cy="20104100"/>
  <p:embeddedFontLst>
    <p:embeddedFont>
      <p:font typeface="Exo" panose="02000303000000000000" pitchFamily="2" charset="0"/>
      <p:regular r:id="rId39"/>
      <p:bold r:id="rId40"/>
      <p:italic r:id="rId41"/>
      <p:boldItalic r:id="rId42"/>
    </p:embeddedFont>
    <p:embeddedFont>
      <p:font typeface="Exo Light" panose="02000303000000000000" pitchFamily="2" charset="0"/>
      <p:regular r:id="rId43"/>
      <p:italic r:id="rId44"/>
    </p:embeddedFont>
    <p:embeddedFont>
      <p:font typeface="Exo SemiBold" pitchFamily="2" charset="0"/>
      <p:bold r:id="rId45"/>
      <p:boldItalic r:id="rId46"/>
    </p:embeddedFont>
    <p:embeddedFont>
      <p:font typeface="Montserrat" panose="00000500000000000000" pitchFamily="2" charset="0"/>
      <p:regular r:id="rId47"/>
      <p:bold r:id="rId48"/>
      <p:italic r:id="rId49"/>
      <p:boldItalic r:id="rId50"/>
    </p:embeddedFont>
    <p:embeddedFont>
      <p:font typeface="Montserrat Medium" panose="00000600000000000000" pitchFamily="2" charset="0"/>
      <p:regular r:id="rId51"/>
      <p:bold r:id="rId52"/>
      <p:italic r:id="rId53"/>
    </p:embeddedFont>
    <p:embeddedFont>
      <p:font typeface="Montserrat SemiBold" panose="00000700000000000000" pitchFamily="2" charset="0"/>
      <p:regular r:id="rId54"/>
      <p:bold r:id="rId55"/>
      <p:italic r:id="rId56"/>
      <p:boldItalic r:id="rId57"/>
    </p:embeddedFont>
    <p:embeddedFont>
      <p:font typeface="Roboto Condensed Light" panose="02000000000000000000" pitchFamily="2" charset="0"/>
      <p:regular r:id="rId58"/>
      <p:italic r:id="rId59"/>
    </p:embeddedFont>
    <p:embeddedFont>
      <p:font typeface="Roboto Light" panose="02000000000000000000" pitchFamily="2" charset="0"/>
      <p:regular r:id="rId60"/>
      <p:italic r:id="rId61"/>
    </p:embeddedFont>
  </p:embeddedFontLst>
  <p:defaultTextStyle>
    <a:defPPr>
      <a:defRPr lang="en-US"/>
    </a:defPPr>
    <a:lvl1pPr marL="0" algn="l" defTabSz="554492" rtl="0" eaLnBrk="1" latinLnBrk="0" hangingPunct="1">
      <a:defRPr sz="1092" kern="1200">
        <a:solidFill>
          <a:schemeClr val="tx1"/>
        </a:solidFill>
        <a:latin typeface="+mn-lt"/>
        <a:ea typeface="+mn-ea"/>
        <a:cs typeface="+mn-cs"/>
      </a:defRPr>
    </a:lvl1pPr>
    <a:lvl2pPr marL="277246" algn="l" defTabSz="554492" rtl="0" eaLnBrk="1" latinLnBrk="0" hangingPunct="1">
      <a:defRPr sz="1092" kern="1200">
        <a:solidFill>
          <a:schemeClr val="tx1"/>
        </a:solidFill>
        <a:latin typeface="+mn-lt"/>
        <a:ea typeface="+mn-ea"/>
        <a:cs typeface="+mn-cs"/>
      </a:defRPr>
    </a:lvl2pPr>
    <a:lvl3pPr marL="554492" algn="l" defTabSz="554492" rtl="0" eaLnBrk="1" latinLnBrk="0" hangingPunct="1">
      <a:defRPr sz="1092" kern="1200">
        <a:solidFill>
          <a:schemeClr val="tx1"/>
        </a:solidFill>
        <a:latin typeface="+mn-lt"/>
        <a:ea typeface="+mn-ea"/>
        <a:cs typeface="+mn-cs"/>
      </a:defRPr>
    </a:lvl3pPr>
    <a:lvl4pPr marL="831738" algn="l" defTabSz="554492" rtl="0" eaLnBrk="1" latinLnBrk="0" hangingPunct="1">
      <a:defRPr sz="1092" kern="1200">
        <a:solidFill>
          <a:schemeClr val="tx1"/>
        </a:solidFill>
        <a:latin typeface="+mn-lt"/>
        <a:ea typeface="+mn-ea"/>
        <a:cs typeface="+mn-cs"/>
      </a:defRPr>
    </a:lvl4pPr>
    <a:lvl5pPr marL="1108984" algn="l" defTabSz="554492" rtl="0" eaLnBrk="1" latinLnBrk="0" hangingPunct="1">
      <a:defRPr sz="1092" kern="1200">
        <a:solidFill>
          <a:schemeClr val="tx1"/>
        </a:solidFill>
        <a:latin typeface="+mn-lt"/>
        <a:ea typeface="+mn-ea"/>
        <a:cs typeface="+mn-cs"/>
      </a:defRPr>
    </a:lvl5pPr>
    <a:lvl6pPr marL="1386230" algn="l" defTabSz="554492" rtl="0" eaLnBrk="1" latinLnBrk="0" hangingPunct="1">
      <a:defRPr sz="1092" kern="1200">
        <a:solidFill>
          <a:schemeClr val="tx1"/>
        </a:solidFill>
        <a:latin typeface="+mn-lt"/>
        <a:ea typeface="+mn-ea"/>
        <a:cs typeface="+mn-cs"/>
      </a:defRPr>
    </a:lvl6pPr>
    <a:lvl7pPr marL="1663476" algn="l" defTabSz="554492" rtl="0" eaLnBrk="1" latinLnBrk="0" hangingPunct="1">
      <a:defRPr sz="1092" kern="1200">
        <a:solidFill>
          <a:schemeClr val="tx1"/>
        </a:solidFill>
        <a:latin typeface="+mn-lt"/>
        <a:ea typeface="+mn-ea"/>
        <a:cs typeface="+mn-cs"/>
      </a:defRPr>
    </a:lvl7pPr>
    <a:lvl8pPr marL="1940723" algn="l" defTabSz="554492" rtl="0" eaLnBrk="1" latinLnBrk="0" hangingPunct="1">
      <a:defRPr sz="1092" kern="1200">
        <a:solidFill>
          <a:schemeClr val="tx1"/>
        </a:solidFill>
        <a:latin typeface="+mn-lt"/>
        <a:ea typeface="+mn-ea"/>
        <a:cs typeface="+mn-cs"/>
      </a:defRPr>
    </a:lvl8pPr>
    <a:lvl9pPr marL="2217969" algn="l" defTabSz="554492" rtl="0" eaLnBrk="1" latinLnBrk="0" hangingPunct="1">
      <a:defRPr sz="1092"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792" userDrawn="1">
          <p15:clr>
            <a:srgbClr val="A4A3A4"/>
          </p15:clr>
        </p15:guide>
        <p15:guide id="2" pos="3817"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42E82"/>
    <a:srgbClr val="C3D9EB"/>
    <a:srgbClr val="000000"/>
    <a:srgbClr val="2576B7"/>
    <a:srgbClr val="717171"/>
    <a:srgbClr val="7CADD4"/>
    <a:srgbClr val="5E3391"/>
    <a:srgbClr val="E9F3FB"/>
    <a:srgbClr val="4A4A4A"/>
    <a:srgbClr val="F17A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211DF3-52CB-46C9-BD1A-9CFCA057AD16}" v="10" dt="2025-12-08T21:17:08.972"/>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1" d="100"/>
          <a:sy n="91" d="100"/>
        </p:scale>
        <p:origin x="1050" y="306"/>
      </p:cViewPr>
      <p:guideLst>
        <p:guide orient="horz" pos="3792"/>
        <p:guide pos="3817"/>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font" Target="fonts/font12.fntdata"/><Relationship Id="rId55" Type="http://schemas.openxmlformats.org/officeDocument/2006/relationships/font" Target="fonts/font17.fntdata"/><Relationship Id="rId63" Type="http://schemas.openxmlformats.org/officeDocument/2006/relationships/presProps" Target="presProps.xml"/><Relationship Id="rId68" Type="http://schemas.microsoft.com/office/2018/10/relationships/authors" Target="author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notesMaster" Target="notesMasters/notesMaster1.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font" Target="fonts/font15.fntdata"/><Relationship Id="rId58" Type="http://schemas.openxmlformats.org/officeDocument/2006/relationships/font" Target="fonts/font20.fntdata"/><Relationship Id="rId66" Type="http://schemas.openxmlformats.org/officeDocument/2006/relationships/tableStyles" Target="tableStyles.xml"/><Relationship Id="rId5" Type="http://schemas.openxmlformats.org/officeDocument/2006/relationships/slideMaster" Target="slideMasters/slideMaster5.xml"/><Relationship Id="rId61" Type="http://schemas.openxmlformats.org/officeDocument/2006/relationships/font" Target="fonts/font23.fntdata"/><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font" Target="fonts/font5.fntdata"/><Relationship Id="rId48" Type="http://schemas.openxmlformats.org/officeDocument/2006/relationships/font" Target="fonts/font10.fntdata"/><Relationship Id="rId56" Type="http://schemas.openxmlformats.org/officeDocument/2006/relationships/font" Target="fonts/font18.fntdata"/><Relationship Id="rId64"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font" Target="fonts/font13.fntdata"/><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handoutMaster" Target="handoutMasters/handoutMaster1.xml"/><Relationship Id="rId46" Type="http://schemas.openxmlformats.org/officeDocument/2006/relationships/font" Target="fonts/font8.fntdata"/><Relationship Id="rId59" Type="http://schemas.openxmlformats.org/officeDocument/2006/relationships/font" Target="fonts/font21.fntdata"/><Relationship Id="rId67" Type="http://schemas.microsoft.com/office/2015/10/relationships/revisionInfo" Target="revisionInfo.xml"/><Relationship Id="rId20" Type="http://schemas.openxmlformats.org/officeDocument/2006/relationships/slide" Target="slides/slide15.xml"/><Relationship Id="rId41" Type="http://schemas.openxmlformats.org/officeDocument/2006/relationships/font" Target="fonts/font3.fntdata"/><Relationship Id="rId54" Type="http://schemas.openxmlformats.org/officeDocument/2006/relationships/font" Target="fonts/font16.fntdata"/><Relationship Id="rId62"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font" Target="fonts/font11.fntdata"/><Relationship Id="rId57" Type="http://schemas.openxmlformats.org/officeDocument/2006/relationships/font" Target="fonts/font19.fntdata"/><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font" Target="fonts/font6.fntdata"/><Relationship Id="rId52" Type="http://schemas.openxmlformats.org/officeDocument/2006/relationships/font" Target="fonts/font14.fntdata"/><Relationship Id="rId60" Type="http://schemas.openxmlformats.org/officeDocument/2006/relationships/font" Target="fonts/font22.fntdata"/><Relationship Id="rId65"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font" Target="fonts/font1.fntdata"/></Relationships>
</file>

<file path=ppt/charts/_rels/chart1.xml.rels><?xml version="1.0" encoding="UTF-8" standalone="yes"?>
<Relationships xmlns="http://schemas.openxmlformats.org/package/2006/relationships"><Relationship Id="rId3" Type="http://schemas.openxmlformats.org/officeDocument/2006/relationships/oleObject" Target="https://infotechrg.sharepoint.com/sites/ITRG/RSH/ResearchProjects/InProgress/1.%20In-Progress/02-Modernize%20Application%20Security_Capabilities%20Assessment%20Tool.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infotechrg.sharepoint.com/sites/ITRG/RSH/ResearchProjects/InProgress/1.%20In-Progress/02-Modernize%20Application%20Security_Capabilities%20Assessment%20Tool.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infotechrg.sharepoint.com/sites/ITRG/RSH/ResearchProjects/InProgress/1.%20In-Progress/02-Modernize%20Application%20Security_Capabilities%20Assessment%20Tool.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https://infotechrg.sharepoint.com/sites/ITRG/RSH/ResearchProjects/InProgress/1.%20In-Progress/02-Modernize%20Application%20Security_Capabilities%20Assessment%20Tool.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12.xml"/><Relationship Id="rId1" Type="http://schemas.microsoft.com/office/2011/relationships/chartStyle" Target="style1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spPr>
            <a:solidFill>
              <a:schemeClr val="accent1"/>
            </a:solidFill>
            <a:ln>
              <a:noFill/>
            </a:ln>
            <a:effectLst/>
            <a:sp3d/>
          </c:spPr>
          <c:invertIfNegative val="0"/>
          <c:cat>
            <c:strRef>
              <c:f>'8. List &amp; Calc'!$B$126:$B$130</c:f>
              <c:strCache>
                <c:ptCount val="5"/>
                <c:pt idx="0">
                  <c:v>Analyze &amp; Design</c:v>
                </c:pt>
                <c:pt idx="1">
                  <c:v>Build</c:v>
                </c:pt>
                <c:pt idx="2">
                  <c:v>Test</c:v>
                </c:pt>
                <c:pt idx="3">
                  <c:v>Deploy</c:v>
                </c:pt>
                <c:pt idx="4">
                  <c:v>Maintenance &amp; Operations</c:v>
                </c:pt>
              </c:strCache>
            </c:strRef>
          </c:cat>
          <c:val>
            <c:numRef>
              <c:f>'8. List &amp; Calc'!$K$126:$K$130</c:f>
              <c:numCache>
                <c:formatCode>0.00</c:formatCode>
                <c:ptCount val="5"/>
                <c:pt idx="0">
                  <c:v>2.1666666666666665</c:v>
                </c:pt>
                <c:pt idx="1">
                  <c:v>2</c:v>
                </c:pt>
                <c:pt idx="2">
                  <c:v>2</c:v>
                </c:pt>
                <c:pt idx="3">
                  <c:v>2.6</c:v>
                </c:pt>
                <c:pt idx="4">
                  <c:v>2.7142857142857144</c:v>
                </c:pt>
              </c:numCache>
            </c:numRef>
          </c:val>
          <c:extLst>
            <c:ext xmlns:c16="http://schemas.microsoft.com/office/drawing/2014/chart" uri="{C3380CC4-5D6E-409C-BE32-E72D297353CC}">
              <c16:uniqueId val="{00000000-797E-4427-AB3B-2BEE068EBC4C}"/>
            </c:ext>
          </c:extLst>
        </c:ser>
        <c:dLbls>
          <c:showLegendKey val="0"/>
          <c:showVal val="0"/>
          <c:showCatName val="0"/>
          <c:showSerName val="0"/>
          <c:showPercent val="0"/>
          <c:showBubbleSize val="0"/>
        </c:dLbls>
        <c:gapWidth val="150"/>
        <c:shape val="box"/>
        <c:axId val="1240014320"/>
        <c:axId val="1240014800"/>
        <c:axId val="0"/>
      </c:bar3DChart>
      <c:catAx>
        <c:axId val="124001432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0014800"/>
        <c:crosses val="autoZero"/>
        <c:auto val="1"/>
        <c:lblAlgn val="ctr"/>
        <c:lblOffset val="100"/>
        <c:noMultiLvlLbl val="0"/>
      </c:catAx>
      <c:valAx>
        <c:axId val="1240014800"/>
        <c:scaling>
          <c:orientation val="minMax"/>
          <c:max val="5"/>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Maturity</a:t>
                </a:r>
              </a:p>
            </c:rich>
          </c:tx>
          <c:layout>
            <c:manualLayout>
              <c:xMode val="edge"/>
              <c:yMode val="edge"/>
              <c:x val="3.9857874040213993E-2"/>
              <c:y val="0.4230125558513933"/>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0014320"/>
        <c:crosses val="autoZero"/>
        <c:crossBetween val="between"/>
        <c:majorUnit val="1"/>
        <c:minorUnit val="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stacked"/>
        <c:varyColors val="0"/>
        <c:ser>
          <c:idx val="0"/>
          <c:order val="0"/>
          <c:tx>
            <c:v>Current State</c:v>
          </c:tx>
          <c:spPr>
            <a:solidFill>
              <a:schemeClr val="accent1"/>
            </a:solidFill>
            <a:ln>
              <a:noFill/>
            </a:ln>
            <a:effectLst/>
            <a:sp3d/>
          </c:spPr>
          <c:invertIfNegative val="0"/>
          <c:cat>
            <c:strRef>
              <c:f>'8. List &amp; Calc'!$D$58:$D$87</c:f>
              <c:strCache>
                <c:ptCount val="30"/>
                <c:pt idx="0">
                  <c:v>Security Requirements Definition</c:v>
                </c:pt>
                <c:pt idx="1">
                  <c:v>Threat Modeling</c:v>
                </c:pt>
                <c:pt idx="2">
                  <c:v>Secure Architecture Design</c:v>
                </c:pt>
                <c:pt idx="3">
                  <c:v>Zero Trust Architecture</c:v>
                </c:pt>
                <c:pt idx="4">
                  <c:v>Secure AI/ML Design</c:v>
                </c:pt>
                <c:pt idx="5">
                  <c:v>AI/ML Training Data Collection Security</c:v>
                </c:pt>
                <c:pt idx="6">
                  <c:v>Secure Design Review &amp; Assurance</c:v>
                </c:pt>
                <c:pt idx="7">
                  <c:v>Secure Coding Practices &amp; Training</c:v>
                </c:pt>
                <c:pt idx="8">
                  <c:v>Secure Code Review &amp; Static Analysis</c:v>
                </c:pt>
                <c:pt idx="9">
                  <c:v>Software Supply‑Chain Security</c:v>
                </c:pt>
                <c:pt idx="10">
                  <c:v>Secure Build &amp; CI/CD Pipeline</c:v>
                </c:pt>
                <c:pt idx="11">
                  <c:v>Secure Version Control &amp; Repository Management</c:v>
                </c:pt>
                <c:pt idx="12">
                  <c:v>Secrets Management in Development</c:v>
                </c:pt>
                <c:pt idx="13">
                  <c:v>Automated Security Testing</c:v>
                </c:pt>
                <c:pt idx="14">
                  <c:v>Penetration Testing &amp; Red Teaming</c:v>
                </c:pt>
                <c:pt idx="15">
                  <c:v>Fuzz &amp; Chaos Testing</c:v>
                </c:pt>
                <c:pt idx="16">
                  <c:v>Security Requirements Validation</c:v>
                </c:pt>
                <c:pt idx="17">
                  <c:v>Secure Test Environments &amp; Data Management</c:v>
                </c:pt>
                <c:pt idx="18">
                  <c:v>Secure Deployment &amp; Infrastructure‑as‑Code (IaC)</c:v>
                </c:pt>
                <c:pt idx="19">
                  <c:v>Container &amp; Orchestrator Security</c:v>
                </c:pt>
                <c:pt idx="20">
                  <c:v>Policy‑as‑Code (PaC) Deployment</c:v>
                </c:pt>
                <c:pt idx="21">
                  <c:v>Artifact Signing &amp; Provenance</c:v>
                </c:pt>
                <c:pt idx="22">
                  <c:v>Deployment Security Gates &amp; Reviews</c:v>
                </c:pt>
                <c:pt idx="23">
                  <c:v>Security Monitoring &amp; Threat Detection</c:v>
                </c:pt>
                <c:pt idx="24">
                  <c:v>Incident Response &amp; Recovery</c:v>
                </c:pt>
                <c:pt idx="25">
                  <c:v>Vulnerability Management &amp; Patching</c:v>
                </c:pt>
                <c:pt idx="26">
                  <c:v>API Security</c:v>
                </c:pt>
                <c:pt idx="27">
                  <c:v>Environment Management &amp; Configuration</c:v>
                </c:pt>
                <c:pt idx="28">
                  <c:v>Vulnerability Disclosure &amp; Bug Bounty</c:v>
                </c:pt>
                <c:pt idx="29">
                  <c:v>Agentic AI Oversight &amp; Control</c:v>
                </c:pt>
              </c:strCache>
            </c:strRef>
          </c:cat>
          <c:val>
            <c:numRef>
              <c:f>'8. List &amp; Calc'!$G$58:$G$87</c:f>
              <c:numCache>
                <c:formatCode>General</c:formatCode>
                <c:ptCount val="30"/>
                <c:pt idx="0">
                  <c:v>3</c:v>
                </c:pt>
                <c:pt idx="1">
                  <c:v>1</c:v>
                </c:pt>
                <c:pt idx="2">
                  <c:v>0</c:v>
                </c:pt>
                <c:pt idx="3">
                  <c:v>2</c:v>
                </c:pt>
                <c:pt idx="4">
                  <c:v>4</c:v>
                </c:pt>
                <c:pt idx="5">
                  <c:v>2</c:v>
                </c:pt>
                <c:pt idx="6">
                  <c:v>1</c:v>
                </c:pt>
                <c:pt idx="7">
                  <c:v>1</c:v>
                </c:pt>
                <c:pt idx="8">
                  <c:v>4</c:v>
                </c:pt>
                <c:pt idx="9">
                  <c:v>1</c:v>
                </c:pt>
                <c:pt idx="10">
                  <c:v>2</c:v>
                </c:pt>
                <c:pt idx="11">
                  <c:v>1</c:v>
                </c:pt>
                <c:pt idx="12">
                  <c:v>3</c:v>
                </c:pt>
                <c:pt idx="13">
                  <c:v>3</c:v>
                </c:pt>
                <c:pt idx="14">
                  <c:v>2</c:v>
                </c:pt>
                <c:pt idx="15">
                  <c:v>1</c:v>
                </c:pt>
                <c:pt idx="16">
                  <c:v>2</c:v>
                </c:pt>
                <c:pt idx="17">
                  <c:v>0</c:v>
                </c:pt>
                <c:pt idx="18">
                  <c:v>4</c:v>
                </c:pt>
                <c:pt idx="19">
                  <c:v>1</c:v>
                </c:pt>
                <c:pt idx="20">
                  <c:v>2</c:v>
                </c:pt>
                <c:pt idx="21">
                  <c:v>1</c:v>
                </c:pt>
                <c:pt idx="22">
                  <c:v>5</c:v>
                </c:pt>
                <c:pt idx="23">
                  <c:v>4</c:v>
                </c:pt>
                <c:pt idx="24">
                  <c:v>3</c:v>
                </c:pt>
                <c:pt idx="25">
                  <c:v>2</c:v>
                </c:pt>
                <c:pt idx="26">
                  <c:v>1</c:v>
                </c:pt>
                <c:pt idx="27">
                  <c:v>2</c:v>
                </c:pt>
                <c:pt idx="28">
                  <c:v>5</c:v>
                </c:pt>
                <c:pt idx="29">
                  <c:v>2</c:v>
                </c:pt>
              </c:numCache>
            </c:numRef>
          </c:val>
          <c:extLst>
            <c:ext xmlns:c16="http://schemas.microsoft.com/office/drawing/2014/chart" uri="{C3380CC4-5D6E-409C-BE32-E72D297353CC}">
              <c16:uniqueId val="{00000000-F329-4ED7-B408-10A237195798}"/>
            </c:ext>
          </c:extLst>
        </c:ser>
        <c:dLbls>
          <c:showLegendKey val="0"/>
          <c:showVal val="0"/>
          <c:showCatName val="0"/>
          <c:showSerName val="0"/>
          <c:showPercent val="0"/>
          <c:showBubbleSize val="0"/>
        </c:dLbls>
        <c:gapWidth val="150"/>
        <c:shape val="box"/>
        <c:axId val="1022741471"/>
        <c:axId val="1022737151"/>
        <c:axId val="0"/>
      </c:bar3DChart>
      <c:catAx>
        <c:axId val="1022741471"/>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22737151"/>
        <c:crosses val="autoZero"/>
        <c:auto val="1"/>
        <c:lblAlgn val="ctr"/>
        <c:lblOffset val="100"/>
        <c:noMultiLvlLbl val="0"/>
      </c:catAx>
      <c:valAx>
        <c:axId val="102273715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Maturity</a:t>
                </a:r>
              </a:p>
            </c:rich>
          </c:tx>
          <c:layout>
            <c:manualLayout>
              <c:xMode val="edge"/>
              <c:yMode val="edge"/>
              <c:x val="6.3584933164576876E-2"/>
              <c:y val="0.18863256131114264"/>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22741471"/>
        <c:crosses val="autoZero"/>
        <c:crossBetween val="between"/>
        <c:majorUnit val="1"/>
        <c:minorUnit val="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800" b="0" i="0" u="none" strike="noStrike" kern="1200" cap="none" spc="0" normalizeH="0" baseline="0">
                <a:solidFill>
                  <a:srgbClr val="4A4A4A"/>
                </a:solidFill>
                <a:latin typeface="Exo" panose="02000503000000000000" pitchFamily="2" charset="77"/>
                <a:ea typeface="+mj-ea"/>
                <a:cs typeface="+mj-cs"/>
              </a:defRPr>
            </a:pPr>
            <a:r>
              <a:rPr lang="en-US" sz="1800" b="1" i="0" dirty="0">
                <a:solidFill>
                  <a:srgbClr val="4A4A4A"/>
                </a:solidFill>
                <a:latin typeface="Montserrat SemiBold" pitchFamily="2" charset="77"/>
              </a:rPr>
              <a:t>Time to remediate</a:t>
            </a:r>
          </a:p>
        </c:rich>
      </c:tx>
      <c:overlay val="0"/>
      <c:spPr>
        <a:noFill/>
        <a:ln>
          <a:noFill/>
        </a:ln>
        <a:effectLst/>
      </c:spPr>
      <c:txPr>
        <a:bodyPr rot="0" spcFirstLastPara="1" vertOverflow="ellipsis" vert="horz" wrap="square" anchor="ctr" anchorCtr="1"/>
        <a:lstStyle/>
        <a:p>
          <a:pPr>
            <a:defRPr sz="1800" b="0" i="0" u="none" strike="noStrike" kern="1200" cap="none" spc="0" normalizeH="0" baseline="0">
              <a:solidFill>
                <a:srgbClr val="4A4A4A"/>
              </a:solidFill>
              <a:latin typeface="Exo" panose="02000503000000000000" pitchFamily="2" charset="77"/>
              <a:ea typeface="+mj-ea"/>
              <a:cs typeface="+mj-cs"/>
            </a:defRPr>
          </a:pPr>
          <a:endParaRPr lang="en-US"/>
        </a:p>
      </c:txPr>
    </c:title>
    <c:autoTitleDeleted val="0"/>
    <c:plotArea>
      <c:layout/>
      <c:lineChart>
        <c:grouping val="standard"/>
        <c:varyColors val="0"/>
        <c:ser>
          <c:idx val="0"/>
          <c:order val="0"/>
          <c:tx>
            <c:strRef>
              <c:f>Sheet1!$B$1</c:f>
              <c:strCache>
                <c:ptCount val="1"/>
                <c:pt idx="0">
                  <c:v>High</c:v>
                </c:pt>
              </c:strCache>
            </c:strRef>
          </c:tx>
          <c:spPr>
            <a:ln w="38100" cap="rnd">
              <a:solidFill>
                <a:schemeClr val="accent1">
                  <a:shade val="65000"/>
                </a:schemeClr>
              </a:solidFill>
              <a:round/>
            </a:ln>
            <a:effectLst/>
          </c:spPr>
          <c:marker>
            <c:symbol val="none"/>
          </c:marker>
          <c:cat>
            <c:strRef>
              <c:f>Sheet1!$A$2:$A$5</c:f>
              <c:strCache>
                <c:ptCount val="4"/>
                <c:pt idx="0">
                  <c:v>Q4 2024</c:v>
                </c:pt>
                <c:pt idx="1">
                  <c:v>Q1 2025</c:v>
                </c:pt>
                <c:pt idx="2">
                  <c:v>Q2 2025</c:v>
                </c:pt>
                <c:pt idx="3">
                  <c:v>Q3 2025</c:v>
                </c:pt>
              </c:strCache>
            </c:strRef>
          </c:cat>
          <c:val>
            <c:numRef>
              <c:f>Sheet1!$B$2:$B$5</c:f>
              <c:numCache>
                <c:formatCode>General</c:formatCode>
                <c:ptCount val="4"/>
                <c:pt idx="0">
                  <c:v>14</c:v>
                </c:pt>
                <c:pt idx="1">
                  <c:v>13</c:v>
                </c:pt>
                <c:pt idx="2">
                  <c:v>15</c:v>
                </c:pt>
                <c:pt idx="3">
                  <c:v>12</c:v>
                </c:pt>
              </c:numCache>
            </c:numRef>
          </c:val>
          <c:smooth val="0"/>
          <c:extLst>
            <c:ext xmlns:c16="http://schemas.microsoft.com/office/drawing/2014/chart" uri="{C3380CC4-5D6E-409C-BE32-E72D297353CC}">
              <c16:uniqueId val="{00000000-E8C1-374F-B3E4-6D34F1B10531}"/>
            </c:ext>
          </c:extLst>
        </c:ser>
        <c:ser>
          <c:idx val="1"/>
          <c:order val="1"/>
          <c:tx>
            <c:strRef>
              <c:f>Sheet1!$C$1</c:f>
              <c:strCache>
                <c:ptCount val="1"/>
                <c:pt idx="0">
                  <c:v>Medium</c:v>
                </c:pt>
              </c:strCache>
            </c:strRef>
          </c:tx>
          <c:spPr>
            <a:ln w="38100" cap="rnd">
              <a:solidFill>
                <a:schemeClr val="accent1"/>
              </a:solidFill>
              <a:round/>
            </a:ln>
            <a:effectLst/>
          </c:spPr>
          <c:marker>
            <c:symbol val="none"/>
          </c:marker>
          <c:cat>
            <c:strRef>
              <c:f>Sheet1!$A$2:$A$5</c:f>
              <c:strCache>
                <c:ptCount val="4"/>
                <c:pt idx="0">
                  <c:v>Q4 2024</c:v>
                </c:pt>
                <c:pt idx="1">
                  <c:v>Q1 2025</c:v>
                </c:pt>
                <c:pt idx="2">
                  <c:v>Q2 2025</c:v>
                </c:pt>
                <c:pt idx="3">
                  <c:v>Q3 2025</c:v>
                </c:pt>
              </c:strCache>
            </c:strRef>
          </c:cat>
          <c:val>
            <c:numRef>
              <c:f>Sheet1!$C$2:$C$5</c:f>
              <c:numCache>
                <c:formatCode>General</c:formatCode>
                <c:ptCount val="4"/>
                <c:pt idx="0">
                  <c:v>17</c:v>
                </c:pt>
                <c:pt idx="1">
                  <c:v>20</c:v>
                </c:pt>
                <c:pt idx="2">
                  <c:v>18</c:v>
                </c:pt>
                <c:pt idx="3">
                  <c:v>19</c:v>
                </c:pt>
              </c:numCache>
            </c:numRef>
          </c:val>
          <c:smooth val="0"/>
          <c:extLst>
            <c:ext xmlns:c16="http://schemas.microsoft.com/office/drawing/2014/chart" uri="{C3380CC4-5D6E-409C-BE32-E72D297353CC}">
              <c16:uniqueId val="{00000000-B669-4CDB-8421-B224D6FF7A49}"/>
            </c:ext>
          </c:extLst>
        </c:ser>
        <c:ser>
          <c:idx val="2"/>
          <c:order val="2"/>
          <c:tx>
            <c:strRef>
              <c:f>Sheet1!$D$1</c:f>
              <c:strCache>
                <c:ptCount val="1"/>
                <c:pt idx="0">
                  <c:v>Low</c:v>
                </c:pt>
              </c:strCache>
            </c:strRef>
          </c:tx>
          <c:spPr>
            <a:ln w="38100" cap="rnd">
              <a:solidFill>
                <a:schemeClr val="accent1">
                  <a:tint val="65000"/>
                </a:schemeClr>
              </a:solidFill>
              <a:round/>
            </a:ln>
            <a:effectLst/>
          </c:spPr>
          <c:marker>
            <c:symbol val="none"/>
          </c:marker>
          <c:cat>
            <c:strRef>
              <c:f>Sheet1!$A$2:$A$5</c:f>
              <c:strCache>
                <c:ptCount val="4"/>
                <c:pt idx="0">
                  <c:v>Q4 2024</c:v>
                </c:pt>
                <c:pt idx="1">
                  <c:v>Q1 2025</c:v>
                </c:pt>
                <c:pt idx="2">
                  <c:v>Q2 2025</c:v>
                </c:pt>
                <c:pt idx="3">
                  <c:v>Q3 2025</c:v>
                </c:pt>
              </c:strCache>
            </c:strRef>
          </c:cat>
          <c:val>
            <c:numRef>
              <c:f>Sheet1!$D$2:$D$5</c:f>
              <c:numCache>
                <c:formatCode>General</c:formatCode>
                <c:ptCount val="4"/>
                <c:pt idx="0">
                  <c:v>26</c:v>
                </c:pt>
                <c:pt idx="1">
                  <c:v>28</c:v>
                </c:pt>
                <c:pt idx="2">
                  <c:v>30</c:v>
                </c:pt>
                <c:pt idx="3">
                  <c:v>29</c:v>
                </c:pt>
              </c:numCache>
            </c:numRef>
          </c:val>
          <c:smooth val="0"/>
          <c:extLst>
            <c:ext xmlns:c16="http://schemas.microsoft.com/office/drawing/2014/chart" uri="{C3380CC4-5D6E-409C-BE32-E72D297353CC}">
              <c16:uniqueId val="{00000001-B669-4CDB-8421-B224D6FF7A49}"/>
            </c:ext>
          </c:extLst>
        </c:ser>
        <c:dLbls>
          <c:showLegendKey val="0"/>
          <c:showVal val="0"/>
          <c:showCatName val="0"/>
          <c:showSerName val="0"/>
          <c:showPercent val="0"/>
          <c:showBubbleSize val="0"/>
        </c:dLbls>
        <c:smooth val="0"/>
        <c:axId val="479367048"/>
        <c:axId val="479367440"/>
      </c:lineChart>
      <c:catAx>
        <c:axId val="4793670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rgbClr val="4A4A4A"/>
                </a:solidFill>
                <a:latin typeface="Exo" panose="02000503000000000000" pitchFamily="2" charset="77"/>
                <a:ea typeface="+mn-ea"/>
                <a:cs typeface="+mn-cs"/>
              </a:defRPr>
            </a:pPr>
            <a:endParaRPr lang="en-US"/>
          </a:p>
        </c:txPr>
        <c:crossAx val="479367440"/>
        <c:crosses val="autoZero"/>
        <c:auto val="1"/>
        <c:lblAlgn val="ctr"/>
        <c:lblOffset val="100"/>
        <c:noMultiLvlLbl val="0"/>
      </c:catAx>
      <c:valAx>
        <c:axId val="479367440"/>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Exo" panose="02000503000000000000" pitchFamily="2" charset="77"/>
                    <a:ea typeface="+mn-ea"/>
                    <a:cs typeface="+mn-cs"/>
                  </a:defRPr>
                </a:pPr>
                <a:r>
                  <a:rPr lang="en-US" dirty="0"/>
                  <a:t>Days</a:t>
                </a:r>
              </a:p>
            </c:rich>
          </c:tx>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Exo" panose="02000503000000000000" pitchFamily="2" charset="77"/>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4A4A4A"/>
                </a:solidFill>
                <a:latin typeface="Exo" panose="02000503000000000000" pitchFamily="2" charset="77"/>
                <a:ea typeface="+mn-ea"/>
                <a:cs typeface="+mn-cs"/>
              </a:defRPr>
            </a:pPr>
            <a:endParaRPr lang="en-US"/>
          </a:p>
        </c:txPr>
        <c:crossAx val="47936704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Exo" panose="02000503000000000000" pitchFamily="2" charset="77"/>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Exo" panose="02000503000000000000" pitchFamily="2" charset="77"/>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cap="none" spc="0" normalizeH="0" baseline="0">
                <a:solidFill>
                  <a:srgbClr val="4A4A4A"/>
                </a:solidFill>
                <a:latin typeface="Exo" panose="02000503000000000000" pitchFamily="2" charset="77"/>
                <a:ea typeface="+mj-ea"/>
                <a:cs typeface="+mj-cs"/>
              </a:defRPr>
            </a:pPr>
            <a:r>
              <a:rPr lang="en-US" sz="1800" b="1" i="0" dirty="0">
                <a:solidFill>
                  <a:srgbClr val="4A4A4A"/>
                </a:solidFill>
                <a:latin typeface="Montserrat SemiBold" pitchFamily="2" charset="77"/>
              </a:rPr>
              <a:t>Credential stuffing detection rate</a:t>
            </a:r>
          </a:p>
        </c:rich>
      </c:tx>
      <c:overlay val="0"/>
      <c:spPr>
        <a:noFill/>
        <a:ln>
          <a:noFill/>
        </a:ln>
        <a:effectLst/>
      </c:spPr>
      <c:txPr>
        <a:bodyPr rot="0" spcFirstLastPara="1" vertOverflow="ellipsis" vert="horz" wrap="square" anchor="ctr" anchorCtr="1"/>
        <a:lstStyle/>
        <a:p>
          <a:pPr>
            <a:defRPr sz="1800" b="0" i="0" u="none" strike="noStrike" kern="1200" cap="none" spc="0" normalizeH="0" baseline="0">
              <a:solidFill>
                <a:srgbClr val="4A4A4A"/>
              </a:solidFill>
              <a:latin typeface="Exo" panose="02000503000000000000" pitchFamily="2" charset="77"/>
              <a:ea typeface="+mj-ea"/>
              <a:cs typeface="+mj-cs"/>
            </a:defRPr>
          </a:pPr>
          <a:endParaRPr lang="en-US"/>
        </a:p>
      </c:txPr>
    </c:title>
    <c:autoTitleDeleted val="0"/>
    <c:plotArea>
      <c:layout/>
      <c:lineChart>
        <c:grouping val="standard"/>
        <c:varyColors val="0"/>
        <c:ser>
          <c:idx val="0"/>
          <c:order val="0"/>
          <c:tx>
            <c:strRef>
              <c:f>Sheet1!$B$1</c:f>
              <c:strCache>
                <c:ptCount val="1"/>
                <c:pt idx="0">
                  <c:v>Series 1</c:v>
                </c:pt>
              </c:strCache>
            </c:strRef>
          </c:tx>
          <c:spPr>
            <a:ln w="38100" cap="rnd">
              <a:solidFill>
                <a:schemeClr val="accent1"/>
              </a:solidFill>
              <a:round/>
            </a:ln>
            <a:effectLst/>
          </c:spPr>
          <c:marker>
            <c:symbol val="none"/>
          </c:marker>
          <c:cat>
            <c:strRef>
              <c:f>Sheet1!$A$2:$A$5</c:f>
              <c:strCache>
                <c:ptCount val="4"/>
                <c:pt idx="0">
                  <c:v>Q4 2024</c:v>
                </c:pt>
                <c:pt idx="1">
                  <c:v>Q1 2025</c:v>
                </c:pt>
                <c:pt idx="2">
                  <c:v>Q2 2025</c:v>
                </c:pt>
                <c:pt idx="3">
                  <c:v>Q3 2025</c:v>
                </c:pt>
              </c:strCache>
            </c:strRef>
          </c:cat>
          <c:val>
            <c:numRef>
              <c:f>Sheet1!$B$2:$B$5</c:f>
              <c:numCache>
                <c:formatCode>General</c:formatCode>
                <c:ptCount val="4"/>
                <c:pt idx="0">
                  <c:v>80</c:v>
                </c:pt>
                <c:pt idx="1">
                  <c:v>82</c:v>
                </c:pt>
                <c:pt idx="2">
                  <c:v>81</c:v>
                </c:pt>
                <c:pt idx="3">
                  <c:v>78</c:v>
                </c:pt>
              </c:numCache>
            </c:numRef>
          </c:val>
          <c:smooth val="0"/>
          <c:extLst>
            <c:ext xmlns:c16="http://schemas.microsoft.com/office/drawing/2014/chart" uri="{C3380CC4-5D6E-409C-BE32-E72D297353CC}">
              <c16:uniqueId val="{00000000-E8C1-374F-B3E4-6D34F1B10531}"/>
            </c:ext>
          </c:extLst>
        </c:ser>
        <c:dLbls>
          <c:showLegendKey val="0"/>
          <c:showVal val="0"/>
          <c:showCatName val="0"/>
          <c:showSerName val="0"/>
          <c:showPercent val="0"/>
          <c:showBubbleSize val="0"/>
        </c:dLbls>
        <c:smooth val="0"/>
        <c:axId val="479368616"/>
        <c:axId val="479371752"/>
      </c:lineChart>
      <c:catAx>
        <c:axId val="4793686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rgbClr val="4A4A4A"/>
                </a:solidFill>
                <a:latin typeface="Exo" panose="02000503000000000000" pitchFamily="2" charset="77"/>
                <a:ea typeface="+mn-ea"/>
                <a:cs typeface="+mn-cs"/>
              </a:defRPr>
            </a:pPr>
            <a:endParaRPr lang="en-US"/>
          </a:p>
        </c:txPr>
        <c:crossAx val="479371752"/>
        <c:crosses val="autoZero"/>
        <c:auto val="1"/>
        <c:lblAlgn val="ctr"/>
        <c:lblOffset val="100"/>
        <c:noMultiLvlLbl val="0"/>
      </c:catAx>
      <c:valAx>
        <c:axId val="479371752"/>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Exo" panose="02000503000000000000" pitchFamily="2" charset="77"/>
                    <a:ea typeface="+mn-ea"/>
                    <a:cs typeface="+mn-cs"/>
                  </a:defRPr>
                </a:pPr>
                <a:r>
                  <a:rPr lang="en-US" dirty="0"/>
                  <a:t>Percentage</a:t>
                </a:r>
              </a:p>
            </c:rich>
          </c:tx>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Exo" panose="02000503000000000000" pitchFamily="2" charset="77"/>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Exo" panose="02000503000000000000" pitchFamily="2" charset="77"/>
                <a:ea typeface="+mn-ea"/>
                <a:cs typeface="+mn-cs"/>
              </a:defRPr>
            </a:pPr>
            <a:endParaRPr lang="en-US"/>
          </a:p>
        </c:txPr>
        <c:crossAx val="4793686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Exo" panose="02000503000000000000" pitchFamily="2" charset="77"/>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cap="none" spc="0" normalizeH="0" baseline="0">
                <a:solidFill>
                  <a:srgbClr val="4A4A4A"/>
                </a:solidFill>
                <a:latin typeface="Exo" panose="02000503000000000000" pitchFamily="2" charset="77"/>
                <a:ea typeface="+mj-ea"/>
                <a:cs typeface="+mj-cs"/>
              </a:defRPr>
            </a:pPr>
            <a:r>
              <a:rPr lang="en-US" sz="1800" b="1" i="0" dirty="0">
                <a:solidFill>
                  <a:srgbClr val="4A4A4A"/>
                </a:solidFill>
                <a:latin typeface="Montserrat SemiBold" pitchFamily="2" charset="77"/>
              </a:rPr>
              <a:t>Apps with integrated security testing</a:t>
            </a:r>
          </a:p>
        </c:rich>
      </c:tx>
      <c:overlay val="0"/>
      <c:spPr>
        <a:noFill/>
        <a:ln>
          <a:noFill/>
        </a:ln>
        <a:effectLst/>
      </c:spPr>
      <c:txPr>
        <a:bodyPr rot="0" spcFirstLastPara="1" vertOverflow="ellipsis" vert="horz" wrap="square" anchor="ctr" anchorCtr="1"/>
        <a:lstStyle/>
        <a:p>
          <a:pPr>
            <a:defRPr sz="1800" b="0" i="0" u="none" strike="noStrike" kern="1200" cap="none" spc="0" normalizeH="0" baseline="0">
              <a:solidFill>
                <a:srgbClr val="4A4A4A"/>
              </a:solidFill>
              <a:latin typeface="Exo" panose="02000503000000000000" pitchFamily="2" charset="77"/>
              <a:ea typeface="+mj-ea"/>
              <a:cs typeface="+mj-cs"/>
            </a:defRPr>
          </a:pPr>
          <a:endParaRPr lang="en-US"/>
        </a:p>
      </c:txPr>
    </c:title>
    <c:autoTitleDeleted val="0"/>
    <c:plotArea>
      <c:layout/>
      <c:lineChart>
        <c:grouping val="standard"/>
        <c:varyColors val="0"/>
        <c:ser>
          <c:idx val="0"/>
          <c:order val="0"/>
          <c:tx>
            <c:strRef>
              <c:f>Sheet1!$B$1</c:f>
              <c:strCache>
                <c:ptCount val="1"/>
                <c:pt idx="0">
                  <c:v>Series 1</c:v>
                </c:pt>
              </c:strCache>
            </c:strRef>
          </c:tx>
          <c:spPr>
            <a:ln w="38100" cap="rnd">
              <a:solidFill>
                <a:schemeClr val="accent1"/>
              </a:solidFill>
              <a:round/>
            </a:ln>
            <a:effectLst/>
          </c:spPr>
          <c:marker>
            <c:symbol val="none"/>
          </c:marker>
          <c:cat>
            <c:strRef>
              <c:f>Sheet1!$A$2:$A$5</c:f>
              <c:strCache>
                <c:ptCount val="4"/>
                <c:pt idx="0">
                  <c:v>Q4 2024</c:v>
                </c:pt>
                <c:pt idx="1">
                  <c:v>Q1 2025</c:v>
                </c:pt>
                <c:pt idx="2">
                  <c:v>Q2 2025</c:v>
                </c:pt>
                <c:pt idx="3">
                  <c:v>Q3 2025</c:v>
                </c:pt>
              </c:strCache>
            </c:strRef>
          </c:cat>
          <c:val>
            <c:numRef>
              <c:f>Sheet1!$B$2:$B$5</c:f>
              <c:numCache>
                <c:formatCode>General</c:formatCode>
                <c:ptCount val="4"/>
                <c:pt idx="0">
                  <c:v>22</c:v>
                </c:pt>
                <c:pt idx="1">
                  <c:v>24</c:v>
                </c:pt>
                <c:pt idx="2">
                  <c:v>24</c:v>
                </c:pt>
                <c:pt idx="3">
                  <c:v>24</c:v>
                </c:pt>
              </c:numCache>
            </c:numRef>
          </c:val>
          <c:smooth val="0"/>
          <c:extLst>
            <c:ext xmlns:c16="http://schemas.microsoft.com/office/drawing/2014/chart" uri="{C3380CC4-5D6E-409C-BE32-E72D297353CC}">
              <c16:uniqueId val="{00000000-57B1-4DAD-BBA7-00FF17840F06}"/>
            </c:ext>
          </c:extLst>
        </c:ser>
        <c:dLbls>
          <c:showLegendKey val="0"/>
          <c:showVal val="0"/>
          <c:showCatName val="0"/>
          <c:showSerName val="0"/>
          <c:showPercent val="0"/>
          <c:showBubbleSize val="0"/>
        </c:dLbls>
        <c:smooth val="0"/>
        <c:axId val="479368616"/>
        <c:axId val="479371752"/>
      </c:lineChart>
      <c:catAx>
        <c:axId val="4793686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rgbClr val="4A4A4A"/>
                </a:solidFill>
                <a:latin typeface="Exo" panose="02000503000000000000" pitchFamily="2" charset="77"/>
                <a:ea typeface="+mn-ea"/>
                <a:cs typeface="+mn-cs"/>
              </a:defRPr>
            </a:pPr>
            <a:endParaRPr lang="en-US"/>
          </a:p>
        </c:txPr>
        <c:crossAx val="479371752"/>
        <c:crosses val="autoZero"/>
        <c:auto val="1"/>
        <c:lblAlgn val="ctr"/>
        <c:lblOffset val="100"/>
        <c:noMultiLvlLbl val="0"/>
      </c:catAx>
      <c:valAx>
        <c:axId val="479371752"/>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Exo" panose="02000503000000000000" pitchFamily="2" charset="77"/>
                    <a:ea typeface="+mn-ea"/>
                    <a:cs typeface="+mn-cs"/>
                  </a:defRPr>
                </a:pPr>
                <a:r>
                  <a:rPr lang="en-US" dirty="0"/>
                  <a:t>Percentage</a:t>
                </a:r>
              </a:p>
            </c:rich>
          </c:tx>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Exo" panose="02000503000000000000" pitchFamily="2" charset="77"/>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Exo" panose="02000503000000000000" pitchFamily="2" charset="77"/>
                <a:ea typeface="+mn-ea"/>
                <a:cs typeface="+mn-cs"/>
              </a:defRPr>
            </a:pPr>
            <a:endParaRPr lang="en-US"/>
          </a:p>
        </c:txPr>
        <c:crossAx val="479368616"/>
        <c:crosses val="autoZero"/>
        <c:crossBetween val="between"/>
        <c:majorUnit val="1"/>
        <c:minorUnit val="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Exo" panose="02000503000000000000" pitchFamily="2" charset="77"/>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cap="none" spc="0" normalizeH="0" baseline="0">
                <a:solidFill>
                  <a:srgbClr val="4A4A4A"/>
                </a:solidFill>
                <a:latin typeface="Exo" panose="02000503000000000000" pitchFamily="2" charset="77"/>
                <a:ea typeface="+mj-ea"/>
                <a:cs typeface="+mj-cs"/>
              </a:defRPr>
            </a:pPr>
            <a:r>
              <a:rPr lang="en-US" sz="1800" b="1" i="0" dirty="0">
                <a:solidFill>
                  <a:srgbClr val="4A4A4A"/>
                </a:solidFill>
                <a:latin typeface="Montserrat SemiBold" pitchFamily="2" charset="77"/>
              </a:rPr>
              <a:t>Cost per vulnerability remediated</a:t>
            </a:r>
          </a:p>
        </c:rich>
      </c:tx>
      <c:overlay val="0"/>
      <c:spPr>
        <a:noFill/>
        <a:ln>
          <a:noFill/>
        </a:ln>
        <a:effectLst/>
      </c:spPr>
      <c:txPr>
        <a:bodyPr rot="0" spcFirstLastPara="1" vertOverflow="ellipsis" vert="horz" wrap="square" anchor="ctr" anchorCtr="1"/>
        <a:lstStyle/>
        <a:p>
          <a:pPr>
            <a:defRPr sz="1800" b="0" i="0" u="none" strike="noStrike" kern="1200" cap="none" spc="0" normalizeH="0" baseline="0">
              <a:solidFill>
                <a:srgbClr val="4A4A4A"/>
              </a:solidFill>
              <a:latin typeface="Exo" panose="02000503000000000000" pitchFamily="2" charset="77"/>
              <a:ea typeface="+mj-ea"/>
              <a:cs typeface="+mj-cs"/>
            </a:defRPr>
          </a:pPr>
          <a:endParaRPr lang="en-US"/>
        </a:p>
      </c:txPr>
    </c:title>
    <c:autoTitleDeleted val="0"/>
    <c:plotArea>
      <c:layout/>
      <c:lineChart>
        <c:grouping val="standard"/>
        <c:varyColors val="0"/>
        <c:ser>
          <c:idx val="0"/>
          <c:order val="0"/>
          <c:tx>
            <c:strRef>
              <c:f>Sheet1!$B$1</c:f>
              <c:strCache>
                <c:ptCount val="1"/>
                <c:pt idx="0">
                  <c:v>Series 1</c:v>
                </c:pt>
              </c:strCache>
            </c:strRef>
          </c:tx>
          <c:spPr>
            <a:ln w="38100" cap="rnd">
              <a:solidFill>
                <a:schemeClr val="accent1"/>
              </a:solidFill>
              <a:round/>
            </a:ln>
            <a:effectLst/>
          </c:spPr>
          <c:marker>
            <c:symbol val="none"/>
          </c:marker>
          <c:cat>
            <c:strRef>
              <c:f>Sheet1!$A$2:$A$5</c:f>
              <c:strCache>
                <c:ptCount val="4"/>
                <c:pt idx="0">
                  <c:v>Q4 2024</c:v>
                </c:pt>
                <c:pt idx="1">
                  <c:v>Q1 2025</c:v>
                </c:pt>
                <c:pt idx="2">
                  <c:v>Q2 2025</c:v>
                </c:pt>
                <c:pt idx="3">
                  <c:v>Q3 2025</c:v>
                </c:pt>
              </c:strCache>
            </c:strRef>
          </c:cat>
          <c:val>
            <c:numRef>
              <c:f>Sheet1!$B$2:$B$5</c:f>
              <c:numCache>
                <c:formatCode>General</c:formatCode>
                <c:ptCount val="4"/>
                <c:pt idx="0">
                  <c:v>40</c:v>
                </c:pt>
                <c:pt idx="1">
                  <c:v>40</c:v>
                </c:pt>
                <c:pt idx="2">
                  <c:v>38</c:v>
                </c:pt>
                <c:pt idx="3">
                  <c:v>35</c:v>
                </c:pt>
              </c:numCache>
            </c:numRef>
          </c:val>
          <c:smooth val="0"/>
          <c:extLst>
            <c:ext xmlns:c16="http://schemas.microsoft.com/office/drawing/2014/chart" uri="{C3380CC4-5D6E-409C-BE32-E72D297353CC}">
              <c16:uniqueId val="{00000000-F706-4B4C-8932-CD9336EE8F4F}"/>
            </c:ext>
          </c:extLst>
        </c:ser>
        <c:dLbls>
          <c:showLegendKey val="0"/>
          <c:showVal val="0"/>
          <c:showCatName val="0"/>
          <c:showSerName val="0"/>
          <c:showPercent val="0"/>
          <c:showBubbleSize val="0"/>
        </c:dLbls>
        <c:smooth val="0"/>
        <c:axId val="479368616"/>
        <c:axId val="479371752"/>
      </c:lineChart>
      <c:catAx>
        <c:axId val="4793686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rgbClr val="4A4A4A"/>
                </a:solidFill>
                <a:latin typeface="Exo" panose="02000503000000000000" pitchFamily="2" charset="77"/>
                <a:ea typeface="+mn-ea"/>
                <a:cs typeface="+mn-cs"/>
              </a:defRPr>
            </a:pPr>
            <a:endParaRPr lang="en-US"/>
          </a:p>
        </c:txPr>
        <c:crossAx val="479371752"/>
        <c:crosses val="autoZero"/>
        <c:auto val="1"/>
        <c:lblAlgn val="ctr"/>
        <c:lblOffset val="100"/>
        <c:noMultiLvlLbl val="0"/>
      </c:catAx>
      <c:valAx>
        <c:axId val="479371752"/>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Exo" panose="02000503000000000000" pitchFamily="2" charset="77"/>
                    <a:ea typeface="+mn-ea"/>
                    <a:cs typeface="+mn-cs"/>
                  </a:defRPr>
                </a:pPr>
                <a:r>
                  <a:rPr lang="en-US" dirty="0"/>
                  <a:t>$100</a:t>
                </a:r>
              </a:p>
            </c:rich>
          </c:tx>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Exo" panose="02000503000000000000" pitchFamily="2" charset="77"/>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Exo" panose="02000503000000000000" pitchFamily="2" charset="77"/>
                <a:ea typeface="+mn-ea"/>
                <a:cs typeface="+mn-cs"/>
              </a:defRPr>
            </a:pPr>
            <a:endParaRPr lang="en-US"/>
          </a:p>
        </c:txPr>
        <c:crossAx val="4793686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Exo" panose="02000503000000000000" pitchFamily="2" charset="77"/>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radarChart>
        <c:radarStyle val="marker"/>
        <c:varyColors val="0"/>
        <c:ser>
          <c:idx val="0"/>
          <c:order val="0"/>
          <c:tx>
            <c:v>Current State</c:v>
          </c:tx>
          <c:spPr>
            <a:ln w="34925" cap="rnd">
              <a:solidFill>
                <a:schemeClr val="accent1"/>
              </a:solidFill>
              <a:round/>
            </a:ln>
            <a:effectLst>
              <a:outerShdw blurRad="57150" dist="19050" dir="5400000" algn="ctr" rotWithShape="0">
                <a:srgbClr val="000000">
                  <a:alpha val="63000"/>
                </a:srgbClr>
              </a:outerShdw>
            </a:effectLst>
          </c:spPr>
          <c:marker>
            <c:symbol val="none"/>
          </c:marker>
          <c:cat>
            <c:strRef>
              <c:f>'8. List &amp; Calc'!$B$126:$B$130</c:f>
              <c:strCache>
                <c:ptCount val="5"/>
                <c:pt idx="0">
                  <c:v>Analyze &amp; Design</c:v>
                </c:pt>
                <c:pt idx="1">
                  <c:v>Build</c:v>
                </c:pt>
                <c:pt idx="2">
                  <c:v>Test</c:v>
                </c:pt>
                <c:pt idx="3">
                  <c:v>Deploy</c:v>
                </c:pt>
                <c:pt idx="4">
                  <c:v>Maintenance &amp; Operations</c:v>
                </c:pt>
              </c:strCache>
            </c:strRef>
          </c:cat>
          <c:val>
            <c:numRef>
              <c:f>'8. List &amp; Calc'!$K$126:$K$130</c:f>
              <c:numCache>
                <c:formatCode>0.00</c:formatCode>
                <c:ptCount val="5"/>
                <c:pt idx="0">
                  <c:v>2.1666666666666665</c:v>
                </c:pt>
                <c:pt idx="1">
                  <c:v>2</c:v>
                </c:pt>
                <c:pt idx="2">
                  <c:v>2</c:v>
                </c:pt>
                <c:pt idx="3">
                  <c:v>2.6</c:v>
                </c:pt>
                <c:pt idx="4">
                  <c:v>2.7142857142857144</c:v>
                </c:pt>
              </c:numCache>
            </c:numRef>
          </c:val>
          <c:extLst>
            <c:ext xmlns:c16="http://schemas.microsoft.com/office/drawing/2014/chart" uri="{C3380CC4-5D6E-409C-BE32-E72D297353CC}">
              <c16:uniqueId val="{00000000-1E6E-4732-9EC5-754F3A8DD741}"/>
            </c:ext>
          </c:extLst>
        </c:ser>
        <c:ser>
          <c:idx val="1"/>
          <c:order val="1"/>
          <c:tx>
            <c:v>Target State</c:v>
          </c:tx>
          <c:spPr>
            <a:ln w="34925" cap="rnd">
              <a:solidFill>
                <a:schemeClr val="accent2"/>
              </a:solidFill>
              <a:round/>
            </a:ln>
            <a:effectLst>
              <a:outerShdw blurRad="57150" dist="19050" dir="5400000" algn="ctr" rotWithShape="0">
                <a:srgbClr val="000000">
                  <a:alpha val="63000"/>
                </a:srgbClr>
              </a:outerShdw>
            </a:effectLst>
          </c:spPr>
          <c:marker>
            <c:symbol val="none"/>
          </c:marker>
          <c:cat>
            <c:strRef>
              <c:f>'8. List &amp; Calc'!$B$126:$B$130</c:f>
              <c:strCache>
                <c:ptCount val="5"/>
                <c:pt idx="0">
                  <c:v>Analyze &amp; Design</c:v>
                </c:pt>
                <c:pt idx="1">
                  <c:v>Build</c:v>
                </c:pt>
                <c:pt idx="2">
                  <c:v>Test</c:v>
                </c:pt>
                <c:pt idx="3">
                  <c:v>Deploy</c:v>
                </c:pt>
                <c:pt idx="4">
                  <c:v>Maintenance &amp; Operations</c:v>
                </c:pt>
              </c:strCache>
            </c:strRef>
          </c:cat>
          <c:val>
            <c:numRef>
              <c:f>'8. List &amp; Calc'!$R$126:$R$130</c:f>
              <c:numCache>
                <c:formatCode>0.00</c:formatCode>
                <c:ptCount val="5"/>
                <c:pt idx="0">
                  <c:v>3</c:v>
                </c:pt>
                <c:pt idx="1">
                  <c:v>3.5</c:v>
                </c:pt>
                <c:pt idx="2">
                  <c:v>2.8</c:v>
                </c:pt>
                <c:pt idx="3">
                  <c:v>3.6</c:v>
                </c:pt>
                <c:pt idx="4">
                  <c:v>3.7142857142857144</c:v>
                </c:pt>
              </c:numCache>
            </c:numRef>
          </c:val>
          <c:extLst>
            <c:ext xmlns:c16="http://schemas.microsoft.com/office/drawing/2014/chart" uri="{C3380CC4-5D6E-409C-BE32-E72D297353CC}">
              <c16:uniqueId val="{00000001-1E6E-4732-9EC5-754F3A8DD741}"/>
            </c:ext>
          </c:extLst>
        </c:ser>
        <c:dLbls>
          <c:showLegendKey val="0"/>
          <c:showVal val="0"/>
          <c:showCatName val="0"/>
          <c:showSerName val="0"/>
          <c:showPercent val="0"/>
          <c:showBubbleSize val="0"/>
        </c:dLbls>
        <c:axId val="1350479296"/>
        <c:axId val="1350476416"/>
      </c:radarChart>
      <c:catAx>
        <c:axId val="1350479296"/>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50476416"/>
        <c:crosses val="autoZero"/>
        <c:auto val="1"/>
        <c:lblAlgn val="ctr"/>
        <c:lblOffset val="100"/>
        <c:noMultiLvlLbl val="0"/>
      </c:catAx>
      <c:valAx>
        <c:axId val="1350476416"/>
        <c:scaling>
          <c:orientation val="minMax"/>
          <c:max val="5"/>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50479296"/>
        <c:crosses val="autoZero"/>
        <c:crossBetween val="between"/>
        <c:majorUnit val="1"/>
        <c:minorUnit val="1"/>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stacked"/>
        <c:varyColors val="0"/>
        <c:ser>
          <c:idx val="0"/>
          <c:order val="0"/>
          <c:tx>
            <c:v>Current State</c:v>
          </c:tx>
          <c:spPr>
            <a:solidFill>
              <a:schemeClr val="accent1">
                <a:shade val="76000"/>
              </a:schemeClr>
            </a:solidFill>
            <a:ln>
              <a:noFill/>
            </a:ln>
            <a:effectLst/>
            <a:sp3d/>
          </c:spPr>
          <c:invertIfNegative val="0"/>
          <c:cat>
            <c:strRef>
              <c:f>'8. List &amp; Calc'!$D$58:$D$87</c:f>
              <c:strCache>
                <c:ptCount val="30"/>
                <c:pt idx="0">
                  <c:v>Security Requirements Definition</c:v>
                </c:pt>
                <c:pt idx="1">
                  <c:v>Threat Modeling</c:v>
                </c:pt>
                <c:pt idx="2">
                  <c:v>Secure Architecture Design</c:v>
                </c:pt>
                <c:pt idx="3">
                  <c:v>Zero Trust Architecture</c:v>
                </c:pt>
                <c:pt idx="4">
                  <c:v>Secure AI/ML Design</c:v>
                </c:pt>
                <c:pt idx="5">
                  <c:v>AI/ML Training Data Collection Security</c:v>
                </c:pt>
                <c:pt idx="6">
                  <c:v>Secure Design Review &amp; Assurance</c:v>
                </c:pt>
                <c:pt idx="7">
                  <c:v>Secure Coding Practices &amp; Training</c:v>
                </c:pt>
                <c:pt idx="8">
                  <c:v>Secure Code Review &amp; Static Analysis</c:v>
                </c:pt>
                <c:pt idx="9">
                  <c:v>Software Supply‑Chain Security</c:v>
                </c:pt>
                <c:pt idx="10">
                  <c:v>Secure Build &amp; CI/CD Pipeline</c:v>
                </c:pt>
                <c:pt idx="11">
                  <c:v>Secure Version Control &amp; Repository Management</c:v>
                </c:pt>
                <c:pt idx="12">
                  <c:v>Secrets Management in Development</c:v>
                </c:pt>
                <c:pt idx="13">
                  <c:v>Automated Security Testing</c:v>
                </c:pt>
                <c:pt idx="14">
                  <c:v>Penetration Testing &amp; Red Teaming</c:v>
                </c:pt>
                <c:pt idx="15">
                  <c:v>Fuzz &amp; Chaos Testing</c:v>
                </c:pt>
                <c:pt idx="16">
                  <c:v>Security Requirements Validation</c:v>
                </c:pt>
                <c:pt idx="17">
                  <c:v>Secure Test Environments &amp; Data Management</c:v>
                </c:pt>
                <c:pt idx="18">
                  <c:v>Secure Deployment &amp; Infrastructure‑as‑Code (IaC)</c:v>
                </c:pt>
                <c:pt idx="19">
                  <c:v>Container &amp; Orchestrator Security</c:v>
                </c:pt>
                <c:pt idx="20">
                  <c:v>Policy‑as‑Code (PaC) Deployment</c:v>
                </c:pt>
                <c:pt idx="21">
                  <c:v>Artifact Signing &amp; Provenance</c:v>
                </c:pt>
                <c:pt idx="22">
                  <c:v>Deployment Security Gates &amp; Reviews</c:v>
                </c:pt>
                <c:pt idx="23">
                  <c:v>Security Monitoring &amp; Threat Detection</c:v>
                </c:pt>
                <c:pt idx="24">
                  <c:v>Incident Response &amp; Recovery</c:v>
                </c:pt>
                <c:pt idx="25">
                  <c:v>Vulnerability Management &amp; Patching</c:v>
                </c:pt>
                <c:pt idx="26">
                  <c:v>API Security</c:v>
                </c:pt>
                <c:pt idx="27">
                  <c:v>Environment Management &amp; Configuration</c:v>
                </c:pt>
                <c:pt idx="28">
                  <c:v>Vulnerability Disclosure &amp; Bug Bounty</c:v>
                </c:pt>
                <c:pt idx="29">
                  <c:v>Agentic AI Oversight &amp; Control</c:v>
                </c:pt>
              </c:strCache>
            </c:strRef>
          </c:cat>
          <c:val>
            <c:numRef>
              <c:f>'8. List &amp; Calc'!$G$58:$G$87</c:f>
              <c:numCache>
                <c:formatCode>General</c:formatCode>
                <c:ptCount val="30"/>
                <c:pt idx="0">
                  <c:v>3</c:v>
                </c:pt>
                <c:pt idx="1">
                  <c:v>1</c:v>
                </c:pt>
                <c:pt idx="2">
                  <c:v>0</c:v>
                </c:pt>
                <c:pt idx="3">
                  <c:v>2</c:v>
                </c:pt>
                <c:pt idx="4">
                  <c:v>4</c:v>
                </c:pt>
                <c:pt idx="5">
                  <c:v>2</c:v>
                </c:pt>
                <c:pt idx="6">
                  <c:v>1</c:v>
                </c:pt>
                <c:pt idx="7">
                  <c:v>1</c:v>
                </c:pt>
                <c:pt idx="8">
                  <c:v>4</c:v>
                </c:pt>
                <c:pt idx="9">
                  <c:v>1</c:v>
                </c:pt>
                <c:pt idx="10">
                  <c:v>2</c:v>
                </c:pt>
                <c:pt idx="11">
                  <c:v>1</c:v>
                </c:pt>
                <c:pt idx="12">
                  <c:v>3</c:v>
                </c:pt>
                <c:pt idx="13">
                  <c:v>3</c:v>
                </c:pt>
                <c:pt idx="14">
                  <c:v>2</c:v>
                </c:pt>
                <c:pt idx="15">
                  <c:v>1</c:v>
                </c:pt>
                <c:pt idx="16">
                  <c:v>2</c:v>
                </c:pt>
                <c:pt idx="17">
                  <c:v>0</c:v>
                </c:pt>
                <c:pt idx="18">
                  <c:v>4</c:v>
                </c:pt>
                <c:pt idx="19">
                  <c:v>1</c:v>
                </c:pt>
                <c:pt idx="20">
                  <c:v>2</c:v>
                </c:pt>
                <c:pt idx="21">
                  <c:v>1</c:v>
                </c:pt>
                <c:pt idx="22">
                  <c:v>5</c:v>
                </c:pt>
                <c:pt idx="23">
                  <c:v>4</c:v>
                </c:pt>
                <c:pt idx="24">
                  <c:v>3</c:v>
                </c:pt>
                <c:pt idx="25">
                  <c:v>2</c:v>
                </c:pt>
                <c:pt idx="26">
                  <c:v>1</c:v>
                </c:pt>
                <c:pt idx="27">
                  <c:v>2</c:v>
                </c:pt>
                <c:pt idx="28">
                  <c:v>5</c:v>
                </c:pt>
                <c:pt idx="29">
                  <c:v>2</c:v>
                </c:pt>
              </c:numCache>
            </c:numRef>
          </c:val>
          <c:extLst>
            <c:ext xmlns:c16="http://schemas.microsoft.com/office/drawing/2014/chart" uri="{C3380CC4-5D6E-409C-BE32-E72D297353CC}">
              <c16:uniqueId val="{00000000-8FCC-41D0-9096-72F473F34C5D}"/>
            </c:ext>
          </c:extLst>
        </c:ser>
        <c:ser>
          <c:idx val="1"/>
          <c:order val="1"/>
          <c:tx>
            <c:v>Target State</c:v>
          </c:tx>
          <c:spPr>
            <a:solidFill>
              <a:schemeClr val="accent1">
                <a:tint val="77000"/>
              </a:schemeClr>
            </a:solidFill>
            <a:ln>
              <a:noFill/>
            </a:ln>
            <a:effectLst/>
            <a:sp3d/>
          </c:spPr>
          <c:invertIfNegative val="0"/>
          <c:cat>
            <c:strRef>
              <c:f>'8. List &amp; Calc'!$D$58:$D$87</c:f>
              <c:strCache>
                <c:ptCount val="30"/>
                <c:pt idx="0">
                  <c:v>Security Requirements Definition</c:v>
                </c:pt>
                <c:pt idx="1">
                  <c:v>Threat Modeling</c:v>
                </c:pt>
                <c:pt idx="2">
                  <c:v>Secure Architecture Design</c:v>
                </c:pt>
                <c:pt idx="3">
                  <c:v>Zero Trust Architecture</c:v>
                </c:pt>
                <c:pt idx="4">
                  <c:v>Secure AI/ML Design</c:v>
                </c:pt>
                <c:pt idx="5">
                  <c:v>AI/ML Training Data Collection Security</c:v>
                </c:pt>
                <c:pt idx="6">
                  <c:v>Secure Design Review &amp; Assurance</c:v>
                </c:pt>
                <c:pt idx="7">
                  <c:v>Secure Coding Practices &amp; Training</c:v>
                </c:pt>
                <c:pt idx="8">
                  <c:v>Secure Code Review &amp; Static Analysis</c:v>
                </c:pt>
                <c:pt idx="9">
                  <c:v>Software Supply‑Chain Security</c:v>
                </c:pt>
                <c:pt idx="10">
                  <c:v>Secure Build &amp; CI/CD Pipeline</c:v>
                </c:pt>
                <c:pt idx="11">
                  <c:v>Secure Version Control &amp; Repository Management</c:v>
                </c:pt>
                <c:pt idx="12">
                  <c:v>Secrets Management in Development</c:v>
                </c:pt>
                <c:pt idx="13">
                  <c:v>Automated Security Testing</c:v>
                </c:pt>
                <c:pt idx="14">
                  <c:v>Penetration Testing &amp; Red Teaming</c:v>
                </c:pt>
                <c:pt idx="15">
                  <c:v>Fuzz &amp; Chaos Testing</c:v>
                </c:pt>
                <c:pt idx="16">
                  <c:v>Security Requirements Validation</c:v>
                </c:pt>
                <c:pt idx="17">
                  <c:v>Secure Test Environments &amp; Data Management</c:v>
                </c:pt>
                <c:pt idx="18">
                  <c:v>Secure Deployment &amp; Infrastructure‑as‑Code (IaC)</c:v>
                </c:pt>
                <c:pt idx="19">
                  <c:v>Container &amp; Orchestrator Security</c:v>
                </c:pt>
                <c:pt idx="20">
                  <c:v>Policy‑as‑Code (PaC) Deployment</c:v>
                </c:pt>
                <c:pt idx="21">
                  <c:v>Artifact Signing &amp; Provenance</c:v>
                </c:pt>
                <c:pt idx="22">
                  <c:v>Deployment Security Gates &amp; Reviews</c:v>
                </c:pt>
                <c:pt idx="23">
                  <c:v>Security Monitoring &amp; Threat Detection</c:v>
                </c:pt>
                <c:pt idx="24">
                  <c:v>Incident Response &amp; Recovery</c:v>
                </c:pt>
                <c:pt idx="25">
                  <c:v>Vulnerability Management &amp; Patching</c:v>
                </c:pt>
                <c:pt idx="26">
                  <c:v>API Security</c:v>
                </c:pt>
                <c:pt idx="27">
                  <c:v>Environment Management &amp; Configuration</c:v>
                </c:pt>
                <c:pt idx="28">
                  <c:v>Vulnerability Disclosure &amp; Bug Bounty</c:v>
                </c:pt>
                <c:pt idx="29">
                  <c:v>Agentic AI Oversight &amp; Control</c:v>
                </c:pt>
              </c:strCache>
            </c:strRef>
          </c:cat>
          <c:val>
            <c:numRef>
              <c:f>'8. List &amp; Calc'!$I$58:$I$87</c:f>
              <c:numCache>
                <c:formatCode>General</c:formatCode>
                <c:ptCount val="30"/>
                <c:pt idx="0">
                  <c:v>0</c:v>
                </c:pt>
                <c:pt idx="1">
                  <c:v>3</c:v>
                </c:pt>
                <c:pt idx="2">
                  <c:v>1</c:v>
                </c:pt>
                <c:pt idx="3">
                  <c:v>2</c:v>
                </c:pt>
                <c:pt idx="4">
                  <c:v>1</c:v>
                </c:pt>
                <c:pt idx="5">
                  <c:v>1</c:v>
                </c:pt>
                <c:pt idx="6">
                  <c:v>0</c:v>
                </c:pt>
                <c:pt idx="7">
                  <c:v>3</c:v>
                </c:pt>
                <c:pt idx="8">
                  <c:v>0</c:v>
                </c:pt>
                <c:pt idx="9">
                  <c:v>3</c:v>
                </c:pt>
                <c:pt idx="10">
                  <c:v>0</c:v>
                </c:pt>
                <c:pt idx="11">
                  <c:v>2</c:v>
                </c:pt>
                <c:pt idx="12">
                  <c:v>1</c:v>
                </c:pt>
                <c:pt idx="13">
                  <c:v>2</c:v>
                </c:pt>
                <c:pt idx="14">
                  <c:v>1</c:v>
                </c:pt>
                <c:pt idx="15">
                  <c:v>2</c:v>
                </c:pt>
                <c:pt idx="16">
                  <c:v>0</c:v>
                </c:pt>
                <c:pt idx="17">
                  <c:v>1</c:v>
                </c:pt>
                <c:pt idx="18">
                  <c:v>1</c:v>
                </c:pt>
                <c:pt idx="19">
                  <c:v>2</c:v>
                </c:pt>
                <c:pt idx="20">
                  <c:v>2</c:v>
                </c:pt>
                <c:pt idx="21">
                  <c:v>0</c:v>
                </c:pt>
                <c:pt idx="22">
                  <c:v>0</c:v>
                </c:pt>
                <c:pt idx="23">
                  <c:v>1</c:v>
                </c:pt>
                <c:pt idx="24">
                  <c:v>1</c:v>
                </c:pt>
                <c:pt idx="25">
                  <c:v>2</c:v>
                </c:pt>
                <c:pt idx="26">
                  <c:v>1</c:v>
                </c:pt>
                <c:pt idx="27">
                  <c:v>1</c:v>
                </c:pt>
                <c:pt idx="28">
                  <c:v>0</c:v>
                </c:pt>
                <c:pt idx="29">
                  <c:v>1</c:v>
                </c:pt>
              </c:numCache>
            </c:numRef>
          </c:val>
          <c:extLst>
            <c:ext xmlns:c16="http://schemas.microsoft.com/office/drawing/2014/chart" uri="{C3380CC4-5D6E-409C-BE32-E72D297353CC}">
              <c16:uniqueId val="{00000001-8FCC-41D0-9096-72F473F34C5D}"/>
            </c:ext>
          </c:extLst>
        </c:ser>
        <c:dLbls>
          <c:showLegendKey val="0"/>
          <c:showVal val="0"/>
          <c:showCatName val="0"/>
          <c:showSerName val="0"/>
          <c:showPercent val="0"/>
          <c:showBubbleSize val="0"/>
        </c:dLbls>
        <c:gapWidth val="150"/>
        <c:shape val="box"/>
        <c:axId val="1022741471"/>
        <c:axId val="1022737151"/>
        <c:axId val="0"/>
      </c:bar3DChart>
      <c:catAx>
        <c:axId val="1022741471"/>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22737151"/>
        <c:crosses val="autoZero"/>
        <c:auto val="1"/>
        <c:lblAlgn val="ctr"/>
        <c:lblOffset val="100"/>
        <c:noMultiLvlLbl val="0"/>
      </c:catAx>
      <c:valAx>
        <c:axId val="102273715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22741471"/>
        <c:crosses val="autoZero"/>
        <c:crossBetween val="between"/>
        <c:majorUnit val="0.5"/>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800" b="0" i="0" u="none" strike="noStrike" kern="1200" cap="none" spc="0" normalizeH="0" baseline="0">
                <a:solidFill>
                  <a:srgbClr val="4A4A4A"/>
                </a:solidFill>
                <a:latin typeface="Exo" panose="02000503000000000000" pitchFamily="2" charset="77"/>
                <a:ea typeface="+mj-ea"/>
                <a:cs typeface="+mj-cs"/>
              </a:defRPr>
            </a:pPr>
            <a:r>
              <a:rPr lang="en-US" sz="1800" b="1" i="0" dirty="0">
                <a:solidFill>
                  <a:srgbClr val="4A4A4A"/>
                </a:solidFill>
                <a:latin typeface="Montserrat SemiBold" pitchFamily="2" charset="77"/>
              </a:rPr>
              <a:t>Time to remediate</a:t>
            </a:r>
          </a:p>
        </c:rich>
      </c:tx>
      <c:overlay val="0"/>
      <c:spPr>
        <a:noFill/>
        <a:ln>
          <a:noFill/>
        </a:ln>
        <a:effectLst/>
      </c:spPr>
      <c:txPr>
        <a:bodyPr rot="0" spcFirstLastPara="1" vertOverflow="ellipsis" vert="horz" wrap="square" anchor="ctr" anchorCtr="1"/>
        <a:lstStyle/>
        <a:p>
          <a:pPr>
            <a:defRPr sz="1800" b="0" i="0" u="none" strike="noStrike" kern="1200" cap="none" spc="0" normalizeH="0" baseline="0">
              <a:solidFill>
                <a:srgbClr val="4A4A4A"/>
              </a:solidFill>
              <a:latin typeface="Exo" panose="02000503000000000000" pitchFamily="2" charset="77"/>
              <a:ea typeface="+mj-ea"/>
              <a:cs typeface="+mj-cs"/>
            </a:defRPr>
          </a:pPr>
          <a:endParaRPr lang="en-US"/>
        </a:p>
      </c:txPr>
    </c:title>
    <c:autoTitleDeleted val="0"/>
    <c:plotArea>
      <c:layout/>
      <c:lineChart>
        <c:grouping val="standard"/>
        <c:varyColors val="0"/>
        <c:ser>
          <c:idx val="0"/>
          <c:order val="0"/>
          <c:tx>
            <c:strRef>
              <c:f>Sheet1!$B$1</c:f>
              <c:strCache>
                <c:ptCount val="1"/>
                <c:pt idx="0">
                  <c:v>High</c:v>
                </c:pt>
              </c:strCache>
            </c:strRef>
          </c:tx>
          <c:spPr>
            <a:ln w="38100" cap="rnd">
              <a:solidFill>
                <a:schemeClr val="accent1">
                  <a:shade val="65000"/>
                </a:schemeClr>
              </a:solidFill>
              <a:round/>
            </a:ln>
            <a:effectLst/>
          </c:spPr>
          <c:marker>
            <c:symbol val="none"/>
          </c:marker>
          <c:cat>
            <c:strRef>
              <c:f>Sheet1!$A$2:$A$5</c:f>
              <c:strCache>
                <c:ptCount val="4"/>
                <c:pt idx="0">
                  <c:v>Current</c:v>
                </c:pt>
                <c:pt idx="1">
                  <c:v>3 Months</c:v>
                </c:pt>
                <c:pt idx="2">
                  <c:v>6 Months</c:v>
                </c:pt>
                <c:pt idx="3">
                  <c:v>12 Months</c:v>
                </c:pt>
              </c:strCache>
            </c:strRef>
          </c:cat>
          <c:val>
            <c:numRef>
              <c:f>Sheet1!$B$2:$B$5</c:f>
              <c:numCache>
                <c:formatCode>General</c:formatCode>
                <c:ptCount val="4"/>
                <c:pt idx="0">
                  <c:v>12</c:v>
                </c:pt>
                <c:pt idx="1">
                  <c:v>11</c:v>
                </c:pt>
                <c:pt idx="2">
                  <c:v>8</c:v>
                </c:pt>
                <c:pt idx="3">
                  <c:v>5</c:v>
                </c:pt>
              </c:numCache>
            </c:numRef>
          </c:val>
          <c:smooth val="0"/>
          <c:extLst>
            <c:ext xmlns:c16="http://schemas.microsoft.com/office/drawing/2014/chart" uri="{C3380CC4-5D6E-409C-BE32-E72D297353CC}">
              <c16:uniqueId val="{00000000-E8C1-374F-B3E4-6D34F1B10531}"/>
            </c:ext>
          </c:extLst>
        </c:ser>
        <c:ser>
          <c:idx val="1"/>
          <c:order val="1"/>
          <c:tx>
            <c:strRef>
              <c:f>Sheet1!$C$1</c:f>
              <c:strCache>
                <c:ptCount val="1"/>
                <c:pt idx="0">
                  <c:v>Medium</c:v>
                </c:pt>
              </c:strCache>
            </c:strRef>
          </c:tx>
          <c:spPr>
            <a:ln w="38100" cap="rnd">
              <a:solidFill>
                <a:schemeClr val="accent1"/>
              </a:solidFill>
              <a:round/>
            </a:ln>
            <a:effectLst/>
          </c:spPr>
          <c:marker>
            <c:symbol val="none"/>
          </c:marker>
          <c:cat>
            <c:strRef>
              <c:f>Sheet1!$A$2:$A$5</c:f>
              <c:strCache>
                <c:ptCount val="4"/>
                <c:pt idx="0">
                  <c:v>Current</c:v>
                </c:pt>
                <c:pt idx="1">
                  <c:v>3 Months</c:v>
                </c:pt>
                <c:pt idx="2">
                  <c:v>6 Months</c:v>
                </c:pt>
                <c:pt idx="3">
                  <c:v>12 Months</c:v>
                </c:pt>
              </c:strCache>
            </c:strRef>
          </c:cat>
          <c:val>
            <c:numRef>
              <c:f>Sheet1!$C$2:$C$5</c:f>
              <c:numCache>
                <c:formatCode>General</c:formatCode>
                <c:ptCount val="4"/>
                <c:pt idx="0">
                  <c:v>19</c:v>
                </c:pt>
                <c:pt idx="1">
                  <c:v>18</c:v>
                </c:pt>
                <c:pt idx="2">
                  <c:v>15</c:v>
                </c:pt>
                <c:pt idx="3">
                  <c:v>10</c:v>
                </c:pt>
              </c:numCache>
            </c:numRef>
          </c:val>
          <c:smooth val="0"/>
          <c:extLst>
            <c:ext xmlns:c16="http://schemas.microsoft.com/office/drawing/2014/chart" uri="{C3380CC4-5D6E-409C-BE32-E72D297353CC}">
              <c16:uniqueId val="{00000000-B669-4CDB-8421-B224D6FF7A49}"/>
            </c:ext>
          </c:extLst>
        </c:ser>
        <c:ser>
          <c:idx val="2"/>
          <c:order val="2"/>
          <c:tx>
            <c:strRef>
              <c:f>Sheet1!$D$1</c:f>
              <c:strCache>
                <c:ptCount val="1"/>
                <c:pt idx="0">
                  <c:v>Low</c:v>
                </c:pt>
              </c:strCache>
            </c:strRef>
          </c:tx>
          <c:spPr>
            <a:ln w="38100" cap="rnd">
              <a:solidFill>
                <a:schemeClr val="accent1">
                  <a:tint val="65000"/>
                </a:schemeClr>
              </a:solidFill>
              <a:round/>
            </a:ln>
            <a:effectLst/>
          </c:spPr>
          <c:marker>
            <c:symbol val="none"/>
          </c:marker>
          <c:cat>
            <c:strRef>
              <c:f>Sheet1!$A$2:$A$5</c:f>
              <c:strCache>
                <c:ptCount val="4"/>
                <c:pt idx="0">
                  <c:v>Current</c:v>
                </c:pt>
                <c:pt idx="1">
                  <c:v>3 Months</c:v>
                </c:pt>
                <c:pt idx="2">
                  <c:v>6 Months</c:v>
                </c:pt>
                <c:pt idx="3">
                  <c:v>12 Months</c:v>
                </c:pt>
              </c:strCache>
            </c:strRef>
          </c:cat>
          <c:val>
            <c:numRef>
              <c:f>Sheet1!$D$2:$D$5</c:f>
              <c:numCache>
                <c:formatCode>General</c:formatCode>
                <c:ptCount val="4"/>
                <c:pt idx="0">
                  <c:v>29</c:v>
                </c:pt>
                <c:pt idx="1">
                  <c:v>29</c:v>
                </c:pt>
                <c:pt idx="2">
                  <c:v>25</c:v>
                </c:pt>
                <c:pt idx="3">
                  <c:v>20</c:v>
                </c:pt>
              </c:numCache>
            </c:numRef>
          </c:val>
          <c:smooth val="0"/>
          <c:extLst>
            <c:ext xmlns:c16="http://schemas.microsoft.com/office/drawing/2014/chart" uri="{C3380CC4-5D6E-409C-BE32-E72D297353CC}">
              <c16:uniqueId val="{00000001-B669-4CDB-8421-B224D6FF7A49}"/>
            </c:ext>
          </c:extLst>
        </c:ser>
        <c:dLbls>
          <c:showLegendKey val="0"/>
          <c:showVal val="0"/>
          <c:showCatName val="0"/>
          <c:showSerName val="0"/>
          <c:showPercent val="0"/>
          <c:showBubbleSize val="0"/>
        </c:dLbls>
        <c:smooth val="0"/>
        <c:axId val="479367048"/>
        <c:axId val="479367440"/>
      </c:lineChart>
      <c:catAx>
        <c:axId val="4793670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rgbClr val="4A4A4A"/>
                </a:solidFill>
                <a:latin typeface="Exo" panose="02000503000000000000" pitchFamily="2" charset="77"/>
                <a:ea typeface="+mn-ea"/>
                <a:cs typeface="+mn-cs"/>
              </a:defRPr>
            </a:pPr>
            <a:endParaRPr lang="en-US"/>
          </a:p>
        </c:txPr>
        <c:crossAx val="479367440"/>
        <c:crosses val="autoZero"/>
        <c:auto val="1"/>
        <c:lblAlgn val="ctr"/>
        <c:lblOffset val="100"/>
        <c:noMultiLvlLbl val="0"/>
      </c:catAx>
      <c:valAx>
        <c:axId val="479367440"/>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Exo" panose="02000503000000000000" pitchFamily="2" charset="77"/>
                    <a:ea typeface="+mn-ea"/>
                    <a:cs typeface="+mn-cs"/>
                  </a:defRPr>
                </a:pPr>
                <a:r>
                  <a:rPr lang="en-US" dirty="0"/>
                  <a:t>Days</a:t>
                </a:r>
              </a:p>
            </c:rich>
          </c:tx>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Exo" panose="02000503000000000000" pitchFamily="2" charset="77"/>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4A4A4A"/>
                </a:solidFill>
                <a:latin typeface="Exo" panose="02000503000000000000" pitchFamily="2" charset="77"/>
                <a:ea typeface="+mn-ea"/>
                <a:cs typeface="+mn-cs"/>
              </a:defRPr>
            </a:pPr>
            <a:endParaRPr lang="en-US"/>
          </a:p>
        </c:txPr>
        <c:crossAx val="47936704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Exo" panose="02000503000000000000" pitchFamily="2" charset="77"/>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Exo" panose="02000503000000000000" pitchFamily="2" charset="77"/>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cap="none" spc="0" normalizeH="0" baseline="0">
                <a:solidFill>
                  <a:srgbClr val="4A4A4A"/>
                </a:solidFill>
                <a:latin typeface="Exo" panose="02000503000000000000" pitchFamily="2" charset="77"/>
                <a:ea typeface="+mj-ea"/>
                <a:cs typeface="+mj-cs"/>
              </a:defRPr>
            </a:pPr>
            <a:r>
              <a:rPr lang="en-US" sz="1800" b="1" i="0" dirty="0">
                <a:solidFill>
                  <a:srgbClr val="4A4A4A"/>
                </a:solidFill>
                <a:latin typeface="Montserrat SemiBold" pitchFamily="2" charset="77"/>
              </a:rPr>
              <a:t>Credential stuffing detection rate</a:t>
            </a:r>
          </a:p>
        </c:rich>
      </c:tx>
      <c:overlay val="0"/>
      <c:spPr>
        <a:noFill/>
        <a:ln>
          <a:noFill/>
        </a:ln>
        <a:effectLst/>
      </c:spPr>
      <c:txPr>
        <a:bodyPr rot="0" spcFirstLastPara="1" vertOverflow="ellipsis" vert="horz" wrap="square" anchor="ctr" anchorCtr="1"/>
        <a:lstStyle/>
        <a:p>
          <a:pPr>
            <a:defRPr sz="1800" b="0" i="0" u="none" strike="noStrike" kern="1200" cap="none" spc="0" normalizeH="0" baseline="0">
              <a:solidFill>
                <a:srgbClr val="4A4A4A"/>
              </a:solidFill>
              <a:latin typeface="Exo" panose="02000503000000000000" pitchFamily="2" charset="77"/>
              <a:ea typeface="+mj-ea"/>
              <a:cs typeface="+mj-cs"/>
            </a:defRPr>
          </a:pPr>
          <a:endParaRPr lang="en-US"/>
        </a:p>
      </c:txPr>
    </c:title>
    <c:autoTitleDeleted val="0"/>
    <c:plotArea>
      <c:layout/>
      <c:lineChart>
        <c:grouping val="standard"/>
        <c:varyColors val="0"/>
        <c:ser>
          <c:idx val="0"/>
          <c:order val="0"/>
          <c:tx>
            <c:strRef>
              <c:f>Sheet1!$B$1</c:f>
              <c:strCache>
                <c:ptCount val="1"/>
                <c:pt idx="0">
                  <c:v>Series 1</c:v>
                </c:pt>
              </c:strCache>
            </c:strRef>
          </c:tx>
          <c:spPr>
            <a:ln w="38100" cap="rnd">
              <a:solidFill>
                <a:schemeClr val="accent1"/>
              </a:solidFill>
              <a:round/>
            </a:ln>
            <a:effectLst/>
          </c:spPr>
          <c:marker>
            <c:symbol val="none"/>
          </c:marker>
          <c:cat>
            <c:strRef>
              <c:f>Sheet1!$A$2:$A$5</c:f>
              <c:strCache>
                <c:ptCount val="4"/>
                <c:pt idx="0">
                  <c:v>Current</c:v>
                </c:pt>
                <c:pt idx="1">
                  <c:v>3 Months</c:v>
                </c:pt>
                <c:pt idx="2">
                  <c:v>6 Months</c:v>
                </c:pt>
                <c:pt idx="3">
                  <c:v>12 Months</c:v>
                </c:pt>
              </c:strCache>
            </c:strRef>
          </c:cat>
          <c:val>
            <c:numRef>
              <c:f>Sheet1!$B$2:$B$5</c:f>
              <c:numCache>
                <c:formatCode>General</c:formatCode>
                <c:ptCount val="4"/>
                <c:pt idx="0">
                  <c:v>78</c:v>
                </c:pt>
                <c:pt idx="1">
                  <c:v>80</c:v>
                </c:pt>
                <c:pt idx="2">
                  <c:v>85</c:v>
                </c:pt>
                <c:pt idx="3">
                  <c:v>90</c:v>
                </c:pt>
              </c:numCache>
            </c:numRef>
          </c:val>
          <c:smooth val="0"/>
          <c:extLst>
            <c:ext xmlns:c16="http://schemas.microsoft.com/office/drawing/2014/chart" uri="{C3380CC4-5D6E-409C-BE32-E72D297353CC}">
              <c16:uniqueId val="{00000000-E8C1-374F-B3E4-6D34F1B10531}"/>
            </c:ext>
          </c:extLst>
        </c:ser>
        <c:dLbls>
          <c:showLegendKey val="0"/>
          <c:showVal val="0"/>
          <c:showCatName val="0"/>
          <c:showSerName val="0"/>
          <c:showPercent val="0"/>
          <c:showBubbleSize val="0"/>
        </c:dLbls>
        <c:smooth val="0"/>
        <c:axId val="479368616"/>
        <c:axId val="479371752"/>
      </c:lineChart>
      <c:catAx>
        <c:axId val="4793686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rgbClr val="4A4A4A"/>
                </a:solidFill>
                <a:latin typeface="Exo" panose="02000503000000000000" pitchFamily="2" charset="77"/>
                <a:ea typeface="+mn-ea"/>
                <a:cs typeface="+mn-cs"/>
              </a:defRPr>
            </a:pPr>
            <a:endParaRPr lang="en-US"/>
          </a:p>
        </c:txPr>
        <c:crossAx val="479371752"/>
        <c:crosses val="autoZero"/>
        <c:auto val="1"/>
        <c:lblAlgn val="ctr"/>
        <c:lblOffset val="100"/>
        <c:noMultiLvlLbl val="0"/>
      </c:catAx>
      <c:valAx>
        <c:axId val="479371752"/>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Exo" panose="02000503000000000000" pitchFamily="2" charset="77"/>
                    <a:ea typeface="+mn-ea"/>
                    <a:cs typeface="+mn-cs"/>
                  </a:defRPr>
                </a:pPr>
                <a:r>
                  <a:rPr lang="en-US" dirty="0"/>
                  <a:t>Percentage</a:t>
                </a:r>
              </a:p>
            </c:rich>
          </c:tx>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Exo" panose="02000503000000000000" pitchFamily="2" charset="77"/>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Exo" panose="02000503000000000000" pitchFamily="2" charset="77"/>
                <a:ea typeface="+mn-ea"/>
                <a:cs typeface="+mn-cs"/>
              </a:defRPr>
            </a:pPr>
            <a:endParaRPr lang="en-US"/>
          </a:p>
        </c:txPr>
        <c:crossAx val="4793686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Exo" panose="02000503000000000000" pitchFamily="2" charset="77"/>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cap="none" spc="0" normalizeH="0" baseline="0">
                <a:solidFill>
                  <a:srgbClr val="4A4A4A"/>
                </a:solidFill>
                <a:latin typeface="Exo" panose="02000503000000000000" pitchFamily="2" charset="77"/>
                <a:ea typeface="+mj-ea"/>
                <a:cs typeface="+mj-cs"/>
              </a:defRPr>
            </a:pPr>
            <a:r>
              <a:rPr lang="en-US" sz="1800" b="1" i="0" dirty="0">
                <a:solidFill>
                  <a:srgbClr val="4A4A4A"/>
                </a:solidFill>
                <a:latin typeface="Montserrat SemiBold" pitchFamily="2" charset="77"/>
              </a:rPr>
              <a:t>Apps with integrated security testing</a:t>
            </a:r>
          </a:p>
        </c:rich>
      </c:tx>
      <c:overlay val="0"/>
      <c:spPr>
        <a:noFill/>
        <a:ln>
          <a:noFill/>
        </a:ln>
        <a:effectLst/>
      </c:spPr>
      <c:txPr>
        <a:bodyPr rot="0" spcFirstLastPara="1" vertOverflow="ellipsis" vert="horz" wrap="square" anchor="ctr" anchorCtr="1"/>
        <a:lstStyle/>
        <a:p>
          <a:pPr>
            <a:defRPr sz="1800" b="0" i="0" u="none" strike="noStrike" kern="1200" cap="none" spc="0" normalizeH="0" baseline="0">
              <a:solidFill>
                <a:srgbClr val="4A4A4A"/>
              </a:solidFill>
              <a:latin typeface="Exo" panose="02000503000000000000" pitchFamily="2" charset="77"/>
              <a:ea typeface="+mj-ea"/>
              <a:cs typeface="+mj-cs"/>
            </a:defRPr>
          </a:pPr>
          <a:endParaRPr lang="en-US"/>
        </a:p>
      </c:txPr>
    </c:title>
    <c:autoTitleDeleted val="0"/>
    <c:plotArea>
      <c:layout/>
      <c:lineChart>
        <c:grouping val="standard"/>
        <c:varyColors val="0"/>
        <c:ser>
          <c:idx val="0"/>
          <c:order val="0"/>
          <c:tx>
            <c:strRef>
              <c:f>Sheet1!$B$1</c:f>
              <c:strCache>
                <c:ptCount val="1"/>
                <c:pt idx="0">
                  <c:v>Percentage</c:v>
                </c:pt>
              </c:strCache>
            </c:strRef>
          </c:tx>
          <c:spPr>
            <a:ln w="38100" cap="rnd">
              <a:solidFill>
                <a:schemeClr val="accent1"/>
              </a:solidFill>
              <a:round/>
            </a:ln>
            <a:effectLst/>
          </c:spPr>
          <c:marker>
            <c:symbol val="none"/>
          </c:marker>
          <c:cat>
            <c:strRef>
              <c:f>Sheet1!$A$2:$A$5</c:f>
              <c:strCache>
                <c:ptCount val="4"/>
                <c:pt idx="0">
                  <c:v>Current</c:v>
                </c:pt>
                <c:pt idx="1">
                  <c:v>3 Months</c:v>
                </c:pt>
                <c:pt idx="2">
                  <c:v>6 Months</c:v>
                </c:pt>
                <c:pt idx="3">
                  <c:v>12 Months</c:v>
                </c:pt>
              </c:strCache>
            </c:strRef>
          </c:cat>
          <c:val>
            <c:numRef>
              <c:f>Sheet1!$B$2:$B$5</c:f>
              <c:numCache>
                <c:formatCode>General</c:formatCode>
                <c:ptCount val="4"/>
                <c:pt idx="0">
                  <c:v>24</c:v>
                </c:pt>
                <c:pt idx="1">
                  <c:v>30</c:v>
                </c:pt>
                <c:pt idx="2">
                  <c:v>40</c:v>
                </c:pt>
                <c:pt idx="3">
                  <c:v>50</c:v>
                </c:pt>
              </c:numCache>
            </c:numRef>
          </c:val>
          <c:smooth val="0"/>
          <c:extLst>
            <c:ext xmlns:c16="http://schemas.microsoft.com/office/drawing/2014/chart" uri="{C3380CC4-5D6E-409C-BE32-E72D297353CC}">
              <c16:uniqueId val="{00000000-57B1-4DAD-BBA7-00FF17840F06}"/>
            </c:ext>
          </c:extLst>
        </c:ser>
        <c:dLbls>
          <c:showLegendKey val="0"/>
          <c:showVal val="0"/>
          <c:showCatName val="0"/>
          <c:showSerName val="0"/>
          <c:showPercent val="0"/>
          <c:showBubbleSize val="0"/>
        </c:dLbls>
        <c:smooth val="0"/>
        <c:axId val="479368616"/>
        <c:axId val="479371752"/>
      </c:lineChart>
      <c:catAx>
        <c:axId val="4793686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rgbClr val="4A4A4A"/>
                </a:solidFill>
                <a:latin typeface="Exo" panose="02000503000000000000" pitchFamily="2" charset="77"/>
                <a:ea typeface="+mn-ea"/>
                <a:cs typeface="+mn-cs"/>
              </a:defRPr>
            </a:pPr>
            <a:endParaRPr lang="en-US"/>
          </a:p>
        </c:txPr>
        <c:crossAx val="479371752"/>
        <c:crosses val="autoZero"/>
        <c:auto val="1"/>
        <c:lblAlgn val="ctr"/>
        <c:lblOffset val="100"/>
        <c:noMultiLvlLbl val="0"/>
      </c:catAx>
      <c:valAx>
        <c:axId val="479371752"/>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Exo" panose="02000503000000000000" pitchFamily="2" charset="77"/>
                    <a:ea typeface="+mn-ea"/>
                    <a:cs typeface="+mn-cs"/>
                  </a:defRPr>
                </a:pPr>
                <a:r>
                  <a:rPr lang="en-US" dirty="0"/>
                  <a:t>Percentage</a:t>
                </a:r>
              </a:p>
            </c:rich>
          </c:tx>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Exo" panose="02000503000000000000" pitchFamily="2" charset="77"/>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Exo" panose="02000503000000000000" pitchFamily="2" charset="77"/>
                <a:ea typeface="+mn-ea"/>
                <a:cs typeface="+mn-cs"/>
              </a:defRPr>
            </a:pPr>
            <a:endParaRPr lang="en-US"/>
          </a:p>
        </c:txPr>
        <c:crossAx val="4793686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Exo" panose="02000503000000000000" pitchFamily="2" charset="77"/>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cap="none" spc="0" normalizeH="0" baseline="0">
                <a:solidFill>
                  <a:srgbClr val="4A4A4A"/>
                </a:solidFill>
                <a:latin typeface="Exo" panose="02000503000000000000" pitchFamily="2" charset="77"/>
                <a:ea typeface="+mj-ea"/>
                <a:cs typeface="+mj-cs"/>
              </a:defRPr>
            </a:pPr>
            <a:r>
              <a:rPr lang="en-US" sz="1800" b="1" i="0" dirty="0">
                <a:solidFill>
                  <a:srgbClr val="4A4A4A"/>
                </a:solidFill>
                <a:latin typeface="Montserrat SemiBold" pitchFamily="2" charset="77"/>
              </a:rPr>
              <a:t>Cost per vulnerability remediated</a:t>
            </a:r>
          </a:p>
        </c:rich>
      </c:tx>
      <c:overlay val="0"/>
      <c:spPr>
        <a:noFill/>
        <a:ln>
          <a:noFill/>
        </a:ln>
        <a:effectLst/>
      </c:spPr>
      <c:txPr>
        <a:bodyPr rot="0" spcFirstLastPara="1" vertOverflow="ellipsis" vert="horz" wrap="square" anchor="ctr" anchorCtr="1"/>
        <a:lstStyle/>
        <a:p>
          <a:pPr>
            <a:defRPr sz="1800" b="0" i="0" u="none" strike="noStrike" kern="1200" cap="none" spc="0" normalizeH="0" baseline="0">
              <a:solidFill>
                <a:srgbClr val="4A4A4A"/>
              </a:solidFill>
              <a:latin typeface="Exo" panose="02000503000000000000" pitchFamily="2" charset="77"/>
              <a:ea typeface="+mj-ea"/>
              <a:cs typeface="+mj-cs"/>
            </a:defRPr>
          </a:pPr>
          <a:endParaRPr lang="en-US"/>
        </a:p>
      </c:txPr>
    </c:title>
    <c:autoTitleDeleted val="0"/>
    <c:plotArea>
      <c:layout/>
      <c:lineChart>
        <c:grouping val="standard"/>
        <c:varyColors val="0"/>
        <c:ser>
          <c:idx val="0"/>
          <c:order val="0"/>
          <c:tx>
            <c:strRef>
              <c:f>Sheet1!$B$1</c:f>
              <c:strCache>
                <c:ptCount val="1"/>
                <c:pt idx="0">
                  <c:v>Series 1</c:v>
                </c:pt>
              </c:strCache>
            </c:strRef>
          </c:tx>
          <c:spPr>
            <a:ln w="38100" cap="rnd">
              <a:solidFill>
                <a:schemeClr val="accent1"/>
              </a:solidFill>
              <a:round/>
            </a:ln>
            <a:effectLst/>
          </c:spPr>
          <c:marker>
            <c:symbol val="none"/>
          </c:marker>
          <c:cat>
            <c:strRef>
              <c:f>Sheet1!$A$2:$A$5</c:f>
              <c:strCache>
                <c:ptCount val="4"/>
                <c:pt idx="0">
                  <c:v>Current</c:v>
                </c:pt>
                <c:pt idx="1">
                  <c:v>3 Months</c:v>
                </c:pt>
                <c:pt idx="2">
                  <c:v>6 Months</c:v>
                </c:pt>
                <c:pt idx="3">
                  <c:v>12 Months</c:v>
                </c:pt>
              </c:strCache>
            </c:strRef>
          </c:cat>
          <c:val>
            <c:numRef>
              <c:f>Sheet1!$B$2:$B$5</c:f>
              <c:numCache>
                <c:formatCode>General</c:formatCode>
                <c:ptCount val="4"/>
                <c:pt idx="0">
                  <c:v>35</c:v>
                </c:pt>
                <c:pt idx="1">
                  <c:v>30</c:v>
                </c:pt>
                <c:pt idx="2">
                  <c:v>25</c:v>
                </c:pt>
                <c:pt idx="3">
                  <c:v>10</c:v>
                </c:pt>
              </c:numCache>
            </c:numRef>
          </c:val>
          <c:smooth val="0"/>
          <c:extLst>
            <c:ext xmlns:c16="http://schemas.microsoft.com/office/drawing/2014/chart" uri="{C3380CC4-5D6E-409C-BE32-E72D297353CC}">
              <c16:uniqueId val="{00000000-F706-4B4C-8932-CD9336EE8F4F}"/>
            </c:ext>
          </c:extLst>
        </c:ser>
        <c:dLbls>
          <c:showLegendKey val="0"/>
          <c:showVal val="0"/>
          <c:showCatName val="0"/>
          <c:showSerName val="0"/>
          <c:showPercent val="0"/>
          <c:showBubbleSize val="0"/>
        </c:dLbls>
        <c:smooth val="0"/>
        <c:axId val="479368616"/>
        <c:axId val="479371752"/>
      </c:lineChart>
      <c:catAx>
        <c:axId val="4793686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rgbClr val="4A4A4A"/>
                </a:solidFill>
                <a:latin typeface="Exo" panose="02000503000000000000" pitchFamily="2" charset="77"/>
                <a:ea typeface="+mn-ea"/>
                <a:cs typeface="+mn-cs"/>
              </a:defRPr>
            </a:pPr>
            <a:endParaRPr lang="en-US"/>
          </a:p>
        </c:txPr>
        <c:crossAx val="479371752"/>
        <c:crosses val="autoZero"/>
        <c:auto val="1"/>
        <c:lblAlgn val="ctr"/>
        <c:lblOffset val="100"/>
        <c:noMultiLvlLbl val="0"/>
      </c:catAx>
      <c:valAx>
        <c:axId val="479371752"/>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Exo" panose="02000503000000000000" pitchFamily="2" charset="77"/>
                    <a:ea typeface="+mn-ea"/>
                    <a:cs typeface="+mn-cs"/>
                  </a:defRPr>
                </a:pPr>
                <a:r>
                  <a:rPr lang="en-US" dirty="0"/>
                  <a:t>100</a:t>
                </a:r>
                <a:r>
                  <a:rPr lang="en-US" baseline="0" dirty="0"/>
                  <a:t> </a:t>
                </a:r>
                <a:r>
                  <a:rPr lang="en-US" dirty="0"/>
                  <a:t>$</a:t>
                </a:r>
              </a:p>
            </c:rich>
          </c:tx>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Exo" panose="02000503000000000000" pitchFamily="2" charset="77"/>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Exo" panose="02000503000000000000" pitchFamily="2" charset="77"/>
                <a:ea typeface="+mn-ea"/>
                <a:cs typeface="+mn-cs"/>
              </a:defRPr>
            </a:pPr>
            <a:endParaRPr lang="en-US"/>
          </a:p>
        </c:txPr>
        <c:crossAx val="4793686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Exo" panose="02000503000000000000" pitchFamily="2" charset="77"/>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4">
  <a:schemeClr val="accent1"/>
</cs:colorStyle>
</file>

<file path=ppt/charts/colors3.xml><?xml version="1.0" encoding="utf-8"?>
<cs:colorStyle xmlns:cs="http://schemas.microsoft.com/office/drawing/2012/chartStyle" xmlns:a="http://schemas.openxmlformats.org/drawingml/2006/main" meth="withinLinear" id="14">
  <a:schemeClr val="accent1"/>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withinLinear" id="14">
  <a:schemeClr val="accent1"/>
</cs:colorStyle>
</file>

<file path=ppt/charts/colors9.xml><?xml version="1.0" encoding="utf-8"?>
<cs:colorStyle xmlns:cs="http://schemas.microsoft.com/office/drawing/2012/chartStyle" xmlns:a="http://schemas.openxmlformats.org/drawingml/2006/main" meth="withinLinear" id="14">
  <a:schemeClr val="accent1"/>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351">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8.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10.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11.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12.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F7D100C-4258-4209-94B4-BF5CCA69D081}" type="doc">
      <dgm:prSet loTypeId="urn:microsoft.com/office/officeart/2005/8/layout/chevron1" loCatId="process" qsTypeId="urn:microsoft.com/office/officeart/2005/8/quickstyle/simple1" qsCatId="simple" csTypeId="urn:microsoft.com/office/officeart/2005/8/colors/accent1_2" csCatId="accent1" phldr="1"/>
      <dgm:spPr/>
    </dgm:pt>
    <dgm:pt modelId="{58194A3B-B664-487A-B370-231BE953AA93}">
      <dgm:prSet phldrT="[Text]" custT="1"/>
      <dgm:spPr>
        <a:solidFill>
          <a:schemeClr val="accent1">
            <a:hueOff val="0"/>
            <a:satOff val="0"/>
            <a:lumOff val="0"/>
            <a:alpha val="50000"/>
          </a:schemeClr>
        </a:solidFill>
      </dgm:spPr>
      <dgm:t>
        <a:bodyPr/>
        <a:lstStyle/>
        <a:p>
          <a:r>
            <a:rPr lang="en-US" sz="1400" dirty="0">
              <a:latin typeface="Exo" pitchFamily="2" charset="0"/>
            </a:rPr>
            <a:t>Analyze &amp; Design</a:t>
          </a:r>
        </a:p>
      </dgm:t>
    </dgm:pt>
    <dgm:pt modelId="{CECE52A3-64C2-4F6D-A371-6CF9A7343F68}" type="parTrans" cxnId="{6D8AEB14-A55A-4351-824D-384A5FA1EAA9}">
      <dgm:prSet/>
      <dgm:spPr/>
      <dgm:t>
        <a:bodyPr/>
        <a:lstStyle/>
        <a:p>
          <a:endParaRPr lang="en-US" sz="1600">
            <a:solidFill>
              <a:schemeClr val="accent1">
                <a:lumMod val="20000"/>
                <a:lumOff val="80000"/>
              </a:schemeClr>
            </a:solidFill>
            <a:latin typeface="Exo" pitchFamily="2" charset="0"/>
          </a:endParaRPr>
        </a:p>
      </dgm:t>
    </dgm:pt>
    <dgm:pt modelId="{22C36520-29A9-4CEE-ABB6-FBB41D5D830D}" type="sibTrans" cxnId="{6D8AEB14-A55A-4351-824D-384A5FA1EAA9}">
      <dgm:prSet/>
      <dgm:spPr/>
      <dgm:t>
        <a:bodyPr/>
        <a:lstStyle/>
        <a:p>
          <a:endParaRPr lang="en-US" sz="1600">
            <a:solidFill>
              <a:schemeClr val="accent1">
                <a:lumMod val="20000"/>
                <a:lumOff val="80000"/>
              </a:schemeClr>
            </a:solidFill>
            <a:latin typeface="Exo" pitchFamily="2" charset="0"/>
          </a:endParaRPr>
        </a:p>
      </dgm:t>
    </dgm:pt>
    <dgm:pt modelId="{4F8481BD-A34B-4F50-BEEE-D5D88505BFC3}">
      <dgm:prSet phldrT="[Text]" custT="1"/>
      <dgm:spPr>
        <a:solidFill>
          <a:schemeClr val="accent1">
            <a:hueOff val="0"/>
            <a:satOff val="0"/>
            <a:lumOff val="0"/>
            <a:alpha val="50000"/>
          </a:schemeClr>
        </a:solidFill>
      </dgm:spPr>
      <dgm:t>
        <a:bodyPr/>
        <a:lstStyle/>
        <a:p>
          <a:r>
            <a:rPr lang="en-US" sz="1400" dirty="0">
              <a:latin typeface="Exo" pitchFamily="2" charset="0"/>
            </a:rPr>
            <a:t>Build</a:t>
          </a:r>
        </a:p>
      </dgm:t>
    </dgm:pt>
    <dgm:pt modelId="{2F97C68F-8BFA-4174-83C7-A1D4B29F5C08}" type="parTrans" cxnId="{BE489CC7-444A-4BD4-8667-99FBF375003E}">
      <dgm:prSet/>
      <dgm:spPr/>
      <dgm:t>
        <a:bodyPr/>
        <a:lstStyle/>
        <a:p>
          <a:endParaRPr lang="en-US" sz="1600">
            <a:solidFill>
              <a:schemeClr val="accent1">
                <a:lumMod val="20000"/>
                <a:lumOff val="80000"/>
              </a:schemeClr>
            </a:solidFill>
            <a:latin typeface="Exo" pitchFamily="2" charset="0"/>
          </a:endParaRPr>
        </a:p>
      </dgm:t>
    </dgm:pt>
    <dgm:pt modelId="{2996AE2D-FBEB-408C-BCFE-43A5C4CABB85}" type="sibTrans" cxnId="{BE489CC7-444A-4BD4-8667-99FBF375003E}">
      <dgm:prSet/>
      <dgm:spPr/>
      <dgm:t>
        <a:bodyPr/>
        <a:lstStyle/>
        <a:p>
          <a:endParaRPr lang="en-US" sz="1600">
            <a:solidFill>
              <a:schemeClr val="accent1">
                <a:lumMod val="20000"/>
                <a:lumOff val="80000"/>
              </a:schemeClr>
            </a:solidFill>
            <a:latin typeface="Exo" pitchFamily="2" charset="0"/>
          </a:endParaRPr>
        </a:p>
      </dgm:t>
    </dgm:pt>
    <dgm:pt modelId="{B9926015-FEC9-4DD4-8F4E-0D2F2347E994}">
      <dgm:prSet phldrT="[Text]" custT="1"/>
      <dgm:spPr>
        <a:solidFill>
          <a:schemeClr val="accent1">
            <a:hueOff val="0"/>
            <a:satOff val="0"/>
            <a:lumOff val="0"/>
            <a:alpha val="50000"/>
          </a:schemeClr>
        </a:solidFill>
      </dgm:spPr>
      <dgm:t>
        <a:bodyPr/>
        <a:lstStyle/>
        <a:p>
          <a:r>
            <a:rPr lang="en-US" sz="1400" dirty="0">
              <a:latin typeface="Exo" pitchFamily="2" charset="0"/>
            </a:rPr>
            <a:t>Test</a:t>
          </a:r>
        </a:p>
      </dgm:t>
    </dgm:pt>
    <dgm:pt modelId="{63A050AC-C711-4B06-930A-C85CF72F3B78}" type="parTrans" cxnId="{4329CB4C-5248-41B6-8191-021D5DF81320}">
      <dgm:prSet/>
      <dgm:spPr/>
      <dgm:t>
        <a:bodyPr/>
        <a:lstStyle/>
        <a:p>
          <a:endParaRPr lang="en-US" sz="1600">
            <a:solidFill>
              <a:schemeClr val="accent1">
                <a:lumMod val="20000"/>
                <a:lumOff val="80000"/>
              </a:schemeClr>
            </a:solidFill>
            <a:latin typeface="Exo" pitchFamily="2" charset="0"/>
          </a:endParaRPr>
        </a:p>
      </dgm:t>
    </dgm:pt>
    <dgm:pt modelId="{329B9C4C-2907-4FC8-9850-F01FE656E1C4}" type="sibTrans" cxnId="{4329CB4C-5248-41B6-8191-021D5DF81320}">
      <dgm:prSet/>
      <dgm:spPr/>
      <dgm:t>
        <a:bodyPr/>
        <a:lstStyle/>
        <a:p>
          <a:endParaRPr lang="en-US" sz="1600">
            <a:solidFill>
              <a:schemeClr val="accent1">
                <a:lumMod val="20000"/>
                <a:lumOff val="80000"/>
              </a:schemeClr>
            </a:solidFill>
            <a:latin typeface="Exo" pitchFamily="2" charset="0"/>
          </a:endParaRPr>
        </a:p>
      </dgm:t>
    </dgm:pt>
    <dgm:pt modelId="{DFC69436-D230-4019-96FC-050CC4ACBD55}">
      <dgm:prSet phldrT="[Text]" custT="1"/>
      <dgm:spPr>
        <a:solidFill>
          <a:schemeClr val="accent1">
            <a:hueOff val="0"/>
            <a:satOff val="0"/>
            <a:lumOff val="0"/>
            <a:alpha val="50000"/>
          </a:schemeClr>
        </a:solidFill>
      </dgm:spPr>
      <dgm:t>
        <a:bodyPr/>
        <a:lstStyle/>
        <a:p>
          <a:r>
            <a:rPr lang="en-US" sz="1400" dirty="0">
              <a:latin typeface="Exo" pitchFamily="2" charset="0"/>
            </a:rPr>
            <a:t>Deploy</a:t>
          </a:r>
        </a:p>
      </dgm:t>
    </dgm:pt>
    <dgm:pt modelId="{A2431B76-A613-44D7-A89A-EEF1256DDD4B}" type="parTrans" cxnId="{0B3AAF41-16C6-4190-80FB-7C1304E8785D}">
      <dgm:prSet/>
      <dgm:spPr/>
      <dgm:t>
        <a:bodyPr/>
        <a:lstStyle/>
        <a:p>
          <a:endParaRPr lang="en-US" sz="1600">
            <a:solidFill>
              <a:schemeClr val="accent1">
                <a:lumMod val="20000"/>
                <a:lumOff val="80000"/>
              </a:schemeClr>
            </a:solidFill>
            <a:latin typeface="Exo" pitchFamily="2" charset="0"/>
          </a:endParaRPr>
        </a:p>
      </dgm:t>
    </dgm:pt>
    <dgm:pt modelId="{06150CF3-E4F6-4316-A42A-B47B9F5A3DF9}" type="sibTrans" cxnId="{0B3AAF41-16C6-4190-80FB-7C1304E8785D}">
      <dgm:prSet/>
      <dgm:spPr/>
      <dgm:t>
        <a:bodyPr/>
        <a:lstStyle/>
        <a:p>
          <a:endParaRPr lang="en-US" sz="1600">
            <a:solidFill>
              <a:schemeClr val="accent1">
                <a:lumMod val="20000"/>
                <a:lumOff val="80000"/>
              </a:schemeClr>
            </a:solidFill>
            <a:latin typeface="Exo" pitchFamily="2" charset="0"/>
          </a:endParaRPr>
        </a:p>
      </dgm:t>
    </dgm:pt>
    <dgm:pt modelId="{25C05E35-0981-488E-8430-BAF6DC751617}">
      <dgm:prSet phldrT="[Text]" custT="1"/>
      <dgm:spPr>
        <a:solidFill>
          <a:schemeClr val="accent1">
            <a:hueOff val="0"/>
            <a:satOff val="0"/>
            <a:lumOff val="0"/>
            <a:alpha val="50000"/>
          </a:schemeClr>
        </a:solidFill>
      </dgm:spPr>
      <dgm:t>
        <a:bodyPr/>
        <a:lstStyle/>
        <a:p>
          <a:r>
            <a:rPr lang="en-US" sz="1400" dirty="0">
              <a:latin typeface="Exo" pitchFamily="2" charset="0"/>
            </a:rPr>
            <a:t>Operate &amp; Maintain</a:t>
          </a:r>
        </a:p>
      </dgm:t>
    </dgm:pt>
    <dgm:pt modelId="{0A046ADB-3EB3-4714-B1D7-7A89B921D3FC}" type="parTrans" cxnId="{BEB85C2B-35E9-4638-8EE3-9E3F9DCCF7F5}">
      <dgm:prSet/>
      <dgm:spPr/>
      <dgm:t>
        <a:bodyPr/>
        <a:lstStyle/>
        <a:p>
          <a:endParaRPr lang="en-US" sz="1600">
            <a:solidFill>
              <a:schemeClr val="accent1">
                <a:lumMod val="20000"/>
                <a:lumOff val="80000"/>
              </a:schemeClr>
            </a:solidFill>
            <a:latin typeface="Exo" pitchFamily="2" charset="0"/>
          </a:endParaRPr>
        </a:p>
      </dgm:t>
    </dgm:pt>
    <dgm:pt modelId="{13FF1DA6-962A-4B46-BBC8-8C7C0C15F471}" type="sibTrans" cxnId="{BEB85C2B-35E9-4638-8EE3-9E3F9DCCF7F5}">
      <dgm:prSet/>
      <dgm:spPr/>
      <dgm:t>
        <a:bodyPr/>
        <a:lstStyle/>
        <a:p>
          <a:endParaRPr lang="en-US" sz="1600">
            <a:solidFill>
              <a:schemeClr val="accent1">
                <a:lumMod val="20000"/>
                <a:lumOff val="80000"/>
              </a:schemeClr>
            </a:solidFill>
            <a:latin typeface="Exo" pitchFamily="2" charset="0"/>
          </a:endParaRPr>
        </a:p>
      </dgm:t>
    </dgm:pt>
    <dgm:pt modelId="{AAFBD7C3-CA39-4054-A26D-4B474F925709}" type="pres">
      <dgm:prSet presAssocID="{6F7D100C-4258-4209-94B4-BF5CCA69D081}" presName="Name0" presStyleCnt="0">
        <dgm:presLayoutVars>
          <dgm:dir/>
          <dgm:animLvl val="lvl"/>
          <dgm:resizeHandles val="exact"/>
        </dgm:presLayoutVars>
      </dgm:prSet>
      <dgm:spPr/>
    </dgm:pt>
    <dgm:pt modelId="{53A99BA8-A13B-4BFA-9492-39C614208B3A}" type="pres">
      <dgm:prSet presAssocID="{58194A3B-B664-487A-B370-231BE953AA93}" presName="parTxOnly" presStyleLbl="node1" presStyleIdx="0" presStyleCnt="5" custScaleY="73602">
        <dgm:presLayoutVars>
          <dgm:chMax val="0"/>
          <dgm:chPref val="0"/>
          <dgm:bulletEnabled val="1"/>
        </dgm:presLayoutVars>
      </dgm:prSet>
      <dgm:spPr/>
    </dgm:pt>
    <dgm:pt modelId="{848AF79D-B7D8-4EA8-AD56-0E4D205B4923}" type="pres">
      <dgm:prSet presAssocID="{22C36520-29A9-4CEE-ABB6-FBB41D5D830D}" presName="parTxOnlySpace" presStyleCnt="0"/>
      <dgm:spPr/>
    </dgm:pt>
    <dgm:pt modelId="{80DDE11C-4469-44F0-8028-EEF971EC7F5B}" type="pres">
      <dgm:prSet presAssocID="{4F8481BD-A34B-4F50-BEEE-D5D88505BFC3}" presName="parTxOnly" presStyleLbl="node1" presStyleIdx="1" presStyleCnt="5" custScaleY="73602">
        <dgm:presLayoutVars>
          <dgm:chMax val="0"/>
          <dgm:chPref val="0"/>
          <dgm:bulletEnabled val="1"/>
        </dgm:presLayoutVars>
      </dgm:prSet>
      <dgm:spPr/>
    </dgm:pt>
    <dgm:pt modelId="{5D1A4C1D-DBEB-46F2-AF50-955549F9288E}" type="pres">
      <dgm:prSet presAssocID="{2996AE2D-FBEB-408C-BCFE-43A5C4CABB85}" presName="parTxOnlySpace" presStyleCnt="0"/>
      <dgm:spPr/>
    </dgm:pt>
    <dgm:pt modelId="{ED8F0F0A-0E90-41E5-8904-C7D547118F20}" type="pres">
      <dgm:prSet presAssocID="{B9926015-FEC9-4DD4-8F4E-0D2F2347E994}" presName="parTxOnly" presStyleLbl="node1" presStyleIdx="2" presStyleCnt="5" custScaleY="73602">
        <dgm:presLayoutVars>
          <dgm:chMax val="0"/>
          <dgm:chPref val="0"/>
          <dgm:bulletEnabled val="1"/>
        </dgm:presLayoutVars>
      </dgm:prSet>
      <dgm:spPr/>
    </dgm:pt>
    <dgm:pt modelId="{FD6F8E66-FCA4-4048-A5B3-861135E634C4}" type="pres">
      <dgm:prSet presAssocID="{329B9C4C-2907-4FC8-9850-F01FE656E1C4}" presName="parTxOnlySpace" presStyleCnt="0"/>
      <dgm:spPr/>
    </dgm:pt>
    <dgm:pt modelId="{3A7BD4C8-E1A6-4015-AD35-8A0883E75025}" type="pres">
      <dgm:prSet presAssocID="{DFC69436-D230-4019-96FC-050CC4ACBD55}" presName="parTxOnly" presStyleLbl="node1" presStyleIdx="3" presStyleCnt="5" custScaleY="73602">
        <dgm:presLayoutVars>
          <dgm:chMax val="0"/>
          <dgm:chPref val="0"/>
          <dgm:bulletEnabled val="1"/>
        </dgm:presLayoutVars>
      </dgm:prSet>
      <dgm:spPr/>
    </dgm:pt>
    <dgm:pt modelId="{2AFF0852-ECBE-4135-B89F-D613DFFFC284}" type="pres">
      <dgm:prSet presAssocID="{06150CF3-E4F6-4316-A42A-B47B9F5A3DF9}" presName="parTxOnlySpace" presStyleCnt="0"/>
      <dgm:spPr/>
    </dgm:pt>
    <dgm:pt modelId="{F3FCFB10-20DE-4EF1-BBA9-D0146B93915F}" type="pres">
      <dgm:prSet presAssocID="{25C05E35-0981-488E-8430-BAF6DC751617}" presName="parTxOnly" presStyleLbl="node1" presStyleIdx="4" presStyleCnt="5" custScaleY="73602">
        <dgm:presLayoutVars>
          <dgm:chMax val="0"/>
          <dgm:chPref val="0"/>
          <dgm:bulletEnabled val="1"/>
        </dgm:presLayoutVars>
      </dgm:prSet>
      <dgm:spPr/>
    </dgm:pt>
  </dgm:ptLst>
  <dgm:cxnLst>
    <dgm:cxn modelId="{6D8AEB14-A55A-4351-824D-384A5FA1EAA9}" srcId="{6F7D100C-4258-4209-94B4-BF5CCA69D081}" destId="{58194A3B-B664-487A-B370-231BE953AA93}" srcOrd="0" destOrd="0" parTransId="{CECE52A3-64C2-4F6D-A371-6CF9A7343F68}" sibTransId="{22C36520-29A9-4CEE-ABB6-FBB41D5D830D}"/>
    <dgm:cxn modelId="{BEB85C2B-35E9-4638-8EE3-9E3F9DCCF7F5}" srcId="{6F7D100C-4258-4209-94B4-BF5CCA69D081}" destId="{25C05E35-0981-488E-8430-BAF6DC751617}" srcOrd="4" destOrd="0" parTransId="{0A046ADB-3EB3-4714-B1D7-7A89B921D3FC}" sibTransId="{13FF1DA6-962A-4B46-BBC8-8C7C0C15F471}"/>
    <dgm:cxn modelId="{98809138-B3ED-44DC-86F9-73F065EA8C21}" type="presOf" srcId="{DFC69436-D230-4019-96FC-050CC4ACBD55}" destId="{3A7BD4C8-E1A6-4015-AD35-8A0883E75025}" srcOrd="0" destOrd="0" presId="urn:microsoft.com/office/officeart/2005/8/layout/chevron1"/>
    <dgm:cxn modelId="{7D08E83D-5AE2-4BB5-9246-839A2FCEA2DB}" type="presOf" srcId="{58194A3B-B664-487A-B370-231BE953AA93}" destId="{53A99BA8-A13B-4BFA-9492-39C614208B3A}" srcOrd="0" destOrd="0" presId="urn:microsoft.com/office/officeart/2005/8/layout/chevron1"/>
    <dgm:cxn modelId="{0B3AAF41-16C6-4190-80FB-7C1304E8785D}" srcId="{6F7D100C-4258-4209-94B4-BF5CCA69D081}" destId="{DFC69436-D230-4019-96FC-050CC4ACBD55}" srcOrd="3" destOrd="0" parTransId="{A2431B76-A613-44D7-A89A-EEF1256DDD4B}" sibTransId="{06150CF3-E4F6-4316-A42A-B47B9F5A3DF9}"/>
    <dgm:cxn modelId="{4329CB4C-5248-41B6-8191-021D5DF81320}" srcId="{6F7D100C-4258-4209-94B4-BF5CCA69D081}" destId="{B9926015-FEC9-4DD4-8F4E-0D2F2347E994}" srcOrd="2" destOrd="0" parTransId="{63A050AC-C711-4B06-930A-C85CF72F3B78}" sibTransId="{329B9C4C-2907-4FC8-9850-F01FE656E1C4}"/>
    <dgm:cxn modelId="{1FCB5E74-518F-4D8C-9ED2-2B8F62DC1EF4}" type="presOf" srcId="{25C05E35-0981-488E-8430-BAF6DC751617}" destId="{F3FCFB10-20DE-4EF1-BBA9-D0146B93915F}" srcOrd="0" destOrd="0" presId="urn:microsoft.com/office/officeart/2005/8/layout/chevron1"/>
    <dgm:cxn modelId="{9B376175-1A42-4186-A2BE-B6AFD61D4110}" type="presOf" srcId="{6F7D100C-4258-4209-94B4-BF5CCA69D081}" destId="{AAFBD7C3-CA39-4054-A26D-4B474F925709}" srcOrd="0" destOrd="0" presId="urn:microsoft.com/office/officeart/2005/8/layout/chevron1"/>
    <dgm:cxn modelId="{63B81078-8A28-4B4F-9DBC-79DB2BE37579}" type="presOf" srcId="{4F8481BD-A34B-4F50-BEEE-D5D88505BFC3}" destId="{80DDE11C-4469-44F0-8028-EEF971EC7F5B}" srcOrd="0" destOrd="0" presId="urn:microsoft.com/office/officeart/2005/8/layout/chevron1"/>
    <dgm:cxn modelId="{BE489CC7-444A-4BD4-8667-99FBF375003E}" srcId="{6F7D100C-4258-4209-94B4-BF5CCA69D081}" destId="{4F8481BD-A34B-4F50-BEEE-D5D88505BFC3}" srcOrd="1" destOrd="0" parTransId="{2F97C68F-8BFA-4174-83C7-A1D4B29F5C08}" sibTransId="{2996AE2D-FBEB-408C-BCFE-43A5C4CABB85}"/>
    <dgm:cxn modelId="{9DEC8EE8-CF07-4D29-8216-F773D26B61DB}" type="presOf" srcId="{B9926015-FEC9-4DD4-8F4E-0D2F2347E994}" destId="{ED8F0F0A-0E90-41E5-8904-C7D547118F20}" srcOrd="0" destOrd="0" presId="urn:microsoft.com/office/officeart/2005/8/layout/chevron1"/>
    <dgm:cxn modelId="{ED0D589A-9766-42B9-84CA-F698AFB14453}" type="presParOf" srcId="{AAFBD7C3-CA39-4054-A26D-4B474F925709}" destId="{53A99BA8-A13B-4BFA-9492-39C614208B3A}" srcOrd="0" destOrd="0" presId="urn:microsoft.com/office/officeart/2005/8/layout/chevron1"/>
    <dgm:cxn modelId="{93047CF2-DED4-4905-A32D-5BD9A94B82D9}" type="presParOf" srcId="{AAFBD7C3-CA39-4054-A26D-4B474F925709}" destId="{848AF79D-B7D8-4EA8-AD56-0E4D205B4923}" srcOrd="1" destOrd="0" presId="urn:microsoft.com/office/officeart/2005/8/layout/chevron1"/>
    <dgm:cxn modelId="{1F64BAD5-3A6D-4BA3-A896-D4FC8C021C4B}" type="presParOf" srcId="{AAFBD7C3-CA39-4054-A26D-4B474F925709}" destId="{80DDE11C-4469-44F0-8028-EEF971EC7F5B}" srcOrd="2" destOrd="0" presId="urn:microsoft.com/office/officeart/2005/8/layout/chevron1"/>
    <dgm:cxn modelId="{81101A91-9AE3-434A-9D5C-8F6B0D136873}" type="presParOf" srcId="{AAFBD7C3-CA39-4054-A26D-4B474F925709}" destId="{5D1A4C1D-DBEB-46F2-AF50-955549F9288E}" srcOrd="3" destOrd="0" presId="urn:microsoft.com/office/officeart/2005/8/layout/chevron1"/>
    <dgm:cxn modelId="{B865A852-4BC4-45B6-ABDA-CA101679F8C7}" type="presParOf" srcId="{AAFBD7C3-CA39-4054-A26D-4B474F925709}" destId="{ED8F0F0A-0E90-41E5-8904-C7D547118F20}" srcOrd="4" destOrd="0" presId="urn:microsoft.com/office/officeart/2005/8/layout/chevron1"/>
    <dgm:cxn modelId="{1848D0A6-91D9-4452-A656-0774A3B046EE}" type="presParOf" srcId="{AAFBD7C3-CA39-4054-A26D-4B474F925709}" destId="{FD6F8E66-FCA4-4048-A5B3-861135E634C4}" srcOrd="5" destOrd="0" presId="urn:microsoft.com/office/officeart/2005/8/layout/chevron1"/>
    <dgm:cxn modelId="{3E27B914-29F7-4129-A2DF-601ADE5C1C48}" type="presParOf" srcId="{AAFBD7C3-CA39-4054-A26D-4B474F925709}" destId="{3A7BD4C8-E1A6-4015-AD35-8A0883E75025}" srcOrd="6" destOrd="0" presId="urn:microsoft.com/office/officeart/2005/8/layout/chevron1"/>
    <dgm:cxn modelId="{00943FAB-4F7C-493F-ADE6-F4E219B4CF6B}" type="presParOf" srcId="{AAFBD7C3-CA39-4054-A26D-4B474F925709}" destId="{2AFF0852-ECBE-4135-B89F-D613DFFFC284}" srcOrd="7" destOrd="0" presId="urn:microsoft.com/office/officeart/2005/8/layout/chevron1"/>
    <dgm:cxn modelId="{6D77D9B2-BD87-4AB5-97CB-0416204142D8}" type="presParOf" srcId="{AAFBD7C3-CA39-4054-A26D-4B474F925709}" destId="{F3FCFB10-20DE-4EF1-BBA9-D0146B93915F}"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F7D100C-4258-4209-94B4-BF5CCA69D081}"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CA"/>
        </a:p>
      </dgm:t>
    </dgm:pt>
    <dgm:pt modelId="{58194A3B-B664-487A-B370-231BE953AA93}">
      <dgm:prSet phldrT="[Text]" custT="1"/>
      <dgm:spPr>
        <a:solidFill>
          <a:schemeClr val="accent1">
            <a:hueOff val="0"/>
            <a:satOff val="0"/>
            <a:lumOff val="0"/>
            <a:alpha val="50000"/>
          </a:schemeClr>
        </a:solidFill>
      </dgm:spPr>
      <dgm:t>
        <a:bodyPr/>
        <a:lstStyle/>
        <a:p>
          <a:r>
            <a:rPr lang="en-US" sz="1400" dirty="0">
              <a:latin typeface="Exo" pitchFamily="2" charset="0"/>
            </a:rPr>
            <a:t>Analyze and design</a:t>
          </a:r>
        </a:p>
      </dgm:t>
    </dgm:pt>
    <dgm:pt modelId="{CECE52A3-64C2-4F6D-A371-6CF9A7343F68}" type="parTrans" cxnId="{6D8AEB14-A55A-4351-824D-384A5FA1EAA9}">
      <dgm:prSet/>
      <dgm:spPr/>
      <dgm:t>
        <a:bodyPr/>
        <a:lstStyle/>
        <a:p>
          <a:endParaRPr lang="en-US" sz="1600">
            <a:solidFill>
              <a:schemeClr val="accent1">
                <a:lumMod val="20000"/>
                <a:lumOff val="80000"/>
              </a:schemeClr>
            </a:solidFill>
            <a:latin typeface="Exo" pitchFamily="2" charset="0"/>
          </a:endParaRPr>
        </a:p>
      </dgm:t>
    </dgm:pt>
    <dgm:pt modelId="{22C36520-29A9-4CEE-ABB6-FBB41D5D830D}" type="sibTrans" cxnId="{6D8AEB14-A55A-4351-824D-384A5FA1EAA9}">
      <dgm:prSet/>
      <dgm:spPr/>
      <dgm:t>
        <a:bodyPr/>
        <a:lstStyle/>
        <a:p>
          <a:endParaRPr lang="en-US" sz="1600">
            <a:solidFill>
              <a:schemeClr val="accent1">
                <a:lumMod val="20000"/>
                <a:lumOff val="80000"/>
              </a:schemeClr>
            </a:solidFill>
            <a:latin typeface="Exo" pitchFamily="2" charset="0"/>
          </a:endParaRPr>
        </a:p>
      </dgm:t>
    </dgm:pt>
    <dgm:pt modelId="{4F8481BD-A34B-4F50-BEEE-D5D88505BFC3}">
      <dgm:prSet phldrT="[Text]" custT="1"/>
      <dgm:spPr>
        <a:solidFill>
          <a:schemeClr val="accent1">
            <a:hueOff val="0"/>
            <a:satOff val="0"/>
            <a:lumOff val="0"/>
            <a:alpha val="50000"/>
          </a:schemeClr>
        </a:solidFill>
      </dgm:spPr>
      <dgm:t>
        <a:bodyPr/>
        <a:lstStyle/>
        <a:p>
          <a:r>
            <a:rPr lang="en-US" sz="1400" dirty="0">
              <a:latin typeface="Exo" pitchFamily="2" charset="0"/>
            </a:rPr>
            <a:t>Build</a:t>
          </a:r>
        </a:p>
      </dgm:t>
    </dgm:pt>
    <dgm:pt modelId="{2F97C68F-8BFA-4174-83C7-A1D4B29F5C08}" type="parTrans" cxnId="{BE489CC7-444A-4BD4-8667-99FBF375003E}">
      <dgm:prSet/>
      <dgm:spPr/>
      <dgm:t>
        <a:bodyPr/>
        <a:lstStyle/>
        <a:p>
          <a:endParaRPr lang="en-US" sz="1600">
            <a:solidFill>
              <a:schemeClr val="accent1">
                <a:lumMod val="20000"/>
                <a:lumOff val="80000"/>
              </a:schemeClr>
            </a:solidFill>
            <a:latin typeface="Exo" pitchFamily="2" charset="0"/>
          </a:endParaRPr>
        </a:p>
      </dgm:t>
    </dgm:pt>
    <dgm:pt modelId="{2996AE2D-FBEB-408C-BCFE-43A5C4CABB85}" type="sibTrans" cxnId="{BE489CC7-444A-4BD4-8667-99FBF375003E}">
      <dgm:prSet/>
      <dgm:spPr/>
      <dgm:t>
        <a:bodyPr/>
        <a:lstStyle/>
        <a:p>
          <a:endParaRPr lang="en-US" sz="1600">
            <a:solidFill>
              <a:schemeClr val="accent1">
                <a:lumMod val="20000"/>
                <a:lumOff val="80000"/>
              </a:schemeClr>
            </a:solidFill>
            <a:latin typeface="Exo" pitchFamily="2" charset="0"/>
          </a:endParaRPr>
        </a:p>
      </dgm:t>
    </dgm:pt>
    <dgm:pt modelId="{B9926015-FEC9-4DD4-8F4E-0D2F2347E994}">
      <dgm:prSet phldrT="[Text]" custT="1"/>
      <dgm:spPr>
        <a:solidFill>
          <a:schemeClr val="accent1">
            <a:hueOff val="0"/>
            <a:satOff val="0"/>
            <a:lumOff val="0"/>
            <a:alpha val="50000"/>
          </a:schemeClr>
        </a:solidFill>
      </dgm:spPr>
      <dgm:t>
        <a:bodyPr/>
        <a:lstStyle/>
        <a:p>
          <a:r>
            <a:rPr lang="en-US" sz="1400" dirty="0">
              <a:latin typeface="Exo" pitchFamily="2" charset="0"/>
            </a:rPr>
            <a:t>Test</a:t>
          </a:r>
        </a:p>
      </dgm:t>
    </dgm:pt>
    <dgm:pt modelId="{63A050AC-C711-4B06-930A-C85CF72F3B78}" type="parTrans" cxnId="{4329CB4C-5248-41B6-8191-021D5DF81320}">
      <dgm:prSet/>
      <dgm:spPr/>
      <dgm:t>
        <a:bodyPr/>
        <a:lstStyle/>
        <a:p>
          <a:endParaRPr lang="en-US" sz="1600">
            <a:solidFill>
              <a:schemeClr val="accent1">
                <a:lumMod val="20000"/>
                <a:lumOff val="80000"/>
              </a:schemeClr>
            </a:solidFill>
            <a:latin typeface="Exo" pitchFamily="2" charset="0"/>
          </a:endParaRPr>
        </a:p>
      </dgm:t>
    </dgm:pt>
    <dgm:pt modelId="{329B9C4C-2907-4FC8-9850-F01FE656E1C4}" type="sibTrans" cxnId="{4329CB4C-5248-41B6-8191-021D5DF81320}">
      <dgm:prSet/>
      <dgm:spPr/>
      <dgm:t>
        <a:bodyPr/>
        <a:lstStyle/>
        <a:p>
          <a:endParaRPr lang="en-US" sz="1600">
            <a:solidFill>
              <a:schemeClr val="accent1">
                <a:lumMod val="20000"/>
                <a:lumOff val="80000"/>
              </a:schemeClr>
            </a:solidFill>
            <a:latin typeface="Exo" pitchFamily="2" charset="0"/>
          </a:endParaRPr>
        </a:p>
      </dgm:t>
    </dgm:pt>
    <dgm:pt modelId="{DFC69436-D230-4019-96FC-050CC4ACBD55}">
      <dgm:prSet phldrT="[Text]" custT="1"/>
      <dgm:spPr>
        <a:solidFill>
          <a:schemeClr val="accent1">
            <a:hueOff val="0"/>
            <a:satOff val="0"/>
            <a:lumOff val="0"/>
            <a:alpha val="50000"/>
          </a:schemeClr>
        </a:solidFill>
      </dgm:spPr>
      <dgm:t>
        <a:bodyPr/>
        <a:lstStyle/>
        <a:p>
          <a:r>
            <a:rPr lang="en-US" sz="1400" dirty="0">
              <a:latin typeface="Exo" pitchFamily="2" charset="0"/>
            </a:rPr>
            <a:t>Deploy</a:t>
          </a:r>
        </a:p>
      </dgm:t>
    </dgm:pt>
    <dgm:pt modelId="{A2431B76-A613-44D7-A89A-EEF1256DDD4B}" type="parTrans" cxnId="{0B3AAF41-16C6-4190-80FB-7C1304E8785D}">
      <dgm:prSet/>
      <dgm:spPr/>
      <dgm:t>
        <a:bodyPr/>
        <a:lstStyle/>
        <a:p>
          <a:endParaRPr lang="en-US" sz="1600">
            <a:solidFill>
              <a:schemeClr val="accent1">
                <a:lumMod val="20000"/>
                <a:lumOff val="80000"/>
              </a:schemeClr>
            </a:solidFill>
            <a:latin typeface="Exo" pitchFamily="2" charset="0"/>
          </a:endParaRPr>
        </a:p>
      </dgm:t>
    </dgm:pt>
    <dgm:pt modelId="{06150CF3-E4F6-4316-A42A-B47B9F5A3DF9}" type="sibTrans" cxnId="{0B3AAF41-16C6-4190-80FB-7C1304E8785D}">
      <dgm:prSet/>
      <dgm:spPr/>
      <dgm:t>
        <a:bodyPr/>
        <a:lstStyle/>
        <a:p>
          <a:endParaRPr lang="en-US" sz="1600">
            <a:solidFill>
              <a:schemeClr val="accent1">
                <a:lumMod val="20000"/>
                <a:lumOff val="80000"/>
              </a:schemeClr>
            </a:solidFill>
            <a:latin typeface="Exo" pitchFamily="2" charset="0"/>
          </a:endParaRPr>
        </a:p>
      </dgm:t>
    </dgm:pt>
    <dgm:pt modelId="{25C05E35-0981-488E-8430-BAF6DC751617}">
      <dgm:prSet phldrT="[Text]" custT="1"/>
      <dgm:spPr>
        <a:solidFill>
          <a:schemeClr val="accent1">
            <a:hueOff val="0"/>
            <a:satOff val="0"/>
            <a:lumOff val="0"/>
            <a:alpha val="50000"/>
          </a:schemeClr>
        </a:solidFill>
      </dgm:spPr>
      <dgm:t>
        <a:bodyPr/>
        <a:lstStyle/>
        <a:p>
          <a:r>
            <a:rPr lang="en-US" sz="1400" dirty="0">
              <a:latin typeface="Exo" pitchFamily="2" charset="0"/>
            </a:rPr>
            <a:t>Operate and maintain</a:t>
          </a:r>
        </a:p>
      </dgm:t>
    </dgm:pt>
    <dgm:pt modelId="{0A046ADB-3EB3-4714-B1D7-7A89B921D3FC}" type="parTrans" cxnId="{BEB85C2B-35E9-4638-8EE3-9E3F9DCCF7F5}">
      <dgm:prSet/>
      <dgm:spPr/>
      <dgm:t>
        <a:bodyPr/>
        <a:lstStyle/>
        <a:p>
          <a:endParaRPr lang="en-US" sz="1600">
            <a:solidFill>
              <a:schemeClr val="accent1">
                <a:lumMod val="20000"/>
                <a:lumOff val="80000"/>
              </a:schemeClr>
            </a:solidFill>
            <a:latin typeface="Exo" pitchFamily="2" charset="0"/>
          </a:endParaRPr>
        </a:p>
      </dgm:t>
    </dgm:pt>
    <dgm:pt modelId="{13FF1DA6-962A-4B46-BBC8-8C7C0C15F471}" type="sibTrans" cxnId="{BEB85C2B-35E9-4638-8EE3-9E3F9DCCF7F5}">
      <dgm:prSet/>
      <dgm:spPr/>
      <dgm:t>
        <a:bodyPr/>
        <a:lstStyle/>
        <a:p>
          <a:endParaRPr lang="en-US" sz="1600">
            <a:solidFill>
              <a:schemeClr val="accent1">
                <a:lumMod val="20000"/>
                <a:lumOff val="80000"/>
              </a:schemeClr>
            </a:solidFill>
            <a:latin typeface="Exo" pitchFamily="2" charset="0"/>
          </a:endParaRPr>
        </a:p>
      </dgm:t>
    </dgm:pt>
    <dgm:pt modelId="{AAFBD7C3-CA39-4054-A26D-4B474F925709}" type="pres">
      <dgm:prSet presAssocID="{6F7D100C-4258-4209-94B4-BF5CCA69D081}" presName="Name0" presStyleCnt="0">
        <dgm:presLayoutVars>
          <dgm:dir/>
          <dgm:animLvl val="lvl"/>
          <dgm:resizeHandles val="exact"/>
        </dgm:presLayoutVars>
      </dgm:prSet>
      <dgm:spPr/>
    </dgm:pt>
    <dgm:pt modelId="{53A99BA8-A13B-4BFA-9492-39C614208B3A}" type="pres">
      <dgm:prSet presAssocID="{58194A3B-B664-487A-B370-231BE953AA93}" presName="parTxOnly" presStyleLbl="node1" presStyleIdx="0" presStyleCnt="5" custScaleY="73602">
        <dgm:presLayoutVars>
          <dgm:chMax val="0"/>
          <dgm:chPref val="0"/>
          <dgm:bulletEnabled val="1"/>
        </dgm:presLayoutVars>
      </dgm:prSet>
      <dgm:spPr/>
    </dgm:pt>
    <dgm:pt modelId="{848AF79D-B7D8-4EA8-AD56-0E4D205B4923}" type="pres">
      <dgm:prSet presAssocID="{22C36520-29A9-4CEE-ABB6-FBB41D5D830D}" presName="parTxOnlySpace" presStyleCnt="0"/>
      <dgm:spPr/>
    </dgm:pt>
    <dgm:pt modelId="{80DDE11C-4469-44F0-8028-EEF971EC7F5B}" type="pres">
      <dgm:prSet presAssocID="{4F8481BD-A34B-4F50-BEEE-D5D88505BFC3}" presName="parTxOnly" presStyleLbl="node1" presStyleIdx="1" presStyleCnt="5" custScaleY="73602">
        <dgm:presLayoutVars>
          <dgm:chMax val="0"/>
          <dgm:chPref val="0"/>
          <dgm:bulletEnabled val="1"/>
        </dgm:presLayoutVars>
      </dgm:prSet>
      <dgm:spPr/>
    </dgm:pt>
    <dgm:pt modelId="{5D1A4C1D-DBEB-46F2-AF50-955549F9288E}" type="pres">
      <dgm:prSet presAssocID="{2996AE2D-FBEB-408C-BCFE-43A5C4CABB85}" presName="parTxOnlySpace" presStyleCnt="0"/>
      <dgm:spPr/>
    </dgm:pt>
    <dgm:pt modelId="{ED8F0F0A-0E90-41E5-8904-C7D547118F20}" type="pres">
      <dgm:prSet presAssocID="{B9926015-FEC9-4DD4-8F4E-0D2F2347E994}" presName="parTxOnly" presStyleLbl="node1" presStyleIdx="2" presStyleCnt="5" custScaleY="73602">
        <dgm:presLayoutVars>
          <dgm:chMax val="0"/>
          <dgm:chPref val="0"/>
          <dgm:bulletEnabled val="1"/>
        </dgm:presLayoutVars>
      </dgm:prSet>
      <dgm:spPr/>
    </dgm:pt>
    <dgm:pt modelId="{FD6F8E66-FCA4-4048-A5B3-861135E634C4}" type="pres">
      <dgm:prSet presAssocID="{329B9C4C-2907-4FC8-9850-F01FE656E1C4}" presName="parTxOnlySpace" presStyleCnt="0"/>
      <dgm:spPr/>
    </dgm:pt>
    <dgm:pt modelId="{3A7BD4C8-E1A6-4015-AD35-8A0883E75025}" type="pres">
      <dgm:prSet presAssocID="{DFC69436-D230-4019-96FC-050CC4ACBD55}" presName="parTxOnly" presStyleLbl="node1" presStyleIdx="3" presStyleCnt="5" custScaleY="73602">
        <dgm:presLayoutVars>
          <dgm:chMax val="0"/>
          <dgm:chPref val="0"/>
          <dgm:bulletEnabled val="1"/>
        </dgm:presLayoutVars>
      </dgm:prSet>
      <dgm:spPr/>
    </dgm:pt>
    <dgm:pt modelId="{2AFF0852-ECBE-4135-B89F-D613DFFFC284}" type="pres">
      <dgm:prSet presAssocID="{06150CF3-E4F6-4316-A42A-B47B9F5A3DF9}" presName="parTxOnlySpace" presStyleCnt="0"/>
      <dgm:spPr/>
    </dgm:pt>
    <dgm:pt modelId="{F3FCFB10-20DE-4EF1-BBA9-D0146B93915F}" type="pres">
      <dgm:prSet presAssocID="{25C05E35-0981-488E-8430-BAF6DC751617}" presName="parTxOnly" presStyleLbl="node1" presStyleIdx="4" presStyleCnt="5" custScaleY="73602">
        <dgm:presLayoutVars>
          <dgm:chMax val="0"/>
          <dgm:chPref val="0"/>
          <dgm:bulletEnabled val="1"/>
        </dgm:presLayoutVars>
      </dgm:prSet>
      <dgm:spPr/>
    </dgm:pt>
  </dgm:ptLst>
  <dgm:cxnLst>
    <dgm:cxn modelId="{6D8AEB14-A55A-4351-824D-384A5FA1EAA9}" srcId="{6F7D100C-4258-4209-94B4-BF5CCA69D081}" destId="{58194A3B-B664-487A-B370-231BE953AA93}" srcOrd="0" destOrd="0" parTransId="{CECE52A3-64C2-4F6D-A371-6CF9A7343F68}" sibTransId="{22C36520-29A9-4CEE-ABB6-FBB41D5D830D}"/>
    <dgm:cxn modelId="{BEB85C2B-35E9-4638-8EE3-9E3F9DCCF7F5}" srcId="{6F7D100C-4258-4209-94B4-BF5CCA69D081}" destId="{25C05E35-0981-488E-8430-BAF6DC751617}" srcOrd="4" destOrd="0" parTransId="{0A046ADB-3EB3-4714-B1D7-7A89B921D3FC}" sibTransId="{13FF1DA6-962A-4B46-BBC8-8C7C0C15F471}"/>
    <dgm:cxn modelId="{98809138-B3ED-44DC-86F9-73F065EA8C21}" type="presOf" srcId="{DFC69436-D230-4019-96FC-050CC4ACBD55}" destId="{3A7BD4C8-E1A6-4015-AD35-8A0883E75025}" srcOrd="0" destOrd="0" presId="urn:microsoft.com/office/officeart/2005/8/layout/chevron1"/>
    <dgm:cxn modelId="{7D08E83D-5AE2-4BB5-9246-839A2FCEA2DB}" type="presOf" srcId="{58194A3B-B664-487A-B370-231BE953AA93}" destId="{53A99BA8-A13B-4BFA-9492-39C614208B3A}" srcOrd="0" destOrd="0" presId="urn:microsoft.com/office/officeart/2005/8/layout/chevron1"/>
    <dgm:cxn modelId="{0B3AAF41-16C6-4190-80FB-7C1304E8785D}" srcId="{6F7D100C-4258-4209-94B4-BF5CCA69D081}" destId="{DFC69436-D230-4019-96FC-050CC4ACBD55}" srcOrd="3" destOrd="0" parTransId="{A2431B76-A613-44D7-A89A-EEF1256DDD4B}" sibTransId="{06150CF3-E4F6-4316-A42A-B47B9F5A3DF9}"/>
    <dgm:cxn modelId="{4329CB4C-5248-41B6-8191-021D5DF81320}" srcId="{6F7D100C-4258-4209-94B4-BF5CCA69D081}" destId="{B9926015-FEC9-4DD4-8F4E-0D2F2347E994}" srcOrd="2" destOrd="0" parTransId="{63A050AC-C711-4B06-930A-C85CF72F3B78}" sibTransId="{329B9C4C-2907-4FC8-9850-F01FE656E1C4}"/>
    <dgm:cxn modelId="{1FCB5E74-518F-4D8C-9ED2-2B8F62DC1EF4}" type="presOf" srcId="{25C05E35-0981-488E-8430-BAF6DC751617}" destId="{F3FCFB10-20DE-4EF1-BBA9-D0146B93915F}" srcOrd="0" destOrd="0" presId="urn:microsoft.com/office/officeart/2005/8/layout/chevron1"/>
    <dgm:cxn modelId="{9B376175-1A42-4186-A2BE-B6AFD61D4110}" type="presOf" srcId="{6F7D100C-4258-4209-94B4-BF5CCA69D081}" destId="{AAFBD7C3-CA39-4054-A26D-4B474F925709}" srcOrd="0" destOrd="0" presId="urn:microsoft.com/office/officeart/2005/8/layout/chevron1"/>
    <dgm:cxn modelId="{63B81078-8A28-4B4F-9DBC-79DB2BE37579}" type="presOf" srcId="{4F8481BD-A34B-4F50-BEEE-D5D88505BFC3}" destId="{80DDE11C-4469-44F0-8028-EEF971EC7F5B}" srcOrd="0" destOrd="0" presId="urn:microsoft.com/office/officeart/2005/8/layout/chevron1"/>
    <dgm:cxn modelId="{BE489CC7-444A-4BD4-8667-99FBF375003E}" srcId="{6F7D100C-4258-4209-94B4-BF5CCA69D081}" destId="{4F8481BD-A34B-4F50-BEEE-D5D88505BFC3}" srcOrd="1" destOrd="0" parTransId="{2F97C68F-8BFA-4174-83C7-A1D4B29F5C08}" sibTransId="{2996AE2D-FBEB-408C-BCFE-43A5C4CABB85}"/>
    <dgm:cxn modelId="{9DEC8EE8-CF07-4D29-8216-F773D26B61DB}" type="presOf" srcId="{B9926015-FEC9-4DD4-8F4E-0D2F2347E994}" destId="{ED8F0F0A-0E90-41E5-8904-C7D547118F20}" srcOrd="0" destOrd="0" presId="urn:microsoft.com/office/officeart/2005/8/layout/chevron1"/>
    <dgm:cxn modelId="{ED0D589A-9766-42B9-84CA-F698AFB14453}" type="presParOf" srcId="{AAFBD7C3-CA39-4054-A26D-4B474F925709}" destId="{53A99BA8-A13B-4BFA-9492-39C614208B3A}" srcOrd="0" destOrd="0" presId="urn:microsoft.com/office/officeart/2005/8/layout/chevron1"/>
    <dgm:cxn modelId="{93047CF2-DED4-4905-A32D-5BD9A94B82D9}" type="presParOf" srcId="{AAFBD7C3-CA39-4054-A26D-4B474F925709}" destId="{848AF79D-B7D8-4EA8-AD56-0E4D205B4923}" srcOrd="1" destOrd="0" presId="urn:microsoft.com/office/officeart/2005/8/layout/chevron1"/>
    <dgm:cxn modelId="{1F64BAD5-3A6D-4BA3-A896-D4FC8C021C4B}" type="presParOf" srcId="{AAFBD7C3-CA39-4054-A26D-4B474F925709}" destId="{80DDE11C-4469-44F0-8028-EEF971EC7F5B}" srcOrd="2" destOrd="0" presId="urn:microsoft.com/office/officeart/2005/8/layout/chevron1"/>
    <dgm:cxn modelId="{81101A91-9AE3-434A-9D5C-8F6B0D136873}" type="presParOf" srcId="{AAFBD7C3-CA39-4054-A26D-4B474F925709}" destId="{5D1A4C1D-DBEB-46F2-AF50-955549F9288E}" srcOrd="3" destOrd="0" presId="urn:microsoft.com/office/officeart/2005/8/layout/chevron1"/>
    <dgm:cxn modelId="{B865A852-4BC4-45B6-ABDA-CA101679F8C7}" type="presParOf" srcId="{AAFBD7C3-CA39-4054-A26D-4B474F925709}" destId="{ED8F0F0A-0E90-41E5-8904-C7D547118F20}" srcOrd="4" destOrd="0" presId="urn:microsoft.com/office/officeart/2005/8/layout/chevron1"/>
    <dgm:cxn modelId="{1848D0A6-91D9-4452-A656-0774A3B046EE}" type="presParOf" srcId="{AAFBD7C3-CA39-4054-A26D-4B474F925709}" destId="{FD6F8E66-FCA4-4048-A5B3-861135E634C4}" srcOrd="5" destOrd="0" presId="urn:microsoft.com/office/officeart/2005/8/layout/chevron1"/>
    <dgm:cxn modelId="{3E27B914-29F7-4129-A2DF-601ADE5C1C48}" type="presParOf" srcId="{AAFBD7C3-CA39-4054-A26D-4B474F925709}" destId="{3A7BD4C8-E1A6-4015-AD35-8A0883E75025}" srcOrd="6" destOrd="0" presId="urn:microsoft.com/office/officeart/2005/8/layout/chevron1"/>
    <dgm:cxn modelId="{00943FAB-4F7C-493F-ADE6-F4E219B4CF6B}" type="presParOf" srcId="{AAFBD7C3-CA39-4054-A26D-4B474F925709}" destId="{2AFF0852-ECBE-4135-B89F-D613DFFFC284}" srcOrd="7" destOrd="0" presId="urn:microsoft.com/office/officeart/2005/8/layout/chevron1"/>
    <dgm:cxn modelId="{6D77D9B2-BD87-4AB5-97CB-0416204142D8}" type="presParOf" srcId="{AAFBD7C3-CA39-4054-A26D-4B474F925709}" destId="{F3FCFB10-20DE-4EF1-BBA9-D0146B93915F}"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A99BA8-A13B-4BFA-9492-39C614208B3A}">
      <dsp:nvSpPr>
        <dsp:cNvPr id="0" name=""/>
        <dsp:cNvSpPr/>
      </dsp:nvSpPr>
      <dsp:spPr>
        <a:xfrm>
          <a:off x="2596" y="1465123"/>
          <a:ext cx="2310509" cy="680232"/>
        </a:xfrm>
        <a:prstGeom prst="chevron">
          <a:avLst/>
        </a:prstGeom>
        <a:solidFill>
          <a:schemeClr val="accent1">
            <a:hueOff val="0"/>
            <a:satOff val="0"/>
            <a:lumOff val="0"/>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Exo" pitchFamily="2" charset="0"/>
            </a:rPr>
            <a:t>Analyze &amp; Design</a:t>
          </a:r>
        </a:p>
      </dsp:txBody>
      <dsp:txXfrm>
        <a:off x="342712" y="1465123"/>
        <a:ext cx="1630277" cy="680232"/>
      </dsp:txXfrm>
    </dsp:sp>
    <dsp:sp modelId="{80DDE11C-4469-44F0-8028-EEF971EC7F5B}">
      <dsp:nvSpPr>
        <dsp:cNvPr id="0" name=""/>
        <dsp:cNvSpPr/>
      </dsp:nvSpPr>
      <dsp:spPr>
        <a:xfrm>
          <a:off x="2082054" y="1465123"/>
          <a:ext cx="2310509" cy="680232"/>
        </a:xfrm>
        <a:prstGeom prst="chevron">
          <a:avLst/>
        </a:prstGeom>
        <a:solidFill>
          <a:schemeClr val="accent1">
            <a:hueOff val="0"/>
            <a:satOff val="0"/>
            <a:lumOff val="0"/>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Exo" pitchFamily="2" charset="0"/>
            </a:rPr>
            <a:t>Build</a:t>
          </a:r>
        </a:p>
      </dsp:txBody>
      <dsp:txXfrm>
        <a:off x="2422170" y="1465123"/>
        <a:ext cx="1630277" cy="680232"/>
      </dsp:txXfrm>
    </dsp:sp>
    <dsp:sp modelId="{ED8F0F0A-0E90-41E5-8904-C7D547118F20}">
      <dsp:nvSpPr>
        <dsp:cNvPr id="0" name=""/>
        <dsp:cNvSpPr/>
      </dsp:nvSpPr>
      <dsp:spPr>
        <a:xfrm>
          <a:off x="4161513" y="1465123"/>
          <a:ext cx="2310509" cy="680232"/>
        </a:xfrm>
        <a:prstGeom prst="chevron">
          <a:avLst/>
        </a:prstGeom>
        <a:solidFill>
          <a:schemeClr val="accent1">
            <a:hueOff val="0"/>
            <a:satOff val="0"/>
            <a:lumOff val="0"/>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Exo" pitchFamily="2" charset="0"/>
            </a:rPr>
            <a:t>Test</a:t>
          </a:r>
        </a:p>
      </dsp:txBody>
      <dsp:txXfrm>
        <a:off x="4501629" y="1465123"/>
        <a:ext cx="1630277" cy="680232"/>
      </dsp:txXfrm>
    </dsp:sp>
    <dsp:sp modelId="{3A7BD4C8-E1A6-4015-AD35-8A0883E75025}">
      <dsp:nvSpPr>
        <dsp:cNvPr id="0" name=""/>
        <dsp:cNvSpPr/>
      </dsp:nvSpPr>
      <dsp:spPr>
        <a:xfrm>
          <a:off x="6240971" y="1465123"/>
          <a:ext cx="2310509" cy="680232"/>
        </a:xfrm>
        <a:prstGeom prst="chevron">
          <a:avLst/>
        </a:prstGeom>
        <a:solidFill>
          <a:schemeClr val="accent1">
            <a:hueOff val="0"/>
            <a:satOff val="0"/>
            <a:lumOff val="0"/>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Exo" pitchFamily="2" charset="0"/>
            </a:rPr>
            <a:t>Deploy</a:t>
          </a:r>
        </a:p>
      </dsp:txBody>
      <dsp:txXfrm>
        <a:off x="6581087" y="1465123"/>
        <a:ext cx="1630277" cy="680232"/>
      </dsp:txXfrm>
    </dsp:sp>
    <dsp:sp modelId="{F3FCFB10-20DE-4EF1-BBA9-D0146B93915F}">
      <dsp:nvSpPr>
        <dsp:cNvPr id="0" name=""/>
        <dsp:cNvSpPr/>
      </dsp:nvSpPr>
      <dsp:spPr>
        <a:xfrm>
          <a:off x="8320430" y="1465123"/>
          <a:ext cx="2310509" cy="680232"/>
        </a:xfrm>
        <a:prstGeom prst="chevron">
          <a:avLst/>
        </a:prstGeom>
        <a:solidFill>
          <a:schemeClr val="accent1">
            <a:hueOff val="0"/>
            <a:satOff val="0"/>
            <a:lumOff val="0"/>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Exo" pitchFamily="2" charset="0"/>
            </a:rPr>
            <a:t>Operate &amp; Maintain</a:t>
          </a:r>
        </a:p>
      </dsp:txBody>
      <dsp:txXfrm>
        <a:off x="8660546" y="1465123"/>
        <a:ext cx="1630277" cy="68023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A99BA8-A13B-4BFA-9492-39C614208B3A}">
      <dsp:nvSpPr>
        <dsp:cNvPr id="0" name=""/>
        <dsp:cNvSpPr/>
      </dsp:nvSpPr>
      <dsp:spPr>
        <a:xfrm>
          <a:off x="2871" y="1492112"/>
          <a:ext cx="2555959" cy="752495"/>
        </a:xfrm>
        <a:prstGeom prst="chevron">
          <a:avLst/>
        </a:prstGeom>
        <a:solidFill>
          <a:schemeClr val="accent1">
            <a:hueOff val="0"/>
            <a:satOff val="0"/>
            <a:lumOff val="0"/>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Exo" pitchFamily="2" charset="0"/>
            </a:rPr>
            <a:t>Analyze and design</a:t>
          </a:r>
        </a:p>
      </dsp:txBody>
      <dsp:txXfrm>
        <a:off x="379119" y="1492112"/>
        <a:ext cx="1803464" cy="752495"/>
      </dsp:txXfrm>
    </dsp:sp>
    <dsp:sp modelId="{80DDE11C-4469-44F0-8028-EEF971EC7F5B}">
      <dsp:nvSpPr>
        <dsp:cNvPr id="0" name=""/>
        <dsp:cNvSpPr/>
      </dsp:nvSpPr>
      <dsp:spPr>
        <a:xfrm>
          <a:off x="2303235" y="1492112"/>
          <a:ext cx="2555959" cy="752495"/>
        </a:xfrm>
        <a:prstGeom prst="chevron">
          <a:avLst/>
        </a:prstGeom>
        <a:solidFill>
          <a:schemeClr val="accent1">
            <a:hueOff val="0"/>
            <a:satOff val="0"/>
            <a:lumOff val="0"/>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Exo" pitchFamily="2" charset="0"/>
            </a:rPr>
            <a:t>Build</a:t>
          </a:r>
        </a:p>
      </dsp:txBody>
      <dsp:txXfrm>
        <a:off x="2679483" y="1492112"/>
        <a:ext cx="1803464" cy="752495"/>
      </dsp:txXfrm>
    </dsp:sp>
    <dsp:sp modelId="{ED8F0F0A-0E90-41E5-8904-C7D547118F20}">
      <dsp:nvSpPr>
        <dsp:cNvPr id="0" name=""/>
        <dsp:cNvSpPr/>
      </dsp:nvSpPr>
      <dsp:spPr>
        <a:xfrm>
          <a:off x="4603599" y="1492112"/>
          <a:ext cx="2555959" cy="752495"/>
        </a:xfrm>
        <a:prstGeom prst="chevron">
          <a:avLst/>
        </a:prstGeom>
        <a:solidFill>
          <a:schemeClr val="accent1">
            <a:hueOff val="0"/>
            <a:satOff val="0"/>
            <a:lumOff val="0"/>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Exo" pitchFamily="2" charset="0"/>
            </a:rPr>
            <a:t>Test</a:t>
          </a:r>
        </a:p>
      </dsp:txBody>
      <dsp:txXfrm>
        <a:off x="4979847" y="1492112"/>
        <a:ext cx="1803464" cy="752495"/>
      </dsp:txXfrm>
    </dsp:sp>
    <dsp:sp modelId="{3A7BD4C8-E1A6-4015-AD35-8A0883E75025}">
      <dsp:nvSpPr>
        <dsp:cNvPr id="0" name=""/>
        <dsp:cNvSpPr/>
      </dsp:nvSpPr>
      <dsp:spPr>
        <a:xfrm>
          <a:off x="6903963" y="1492112"/>
          <a:ext cx="2555959" cy="752495"/>
        </a:xfrm>
        <a:prstGeom prst="chevron">
          <a:avLst/>
        </a:prstGeom>
        <a:solidFill>
          <a:schemeClr val="accent1">
            <a:hueOff val="0"/>
            <a:satOff val="0"/>
            <a:lumOff val="0"/>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Exo" pitchFamily="2" charset="0"/>
            </a:rPr>
            <a:t>Deploy</a:t>
          </a:r>
        </a:p>
      </dsp:txBody>
      <dsp:txXfrm>
        <a:off x="7280211" y="1492112"/>
        <a:ext cx="1803464" cy="752495"/>
      </dsp:txXfrm>
    </dsp:sp>
    <dsp:sp modelId="{F3FCFB10-20DE-4EF1-BBA9-D0146B93915F}">
      <dsp:nvSpPr>
        <dsp:cNvPr id="0" name=""/>
        <dsp:cNvSpPr/>
      </dsp:nvSpPr>
      <dsp:spPr>
        <a:xfrm>
          <a:off x="9204327" y="1492112"/>
          <a:ext cx="2555959" cy="752495"/>
        </a:xfrm>
        <a:prstGeom prst="chevron">
          <a:avLst/>
        </a:prstGeom>
        <a:solidFill>
          <a:schemeClr val="accent1">
            <a:hueOff val="0"/>
            <a:satOff val="0"/>
            <a:lumOff val="0"/>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Exo" pitchFamily="2" charset="0"/>
            </a:rPr>
            <a:t>Operate and maintain</a:t>
          </a:r>
        </a:p>
      </dsp:txBody>
      <dsp:txXfrm>
        <a:off x="9580575" y="1492112"/>
        <a:ext cx="1803464" cy="752495"/>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F4BFADC-759D-9A4E-9A09-AD89F1BCC0AE}"/>
              </a:ext>
            </a:extLst>
          </p:cNvPr>
          <p:cNvSpPr>
            <a:spLocks noGrp="1"/>
          </p:cNvSpPr>
          <p:nvPr>
            <p:ph type="hdr" sz="quarter"/>
          </p:nvPr>
        </p:nvSpPr>
        <p:spPr>
          <a:xfrm>
            <a:off x="0" y="0"/>
            <a:ext cx="4900956" cy="1007464"/>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D62EC22-1B51-694A-94D5-D4CB2538FD12}"/>
              </a:ext>
            </a:extLst>
          </p:cNvPr>
          <p:cNvSpPr>
            <a:spLocks noGrp="1"/>
          </p:cNvSpPr>
          <p:nvPr>
            <p:ph type="dt" sz="quarter" idx="1"/>
          </p:nvPr>
        </p:nvSpPr>
        <p:spPr>
          <a:xfrm>
            <a:off x="6405715" y="0"/>
            <a:ext cx="4900956" cy="1007464"/>
          </a:xfrm>
          <a:prstGeom prst="rect">
            <a:avLst/>
          </a:prstGeom>
        </p:spPr>
        <p:txBody>
          <a:bodyPr vert="horz" lIns="91440" tIns="45720" rIns="91440" bIns="45720" rtlCol="0"/>
          <a:lstStyle>
            <a:lvl1pPr algn="r">
              <a:defRPr sz="1200"/>
            </a:lvl1pPr>
          </a:lstStyle>
          <a:p>
            <a:fld id="{3421FBE2-D7AF-034E-A3E8-B3AFB8825F2F}" type="datetimeFigureOut">
              <a:rPr lang="en-US" smtClean="0"/>
              <a:t>12/8/2025</a:t>
            </a:fld>
            <a:endParaRPr lang="en-US" dirty="0"/>
          </a:p>
        </p:txBody>
      </p:sp>
      <p:sp>
        <p:nvSpPr>
          <p:cNvPr id="4" name="Footer Placeholder 3">
            <a:extLst>
              <a:ext uri="{FF2B5EF4-FFF2-40B4-BE49-F238E27FC236}">
                <a16:creationId xmlns:a16="http://schemas.microsoft.com/office/drawing/2014/main" id="{2202C9E9-64FF-014C-96CA-5B97C999C1FF}"/>
              </a:ext>
            </a:extLst>
          </p:cNvPr>
          <p:cNvSpPr>
            <a:spLocks noGrp="1"/>
          </p:cNvSpPr>
          <p:nvPr>
            <p:ph type="ftr" sz="quarter" idx="2"/>
          </p:nvPr>
        </p:nvSpPr>
        <p:spPr>
          <a:xfrm>
            <a:off x="0" y="19096639"/>
            <a:ext cx="4900956" cy="1007462"/>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5E38FAC2-6080-3440-A5EF-CDB292825895}"/>
              </a:ext>
            </a:extLst>
          </p:cNvPr>
          <p:cNvSpPr>
            <a:spLocks noGrp="1"/>
          </p:cNvSpPr>
          <p:nvPr>
            <p:ph type="sldNum" sz="quarter" idx="3"/>
          </p:nvPr>
        </p:nvSpPr>
        <p:spPr>
          <a:xfrm>
            <a:off x="6405715" y="19096639"/>
            <a:ext cx="4900956" cy="1007462"/>
          </a:xfrm>
          <a:prstGeom prst="rect">
            <a:avLst/>
          </a:prstGeom>
        </p:spPr>
        <p:txBody>
          <a:bodyPr vert="horz" lIns="91440" tIns="45720" rIns="91440" bIns="45720" rtlCol="0" anchor="b"/>
          <a:lstStyle>
            <a:lvl1pPr algn="r">
              <a:defRPr sz="1200"/>
            </a:lvl1pPr>
          </a:lstStyle>
          <a:p>
            <a:fld id="{A0D59A62-6DDC-664C-B490-E4412C3B9B65}" type="slidenum">
              <a:rPr lang="en-US" smtClean="0"/>
              <a:t>‹#›</a:t>
            </a:fld>
            <a:endParaRPr lang="en-US" dirty="0"/>
          </a:p>
        </p:txBody>
      </p:sp>
    </p:spTree>
    <p:extLst>
      <p:ext uri="{BB962C8B-B14F-4D97-AF65-F5344CB8AC3E}">
        <p14:creationId xmlns:p14="http://schemas.microsoft.com/office/powerpoint/2010/main" val="12334922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900956" cy="1007464"/>
          </a:xfrm>
          <a:prstGeom prst="rect">
            <a:avLst/>
          </a:prstGeom>
        </p:spPr>
        <p:txBody>
          <a:bodyPr vert="horz" lIns="91440" tIns="45720" rIns="91440" bIns="45720" rtlCol="0"/>
          <a:lstStyle>
            <a:lvl1pPr algn="l">
              <a:defRPr sz="1200" b="0" i="0">
                <a:latin typeface="Roboto Condensed Light" panose="02000000000000000000" pitchFamily="2" charset="0"/>
              </a:defRPr>
            </a:lvl1pPr>
          </a:lstStyle>
          <a:p>
            <a:endParaRPr lang="en-US" dirty="0"/>
          </a:p>
        </p:txBody>
      </p:sp>
      <p:sp>
        <p:nvSpPr>
          <p:cNvPr id="3" name="Date Placeholder 2"/>
          <p:cNvSpPr>
            <a:spLocks noGrp="1"/>
          </p:cNvSpPr>
          <p:nvPr>
            <p:ph type="dt" idx="1"/>
          </p:nvPr>
        </p:nvSpPr>
        <p:spPr>
          <a:xfrm>
            <a:off x="6405715" y="0"/>
            <a:ext cx="4900956" cy="1007464"/>
          </a:xfrm>
          <a:prstGeom prst="rect">
            <a:avLst/>
          </a:prstGeom>
        </p:spPr>
        <p:txBody>
          <a:bodyPr vert="horz" lIns="91440" tIns="45720" rIns="91440" bIns="45720" rtlCol="0"/>
          <a:lstStyle>
            <a:lvl1pPr algn="r">
              <a:defRPr sz="1200" b="0" i="0">
                <a:latin typeface="Roboto Condensed Light" panose="02000000000000000000" pitchFamily="2" charset="0"/>
              </a:defRPr>
            </a:lvl1pPr>
          </a:lstStyle>
          <a:p>
            <a:fld id="{F0A9609A-B772-C646-9832-EF91D164CC90}" type="datetimeFigureOut">
              <a:rPr lang="en-US" smtClean="0"/>
              <a:pPr/>
              <a:t>12/8/2025</a:t>
            </a:fld>
            <a:endParaRPr lang="en-US" dirty="0"/>
          </a:p>
        </p:txBody>
      </p:sp>
      <p:sp>
        <p:nvSpPr>
          <p:cNvPr id="4" name="Slide Image Placeholder 3"/>
          <p:cNvSpPr>
            <a:spLocks noGrp="1" noRot="1" noChangeAspect="1"/>
          </p:cNvSpPr>
          <p:nvPr>
            <p:ph type="sldImg" idx="2"/>
          </p:nvPr>
        </p:nvSpPr>
        <p:spPr>
          <a:xfrm>
            <a:off x="-374650" y="2514600"/>
            <a:ext cx="12058650" cy="6783388"/>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1130578" y="9673900"/>
            <a:ext cx="9048194" cy="7918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9096639"/>
            <a:ext cx="4900956" cy="1007462"/>
          </a:xfrm>
          <a:prstGeom prst="rect">
            <a:avLst/>
          </a:prstGeom>
        </p:spPr>
        <p:txBody>
          <a:bodyPr vert="horz" lIns="91440" tIns="45720" rIns="91440" bIns="45720" rtlCol="0" anchor="b"/>
          <a:lstStyle>
            <a:lvl1pPr algn="l">
              <a:defRPr sz="1200" b="0" i="0">
                <a:latin typeface="Roboto Condensed Light" panose="02000000000000000000" pitchFamily="2" charset="0"/>
              </a:defRPr>
            </a:lvl1pPr>
          </a:lstStyle>
          <a:p>
            <a:endParaRPr lang="en-US" dirty="0"/>
          </a:p>
        </p:txBody>
      </p:sp>
      <p:sp>
        <p:nvSpPr>
          <p:cNvPr id="7" name="Slide Number Placeholder 6"/>
          <p:cNvSpPr>
            <a:spLocks noGrp="1"/>
          </p:cNvSpPr>
          <p:nvPr>
            <p:ph type="sldNum" sz="quarter" idx="5"/>
          </p:nvPr>
        </p:nvSpPr>
        <p:spPr>
          <a:xfrm>
            <a:off x="6405715" y="19096639"/>
            <a:ext cx="4900956" cy="1007462"/>
          </a:xfrm>
          <a:prstGeom prst="rect">
            <a:avLst/>
          </a:prstGeom>
        </p:spPr>
        <p:txBody>
          <a:bodyPr vert="horz" lIns="91440" tIns="45720" rIns="91440" bIns="45720" rtlCol="0" anchor="b"/>
          <a:lstStyle>
            <a:lvl1pPr algn="r">
              <a:defRPr sz="1200" b="0" i="0">
                <a:latin typeface="Roboto Condensed Light" panose="02000000000000000000" pitchFamily="2" charset="0"/>
              </a:defRPr>
            </a:lvl1pPr>
          </a:lstStyle>
          <a:p>
            <a:fld id="{06B0FC7D-8687-9A40-9CA8-0B2F00AB98E3}" type="slidenum">
              <a:rPr lang="en-US" smtClean="0"/>
              <a:pPr/>
              <a:t>‹#›</a:t>
            </a:fld>
            <a:endParaRPr lang="en-US" dirty="0"/>
          </a:p>
        </p:txBody>
      </p:sp>
    </p:spTree>
    <p:extLst>
      <p:ext uri="{BB962C8B-B14F-4D97-AF65-F5344CB8AC3E}">
        <p14:creationId xmlns:p14="http://schemas.microsoft.com/office/powerpoint/2010/main" val="2316559654"/>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Roboto Condensed Light" panose="02000000000000000000" pitchFamily="2" charset="0"/>
        <a:ea typeface="+mn-ea"/>
        <a:cs typeface="+mn-cs"/>
      </a:defRPr>
    </a:lvl1pPr>
    <a:lvl2pPr marL="457200" algn="l" defTabSz="914400" rtl="0" eaLnBrk="1" latinLnBrk="0" hangingPunct="1">
      <a:defRPr sz="1200" b="0" i="0" kern="1200">
        <a:solidFill>
          <a:schemeClr val="tx1"/>
        </a:solidFill>
        <a:latin typeface="Roboto Condensed Light" panose="02000000000000000000" pitchFamily="2" charset="0"/>
        <a:ea typeface="+mn-ea"/>
        <a:cs typeface="+mn-cs"/>
      </a:defRPr>
    </a:lvl2pPr>
    <a:lvl3pPr marL="914400" algn="l" defTabSz="914400" rtl="0" eaLnBrk="1" latinLnBrk="0" hangingPunct="1">
      <a:defRPr sz="1200" b="0" i="0" kern="1200">
        <a:solidFill>
          <a:schemeClr val="tx1"/>
        </a:solidFill>
        <a:latin typeface="Roboto Condensed Light" panose="02000000000000000000" pitchFamily="2" charset="0"/>
        <a:ea typeface="+mn-ea"/>
        <a:cs typeface="+mn-cs"/>
      </a:defRPr>
    </a:lvl3pPr>
    <a:lvl4pPr marL="1371600" algn="l" defTabSz="914400" rtl="0" eaLnBrk="1" latinLnBrk="0" hangingPunct="1">
      <a:defRPr sz="1200" b="0" i="0" kern="1200">
        <a:solidFill>
          <a:schemeClr val="tx1"/>
        </a:solidFill>
        <a:latin typeface="Roboto Condensed Light" panose="02000000000000000000" pitchFamily="2" charset="0"/>
        <a:ea typeface="+mn-ea"/>
        <a:cs typeface="+mn-cs"/>
      </a:defRPr>
    </a:lvl4pPr>
    <a:lvl5pPr marL="1828800" algn="l" defTabSz="914400" rtl="0" eaLnBrk="1" latinLnBrk="0" hangingPunct="1">
      <a:defRPr sz="1200" b="0" i="0" kern="1200">
        <a:solidFill>
          <a:schemeClr val="tx1"/>
        </a:solidFill>
        <a:latin typeface="Roboto Condensed Light" panose="020000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B0FC7D-8687-9A40-9CA8-0B2F00AB98E3}" type="slidenum">
              <a:rPr lang="en-US" smtClean="0"/>
              <a:pPr/>
              <a:t>1</a:t>
            </a:fld>
            <a:endParaRPr lang="en-US" dirty="0"/>
          </a:p>
        </p:txBody>
      </p:sp>
    </p:spTree>
    <p:extLst>
      <p:ext uri="{BB962C8B-B14F-4D97-AF65-F5344CB8AC3E}">
        <p14:creationId xmlns:p14="http://schemas.microsoft.com/office/powerpoint/2010/main" val="24801164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B0FC7D-8687-9A40-9CA8-0B2F00AB98E3}" type="slidenum">
              <a:rPr lang="en-US" smtClean="0"/>
              <a:pPr/>
              <a:t>2</a:t>
            </a:fld>
            <a:endParaRPr lang="en-US" dirty="0"/>
          </a:p>
        </p:txBody>
      </p:sp>
    </p:spTree>
    <p:extLst>
      <p:ext uri="{BB962C8B-B14F-4D97-AF65-F5344CB8AC3E}">
        <p14:creationId xmlns:p14="http://schemas.microsoft.com/office/powerpoint/2010/main" val="1511331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B0FC7D-8687-9A40-9CA8-0B2F00AB98E3}" type="slidenum">
              <a:rPr lang="en-US" smtClean="0"/>
              <a:pPr/>
              <a:t>4</a:t>
            </a:fld>
            <a:endParaRPr lang="en-US" dirty="0"/>
          </a:p>
        </p:txBody>
      </p:sp>
    </p:spTree>
    <p:extLst>
      <p:ext uri="{BB962C8B-B14F-4D97-AF65-F5344CB8AC3E}">
        <p14:creationId xmlns:p14="http://schemas.microsoft.com/office/powerpoint/2010/main" val="28545941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E937F-EFFE-C7A8-69B4-25BD859F0D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7AE6D2-773A-FC07-046F-FCD46F88454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E0D3447-8649-0054-B655-96F4D3E2B1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106E36-272E-8846-B289-01960C62A3FA}"/>
              </a:ext>
            </a:extLst>
          </p:cNvPr>
          <p:cNvSpPr>
            <a:spLocks noGrp="1"/>
          </p:cNvSpPr>
          <p:nvPr>
            <p:ph type="sldNum" sz="quarter" idx="5"/>
          </p:nvPr>
        </p:nvSpPr>
        <p:spPr/>
        <p:txBody>
          <a:bodyPr/>
          <a:lstStyle/>
          <a:p>
            <a:fld id="{06B0FC7D-8687-9A40-9CA8-0B2F00AB98E3}" type="slidenum">
              <a:rPr lang="en-US" smtClean="0"/>
              <a:pPr/>
              <a:t>9</a:t>
            </a:fld>
            <a:endParaRPr lang="en-US" dirty="0"/>
          </a:p>
        </p:txBody>
      </p:sp>
    </p:spTree>
    <p:extLst>
      <p:ext uri="{BB962C8B-B14F-4D97-AF65-F5344CB8AC3E}">
        <p14:creationId xmlns:p14="http://schemas.microsoft.com/office/powerpoint/2010/main" val="27258328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B0FC7D-8687-9A40-9CA8-0B2F00AB98E3}" type="slidenum">
              <a:rPr lang="en-US" smtClean="0"/>
              <a:pPr/>
              <a:t>10</a:t>
            </a:fld>
            <a:endParaRPr lang="en-US" dirty="0"/>
          </a:p>
        </p:txBody>
      </p:sp>
    </p:spTree>
    <p:extLst>
      <p:ext uri="{BB962C8B-B14F-4D97-AF65-F5344CB8AC3E}">
        <p14:creationId xmlns:p14="http://schemas.microsoft.com/office/powerpoint/2010/main" val="12717063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B0FC7D-8687-9A40-9CA8-0B2F00AB98E3}" type="slidenum">
              <a:rPr lang="en-US" smtClean="0"/>
              <a:pPr/>
              <a:t>11</a:t>
            </a:fld>
            <a:endParaRPr lang="en-US" dirty="0"/>
          </a:p>
        </p:txBody>
      </p:sp>
    </p:spTree>
    <p:extLst>
      <p:ext uri="{BB962C8B-B14F-4D97-AF65-F5344CB8AC3E}">
        <p14:creationId xmlns:p14="http://schemas.microsoft.com/office/powerpoint/2010/main" val="5649689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B0FC7D-8687-9A40-9CA8-0B2F00AB98E3}" type="slidenum">
              <a:rPr lang="en-US" smtClean="0"/>
              <a:pPr/>
              <a:t>12</a:t>
            </a:fld>
            <a:endParaRPr lang="en-US" dirty="0"/>
          </a:p>
        </p:txBody>
      </p:sp>
    </p:spTree>
    <p:extLst>
      <p:ext uri="{BB962C8B-B14F-4D97-AF65-F5344CB8AC3E}">
        <p14:creationId xmlns:p14="http://schemas.microsoft.com/office/powerpoint/2010/main" val="35923309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B0FC7D-8687-9A40-9CA8-0B2F00AB98E3}" type="slidenum">
              <a:rPr lang="en-US" smtClean="0"/>
              <a:pPr/>
              <a:t>13</a:t>
            </a:fld>
            <a:endParaRPr lang="en-US" dirty="0"/>
          </a:p>
        </p:txBody>
      </p:sp>
    </p:spTree>
    <p:extLst>
      <p:ext uri="{BB962C8B-B14F-4D97-AF65-F5344CB8AC3E}">
        <p14:creationId xmlns:p14="http://schemas.microsoft.com/office/powerpoint/2010/main" val="24020622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B0FC7D-8687-9A40-9CA8-0B2F00AB98E3}" type="slidenum">
              <a:rPr lang="en-US" smtClean="0"/>
              <a:pPr/>
              <a:t>14</a:t>
            </a:fld>
            <a:endParaRPr lang="en-US" dirty="0"/>
          </a:p>
        </p:txBody>
      </p:sp>
    </p:spTree>
    <p:extLst>
      <p:ext uri="{BB962C8B-B14F-4D97-AF65-F5344CB8AC3E}">
        <p14:creationId xmlns:p14="http://schemas.microsoft.com/office/powerpoint/2010/main" val="34302580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B0FC7D-8687-9A40-9CA8-0B2F00AB98E3}" type="slidenum">
              <a:rPr lang="en-US" smtClean="0"/>
              <a:pPr/>
              <a:t>15</a:t>
            </a:fld>
            <a:endParaRPr lang="en-US" dirty="0"/>
          </a:p>
        </p:txBody>
      </p:sp>
    </p:spTree>
    <p:extLst>
      <p:ext uri="{BB962C8B-B14F-4D97-AF65-F5344CB8AC3E}">
        <p14:creationId xmlns:p14="http://schemas.microsoft.com/office/powerpoint/2010/main" val="30909824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744E3-B6CC-743D-F1EA-F8A760A926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DCD351-867E-F7E9-7813-ACC2EC2C0CF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DAE5B3B-F8FB-26DC-ABB9-42B3560134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4E138B-AFD2-13B6-3D89-B94F5BAF53DF}"/>
              </a:ext>
            </a:extLst>
          </p:cNvPr>
          <p:cNvSpPr>
            <a:spLocks noGrp="1"/>
          </p:cNvSpPr>
          <p:nvPr>
            <p:ph type="sldNum" sz="quarter" idx="5"/>
          </p:nvPr>
        </p:nvSpPr>
        <p:spPr/>
        <p:txBody>
          <a:bodyPr/>
          <a:lstStyle/>
          <a:p>
            <a:fld id="{06B0FC7D-8687-9A40-9CA8-0B2F00AB98E3}" type="slidenum">
              <a:rPr lang="en-US" smtClean="0"/>
              <a:pPr/>
              <a:t>17</a:t>
            </a:fld>
            <a:endParaRPr lang="en-US" dirty="0"/>
          </a:p>
        </p:txBody>
      </p:sp>
    </p:spTree>
    <p:extLst>
      <p:ext uri="{BB962C8B-B14F-4D97-AF65-F5344CB8AC3E}">
        <p14:creationId xmlns:p14="http://schemas.microsoft.com/office/powerpoint/2010/main" val="24767884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BFAEF-DD51-BB94-F5D5-1B977E8079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7AB6F0-E05B-3101-A6A1-D8CAAD614BDD}"/>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0FEFAC24-4C85-49AC-7272-3978426363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315FE3-E1DA-6377-142A-E308884E1165}"/>
              </a:ext>
            </a:extLst>
          </p:cNvPr>
          <p:cNvSpPr>
            <a:spLocks noGrp="1"/>
          </p:cNvSpPr>
          <p:nvPr>
            <p:ph type="sldNum" sz="quarter" idx="5"/>
          </p:nvPr>
        </p:nvSpPr>
        <p:spPr/>
        <p:txBody>
          <a:bodyPr/>
          <a:lstStyle/>
          <a:p>
            <a:fld id="{06B0FC7D-8687-9A40-9CA8-0B2F00AB98E3}" type="slidenum">
              <a:rPr lang="en-US" smtClean="0"/>
              <a:pPr/>
              <a:t>18</a:t>
            </a:fld>
            <a:endParaRPr lang="en-US" dirty="0"/>
          </a:p>
        </p:txBody>
      </p:sp>
    </p:spTree>
    <p:extLst>
      <p:ext uri="{BB962C8B-B14F-4D97-AF65-F5344CB8AC3E}">
        <p14:creationId xmlns:p14="http://schemas.microsoft.com/office/powerpoint/2010/main" val="22774330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7AC65-B933-3FC7-AB56-FDC6B82462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662FD2-5422-E05E-1611-6BF668E9C868}"/>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8425CD7-461A-3C21-75F2-912CF652F29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D3324E-7EAB-D5A4-59DA-473E58874463}"/>
              </a:ext>
            </a:extLst>
          </p:cNvPr>
          <p:cNvSpPr>
            <a:spLocks noGrp="1"/>
          </p:cNvSpPr>
          <p:nvPr>
            <p:ph type="sldNum" sz="quarter" idx="5"/>
          </p:nvPr>
        </p:nvSpPr>
        <p:spPr/>
        <p:txBody>
          <a:bodyPr/>
          <a:lstStyle/>
          <a:p>
            <a:fld id="{06B0FC7D-8687-9A40-9CA8-0B2F00AB98E3}" type="slidenum">
              <a:rPr lang="en-US" smtClean="0"/>
              <a:pPr/>
              <a:t>19</a:t>
            </a:fld>
            <a:endParaRPr lang="en-US" dirty="0"/>
          </a:p>
        </p:txBody>
      </p:sp>
    </p:spTree>
    <p:extLst>
      <p:ext uri="{BB962C8B-B14F-4D97-AF65-F5344CB8AC3E}">
        <p14:creationId xmlns:p14="http://schemas.microsoft.com/office/powerpoint/2010/main" val="13187861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04407-434E-C6BD-BE26-2A4AD142EC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27AC0D-EC88-2589-1DA3-D793BD5F238C}"/>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BDEBFC9-F7FF-3ADA-6F43-95D24E21A4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6468CE-3C72-8A48-C926-5BCB3D46B3CE}"/>
              </a:ext>
            </a:extLst>
          </p:cNvPr>
          <p:cNvSpPr>
            <a:spLocks noGrp="1"/>
          </p:cNvSpPr>
          <p:nvPr>
            <p:ph type="sldNum" sz="quarter" idx="5"/>
          </p:nvPr>
        </p:nvSpPr>
        <p:spPr/>
        <p:txBody>
          <a:bodyPr/>
          <a:lstStyle/>
          <a:p>
            <a:fld id="{06B0FC7D-8687-9A40-9CA8-0B2F00AB98E3}" type="slidenum">
              <a:rPr lang="en-US" smtClean="0"/>
              <a:pPr/>
              <a:t>20</a:t>
            </a:fld>
            <a:endParaRPr lang="en-US" dirty="0"/>
          </a:p>
        </p:txBody>
      </p:sp>
    </p:spTree>
    <p:extLst>
      <p:ext uri="{BB962C8B-B14F-4D97-AF65-F5344CB8AC3E}">
        <p14:creationId xmlns:p14="http://schemas.microsoft.com/office/powerpoint/2010/main" val="5112970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0AF07-6D06-989D-481B-3C221F3A5F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C14E69-E180-F623-42DE-73A84CD82443}"/>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CF70F935-C836-A94F-B610-E79F58F37F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38838E-A883-1E12-BF44-5CA0E13CBFC6}"/>
              </a:ext>
            </a:extLst>
          </p:cNvPr>
          <p:cNvSpPr>
            <a:spLocks noGrp="1"/>
          </p:cNvSpPr>
          <p:nvPr>
            <p:ph type="sldNum" sz="quarter" idx="5"/>
          </p:nvPr>
        </p:nvSpPr>
        <p:spPr/>
        <p:txBody>
          <a:bodyPr/>
          <a:lstStyle/>
          <a:p>
            <a:fld id="{06B0FC7D-8687-9A40-9CA8-0B2F00AB98E3}" type="slidenum">
              <a:rPr lang="en-US" smtClean="0"/>
              <a:pPr/>
              <a:t>21</a:t>
            </a:fld>
            <a:endParaRPr lang="en-US" dirty="0"/>
          </a:p>
        </p:txBody>
      </p:sp>
    </p:spTree>
    <p:extLst>
      <p:ext uri="{BB962C8B-B14F-4D97-AF65-F5344CB8AC3E}">
        <p14:creationId xmlns:p14="http://schemas.microsoft.com/office/powerpoint/2010/main" val="12443919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B0FC7D-8687-9A40-9CA8-0B2F00AB98E3}" type="slidenum">
              <a:rPr lang="en-US" smtClean="0"/>
              <a:pPr/>
              <a:t>22</a:t>
            </a:fld>
            <a:endParaRPr lang="en-US" dirty="0"/>
          </a:p>
        </p:txBody>
      </p:sp>
    </p:spTree>
    <p:extLst>
      <p:ext uri="{BB962C8B-B14F-4D97-AF65-F5344CB8AC3E}">
        <p14:creationId xmlns:p14="http://schemas.microsoft.com/office/powerpoint/2010/main" val="4558470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B0FC7D-8687-9A40-9CA8-0B2F00AB98E3}" type="slidenum">
              <a:rPr lang="en-US" smtClean="0"/>
              <a:pPr/>
              <a:t>23</a:t>
            </a:fld>
            <a:endParaRPr lang="en-US" dirty="0"/>
          </a:p>
        </p:txBody>
      </p:sp>
    </p:spTree>
    <p:extLst>
      <p:ext uri="{BB962C8B-B14F-4D97-AF65-F5344CB8AC3E}">
        <p14:creationId xmlns:p14="http://schemas.microsoft.com/office/powerpoint/2010/main" val="35629417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B0FC7D-8687-9A40-9CA8-0B2F00AB98E3}" type="slidenum">
              <a:rPr lang="en-US" smtClean="0"/>
              <a:pPr/>
              <a:t>24</a:t>
            </a:fld>
            <a:endParaRPr lang="en-US" dirty="0"/>
          </a:p>
        </p:txBody>
      </p:sp>
    </p:spTree>
    <p:extLst>
      <p:ext uri="{BB962C8B-B14F-4D97-AF65-F5344CB8AC3E}">
        <p14:creationId xmlns:p14="http://schemas.microsoft.com/office/powerpoint/2010/main" val="37626749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FA6FA-73AE-CD59-3F6E-BDB42FD997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0C525D-312D-D292-5161-5496D794263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2E79B7AE-001C-95EB-DBC8-30BC1ED00C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E5D027-B183-9A9D-81BD-1ACD4C34FDAC}"/>
              </a:ext>
            </a:extLst>
          </p:cNvPr>
          <p:cNvSpPr>
            <a:spLocks noGrp="1"/>
          </p:cNvSpPr>
          <p:nvPr>
            <p:ph type="sldNum" sz="quarter" idx="5"/>
          </p:nvPr>
        </p:nvSpPr>
        <p:spPr/>
        <p:txBody>
          <a:bodyPr/>
          <a:lstStyle/>
          <a:p>
            <a:fld id="{06B0FC7D-8687-9A40-9CA8-0B2F00AB98E3}" type="slidenum">
              <a:rPr lang="en-US" smtClean="0"/>
              <a:pPr/>
              <a:t>25</a:t>
            </a:fld>
            <a:endParaRPr lang="en-US" dirty="0"/>
          </a:p>
        </p:txBody>
      </p:sp>
    </p:spTree>
    <p:extLst>
      <p:ext uri="{BB962C8B-B14F-4D97-AF65-F5344CB8AC3E}">
        <p14:creationId xmlns:p14="http://schemas.microsoft.com/office/powerpoint/2010/main" val="16663449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B0FC7D-8687-9A40-9CA8-0B2F00AB98E3}" type="slidenum">
              <a:rPr lang="en-US" smtClean="0"/>
              <a:pPr/>
              <a:t>26</a:t>
            </a:fld>
            <a:endParaRPr lang="en-US" dirty="0"/>
          </a:p>
        </p:txBody>
      </p:sp>
    </p:spTree>
    <p:extLst>
      <p:ext uri="{BB962C8B-B14F-4D97-AF65-F5344CB8AC3E}">
        <p14:creationId xmlns:p14="http://schemas.microsoft.com/office/powerpoint/2010/main" val="5585846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595ED-F4AD-61C1-A06E-87998D13F5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DAFA73-CC9C-E6ED-BC41-BEB530997929}"/>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69EBCEA0-2FA8-70DD-94A3-49FB134288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93F0CC-850B-F337-569E-591B5A411008}"/>
              </a:ext>
            </a:extLst>
          </p:cNvPr>
          <p:cNvSpPr>
            <a:spLocks noGrp="1"/>
          </p:cNvSpPr>
          <p:nvPr>
            <p:ph type="sldNum" sz="quarter" idx="5"/>
          </p:nvPr>
        </p:nvSpPr>
        <p:spPr/>
        <p:txBody>
          <a:bodyPr/>
          <a:lstStyle/>
          <a:p>
            <a:fld id="{06B0FC7D-8687-9A40-9CA8-0B2F00AB98E3}" type="slidenum">
              <a:rPr lang="en-US" smtClean="0"/>
              <a:pPr/>
              <a:t>27</a:t>
            </a:fld>
            <a:endParaRPr lang="en-US" dirty="0"/>
          </a:p>
        </p:txBody>
      </p:sp>
    </p:spTree>
    <p:extLst>
      <p:ext uri="{BB962C8B-B14F-4D97-AF65-F5344CB8AC3E}">
        <p14:creationId xmlns:p14="http://schemas.microsoft.com/office/powerpoint/2010/main" val="19876377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19821-C301-B45F-A1CA-A616BDE671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569DAE-3680-5E15-3C20-0F1EC55CF535}"/>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4EB5B1A0-9CB8-3F85-A7F1-20E087F3E0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7AD94C-F16A-85C6-44CF-99E75E1DEA75}"/>
              </a:ext>
            </a:extLst>
          </p:cNvPr>
          <p:cNvSpPr>
            <a:spLocks noGrp="1"/>
          </p:cNvSpPr>
          <p:nvPr>
            <p:ph type="sldNum" sz="quarter" idx="5"/>
          </p:nvPr>
        </p:nvSpPr>
        <p:spPr/>
        <p:txBody>
          <a:bodyPr/>
          <a:lstStyle/>
          <a:p>
            <a:fld id="{06B0FC7D-8687-9A40-9CA8-0B2F00AB98E3}" type="slidenum">
              <a:rPr lang="en-US" smtClean="0"/>
              <a:pPr/>
              <a:t>29</a:t>
            </a:fld>
            <a:endParaRPr lang="en-US" dirty="0"/>
          </a:p>
        </p:txBody>
      </p:sp>
    </p:spTree>
    <p:extLst>
      <p:ext uri="{BB962C8B-B14F-4D97-AF65-F5344CB8AC3E}">
        <p14:creationId xmlns:p14="http://schemas.microsoft.com/office/powerpoint/2010/main" val="3522708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7AC65-B933-3FC7-AB56-FDC6B82462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662FD2-5422-E05E-1611-6BF668E9C868}"/>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8425CD7-461A-3C21-75F2-912CF652F29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D3324E-7EAB-D5A4-59DA-473E58874463}"/>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13187861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Dark-D">
    <p:bg>
      <p:bgPr>
        <a:blipFill dpi="0" rotWithShape="1">
          <a:blip r:embed="rId2" cstate="print">
            <a:lum/>
            <a:extLst>
              <a:ext uri="{28A0092B-C50C-407E-A947-70E740481C1C}">
                <a14:useLocalDpi xmlns:a14="http://schemas.microsoft.com/office/drawing/2010/main"/>
              </a:ext>
            </a:extLst>
          </a:blip>
          <a:srcRect/>
          <a:stretch>
            <a:fillRect b="-1000"/>
          </a:stretch>
        </a:blip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34B150E7-0967-3246-ABB2-972057E9D2B9}"/>
              </a:ext>
            </a:extLst>
          </p:cNvPr>
          <p:cNvSpPr>
            <a:spLocks noGrp="1"/>
          </p:cNvSpPr>
          <p:nvPr>
            <p:ph type="body" sz="quarter" idx="10" hasCustomPrompt="1"/>
          </p:nvPr>
        </p:nvSpPr>
        <p:spPr>
          <a:xfrm>
            <a:off x="650874" y="1079498"/>
            <a:ext cx="7385845" cy="1306512"/>
          </a:xfrm>
          <a:prstGeom prst="rect">
            <a:avLst/>
          </a:prstGeom>
        </p:spPr>
        <p:txBody>
          <a:bodyPr/>
          <a:lstStyle>
            <a:lvl1pPr>
              <a:lnSpc>
                <a:spcPct val="90000"/>
              </a:lnSpc>
              <a:defRPr sz="4400" b="1" i="0">
                <a:solidFill>
                  <a:schemeClr val="bg1"/>
                </a:solidFill>
                <a:latin typeface="Montserrat SemiBold" pitchFamily="2" charset="77"/>
              </a:defRPr>
            </a:lvl1pPr>
            <a:lvl2pPr>
              <a:defRPr sz="4400" b="1" i="0">
                <a:solidFill>
                  <a:schemeClr val="bg1"/>
                </a:solidFill>
                <a:latin typeface="Montserrat SemiBold" pitchFamily="2" charset="77"/>
              </a:defRPr>
            </a:lvl2pPr>
            <a:lvl3pPr>
              <a:defRPr sz="4400" b="1" i="0">
                <a:solidFill>
                  <a:schemeClr val="bg1"/>
                </a:solidFill>
                <a:latin typeface="Montserrat SemiBold" pitchFamily="2" charset="77"/>
              </a:defRPr>
            </a:lvl3pPr>
            <a:lvl4pPr>
              <a:defRPr sz="4400" b="1" i="0">
                <a:solidFill>
                  <a:schemeClr val="bg1"/>
                </a:solidFill>
                <a:latin typeface="Montserrat SemiBold" pitchFamily="2" charset="77"/>
              </a:defRPr>
            </a:lvl4pPr>
            <a:lvl5pPr>
              <a:defRPr sz="4400" b="1" i="0">
                <a:solidFill>
                  <a:schemeClr val="bg1"/>
                </a:solidFill>
                <a:latin typeface="Montserrat SemiBold" pitchFamily="2" charset="77"/>
              </a:defRPr>
            </a:lvl5pPr>
          </a:lstStyle>
          <a:p>
            <a:pPr lvl="0"/>
            <a:r>
              <a:rPr lang="en-US"/>
              <a:t>Observe the Evolution of Quantum Capacity</a:t>
            </a:r>
          </a:p>
        </p:txBody>
      </p:sp>
      <p:sp>
        <p:nvSpPr>
          <p:cNvPr id="4" name="Text Placeholder 12">
            <a:extLst>
              <a:ext uri="{FF2B5EF4-FFF2-40B4-BE49-F238E27FC236}">
                <a16:creationId xmlns:a16="http://schemas.microsoft.com/office/drawing/2014/main" id="{C2DC29F5-CD96-A64D-8BBD-E58C2AF28897}"/>
              </a:ext>
            </a:extLst>
          </p:cNvPr>
          <p:cNvSpPr>
            <a:spLocks noGrp="1"/>
          </p:cNvSpPr>
          <p:nvPr>
            <p:ph type="body" sz="quarter" idx="11" hasCustomPrompt="1"/>
          </p:nvPr>
        </p:nvSpPr>
        <p:spPr>
          <a:xfrm>
            <a:off x="650875" y="2482056"/>
            <a:ext cx="5703626" cy="1893887"/>
          </a:xfrm>
          <a:prstGeom prst="rect">
            <a:avLst/>
          </a:prstGeom>
        </p:spPr>
        <p:txBody>
          <a:bodyPr/>
          <a:lstStyle>
            <a:lvl1pPr>
              <a:lnSpc>
                <a:spcPct val="100000"/>
              </a:lnSpc>
              <a:defRPr sz="2400" b="0" i="0">
                <a:solidFill>
                  <a:schemeClr val="bg1"/>
                </a:solidFill>
                <a:latin typeface="Exo" panose="02000503000000000000" pitchFamily="2" charset="77"/>
              </a:defRPr>
            </a:lvl1pPr>
            <a:lvl2pPr>
              <a:defRPr sz="3000" b="0" i="0">
                <a:solidFill>
                  <a:schemeClr val="bg1"/>
                </a:solidFill>
                <a:latin typeface="Exo Light" pitchFamily="2" charset="77"/>
              </a:defRPr>
            </a:lvl2pPr>
            <a:lvl3pPr>
              <a:defRPr sz="3000" b="0" i="0">
                <a:solidFill>
                  <a:schemeClr val="bg1"/>
                </a:solidFill>
                <a:latin typeface="Exo Light" pitchFamily="2" charset="77"/>
              </a:defRPr>
            </a:lvl3pPr>
            <a:lvl4pPr>
              <a:defRPr sz="3000" b="0" i="0">
                <a:solidFill>
                  <a:schemeClr val="bg1"/>
                </a:solidFill>
                <a:latin typeface="Exo Light" pitchFamily="2" charset="77"/>
              </a:defRPr>
            </a:lvl4pPr>
            <a:lvl5pPr>
              <a:defRPr sz="3000" b="0" i="0">
                <a:solidFill>
                  <a:schemeClr val="bg1"/>
                </a:solidFill>
                <a:latin typeface="Exo Light" pitchFamily="2" charset="77"/>
              </a:defRPr>
            </a:lvl5pPr>
          </a:lstStyle>
          <a:p>
            <a:pPr lvl="0"/>
            <a:r>
              <a:rPr lang="en-US"/>
              <a:t>Keep track of a transformational technology as it evolves.</a:t>
            </a:r>
          </a:p>
        </p:txBody>
      </p:sp>
    </p:spTree>
    <p:extLst>
      <p:ext uri="{BB962C8B-B14F-4D97-AF65-F5344CB8AC3E}">
        <p14:creationId xmlns:p14="http://schemas.microsoft.com/office/powerpoint/2010/main" val="15580423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Cover-Dark-A">
    <p:bg>
      <p:bgPr>
        <a:blipFill dpi="0" rotWithShape="1">
          <a:blip r:embed="rId2" cstate="print">
            <a:lum/>
            <a:extLst>
              <a:ext uri="{BEBA8EAE-BF5A-486C-A8C5-ECC9F3942E4B}">
                <a14:imgProps xmlns:a14="http://schemas.microsoft.com/office/drawing/2010/main">
                  <a14:imgLayer r:embed="rId3">
                    <a14:imgEffect>
                      <a14:brightnessContrast bright="-10000" contrast="20000"/>
                    </a14:imgEffect>
                  </a14:imgLayer>
                </a14:imgProps>
              </a:ext>
              <a:ext uri="{28A0092B-C50C-407E-A947-70E740481C1C}">
                <a14:useLocalDpi xmlns:a14="http://schemas.microsoft.com/office/drawing/2010/main"/>
              </a:ext>
            </a:extLst>
          </a:blip>
          <a:srcRect/>
          <a:stretch>
            <a:fillRect b="-1000"/>
          </a:stretch>
        </a:blip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55D97B2C-35D2-554F-8B16-5AA9817BCA13}"/>
              </a:ext>
            </a:extLst>
          </p:cNvPr>
          <p:cNvSpPr>
            <a:spLocks noGrp="1"/>
          </p:cNvSpPr>
          <p:nvPr>
            <p:ph type="body" sz="quarter" idx="10" hasCustomPrompt="1"/>
          </p:nvPr>
        </p:nvSpPr>
        <p:spPr>
          <a:xfrm>
            <a:off x="650874" y="1079498"/>
            <a:ext cx="7385845" cy="1306512"/>
          </a:xfrm>
          <a:prstGeom prst="rect">
            <a:avLst/>
          </a:prstGeom>
        </p:spPr>
        <p:txBody>
          <a:bodyPr/>
          <a:lstStyle>
            <a:lvl1pPr>
              <a:lnSpc>
                <a:spcPct val="90000"/>
              </a:lnSpc>
              <a:defRPr sz="4400" b="1" i="0">
                <a:solidFill>
                  <a:schemeClr val="bg1"/>
                </a:solidFill>
                <a:latin typeface="Montserrat SemiBold" pitchFamily="2" charset="77"/>
              </a:defRPr>
            </a:lvl1pPr>
            <a:lvl2pPr>
              <a:defRPr sz="4400" b="1" i="0">
                <a:solidFill>
                  <a:schemeClr val="bg1"/>
                </a:solidFill>
                <a:latin typeface="Montserrat SemiBold" pitchFamily="2" charset="77"/>
              </a:defRPr>
            </a:lvl2pPr>
            <a:lvl3pPr>
              <a:defRPr sz="4400" b="1" i="0">
                <a:solidFill>
                  <a:schemeClr val="bg1"/>
                </a:solidFill>
                <a:latin typeface="Montserrat SemiBold" pitchFamily="2" charset="77"/>
              </a:defRPr>
            </a:lvl3pPr>
            <a:lvl4pPr>
              <a:defRPr sz="4400" b="1" i="0">
                <a:solidFill>
                  <a:schemeClr val="bg1"/>
                </a:solidFill>
                <a:latin typeface="Montserrat SemiBold" pitchFamily="2" charset="77"/>
              </a:defRPr>
            </a:lvl4pPr>
            <a:lvl5pPr>
              <a:defRPr sz="4400" b="1" i="0">
                <a:solidFill>
                  <a:schemeClr val="bg1"/>
                </a:solidFill>
                <a:latin typeface="Montserrat SemiBold" pitchFamily="2" charset="77"/>
              </a:defRPr>
            </a:lvl5pPr>
          </a:lstStyle>
          <a:p>
            <a:pPr lvl="0"/>
            <a:r>
              <a:rPr lang="en-US"/>
              <a:t>Observe the Evolution of Quantum Capacity</a:t>
            </a:r>
          </a:p>
        </p:txBody>
      </p:sp>
      <p:sp>
        <p:nvSpPr>
          <p:cNvPr id="5" name="Text Placeholder 12">
            <a:extLst>
              <a:ext uri="{FF2B5EF4-FFF2-40B4-BE49-F238E27FC236}">
                <a16:creationId xmlns:a16="http://schemas.microsoft.com/office/drawing/2014/main" id="{1967DA66-FEAB-CC46-A47A-9EFA52D8C34E}"/>
              </a:ext>
            </a:extLst>
          </p:cNvPr>
          <p:cNvSpPr>
            <a:spLocks noGrp="1"/>
          </p:cNvSpPr>
          <p:nvPr>
            <p:ph type="body" sz="quarter" idx="11" hasCustomPrompt="1"/>
          </p:nvPr>
        </p:nvSpPr>
        <p:spPr>
          <a:xfrm>
            <a:off x="650875" y="2482056"/>
            <a:ext cx="5703626" cy="1893887"/>
          </a:xfrm>
          <a:prstGeom prst="rect">
            <a:avLst/>
          </a:prstGeom>
        </p:spPr>
        <p:txBody>
          <a:bodyPr/>
          <a:lstStyle>
            <a:lvl1pPr>
              <a:lnSpc>
                <a:spcPct val="100000"/>
              </a:lnSpc>
              <a:defRPr sz="2400" b="0" i="0">
                <a:solidFill>
                  <a:schemeClr val="bg1"/>
                </a:solidFill>
                <a:latin typeface="Exo" panose="02000503000000000000" pitchFamily="2" charset="77"/>
              </a:defRPr>
            </a:lvl1pPr>
            <a:lvl2pPr>
              <a:defRPr sz="3000" b="0" i="0">
                <a:solidFill>
                  <a:schemeClr val="bg1"/>
                </a:solidFill>
                <a:latin typeface="Exo Light" pitchFamily="2" charset="77"/>
              </a:defRPr>
            </a:lvl2pPr>
            <a:lvl3pPr>
              <a:defRPr sz="3000" b="0" i="0">
                <a:solidFill>
                  <a:schemeClr val="bg1"/>
                </a:solidFill>
                <a:latin typeface="Exo Light" pitchFamily="2" charset="77"/>
              </a:defRPr>
            </a:lvl3pPr>
            <a:lvl4pPr>
              <a:defRPr sz="3000" b="0" i="0">
                <a:solidFill>
                  <a:schemeClr val="bg1"/>
                </a:solidFill>
                <a:latin typeface="Exo Light" pitchFamily="2" charset="77"/>
              </a:defRPr>
            </a:lvl4pPr>
            <a:lvl5pPr>
              <a:defRPr sz="3000" b="0" i="0">
                <a:solidFill>
                  <a:schemeClr val="bg1"/>
                </a:solidFill>
                <a:latin typeface="Exo Light" pitchFamily="2" charset="77"/>
              </a:defRPr>
            </a:lvl5pPr>
          </a:lstStyle>
          <a:p>
            <a:pPr lvl="0"/>
            <a:r>
              <a:rPr lang="en-US"/>
              <a:t>Keep track of a transformational technology as it evolves.</a:t>
            </a:r>
          </a:p>
        </p:txBody>
      </p:sp>
    </p:spTree>
    <p:extLst>
      <p:ext uri="{BB962C8B-B14F-4D97-AF65-F5344CB8AC3E}">
        <p14:creationId xmlns:p14="http://schemas.microsoft.com/office/powerpoint/2010/main" val="1670879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eneric-slide-1">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047F413-7CC3-9041-B985-1939336F2C65}"/>
              </a:ext>
            </a:extLst>
          </p:cNvPr>
          <p:cNvSpPr>
            <a:spLocks noGrp="1"/>
          </p:cNvSpPr>
          <p:nvPr>
            <p:ph type="title"/>
          </p:nvPr>
        </p:nvSpPr>
        <p:spPr>
          <a:xfrm>
            <a:off x="354106" y="544769"/>
            <a:ext cx="4967041" cy="1130188"/>
          </a:xfrm>
        </p:spPr>
        <p:txBody>
          <a:bodyPr>
            <a:noAutofit/>
          </a:bodyPr>
          <a:lstStyle>
            <a:lvl1pPr>
              <a:lnSpc>
                <a:spcPct val="90000"/>
              </a:lnSpc>
              <a:defRPr b="0" i="0"/>
            </a:lvl1pPr>
          </a:lstStyle>
          <a:p>
            <a:r>
              <a:rPr lang="en-US"/>
              <a:t>Click to edit Master title style</a:t>
            </a:r>
          </a:p>
        </p:txBody>
      </p:sp>
      <p:sp>
        <p:nvSpPr>
          <p:cNvPr id="4" name="Text Placeholder 11">
            <a:extLst>
              <a:ext uri="{FF2B5EF4-FFF2-40B4-BE49-F238E27FC236}">
                <a16:creationId xmlns:a16="http://schemas.microsoft.com/office/drawing/2014/main" id="{DDF1013D-24FA-B04E-AE09-DB6F11760046}"/>
              </a:ext>
            </a:extLst>
          </p:cNvPr>
          <p:cNvSpPr>
            <a:spLocks noGrp="1"/>
          </p:cNvSpPr>
          <p:nvPr>
            <p:ph type="body" sz="quarter" idx="11"/>
          </p:nvPr>
        </p:nvSpPr>
        <p:spPr>
          <a:xfrm>
            <a:off x="367658" y="1643564"/>
            <a:ext cx="4116208" cy="669978"/>
          </a:xfrm>
          <a:prstGeom prst="rect">
            <a:avLst/>
          </a:prstGeom>
        </p:spPr>
        <p:txBody>
          <a:bodyPr lIns="0" tIns="0" rIns="0" bIns="0">
            <a:noAutofit/>
          </a:bodyPr>
          <a:lstStyle>
            <a:lvl1pPr marL="0" indent="0">
              <a:lnSpc>
                <a:spcPct val="110000"/>
              </a:lnSpc>
              <a:buNone/>
              <a:defRPr sz="2000" b="0" i="0" spc="0">
                <a:solidFill>
                  <a:srgbClr val="2576B7"/>
                </a:solidFill>
                <a:latin typeface="Montserrat Medium" pitchFamily="2" charset="77"/>
                <a:cs typeface="Arial" panose="020B0604020202020204" pitchFamily="34" charset="0"/>
              </a:defRPr>
            </a:lvl1pPr>
            <a:lvl2pPr marL="457200" indent="0">
              <a:lnSpc>
                <a:spcPts val="2400"/>
              </a:lnSpc>
              <a:buNone/>
              <a:defRPr sz="2000">
                <a:solidFill>
                  <a:srgbClr val="848585"/>
                </a:solidFill>
                <a:latin typeface="Arial" panose="020B0604020202020204" pitchFamily="34" charset="0"/>
                <a:cs typeface="Arial" panose="020B0604020202020204" pitchFamily="34" charset="0"/>
              </a:defRPr>
            </a:lvl2pPr>
            <a:lvl3pPr marL="914400" indent="0">
              <a:lnSpc>
                <a:spcPts val="2400"/>
              </a:lnSpc>
              <a:buNone/>
              <a:defRPr sz="2000">
                <a:solidFill>
                  <a:srgbClr val="848585"/>
                </a:solidFill>
                <a:latin typeface="Arial" panose="020B0604020202020204" pitchFamily="34" charset="0"/>
                <a:cs typeface="Arial" panose="020B0604020202020204" pitchFamily="34" charset="0"/>
              </a:defRPr>
            </a:lvl3pPr>
            <a:lvl4pPr marL="1371600" indent="0">
              <a:lnSpc>
                <a:spcPts val="2400"/>
              </a:lnSpc>
              <a:buNone/>
              <a:defRPr sz="2000">
                <a:solidFill>
                  <a:srgbClr val="848585"/>
                </a:solidFill>
                <a:latin typeface="Arial" panose="020B0604020202020204" pitchFamily="34" charset="0"/>
                <a:cs typeface="Arial" panose="020B0604020202020204" pitchFamily="34" charset="0"/>
              </a:defRPr>
            </a:lvl4pPr>
            <a:lvl5pPr marL="1828800" indent="0">
              <a:lnSpc>
                <a:spcPts val="2400"/>
              </a:lnSpc>
              <a:buNone/>
              <a:defRPr sz="2000">
                <a:solidFill>
                  <a:srgbClr val="848585"/>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5" name="Text Placeholder 4">
            <a:extLst>
              <a:ext uri="{FF2B5EF4-FFF2-40B4-BE49-F238E27FC236}">
                <a16:creationId xmlns:a16="http://schemas.microsoft.com/office/drawing/2014/main" id="{9881DA12-3A02-104C-8DA9-67C6D34506B4}"/>
              </a:ext>
            </a:extLst>
          </p:cNvPr>
          <p:cNvSpPr>
            <a:spLocks noGrp="1"/>
          </p:cNvSpPr>
          <p:nvPr>
            <p:ph type="body" sz="quarter" idx="33"/>
          </p:nvPr>
        </p:nvSpPr>
        <p:spPr>
          <a:xfrm>
            <a:off x="371476" y="2710334"/>
            <a:ext cx="5689599" cy="2999350"/>
          </a:xfrm>
          <a:prstGeom prst="rect">
            <a:avLst/>
          </a:prstGeom>
        </p:spPr>
        <p:txBody>
          <a:bodyPr lIns="0" tIns="0" rIns="0" bIns="0" numCol="1" spcCol="292608"/>
          <a:lstStyle>
            <a:lvl1pPr marL="179388" indent="-179388">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1pPr>
            <a:lvl2pPr marL="628650" indent="-17145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2pPr>
            <a:lvl3pPr marL="1089025" indent="-174625">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3pPr>
            <a:lvl4pPr marL="1549400" indent="-17780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4pPr>
            <a:lvl5pPr marL="2000250" indent="-17145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684806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graySidebar">
    <p:spTree>
      <p:nvGrpSpPr>
        <p:cNvPr id="1" name=""/>
        <p:cNvGrpSpPr/>
        <p:nvPr/>
      </p:nvGrpSpPr>
      <p:grpSpPr>
        <a:xfrm>
          <a:off x="0" y="0"/>
          <a:ext cx="0" cy="0"/>
          <a:chOff x="0" y="0"/>
          <a:chExt cx="0" cy="0"/>
        </a:xfrm>
      </p:grpSpPr>
      <p:sp>
        <p:nvSpPr>
          <p:cNvPr id="6" name="Text Placeholder 11">
            <a:extLst>
              <a:ext uri="{FF2B5EF4-FFF2-40B4-BE49-F238E27FC236}">
                <a16:creationId xmlns:a16="http://schemas.microsoft.com/office/drawing/2014/main" id="{D426E116-0FE3-D446-B568-6373B436AD1A}"/>
              </a:ext>
            </a:extLst>
          </p:cNvPr>
          <p:cNvSpPr>
            <a:spLocks noGrp="1"/>
          </p:cNvSpPr>
          <p:nvPr>
            <p:ph type="body" sz="quarter" idx="11"/>
          </p:nvPr>
        </p:nvSpPr>
        <p:spPr>
          <a:xfrm>
            <a:off x="374088" y="1648758"/>
            <a:ext cx="5686987" cy="456696"/>
          </a:xfrm>
          <a:prstGeom prst="rect">
            <a:avLst/>
          </a:prstGeom>
        </p:spPr>
        <p:txBody>
          <a:bodyPr lIns="0" tIns="0" rIns="0" bIns="0">
            <a:noAutofit/>
          </a:bodyPr>
          <a:lstStyle>
            <a:lvl1pPr marL="0" indent="0">
              <a:lnSpc>
                <a:spcPct val="110000"/>
              </a:lnSpc>
              <a:buNone/>
              <a:defRPr sz="2000" b="0" i="0">
                <a:solidFill>
                  <a:srgbClr val="4A4A4A"/>
                </a:solidFill>
                <a:latin typeface="Montserrat SemiBold" pitchFamily="2" charset="77"/>
                <a:cs typeface="Arial" panose="020B0604020202020204" pitchFamily="34" charset="0"/>
              </a:defRPr>
            </a:lvl1pPr>
            <a:lvl2pPr marL="457200" indent="0">
              <a:lnSpc>
                <a:spcPts val="2400"/>
              </a:lnSpc>
              <a:buNone/>
              <a:defRPr sz="2000">
                <a:solidFill>
                  <a:srgbClr val="848585"/>
                </a:solidFill>
                <a:latin typeface="Arial" panose="020B0604020202020204" pitchFamily="34" charset="0"/>
                <a:cs typeface="Arial" panose="020B0604020202020204" pitchFamily="34" charset="0"/>
              </a:defRPr>
            </a:lvl2pPr>
            <a:lvl3pPr marL="914400" indent="0">
              <a:lnSpc>
                <a:spcPts val="2400"/>
              </a:lnSpc>
              <a:buNone/>
              <a:defRPr sz="2000">
                <a:solidFill>
                  <a:srgbClr val="848585"/>
                </a:solidFill>
                <a:latin typeface="Arial" panose="020B0604020202020204" pitchFamily="34" charset="0"/>
                <a:cs typeface="Arial" panose="020B0604020202020204" pitchFamily="34" charset="0"/>
              </a:defRPr>
            </a:lvl3pPr>
            <a:lvl4pPr marL="1371600" indent="0">
              <a:lnSpc>
                <a:spcPts val="2400"/>
              </a:lnSpc>
              <a:buNone/>
              <a:defRPr sz="2000">
                <a:solidFill>
                  <a:srgbClr val="848585"/>
                </a:solidFill>
                <a:latin typeface="Arial" panose="020B0604020202020204" pitchFamily="34" charset="0"/>
                <a:cs typeface="Arial" panose="020B0604020202020204" pitchFamily="34" charset="0"/>
              </a:defRPr>
            </a:lvl4pPr>
            <a:lvl5pPr marL="1828800" indent="0">
              <a:lnSpc>
                <a:spcPts val="2400"/>
              </a:lnSpc>
              <a:buNone/>
              <a:defRPr sz="2000">
                <a:solidFill>
                  <a:srgbClr val="848585"/>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7" name="Text Placeholder 17">
            <a:extLst>
              <a:ext uri="{FF2B5EF4-FFF2-40B4-BE49-F238E27FC236}">
                <a16:creationId xmlns:a16="http://schemas.microsoft.com/office/drawing/2014/main" id="{BC346A8C-5C1D-114F-94D6-BBB1ED290669}"/>
              </a:ext>
            </a:extLst>
          </p:cNvPr>
          <p:cNvSpPr>
            <a:spLocks noGrp="1"/>
          </p:cNvSpPr>
          <p:nvPr>
            <p:ph type="body" sz="quarter" idx="13"/>
          </p:nvPr>
        </p:nvSpPr>
        <p:spPr>
          <a:xfrm>
            <a:off x="383858" y="2035250"/>
            <a:ext cx="5677217" cy="473616"/>
          </a:xfrm>
          <a:prstGeom prst="rect">
            <a:avLst/>
          </a:prstGeom>
        </p:spPr>
        <p:txBody>
          <a:bodyPr lIns="0" tIns="0" rIns="0" bIns="0">
            <a:noAutofit/>
          </a:bodyPr>
          <a:lstStyle>
            <a:lvl1pPr marL="0" indent="0">
              <a:lnSpc>
                <a:spcPct val="110000"/>
              </a:lnSpc>
              <a:buNone/>
              <a:defRPr sz="1600" b="0" i="0">
                <a:solidFill>
                  <a:srgbClr val="2576B7"/>
                </a:solidFill>
                <a:latin typeface="Exo" panose="02000503000000000000" pitchFamily="2" charset="77"/>
                <a:cs typeface="Arial" panose="020B0604020202020204" pitchFamily="34" charset="0"/>
              </a:defRPr>
            </a:lvl1pPr>
            <a:lvl2pPr marL="457200" indent="0">
              <a:lnSpc>
                <a:spcPts val="1400"/>
              </a:lnSpc>
              <a:buNone/>
              <a:defRPr sz="1400">
                <a:solidFill>
                  <a:srgbClr val="2576B7"/>
                </a:solidFill>
                <a:latin typeface="Arial" panose="020B0604020202020204" pitchFamily="34" charset="0"/>
                <a:cs typeface="Arial" panose="020B0604020202020204" pitchFamily="34" charset="0"/>
              </a:defRPr>
            </a:lvl2pPr>
            <a:lvl3pPr marL="914400" indent="0">
              <a:lnSpc>
                <a:spcPts val="1400"/>
              </a:lnSpc>
              <a:buNone/>
              <a:defRPr sz="1400">
                <a:solidFill>
                  <a:srgbClr val="2576B7"/>
                </a:solidFill>
                <a:latin typeface="Arial" panose="020B0604020202020204" pitchFamily="34" charset="0"/>
                <a:cs typeface="Arial" panose="020B0604020202020204" pitchFamily="34" charset="0"/>
              </a:defRPr>
            </a:lvl3pPr>
            <a:lvl4pPr marL="1371600" indent="0">
              <a:lnSpc>
                <a:spcPts val="1400"/>
              </a:lnSpc>
              <a:buNone/>
              <a:defRPr sz="1400">
                <a:solidFill>
                  <a:srgbClr val="2576B7"/>
                </a:solidFill>
                <a:latin typeface="Arial" panose="020B0604020202020204" pitchFamily="34" charset="0"/>
                <a:cs typeface="Arial" panose="020B0604020202020204" pitchFamily="34" charset="0"/>
              </a:defRPr>
            </a:lvl4pPr>
            <a:lvl5pPr marL="1828800" indent="0">
              <a:lnSpc>
                <a:spcPts val="1400"/>
              </a:lnSpc>
              <a:buNone/>
              <a:defRPr sz="1400">
                <a:solidFill>
                  <a:srgbClr val="2576B7"/>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12" name="Title 9">
            <a:extLst>
              <a:ext uri="{FF2B5EF4-FFF2-40B4-BE49-F238E27FC236}">
                <a16:creationId xmlns:a16="http://schemas.microsoft.com/office/drawing/2014/main" id="{488EE5B4-C583-A04D-B5FC-EA23A0B46B36}"/>
              </a:ext>
            </a:extLst>
          </p:cNvPr>
          <p:cNvSpPr>
            <a:spLocks noGrp="1"/>
          </p:cNvSpPr>
          <p:nvPr>
            <p:ph type="title"/>
          </p:nvPr>
        </p:nvSpPr>
        <p:spPr>
          <a:xfrm>
            <a:off x="354106" y="530021"/>
            <a:ext cx="4967041" cy="1130188"/>
          </a:xfrm>
        </p:spPr>
        <p:txBody>
          <a:bodyPr>
            <a:noAutofit/>
          </a:bodyPr>
          <a:lstStyle>
            <a:lvl1pPr>
              <a:lnSpc>
                <a:spcPct val="90000"/>
              </a:lnSpc>
              <a:defRPr b="0" i="0"/>
            </a:lvl1pPr>
          </a:lstStyle>
          <a:p>
            <a:r>
              <a:rPr lang="en-US"/>
              <a:t>Click to edit Master title style</a:t>
            </a:r>
          </a:p>
        </p:txBody>
      </p:sp>
      <p:sp>
        <p:nvSpPr>
          <p:cNvPr id="8" name="Text Placeholder 4">
            <a:extLst>
              <a:ext uri="{FF2B5EF4-FFF2-40B4-BE49-F238E27FC236}">
                <a16:creationId xmlns:a16="http://schemas.microsoft.com/office/drawing/2014/main" id="{2721BB38-35D8-6041-AE06-91C7C44D942C}"/>
              </a:ext>
            </a:extLst>
          </p:cNvPr>
          <p:cNvSpPr>
            <a:spLocks noGrp="1"/>
          </p:cNvSpPr>
          <p:nvPr>
            <p:ph type="body" sz="quarter" idx="33"/>
          </p:nvPr>
        </p:nvSpPr>
        <p:spPr>
          <a:xfrm>
            <a:off x="371475" y="3125003"/>
            <a:ext cx="6678613" cy="2637843"/>
          </a:xfrm>
          <a:prstGeom prst="rect">
            <a:avLst/>
          </a:prstGeom>
        </p:spPr>
        <p:txBody>
          <a:bodyPr lIns="0" tIns="0" rIns="0" bIns="0" numCol="1" spcCol="292608"/>
          <a:lstStyle>
            <a:lvl1pPr marL="179388" indent="-179388">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1pPr>
            <a:lvl2pPr marL="628650" indent="-17145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2pPr>
            <a:lvl3pPr marL="1089025" indent="-174625">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3pPr>
            <a:lvl4pPr marL="1549400" indent="-17780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4pPr>
            <a:lvl5pPr marL="2000250" indent="-17145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id="{F39C547E-7388-DC4A-B7BE-F29EBC5287ED}"/>
              </a:ext>
            </a:extLst>
          </p:cNvPr>
          <p:cNvSpPr txBox="1"/>
          <p:nvPr userDrawn="1"/>
        </p:nvSpPr>
        <p:spPr>
          <a:xfrm>
            <a:off x="11409680" y="6471920"/>
            <a:ext cx="0" cy="0"/>
          </a:xfrm>
          <a:prstGeom prst="rect">
            <a:avLst/>
          </a:prstGeom>
        </p:spPr>
        <p:txBody>
          <a:bodyPr wrap="none" lIns="0" tIns="0" rIns="0" bIns="0" numCol="1" spcCol="360000" rtlCol="0">
            <a:noAutofit/>
          </a:bodyPr>
          <a:lstStyle/>
          <a:p>
            <a:pPr marL="179388" indent="-179388" algn="l">
              <a:lnSpc>
                <a:spcPct val="110000"/>
              </a:lnSpc>
              <a:buFont typeface="Arial" panose="020B0604020202020204" pitchFamily="34" charset="0"/>
              <a:buChar char="•"/>
              <a:tabLst/>
            </a:pPr>
            <a:endParaRPr lang="en-US" sz="1400" err="1">
              <a:solidFill>
                <a:schemeClr val="tx1">
                  <a:lumMod val="5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1324673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Content Slide-gray-sidebar">
    <p:spTree>
      <p:nvGrpSpPr>
        <p:cNvPr id="1" name=""/>
        <p:cNvGrpSpPr/>
        <p:nvPr/>
      </p:nvGrpSpPr>
      <p:grpSpPr>
        <a:xfrm>
          <a:off x="0" y="0"/>
          <a:ext cx="0" cy="0"/>
          <a:chOff x="0" y="0"/>
          <a:chExt cx="0" cy="0"/>
        </a:xfrm>
      </p:grpSpPr>
      <p:sp>
        <p:nvSpPr>
          <p:cNvPr id="6" name="Text Placeholder 11">
            <a:extLst>
              <a:ext uri="{FF2B5EF4-FFF2-40B4-BE49-F238E27FC236}">
                <a16:creationId xmlns:a16="http://schemas.microsoft.com/office/drawing/2014/main" id="{D426E116-0FE3-D446-B568-6373B436AD1A}"/>
              </a:ext>
            </a:extLst>
          </p:cNvPr>
          <p:cNvSpPr>
            <a:spLocks noGrp="1"/>
          </p:cNvSpPr>
          <p:nvPr>
            <p:ph type="body" sz="quarter" idx="11"/>
          </p:nvPr>
        </p:nvSpPr>
        <p:spPr>
          <a:xfrm>
            <a:off x="374088" y="1648758"/>
            <a:ext cx="5686987" cy="456696"/>
          </a:xfrm>
          <a:prstGeom prst="rect">
            <a:avLst/>
          </a:prstGeom>
        </p:spPr>
        <p:txBody>
          <a:bodyPr lIns="0" tIns="0" rIns="0" bIns="0">
            <a:noAutofit/>
          </a:bodyPr>
          <a:lstStyle>
            <a:lvl1pPr marL="0" indent="0">
              <a:lnSpc>
                <a:spcPct val="90000"/>
              </a:lnSpc>
              <a:buNone/>
              <a:defRPr sz="2000" b="0" i="0">
                <a:solidFill>
                  <a:srgbClr val="4A4A4A"/>
                </a:solidFill>
                <a:latin typeface="Montserrat SemiBold" pitchFamily="2" charset="77"/>
                <a:cs typeface="Arial" panose="020B0604020202020204" pitchFamily="34" charset="0"/>
              </a:defRPr>
            </a:lvl1pPr>
            <a:lvl2pPr marL="457200" indent="0">
              <a:lnSpc>
                <a:spcPts val="2400"/>
              </a:lnSpc>
              <a:buNone/>
              <a:defRPr sz="2000">
                <a:solidFill>
                  <a:srgbClr val="848585"/>
                </a:solidFill>
                <a:latin typeface="Arial" panose="020B0604020202020204" pitchFamily="34" charset="0"/>
                <a:cs typeface="Arial" panose="020B0604020202020204" pitchFamily="34" charset="0"/>
              </a:defRPr>
            </a:lvl2pPr>
            <a:lvl3pPr marL="914400" indent="0">
              <a:lnSpc>
                <a:spcPts val="2400"/>
              </a:lnSpc>
              <a:buNone/>
              <a:defRPr sz="2000">
                <a:solidFill>
                  <a:srgbClr val="848585"/>
                </a:solidFill>
                <a:latin typeface="Arial" panose="020B0604020202020204" pitchFamily="34" charset="0"/>
                <a:cs typeface="Arial" panose="020B0604020202020204" pitchFamily="34" charset="0"/>
              </a:defRPr>
            </a:lvl3pPr>
            <a:lvl4pPr marL="1371600" indent="0">
              <a:lnSpc>
                <a:spcPts val="2400"/>
              </a:lnSpc>
              <a:buNone/>
              <a:defRPr sz="2000">
                <a:solidFill>
                  <a:srgbClr val="848585"/>
                </a:solidFill>
                <a:latin typeface="Arial" panose="020B0604020202020204" pitchFamily="34" charset="0"/>
                <a:cs typeface="Arial" panose="020B0604020202020204" pitchFamily="34" charset="0"/>
              </a:defRPr>
            </a:lvl4pPr>
            <a:lvl5pPr marL="1828800" indent="0">
              <a:lnSpc>
                <a:spcPts val="2400"/>
              </a:lnSpc>
              <a:buNone/>
              <a:defRPr sz="2000">
                <a:solidFill>
                  <a:srgbClr val="848585"/>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7" name="Text Placeholder 17">
            <a:extLst>
              <a:ext uri="{FF2B5EF4-FFF2-40B4-BE49-F238E27FC236}">
                <a16:creationId xmlns:a16="http://schemas.microsoft.com/office/drawing/2014/main" id="{BC346A8C-5C1D-114F-94D6-BBB1ED290669}"/>
              </a:ext>
            </a:extLst>
          </p:cNvPr>
          <p:cNvSpPr>
            <a:spLocks noGrp="1"/>
          </p:cNvSpPr>
          <p:nvPr>
            <p:ph type="body" sz="quarter" idx="13"/>
          </p:nvPr>
        </p:nvSpPr>
        <p:spPr>
          <a:xfrm>
            <a:off x="383858" y="2035250"/>
            <a:ext cx="5677217" cy="473616"/>
          </a:xfrm>
          <a:prstGeom prst="rect">
            <a:avLst/>
          </a:prstGeom>
        </p:spPr>
        <p:txBody>
          <a:bodyPr lIns="0" tIns="0" rIns="0" bIns="0">
            <a:noAutofit/>
          </a:bodyPr>
          <a:lstStyle>
            <a:lvl1pPr marL="0" indent="0">
              <a:lnSpc>
                <a:spcPct val="90000"/>
              </a:lnSpc>
              <a:buNone/>
              <a:defRPr sz="1600" b="0" i="0">
                <a:solidFill>
                  <a:srgbClr val="2576B7"/>
                </a:solidFill>
                <a:latin typeface="Exo" panose="02000503000000000000" pitchFamily="2" charset="77"/>
                <a:cs typeface="Arial" panose="020B0604020202020204" pitchFamily="34" charset="0"/>
              </a:defRPr>
            </a:lvl1pPr>
            <a:lvl2pPr marL="457200" indent="0">
              <a:lnSpc>
                <a:spcPts val="1400"/>
              </a:lnSpc>
              <a:buNone/>
              <a:defRPr sz="1400">
                <a:solidFill>
                  <a:srgbClr val="2576B7"/>
                </a:solidFill>
                <a:latin typeface="Arial" panose="020B0604020202020204" pitchFamily="34" charset="0"/>
                <a:cs typeface="Arial" panose="020B0604020202020204" pitchFamily="34" charset="0"/>
              </a:defRPr>
            </a:lvl2pPr>
            <a:lvl3pPr marL="914400" indent="0">
              <a:lnSpc>
                <a:spcPts val="1400"/>
              </a:lnSpc>
              <a:buNone/>
              <a:defRPr sz="1400">
                <a:solidFill>
                  <a:srgbClr val="2576B7"/>
                </a:solidFill>
                <a:latin typeface="Arial" panose="020B0604020202020204" pitchFamily="34" charset="0"/>
                <a:cs typeface="Arial" panose="020B0604020202020204" pitchFamily="34" charset="0"/>
              </a:defRPr>
            </a:lvl3pPr>
            <a:lvl4pPr marL="1371600" indent="0">
              <a:lnSpc>
                <a:spcPts val="1400"/>
              </a:lnSpc>
              <a:buNone/>
              <a:defRPr sz="1400">
                <a:solidFill>
                  <a:srgbClr val="2576B7"/>
                </a:solidFill>
                <a:latin typeface="Arial" panose="020B0604020202020204" pitchFamily="34" charset="0"/>
                <a:cs typeface="Arial" panose="020B0604020202020204" pitchFamily="34" charset="0"/>
              </a:defRPr>
            </a:lvl4pPr>
            <a:lvl5pPr marL="1828800" indent="0">
              <a:lnSpc>
                <a:spcPts val="1400"/>
              </a:lnSpc>
              <a:buNone/>
              <a:defRPr sz="1400">
                <a:solidFill>
                  <a:srgbClr val="2576B7"/>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11" name="Text Placeholder 14">
            <a:extLst>
              <a:ext uri="{FF2B5EF4-FFF2-40B4-BE49-F238E27FC236}">
                <a16:creationId xmlns:a16="http://schemas.microsoft.com/office/drawing/2014/main" id="{4B8B8A6C-F3E5-4C48-A9BB-D5FCE566C12E}"/>
              </a:ext>
            </a:extLst>
          </p:cNvPr>
          <p:cNvSpPr>
            <a:spLocks noGrp="1"/>
          </p:cNvSpPr>
          <p:nvPr>
            <p:ph type="body" sz="quarter" idx="12"/>
          </p:nvPr>
        </p:nvSpPr>
        <p:spPr>
          <a:xfrm>
            <a:off x="371476" y="3127757"/>
            <a:ext cx="3744912" cy="2680175"/>
          </a:xfrm>
          <a:prstGeom prst="rect">
            <a:avLst/>
          </a:prstGeom>
        </p:spPr>
        <p:txBody>
          <a:bodyPr lIns="0" tIns="0" rIns="0" bIns="0" numCol="1" spcCol="360000">
            <a:noAutofit/>
          </a:bodyPr>
          <a:lstStyle>
            <a:lvl1pPr marL="0" indent="0">
              <a:lnSpc>
                <a:spcPct val="110000"/>
              </a:lnSpc>
              <a:buNone/>
              <a:defRPr sz="1400" b="0" i="0">
                <a:solidFill>
                  <a:srgbClr val="000000"/>
                </a:solidFill>
                <a:latin typeface="Roboto Condensed Light" panose="02000000000000000000" pitchFamily="2" charset="0"/>
                <a:cs typeface="Arial Narrow" panose="020B0604020202020204" pitchFamily="34" charset="0"/>
              </a:defRPr>
            </a:lvl1pPr>
            <a:lvl2pPr marL="457200" indent="0">
              <a:lnSpc>
                <a:spcPts val="1700"/>
              </a:lnSpc>
              <a:buNone/>
              <a:defRPr sz="1400">
                <a:solidFill>
                  <a:srgbClr val="4B4B4B"/>
                </a:solidFill>
                <a:latin typeface="Arial" panose="020B0604020202020204" pitchFamily="34" charset="0"/>
                <a:cs typeface="Arial" panose="020B0604020202020204" pitchFamily="34" charset="0"/>
              </a:defRPr>
            </a:lvl2pPr>
            <a:lvl3pPr marL="914400" indent="0">
              <a:lnSpc>
                <a:spcPts val="1700"/>
              </a:lnSpc>
              <a:buNone/>
              <a:defRPr sz="1400">
                <a:solidFill>
                  <a:srgbClr val="4B4B4B"/>
                </a:solidFill>
                <a:latin typeface="Arial" panose="020B0604020202020204" pitchFamily="34" charset="0"/>
                <a:cs typeface="Arial" panose="020B0604020202020204" pitchFamily="34" charset="0"/>
              </a:defRPr>
            </a:lvl3pPr>
            <a:lvl4pPr marL="1371600" indent="0">
              <a:lnSpc>
                <a:spcPts val="1700"/>
              </a:lnSpc>
              <a:buNone/>
              <a:defRPr sz="1400">
                <a:solidFill>
                  <a:srgbClr val="4B4B4B"/>
                </a:solidFill>
                <a:latin typeface="Arial" panose="020B0604020202020204" pitchFamily="34" charset="0"/>
                <a:cs typeface="Arial" panose="020B0604020202020204" pitchFamily="34" charset="0"/>
              </a:defRPr>
            </a:lvl4pPr>
            <a:lvl5pPr marL="1828800" indent="0">
              <a:lnSpc>
                <a:spcPts val="1700"/>
              </a:lnSpc>
              <a:buNone/>
              <a:defRPr sz="1400">
                <a:solidFill>
                  <a:srgbClr val="4B4B4B"/>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12" name="Title 9">
            <a:extLst>
              <a:ext uri="{FF2B5EF4-FFF2-40B4-BE49-F238E27FC236}">
                <a16:creationId xmlns:a16="http://schemas.microsoft.com/office/drawing/2014/main" id="{488EE5B4-C583-A04D-B5FC-EA23A0B46B36}"/>
              </a:ext>
            </a:extLst>
          </p:cNvPr>
          <p:cNvSpPr>
            <a:spLocks noGrp="1"/>
          </p:cNvSpPr>
          <p:nvPr>
            <p:ph type="title"/>
          </p:nvPr>
        </p:nvSpPr>
        <p:spPr>
          <a:xfrm>
            <a:off x="354106" y="530021"/>
            <a:ext cx="8533862" cy="1130188"/>
          </a:xfrm>
        </p:spPr>
        <p:txBody>
          <a:bodyPr>
            <a:noAutofit/>
          </a:bodyPr>
          <a:lstStyle>
            <a:lvl1pPr>
              <a:lnSpc>
                <a:spcPct val="90000"/>
              </a:lnSpc>
              <a:defRPr b="0" i="0"/>
            </a:lvl1pPr>
          </a:lstStyle>
          <a:p>
            <a:r>
              <a:rPr lang="en-US"/>
              <a:t>Click to edit Master title style</a:t>
            </a:r>
          </a:p>
        </p:txBody>
      </p:sp>
    </p:spTree>
    <p:extLst>
      <p:ext uri="{BB962C8B-B14F-4D97-AF65-F5344CB8AC3E}">
        <p14:creationId xmlns:p14="http://schemas.microsoft.com/office/powerpoint/2010/main" val="8998604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3_Content Slide-smaller headers">
    <p:spTree>
      <p:nvGrpSpPr>
        <p:cNvPr id="1" name=""/>
        <p:cNvGrpSpPr/>
        <p:nvPr/>
      </p:nvGrpSpPr>
      <p:grpSpPr>
        <a:xfrm>
          <a:off x="0" y="0"/>
          <a:ext cx="0" cy="0"/>
          <a:chOff x="0" y="0"/>
          <a:chExt cx="0" cy="0"/>
        </a:xfrm>
      </p:grpSpPr>
      <p:sp>
        <p:nvSpPr>
          <p:cNvPr id="6" name="Text Placeholder 11">
            <a:extLst>
              <a:ext uri="{FF2B5EF4-FFF2-40B4-BE49-F238E27FC236}">
                <a16:creationId xmlns:a16="http://schemas.microsoft.com/office/drawing/2014/main" id="{D426E116-0FE3-D446-B568-6373B436AD1A}"/>
              </a:ext>
            </a:extLst>
          </p:cNvPr>
          <p:cNvSpPr>
            <a:spLocks noGrp="1"/>
          </p:cNvSpPr>
          <p:nvPr>
            <p:ph type="body" sz="quarter" idx="11"/>
          </p:nvPr>
        </p:nvSpPr>
        <p:spPr>
          <a:xfrm>
            <a:off x="374088" y="1648758"/>
            <a:ext cx="5686987" cy="456696"/>
          </a:xfrm>
          <a:prstGeom prst="rect">
            <a:avLst/>
          </a:prstGeom>
        </p:spPr>
        <p:txBody>
          <a:bodyPr lIns="0" tIns="0" rIns="0" bIns="0">
            <a:noAutofit/>
          </a:bodyPr>
          <a:lstStyle>
            <a:lvl1pPr marL="0" indent="0">
              <a:lnSpc>
                <a:spcPct val="90000"/>
              </a:lnSpc>
              <a:buNone/>
              <a:defRPr sz="2000" b="0" i="0">
                <a:solidFill>
                  <a:srgbClr val="4A4A4A"/>
                </a:solidFill>
                <a:latin typeface="Montserrat SemiBold" pitchFamily="2" charset="77"/>
                <a:cs typeface="Arial" panose="020B0604020202020204" pitchFamily="34" charset="0"/>
              </a:defRPr>
            </a:lvl1pPr>
            <a:lvl2pPr marL="457200" indent="0">
              <a:lnSpc>
                <a:spcPts val="2400"/>
              </a:lnSpc>
              <a:buNone/>
              <a:defRPr sz="2000">
                <a:solidFill>
                  <a:srgbClr val="848585"/>
                </a:solidFill>
                <a:latin typeface="Arial" panose="020B0604020202020204" pitchFamily="34" charset="0"/>
                <a:cs typeface="Arial" panose="020B0604020202020204" pitchFamily="34" charset="0"/>
              </a:defRPr>
            </a:lvl2pPr>
            <a:lvl3pPr marL="914400" indent="0">
              <a:lnSpc>
                <a:spcPts val="2400"/>
              </a:lnSpc>
              <a:buNone/>
              <a:defRPr sz="2000">
                <a:solidFill>
                  <a:srgbClr val="848585"/>
                </a:solidFill>
                <a:latin typeface="Arial" panose="020B0604020202020204" pitchFamily="34" charset="0"/>
                <a:cs typeface="Arial" panose="020B0604020202020204" pitchFamily="34" charset="0"/>
              </a:defRPr>
            </a:lvl3pPr>
            <a:lvl4pPr marL="1371600" indent="0">
              <a:lnSpc>
                <a:spcPts val="2400"/>
              </a:lnSpc>
              <a:buNone/>
              <a:defRPr sz="2000">
                <a:solidFill>
                  <a:srgbClr val="848585"/>
                </a:solidFill>
                <a:latin typeface="Arial" panose="020B0604020202020204" pitchFamily="34" charset="0"/>
                <a:cs typeface="Arial" panose="020B0604020202020204" pitchFamily="34" charset="0"/>
              </a:defRPr>
            </a:lvl4pPr>
            <a:lvl5pPr marL="1828800" indent="0">
              <a:lnSpc>
                <a:spcPts val="2400"/>
              </a:lnSpc>
              <a:buNone/>
              <a:defRPr sz="2000">
                <a:solidFill>
                  <a:srgbClr val="848585"/>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7" name="Text Placeholder 17">
            <a:extLst>
              <a:ext uri="{FF2B5EF4-FFF2-40B4-BE49-F238E27FC236}">
                <a16:creationId xmlns:a16="http://schemas.microsoft.com/office/drawing/2014/main" id="{BC346A8C-5C1D-114F-94D6-BBB1ED290669}"/>
              </a:ext>
            </a:extLst>
          </p:cNvPr>
          <p:cNvSpPr>
            <a:spLocks noGrp="1"/>
          </p:cNvSpPr>
          <p:nvPr>
            <p:ph type="body" sz="quarter" idx="13"/>
          </p:nvPr>
        </p:nvSpPr>
        <p:spPr>
          <a:xfrm>
            <a:off x="383858" y="2035250"/>
            <a:ext cx="5677217" cy="473616"/>
          </a:xfrm>
          <a:prstGeom prst="rect">
            <a:avLst/>
          </a:prstGeom>
        </p:spPr>
        <p:txBody>
          <a:bodyPr lIns="0" tIns="0" rIns="0" bIns="0">
            <a:noAutofit/>
          </a:bodyPr>
          <a:lstStyle>
            <a:lvl1pPr marL="0" indent="0">
              <a:lnSpc>
                <a:spcPct val="90000"/>
              </a:lnSpc>
              <a:buNone/>
              <a:defRPr sz="1600" b="0" i="0">
                <a:solidFill>
                  <a:srgbClr val="2576B7"/>
                </a:solidFill>
                <a:latin typeface="Exo" panose="02000503000000000000" pitchFamily="2" charset="77"/>
                <a:cs typeface="Arial" panose="020B0604020202020204" pitchFamily="34" charset="0"/>
              </a:defRPr>
            </a:lvl1pPr>
            <a:lvl2pPr marL="457200" indent="0">
              <a:lnSpc>
                <a:spcPts val="1400"/>
              </a:lnSpc>
              <a:buNone/>
              <a:defRPr sz="1400">
                <a:solidFill>
                  <a:srgbClr val="2576B7"/>
                </a:solidFill>
                <a:latin typeface="Arial" panose="020B0604020202020204" pitchFamily="34" charset="0"/>
                <a:cs typeface="Arial" panose="020B0604020202020204" pitchFamily="34" charset="0"/>
              </a:defRPr>
            </a:lvl2pPr>
            <a:lvl3pPr marL="914400" indent="0">
              <a:lnSpc>
                <a:spcPts val="1400"/>
              </a:lnSpc>
              <a:buNone/>
              <a:defRPr sz="1400">
                <a:solidFill>
                  <a:srgbClr val="2576B7"/>
                </a:solidFill>
                <a:latin typeface="Arial" panose="020B0604020202020204" pitchFamily="34" charset="0"/>
                <a:cs typeface="Arial" panose="020B0604020202020204" pitchFamily="34" charset="0"/>
              </a:defRPr>
            </a:lvl3pPr>
            <a:lvl4pPr marL="1371600" indent="0">
              <a:lnSpc>
                <a:spcPts val="1400"/>
              </a:lnSpc>
              <a:buNone/>
              <a:defRPr sz="1400">
                <a:solidFill>
                  <a:srgbClr val="2576B7"/>
                </a:solidFill>
                <a:latin typeface="Arial" panose="020B0604020202020204" pitchFamily="34" charset="0"/>
                <a:cs typeface="Arial" panose="020B0604020202020204" pitchFamily="34" charset="0"/>
              </a:defRPr>
            </a:lvl4pPr>
            <a:lvl5pPr marL="1828800" indent="0">
              <a:lnSpc>
                <a:spcPts val="1400"/>
              </a:lnSpc>
              <a:buNone/>
              <a:defRPr sz="1400">
                <a:solidFill>
                  <a:srgbClr val="2576B7"/>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11" name="Text Placeholder 14">
            <a:extLst>
              <a:ext uri="{FF2B5EF4-FFF2-40B4-BE49-F238E27FC236}">
                <a16:creationId xmlns:a16="http://schemas.microsoft.com/office/drawing/2014/main" id="{4B8B8A6C-F3E5-4C48-A9BB-D5FCE566C12E}"/>
              </a:ext>
            </a:extLst>
          </p:cNvPr>
          <p:cNvSpPr>
            <a:spLocks noGrp="1"/>
          </p:cNvSpPr>
          <p:nvPr>
            <p:ph type="body" sz="quarter" idx="12"/>
          </p:nvPr>
        </p:nvSpPr>
        <p:spPr>
          <a:xfrm>
            <a:off x="371476" y="3127757"/>
            <a:ext cx="3744912" cy="2680175"/>
          </a:xfrm>
          <a:prstGeom prst="rect">
            <a:avLst/>
          </a:prstGeom>
        </p:spPr>
        <p:txBody>
          <a:bodyPr lIns="0" tIns="0" rIns="0" bIns="0" numCol="1" spcCol="360000">
            <a:noAutofit/>
          </a:bodyPr>
          <a:lstStyle>
            <a:lvl1pPr marL="0" indent="0">
              <a:lnSpc>
                <a:spcPct val="110000"/>
              </a:lnSpc>
              <a:buNone/>
              <a:defRPr sz="1400" b="0" i="0">
                <a:solidFill>
                  <a:srgbClr val="000000"/>
                </a:solidFill>
                <a:latin typeface="Roboto Condensed Light" panose="02000000000000000000" pitchFamily="2" charset="0"/>
                <a:cs typeface="Arial Narrow" panose="020B0604020202020204" pitchFamily="34" charset="0"/>
              </a:defRPr>
            </a:lvl1pPr>
            <a:lvl2pPr marL="457200" indent="0">
              <a:lnSpc>
                <a:spcPts val="1700"/>
              </a:lnSpc>
              <a:buNone/>
              <a:defRPr sz="1400">
                <a:solidFill>
                  <a:srgbClr val="4B4B4B"/>
                </a:solidFill>
                <a:latin typeface="Arial" panose="020B0604020202020204" pitchFamily="34" charset="0"/>
                <a:cs typeface="Arial" panose="020B0604020202020204" pitchFamily="34" charset="0"/>
              </a:defRPr>
            </a:lvl2pPr>
            <a:lvl3pPr marL="914400" indent="0">
              <a:lnSpc>
                <a:spcPts val="1700"/>
              </a:lnSpc>
              <a:buNone/>
              <a:defRPr sz="1400">
                <a:solidFill>
                  <a:srgbClr val="4B4B4B"/>
                </a:solidFill>
                <a:latin typeface="Arial" panose="020B0604020202020204" pitchFamily="34" charset="0"/>
                <a:cs typeface="Arial" panose="020B0604020202020204" pitchFamily="34" charset="0"/>
              </a:defRPr>
            </a:lvl3pPr>
            <a:lvl4pPr marL="1371600" indent="0">
              <a:lnSpc>
                <a:spcPts val="1700"/>
              </a:lnSpc>
              <a:buNone/>
              <a:defRPr sz="1400">
                <a:solidFill>
                  <a:srgbClr val="4B4B4B"/>
                </a:solidFill>
                <a:latin typeface="Arial" panose="020B0604020202020204" pitchFamily="34" charset="0"/>
                <a:cs typeface="Arial" panose="020B0604020202020204" pitchFamily="34" charset="0"/>
              </a:defRPr>
            </a:lvl4pPr>
            <a:lvl5pPr marL="1828800" indent="0">
              <a:lnSpc>
                <a:spcPts val="1700"/>
              </a:lnSpc>
              <a:buNone/>
              <a:defRPr sz="1400">
                <a:solidFill>
                  <a:srgbClr val="4B4B4B"/>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12" name="Title 9">
            <a:extLst>
              <a:ext uri="{FF2B5EF4-FFF2-40B4-BE49-F238E27FC236}">
                <a16:creationId xmlns:a16="http://schemas.microsoft.com/office/drawing/2014/main" id="{488EE5B4-C583-A04D-B5FC-EA23A0B46B36}"/>
              </a:ext>
            </a:extLst>
          </p:cNvPr>
          <p:cNvSpPr>
            <a:spLocks noGrp="1"/>
          </p:cNvSpPr>
          <p:nvPr>
            <p:ph type="title"/>
          </p:nvPr>
        </p:nvSpPr>
        <p:spPr>
          <a:xfrm>
            <a:off x="354106" y="639749"/>
            <a:ext cx="4967041" cy="1130188"/>
          </a:xfrm>
        </p:spPr>
        <p:txBody>
          <a:bodyPr>
            <a:noAutofit/>
          </a:bodyPr>
          <a:lstStyle>
            <a:lvl1pPr>
              <a:lnSpc>
                <a:spcPct val="90000"/>
              </a:lnSpc>
              <a:defRPr sz="3000" b="0" i="0"/>
            </a:lvl1pPr>
          </a:lstStyle>
          <a:p>
            <a:r>
              <a:rPr lang="en-US"/>
              <a:t>Click to edit Master title style</a:t>
            </a:r>
          </a:p>
        </p:txBody>
      </p:sp>
    </p:spTree>
    <p:extLst>
      <p:ext uri="{BB962C8B-B14F-4D97-AF65-F5344CB8AC3E}">
        <p14:creationId xmlns:p14="http://schemas.microsoft.com/office/powerpoint/2010/main" val="3542167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0DE2D-0538-D6C9-4176-9A98B43B9EFA}"/>
              </a:ext>
            </a:extLst>
          </p:cNvPr>
          <p:cNvSpPr>
            <a:spLocks noGrp="1"/>
          </p:cNvSpPr>
          <p:nvPr>
            <p:ph type="title"/>
          </p:nvPr>
        </p:nvSpPr>
        <p:spPr>
          <a:xfrm>
            <a:off x="490307" y="320676"/>
            <a:ext cx="10516970" cy="1325563"/>
          </a:xfrm>
          <a:prstGeom prst="rect">
            <a:avLst/>
          </a:prstGeom>
        </p:spPr>
        <p:txBody>
          <a:bodyPr>
            <a:normAutofit/>
          </a:bodyPr>
          <a:lstStyle>
            <a:lvl1pPr>
              <a:defRPr sz="3600">
                <a:latin typeface="Montserrat SemiBold" panose="00000700000000000000" pitchFamily="2" charset="0"/>
              </a:defRPr>
            </a:lvl1pPr>
          </a:lstStyle>
          <a:p>
            <a:r>
              <a:rPr lang="en-US"/>
              <a:t>Click to edit Master title style</a:t>
            </a:r>
          </a:p>
        </p:txBody>
      </p:sp>
      <p:sp>
        <p:nvSpPr>
          <p:cNvPr id="3" name="Date Placeholder 2">
            <a:extLst>
              <a:ext uri="{FF2B5EF4-FFF2-40B4-BE49-F238E27FC236}">
                <a16:creationId xmlns:a16="http://schemas.microsoft.com/office/drawing/2014/main" id="{7704F37E-C397-9A04-7AE8-DB65FE54C088}"/>
              </a:ext>
            </a:extLst>
          </p:cNvPr>
          <p:cNvSpPr>
            <a:spLocks noGrp="1"/>
          </p:cNvSpPr>
          <p:nvPr>
            <p:ph type="dt" sz="half" idx="10"/>
          </p:nvPr>
        </p:nvSpPr>
        <p:spPr/>
        <p:txBody>
          <a:bodyPr/>
          <a:lstStyle/>
          <a:p>
            <a:fld id="{3DB9873F-8DB5-4E2E-BE64-9571D135C23E}" type="datetimeFigureOut">
              <a:rPr lang="en-US" smtClean="0"/>
              <a:t>12/8/2025</a:t>
            </a:fld>
            <a:endParaRPr lang="en-US"/>
          </a:p>
        </p:txBody>
      </p:sp>
      <p:sp>
        <p:nvSpPr>
          <p:cNvPr id="4" name="Footer Placeholder 3">
            <a:extLst>
              <a:ext uri="{FF2B5EF4-FFF2-40B4-BE49-F238E27FC236}">
                <a16:creationId xmlns:a16="http://schemas.microsoft.com/office/drawing/2014/main" id="{68049CD4-AED3-8770-52C1-330DD7FAA15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008156D-C737-0638-F497-C37698F5C123}"/>
              </a:ext>
            </a:extLst>
          </p:cNvPr>
          <p:cNvSpPr>
            <a:spLocks noGrp="1"/>
          </p:cNvSpPr>
          <p:nvPr>
            <p:ph type="sldNum" sz="quarter" idx="12"/>
          </p:nvPr>
        </p:nvSpPr>
        <p:spPr/>
        <p:txBody>
          <a:bodyPr/>
          <a:lstStyle/>
          <a:p>
            <a:fld id="{E501E5C1-69F7-41DC-A380-DF9D7D6ADFF1}" type="slidenum">
              <a:rPr lang="en-US" smtClean="0"/>
              <a:t>‹#›</a:t>
            </a:fld>
            <a:endParaRPr lang="en-US"/>
          </a:p>
        </p:txBody>
      </p:sp>
    </p:spTree>
    <p:extLst>
      <p:ext uri="{BB962C8B-B14F-4D97-AF65-F5344CB8AC3E}">
        <p14:creationId xmlns:p14="http://schemas.microsoft.com/office/powerpoint/2010/main" val="42865823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22876-1796-8DA6-301A-5C4FF9709AD9}"/>
              </a:ext>
            </a:extLst>
          </p:cNvPr>
          <p:cNvSpPr>
            <a:spLocks noGrp="1"/>
          </p:cNvSpPr>
          <p:nvPr>
            <p:ph type="title"/>
          </p:nvPr>
        </p:nvSpPr>
        <p:spPr>
          <a:xfrm>
            <a:off x="839898" y="457200"/>
            <a:ext cx="3932749"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BCC7F1-CAB2-AE4D-96C0-03F5CA4F784D}"/>
              </a:ext>
            </a:extLst>
          </p:cNvPr>
          <p:cNvSpPr>
            <a:spLocks noGrp="1"/>
          </p:cNvSpPr>
          <p:nvPr>
            <p:ph type="pic" idx="1"/>
          </p:nvPr>
        </p:nvSpPr>
        <p:spPr>
          <a:xfrm>
            <a:off x="5183863" y="987426"/>
            <a:ext cx="6173004"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16B3D44-D855-B92D-E9E4-39A96D0A0F10}"/>
              </a:ext>
            </a:extLst>
          </p:cNvPr>
          <p:cNvSpPr>
            <a:spLocks noGrp="1"/>
          </p:cNvSpPr>
          <p:nvPr>
            <p:ph type="body" sz="half" idx="2"/>
          </p:nvPr>
        </p:nvSpPr>
        <p:spPr>
          <a:xfrm>
            <a:off x="839898" y="2057400"/>
            <a:ext cx="3932749"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0FF200-8E7E-5F9D-A7CA-33B68D1A5DDA}"/>
              </a:ext>
            </a:extLst>
          </p:cNvPr>
          <p:cNvSpPr>
            <a:spLocks noGrp="1"/>
          </p:cNvSpPr>
          <p:nvPr>
            <p:ph type="dt" sz="half" idx="10"/>
          </p:nvPr>
        </p:nvSpPr>
        <p:spPr/>
        <p:txBody>
          <a:bodyPr/>
          <a:lstStyle/>
          <a:p>
            <a:fld id="{3DB9873F-8DB5-4E2E-BE64-9571D135C23E}" type="datetimeFigureOut">
              <a:rPr lang="en-US" smtClean="0"/>
              <a:t>12/8/2025</a:t>
            </a:fld>
            <a:endParaRPr lang="en-US"/>
          </a:p>
        </p:txBody>
      </p:sp>
      <p:sp>
        <p:nvSpPr>
          <p:cNvPr id="6" name="Footer Placeholder 5">
            <a:extLst>
              <a:ext uri="{FF2B5EF4-FFF2-40B4-BE49-F238E27FC236}">
                <a16:creationId xmlns:a16="http://schemas.microsoft.com/office/drawing/2014/main" id="{80F3DFE0-2D41-1E4B-552F-D609856501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C5C0DA-7E3A-C5F7-2E92-2E0F95E15A82}"/>
              </a:ext>
            </a:extLst>
          </p:cNvPr>
          <p:cNvSpPr>
            <a:spLocks noGrp="1"/>
          </p:cNvSpPr>
          <p:nvPr>
            <p:ph type="sldNum" sz="quarter" idx="12"/>
          </p:nvPr>
        </p:nvSpPr>
        <p:spPr/>
        <p:txBody>
          <a:bodyPr/>
          <a:lstStyle/>
          <a:p>
            <a:fld id="{E501E5C1-69F7-41DC-A380-DF9D7D6ADFF1}" type="slidenum">
              <a:rPr lang="en-US" smtClean="0"/>
              <a:t>‹#›</a:t>
            </a:fld>
            <a:endParaRPr lang="en-US"/>
          </a:p>
        </p:txBody>
      </p:sp>
    </p:spTree>
    <p:extLst>
      <p:ext uri="{BB962C8B-B14F-4D97-AF65-F5344CB8AC3E}">
        <p14:creationId xmlns:p14="http://schemas.microsoft.com/office/powerpoint/2010/main" val="121759991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theme" Target="../theme/theme4.xml"/><Relationship Id="rId4" Type="http://schemas.openxmlformats.org/officeDocument/2006/relationships/slideLayout" Target="../slideLayouts/slideLayout6.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8.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9" r:id="rId1"/>
  </p:sldLayoutIdLst>
  <p:hf hdr="0" ftr="0" dt="0"/>
  <p:txStyles>
    <p:titleStyle>
      <a:lvl1pPr>
        <a:defRPr>
          <a:latin typeface="+mj-lt"/>
          <a:ea typeface="+mj-ea"/>
          <a:cs typeface="+mj-cs"/>
        </a:defRPr>
      </a:lvl1pPr>
    </p:titleStyle>
    <p:body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bodyStyle>
    <p:other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otherStyle>
  </p:txStyles>
  <p:extLst>
    <p:ext uri="{27BBF7A9-308A-43DC-89C8-2F10F3537804}">
      <p15:sldGuideLst xmlns:p15="http://schemas.microsoft.com/office/powerpoint/2012/main">
        <p15:guide id="1" orient="horz" pos="4110" userDrawn="1">
          <p15:clr>
            <a:srgbClr val="F26B43"/>
          </p15:clr>
        </p15:guide>
        <p15:guide id="2" pos="3840" userDrawn="1">
          <p15:clr>
            <a:srgbClr val="F26B43"/>
          </p15:clr>
        </p15:guide>
        <p15:guide id="3" orient="horz" pos="381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tx1">
            <a:lumMod val="50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4784488"/>
      </p:ext>
    </p:extLst>
  </p:cSld>
  <p:clrMap bg1="lt1" tx1="dk1" bg2="lt2" tx2="dk2" accent1="accent1" accent2="accent2" accent3="accent3" accent4="accent4" accent5="accent5" accent6="accent6" hlink="hlink" folHlink="folHlink"/>
  <p:hf hdr="0" ftr="0" dt="0"/>
  <p:txStyles>
    <p:titleStyle>
      <a:lvl1pPr>
        <a:defRPr>
          <a:latin typeface="+mj-lt"/>
          <a:ea typeface="+mj-ea"/>
          <a:cs typeface="+mj-cs"/>
        </a:defRPr>
      </a:lvl1pPr>
    </p:titleStyle>
    <p:body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bodyStyle>
    <p:other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otherStyle>
  </p:txStyles>
  <p:extLst>
    <p:ext uri="{27BBF7A9-308A-43DC-89C8-2F10F3537804}">
      <p15:sldGuideLst xmlns:p15="http://schemas.microsoft.com/office/powerpoint/2012/main">
        <p15:guide id="1" orient="horz" pos="4110">
          <p15:clr>
            <a:srgbClr val="F26B43"/>
          </p15:clr>
        </p15:guide>
        <p15:guide id="2" pos="3840">
          <p15:clr>
            <a:srgbClr val="F26B43"/>
          </p15:clr>
        </p15:guide>
        <p15:guide id="3" orient="horz" pos="381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201997"/>
      </p:ext>
    </p:extLst>
  </p:cSld>
  <p:clrMap bg1="lt1" tx1="dk1" bg2="lt2" tx2="dk2" accent1="accent1" accent2="accent2" accent3="accent3" accent4="accent4" accent5="accent5" accent6="accent6" hlink="hlink" folHlink="folHlink"/>
  <p:sldLayoutIdLst>
    <p:sldLayoutId id="2147483808" r:id="rId1"/>
  </p:sldLayoutIdLst>
  <p:hf hdr="0" ftr="0" dt="0"/>
  <p:txStyles>
    <p:titleStyle>
      <a:lvl1pPr>
        <a:defRPr>
          <a:latin typeface="+mj-lt"/>
          <a:ea typeface="+mj-ea"/>
          <a:cs typeface="+mj-cs"/>
        </a:defRPr>
      </a:lvl1pPr>
    </p:titleStyle>
    <p:body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bodyStyle>
    <p:other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otherStyle>
  </p:txStyles>
  <p:extLst>
    <p:ext uri="{27BBF7A9-308A-43DC-89C8-2F10F3537804}">
      <p15:sldGuideLst xmlns:p15="http://schemas.microsoft.com/office/powerpoint/2012/main">
        <p15:guide id="1" orient="horz" pos="4110">
          <p15:clr>
            <a:srgbClr val="F26B43"/>
          </p15:clr>
        </p15:guide>
        <p15:guide id="2" pos="3840">
          <p15:clr>
            <a:srgbClr val="F26B43"/>
          </p15:clr>
        </p15:guide>
        <p15:guide id="3" orient="horz" pos="3816">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9D2D98CA-E486-8443-9BF6-95C9C1E815D5}"/>
              </a:ext>
            </a:extLst>
          </p:cNvPr>
          <p:cNvSpPr>
            <a:spLocks noGrp="1"/>
          </p:cNvSpPr>
          <p:nvPr>
            <p:ph type="title"/>
          </p:nvPr>
        </p:nvSpPr>
        <p:spPr>
          <a:xfrm>
            <a:off x="354106" y="530021"/>
            <a:ext cx="5632357" cy="1130188"/>
          </a:xfrm>
          <a:prstGeom prst="rect">
            <a:avLst/>
          </a:prstGeom>
        </p:spPr>
        <p:txBody>
          <a:bodyPr vert="horz" lIns="0" tIns="0" rIns="0" bIns="0" rtlCol="0" anchor="t" anchorCtr="0">
            <a:noAutofit/>
          </a:bodyPr>
          <a:lstStyle/>
          <a:p>
            <a:r>
              <a:rPr lang="en-US"/>
              <a:t>Click to edit Master title style</a:t>
            </a:r>
          </a:p>
        </p:txBody>
      </p:sp>
      <p:sp>
        <p:nvSpPr>
          <p:cNvPr id="12" name="TextBox 11">
            <a:extLst>
              <a:ext uri="{FF2B5EF4-FFF2-40B4-BE49-F238E27FC236}">
                <a16:creationId xmlns:a16="http://schemas.microsoft.com/office/drawing/2014/main" id="{9A5610B7-08DB-7849-96D1-46BF1C785ED5}"/>
              </a:ext>
            </a:extLst>
          </p:cNvPr>
          <p:cNvSpPr txBox="1"/>
          <p:nvPr userDrawn="1"/>
        </p:nvSpPr>
        <p:spPr>
          <a:xfrm>
            <a:off x="8804021" y="6449568"/>
            <a:ext cx="3438335" cy="123111"/>
          </a:xfrm>
          <a:prstGeom prst="rect">
            <a:avLst/>
          </a:prstGeom>
        </p:spPr>
        <p:txBody>
          <a:bodyPr vert="horz" wrap="square" lIns="0" tIns="0" rIns="91440" bIns="0" rtlCol="0">
            <a:spAutoFit/>
          </a:bodyPr>
          <a:lstStyle/>
          <a:p>
            <a:pPr marL="7701" marR="242975" lvl="0" indent="0" algn="r" defTabSz="554492" rtl="0" eaLnBrk="1" fontAlgn="auto" latinLnBrk="0" hangingPunct="1">
              <a:lnSpc>
                <a:spcPct val="100000"/>
              </a:lnSpc>
              <a:spcBef>
                <a:spcPts val="55"/>
              </a:spcBef>
              <a:spcAft>
                <a:spcPts val="0"/>
              </a:spcAft>
              <a:buClrTx/>
              <a:buSzTx/>
              <a:buFontTx/>
              <a:buNone/>
              <a:tabLst/>
              <a:defRPr/>
            </a:pPr>
            <a:r>
              <a:rPr lang="en-CA" sz="800" spc="6" dirty="0">
                <a:solidFill>
                  <a:schemeClr val="tx1">
                    <a:lumMod val="50000"/>
                  </a:schemeClr>
                </a:solidFill>
                <a:latin typeface="Exo" panose="02000503000000000000" pitchFamily="2" charset="77"/>
              </a:rPr>
              <a:t>|   </a:t>
            </a:r>
            <a:fld id="{81D60167-4931-47E6-BA6A-407CBD079E47}" type="slidenum">
              <a:rPr lang="en-CA" sz="800" spc="6" smtClean="0">
                <a:solidFill>
                  <a:schemeClr val="tx1">
                    <a:lumMod val="50000"/>
                  </a:schemeClr>
                </a:solidFill>
                <a:latin typeface="Exo" panose="02000503000000000000" pitchFamily="2" charset="77"/>
                <a:cs typeface="Arial" panose="020B0604020202020204" pitchFamily="34" charset="0"/>
              </a:rPr>
              <a:pPr marL="7701" marR="242975" lvl="0" indent="0" algn="r" defTabSz="554492" rtl="0" eaLnBrk="1" fontAlgn="auto" latinLnBrk="0" hangingPunct="1">
                <a:lnSpc>
                  <a:spcPct val="100000"/>
                </a:lnSpc>
                <a:spcBef>
                  <a:spcPts val="55"/>
                </a:spcBef>
                <a:spcAft>
                  <a:spcPts val="0"/>
                </a:spcAft>
                <a:buClrTx/>
                <a:buSzTx/>
                <a:buFontTx/>
                <a:buNone/>
                <a:tabLst/>
                <a:defRPr/>
              </a:pPr>
              <a:t>‹#›</a:t>
            </a:fld>
            <a:endParaRPr sz="800" spc="6" dirty="0">
              <a:solidFill>
                <a:schemeClr val="tx1">
                  <a:lumMod val="50000"/>
                </a:schemeClr>
              </a:solidFill>
              <a:latin typeface="Exo" panose="02000503000000000000" pitchFamily="2" charset="77"/>
              <a:cs typeface="Arial" panose="020B0604020202020204" pitchFamily="34" charset="0"/>
            </a:endParaRPr>
          </a:p>
        </p:txBody>
      </p:sp>
    </p:spTree>
    <p:extLst>
      <p:ext uri="{BB962C8B-B14F-4D97-AF65-F5344CB8AC3E}">
        <p14:creationId xmlns:p14="http://schemas.microsoft.com/office/powerpoint/2010/main" val="3961882258"/>
      </p:ext>
    </p:extLst>
  </p:cSld>
  <p:clrMap bg1="lt1" tx1="dk1" bg2="lt2" tx2="dk2" accent1="accent1" accent2="accent2" accent3="accent3" accent4="accent4" accent5="accent5" accent6="accent6" hlink="hlink" folHlink="folHlink"/>
  <p:sldLayoutIdLst>
    <p:sldLayoutId id="2147483732" r:id="rId1"/>
    <p:sldLayoutId id="2147483708" r:id="rId2"/>
    <p:sldLayoutId id="2147483806" r:id="rId3"/>
    <p:sldLayoutId id="2147483807" r:id="rId4"/>
  </p:sldLayoutIdLst>
  <p:hf hdr="0" ftr="0" dt="0"/>
  <p:txStyles>
    <p:titleStyle>
      <a:lvl1pPr algn="l" defTabSz="914400" rtl="0" eaLnBrk="1" latinLnBrk="0" hangingPunct="1">
        <a:lnSpc>
          <a:spcPct val="90000"/>
        </a:lnSpc>
        <a:spcBef>
          <a:spcPct val="0"/>
        </a:spcBef>
        <a:buNone/>
        <a:defRPr sz="4000" b="0" i="0" kern="1200">
          <a:solidFill>
            <a:srgbClr val="4A4A4A"/>
          </a:solidFill>
          <a:latin typeface="Montserrat SemiBold" pitchFamily="2" charset="77"/>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296" userDrawn="1">
          <p15:clr>
            <a:srgbClr val="F26B43"/>
          </p15:clr>
        </p15:guide>
        <p15:guide id="2" pos="3818" userDrawn="1">
          <p15:clr>
            <a:srgbClr val="F26B43"/>
          </p15:clr>
        </p15:guide>
        <p15:guide id="3" pos="3909" userDrawn="1">
          <p15:clr>
            <a:srgbClr val="F26B43"/>
          </p15:clr>
        </p15:guide>
        <p15:guide id="4" pos="4441" userDrawn="1">
          <p15:clr>
            <a:srgbClr val="F26B43"/>
          </p15:clr>
        </p15:guide>
        <p15:guide id="5" pos="3205" userDrawn="1">
          <p15:clr>
            <a:srgbClr val="F26B43"/>
          </p15:clr>
        </p15:guide>
        <p15:guide id="6" pos="2684" userDrawn="1">
          <p15:clr>
            <a:srgbClr val="F26B43"/>
          </p15:clr>
        </p15:guide>
        <p15:guide id="7" pos="2593" userDrawn="1">
          <p15:clr>
            <a:srgbClr val="F26B43"/>
          </p15:clr>
        </p15:guide>
        <p15:guide id="8" pos="2071" userDrawn="1">
          <p15:clr>
            <a:srgbClr val="F26B43"/>
          </p15:clr>
        </p15:guide>
        <p15:guide id="9" pos="4521" userDrawn="1">
          <p15:clr>
            <a:srgbClr val="F26B43"/>
          </p15:clr>
        </p15:guide>
        <p15:guide id="10" pos="5043" userDrawn="1">
          <p15:clr>
            <a:srgbClr val="F26B43"/>
          </p15:clr>
        </p15:guide>
        <p15:guide id="11" pos="5133" userDrawn="1">
          <p15:clr>
            <a:srgbClr val="F26B43"/>
          </p15:clr>
        </p15:guide>
        <p15:guide id="12" pos="5655" userDrawn="1">
          <p15:clr>
            <a:srgbClr val="F26B43"/>
          </p15:clr>
        </p15:guide>
        <p15:guide id="13" pos="5737" userDrawn="1">
          <p15:clr>
            <a:srgbClr val="F26B43"/>
          </p15:clr>
        </p15:guide>
        <p15:guide id="14" pos="6265" userDrawn="1">
          <p15:clr>
            <a:srgbClr val="F26B43"/>
          </p15:clr>
        </p15:guide>
        <p15:guide id="15" pos="6358" userDrawn="1">
          <p15:clr>
            <a:srgbClr val="F26B43"/>
          </p15:clr>
        </p15:guide>
        <p15:guide id="16" pos="6880" userDrawn="1">
          <p15:clr>
            <a:srgbClr val="F26B43"/>
          </p15:clr>
        </p15:guide>
        <p15:guide id="17" pos="6970" userDrawn="1">
          <p15:clr>
            <a:srgbClr val="F26B43"/>
          </p15:clr>
        </p15:guide>
        <p15:guide id="18" pos="7492" userDrawn="1">
          <p15:clr>
            <a:srgbClr val="F26B43"/>
          </p15:clr>
        </p15:guide>
        <p15:guide id="19" pos="1981" userDrawn="1">
          <p15:clr>
            <a:srgbClr val="F26B43"/>
          </p15:clr>
        </p15:guide>
        <p15:guide id="20" pos="1459" userDrawn="1">
          <p15:clr>
            <a:srgbClr val="F26B43"/>
          </p15:clr>
        </p15:guide>
        <p15:guide id="21" pos="1368" userDrawn="1">
          <p15:clr>
            <a:srgbClr val="F26B43"/>
          </p15:clr>
        </p15:guide>
        <p15:guide id="22" pos="847" userDrawn="1">
          <p15:clr>
            <a:srgbClr val="F26B43"/>
          </p15:clr>
        </p15:guide>
        <p15:guide id="23" pos="756" userDrawn="1">
          <p15:clr>
            <a:srgbClr val="F26B43"/>
          </p15:clr>
        </p15:guide>
        <p15:guide id="24" pos="234" userDrawn="1">
          <p15:clr>
            <a:srgbClr val="F26B43"/>
          </p15:clr>
        </p15:guide>
        <p15:guide id="25" orient="horz" pos="60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51AEC37-637D-EFAE-67A5-1523F5371D01}"/>
              </a:ext>
            </a:extLst>
          </p:cNvPr>
          <p:cNvSpPr>
            <a:spLocks noGrp="1"/>
          </p:cNvSpPr>
          <p:nvPr>
            <p:ph type="body" idx="1"/>
          </p:nvPr>
        </p:nvSpPr>
        <p:spPr>
          <a:xfrm>
            <a:off x="838309" y="1825625"/>
            <a:ext cx="1051697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FC18B0-8D24-0E3A-5C23-668DE364A232}"/>
              </a:ext>
            </a:extLst>
          </p:cNvPr>
          <p:cNvSpPr>
            <a:spLocks noGrp="1"/>
          </p:cNvSpPr>
          <p:nvPr>
            <p:ph type="dt" sz="half" idx="2"/>
          </p:nvPr>
        </p:nvSpPr>
        <p:spPr>
          <a:xfrm>
            <a:off x="838309" y="6356351"/>
            <a:ext cx="2743557"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DB9873F-8DB5-4E2E-BE64-9571D135C23E}" type="datetimeFigureOut">
              <a:rPr lang="en-US" smtClean="0"/>
              <a:t>12/8/2025</a:t>
            </a:fld>
            <a:endParaRPr lang="en-US" dirty="0"/>
          </a:p>
        </p:txBody>
      </p:sp>
      <p:sp>
        <p:nvSpPr>
          <p:cNvPr id="5" name="Footer Placeholder 4">
            <a:extLst>
              <a:ext uri="{FF2B5EF4-FFF2-40B4-BE49-F238E27FC236}">
                <a16:creationId xmlns:a16="http://schemas.microsoft.com/office/drawing/2014/main" id="{6D5F377B-9744-94E3-EDBE-24F78E64D4C6}"/>
              </a:ext>
            </a:extLst>
          </p:cNvPr>
          <p:cNvSpPr>
            <a:spLocks noGrp="1"/>
          </p:cNvSpPr>
          <p:nvPr>
            <p:ph type="ftr" sz="quarter" idx="3"/>
          </p:nvPr>
        </p:nvSpPr>
        <p:spPr>
          <a:xfrm>
            <a:off x="4039126" y="6356351"/>
            <a:ext cx="4115336"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E46E8D1E-CB9A-E3B8-B13D-5A50697A6E4C}"/>
              </a:ext>
            </a:extLst>
          </p:cNvPr>
          <p:cNvSpPr>
            <a:spLocks noGrp="1"/>
          </p:cNvSpPr>
          <p:nvPr>
            <p:ph type="sldNum" sz="quarter" idx="4"/>
          </p:nvPr>
        </p:nvSpPr>
        <p:spPr>
          <a:xfrm>
            <a:off x="8611722" y="6356351"/>
            <a:ext cx="2743557"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501E5C1-69F7-41DC-A380-DF9D7D6ADFF1}" type="slidenum">
              <a:rPr lang="en-US" smtClean="0"/>
              <a:t>‹#›</a:t>
            </a:fld>
            <a:endParaRPr lang="en-US" dirty="0"/>
          </a:p>
        </p:txBody>
      </p:sp>
      <p:sp>
        <p:nvSpPr>
          <p:cNvPr id="2" name="TextBox 1">
            <a:extLst>
              <a:ext uri="{FF2B5EF4-FFF2-40B4-BE49-F238E27FC236}">
                <a16:creationId xmlns:a16="http://schemas.microsoft.com/office/drawing/2014/main" id="{1A34CDA0-53DC-5632-AE95-D55C3EE836EE}"/>
              </a:ext>
            </a:extLst>
          </p:cNvPr>
          <p:cNvSpPr txBox="1"/>
          <p:nvPr userDrawn="1"/>
        </p:nvSpPr>
        <p:spPr>
          <a:xfrm>
            <a:off x="8804022" y="6449570"/>
            <a:ext cx="3438335" cy="123111"/>
          </a:xfrm>
          <a:prstGeom prst="rect">
            <a:avLst/>
          </a:prstGeom>
        </p:spPr>
        <p:txBody>
          <a:bodyPr vert="horz" wrap="square" lIns="0" tIns="0" rIns="91428" bIns="0" rtlCol="0">
            <a:spAutoFit/>
          </a:bodyPr>
          <a:lstStyle/>
          <a:p>
            <a:pPr marL="7700" marR="242951" lvl="0" indent="0" algn="r" defTabSz="554437" rtl="0" eaLnBrk="1" fontAlgn="auto" latinLnBrk="0" hangingPunct="1">
              <a:lnSpc>
                <a:spcPct val="100000"/>
              </a:lnSpc>
              <a:spcBef>
                <a:spcPts val="55"/>
              </a:spcBef>
              <a:spcAft>
                <a:spcPts val="0"/>
              </a:spcAft>
              <a:buClrTx/>
              <a:buSzTx/>
              <a:buFontTx/>
              <a:buNone/>
              <a:tabLst/>
              <a:defRPr/>
            </a:pPr>
            <a:r>
              <a:rPr lang="en-CA" sz="800" spc="-18" dirty="0">
                <a:solidFill>
                  <a:schemeClr val="tx1">
                    <a:lumMod val="50000"/>
                  </a:schemeClr>
                </a:solidFill>
                <a:latin typeface="Exo" panose="02000503000000000000" pitchFamily="2" charset="77"/>
              </a:rPr>
              <a:t>Info-</a:t>
            </a:r>
            <a:r>
              <a:rPr lang="en-CA" sz="800" spc="-103" dirty="0">
                <a:solidFill>
                  <a:schemeClr val="tx1">
                    <a:lumMod val="50000"/>
                  </a:schemeClr>
                </a:solidFill>
                <a:latin typeface="Exo" panose="02000503000000000000" pitchFamily="2" charset="77"/>
              </a:rPr>
              <a:t>T</a:t>
            </a:r>
            <a:r>
              <a:rPr lang="en-CA" sz="800" spc="-15" dirty="0">
                <a:solidFill>
                  <a:schemeClr val="tx1">
                    <a:lumMod val="50000"/>
                  </a:schemeClr>
                </a:solidFill>
                <a:latin typeface="Exo" panose="02000503000000000000" pitchFamily="2" charset="77"/>
              </a:rPr>
              <a:t>ec</a:t>
            </a:r>
            <a:r>
              <a:rPr lang="en-CA" sz="800" spc="6" dirty="0">
                <a:solidFill>
                  <a:schemeClr val="tx1">
                    <a:lumMod val="50000"/>
                  </a:schemeClr>
                </a:solidFill>
                <a:latin typeface="Exo" panose="02000503000000000000" pitchFamily="2" charset="77"/>
              </a:rPr>
              <a:t>h</a:t>
            </a:r>
            <a:r>
              <a:rPr lang="en-CA" sz="800" spc="-39" dirty="0">
                <a:solidFill>
                  <a:schemeClr val="tx1">
                    <a:lumMod val="50000"/>
                  </a:schemeClr>
                </a:solidFill>
                <a:latin typeface="Exo" panose="02000503000000000000" pitchFamily="2" charset="77"/>
              </a:rPr>
              <a:t> </a:t>
            </a:r>
            <a:r>
              <a:rPr lang="en-CA" sz="800" spc="-15" dirty="0">
                <a:solidFill>
                  <a:schemeClr val="tx1">
                    <a:lumMod val="50000"/>
                  </a:schemeClr>
                </a:solidFill>
                <a:latin typeface="Exo" panose="02000503000000000000" pitchFamily="2" charset="77"/>
              </a:rPr>
              <a:t>Researc</a:t>
            </a:r>
            <a:r>
              <a:rPr lang="en-CA" sz="800" spc="6" dirty="0">
                <a:solidFill>
                  <a:schemeClr val="tx1">
                    <a:lumMod val="50000"/>
                  </a:schemeClr>
                </a:solidFill>
                <a:latin typeface="Exo" panose="02000503000000000000" pitchFamily="2" charset="77"/>
              </a:rPr>
              <a:t>h</a:t>
            </a:r>
            <a:r>
              <a:rPr lang="en-CA" sz="800" spc="-39" dirty="0">
                <a:solidFill>
                  <a:schemeClr val="tx1">
                    <a:lumMod val="50000"/>
                  </a:schemeClr>
                </a:solidFill>
                <a:latin typeface="Exo" panose="02000503000000000000" pitchFamily="2" charset="77"/>
              </a:rPr>
              <a:t> </a:t>
            </a:r>
            <a:r>
              <a:rPr lang="en-CA" sz="800" spc="-15" dirty="0">
                <a:solidFill>
                  <a:schemeClr val="tx1">
                    <a:lumMod val="50000"/>
                  </a:schemeClr>
                </a:solidFill>
                <a:latin typeface="Exo" panose="02000503000000000000" pitchFamily="2" charset="77"/>
              </a:rPr>
              <a:t>Grou</a:t>
            </a:r>
            <a:r>
              <a:rPr lang="en-CA" sz="800" spc="6" dirty="0">
                <a:solidFill>
                  <a:schemeClr val="tx1">
                    <a:lumMod val="50000"/>
                  </a:schemeClr>
                </a:solidFill>
                <a:latin typeface="Exo" panose="02000503000000000000" pitchFamily="2" charset="77"/>
              </a:rPr>
              <a:t>p   |   </a:t>
            </a:r>
            <a:fld id="{81D60167-4931-47E6-BA6A-407CBD079E47}" type="slidenum">
              <a:rPr lang="en-CA" sz="800" spc="6" smtClean="0">
                <a:solidFill>
                  <a:schemeClr val="tx1">
                    <a:lumMod val="50000"/>
                  </a:schemeClr>
                </a:solidFill>
                <a:latin typeface="Exo" panose="02000503000000000000" pitchFamily="2" charset="77"/>
                <a:cs typeface="Arial" panose="020B0604020202020204" pitchFamily="34" charset="0"/>
              </a:rPr>
              <a:pPr marL="7700" marR="242951" lvl="0" indent="0" algn="r" defTabSz="554437" rtl="0" eaLnBrk="1" fontAlgn="auto" latinLnBrk="0" hangingPunct="1">
                <a:lnSpc>
                  <a:spcPct val="100000"/>
                </a:lnSpc>
                <a:spcBef>
                  <a:spcPts val="55"/>
                </a:spcBef>
                <a:spcAft>
                  <a:spcPts val="0"/>
                </a:spcAft>
                <a:buClrTx/>
                <a:buSzTx/>
                <a:buFontTx/>
                <a:buNone/>
                <a:tabLst/>
                <a:defRPr/>
              </a:pPr>
              <a:t>‹#›</a:t>
            </a:fld>
            <a:endParaRPr sz="800" spc="6" dirty="0">
              <a:solidFill>
                <a:schemeClr val="tx1">
                  <a:lumMod val="50000"/>
                </a:schemeClr>
              </a:solidFill>
              <a:latin typeface="Exo" panose="02000503000000000000" pitchFamily="2" charset="77"/>
              <a:cs typeface="Arial" panose="020B0604020202020204" pitchFamily="34" charset="0"/>
            </a:endParaRPr>
          </a:p>
        </p:txBody>
      </p:sp>
    </p:spTree>
    <p:extLst>
      <p:ext uri="{BB962C8B-B14F-4D97-AF65-F5344CB8AC3E}">
        <p14:creationId xmlns:p14="http://schemas.microsoft.com/office/powerpoint/2010/main" val="661967722"/>
      </p:ext>
    </p:extLst>
  </p:cSld>
  <p:clrMap bg1="lt1" tx1="dk1" bg2="lt2" tx2="dk2" accent1="accent1" accent2="accent2" accent3="accent3" accent4="accent4" accent5="accent5" accent6="accent6" hlink="hlink" folHlink="folHlink"/>
  <p:sldLayoutIdLst>
    <p:sldLayoutId id="2147483819" r:id="rId1"/>
    <p:sldLayoutId id="2147483820" r:id="rId2"/>
  </p:sldLayoutIdLst>
  <p:txStyles>
    <p:titleStyle>
      <a:lvl1pPr algn="l" defTabSz="914400" rtl="0" eaLnBrk="1" latinLnBrk="0" hangingPunct="1">
        <a:lnSpc>
          <a:spcPct val="90000"/>
        </a:lnSpc>
        <a:spcBef>
          <a:spcPct val="0"/>
        </a:spcBef>
        <a:buNone/>
        <a:defRPr sz="3600" kern="1200">
          <a:solidFill>
            <a:schemeClr val="tx1"/>
          </a:solidFill>
          <a:latin typeface="Montserrat SemiBold" panose="000007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2.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 Id="rId5" Type="http://schemas.openxmlformats.org/officeDocument/2006/relationships/image" Target="../media/image11.jpeg"/><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 Id="rId4" Type="http://schemas.openxmlformats.org/officeDocument/2006/relationships/image" Target="../media/image14.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chart" Target="../charts/chart2.xml"/></Relationships>
</file>

<file path=ppt/slides/_rels/slide1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chart" Target="../charts/chart6.xml"/><Relationship Id="rId5" Type="http://schemas.openxmlformats.org/officeDocument/2006/relationships/chart" Target="../charts/chart5.xml"/><Relationship Id="rId4" Type="http://schemas.openxmlformats.org/officeDocument/2006/relationships/chart" Target="../charts/chart4.xml"/></Relationships>
</file>

<file path=ppt/slides/_rels/slide1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22.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27.png"/><Relationship Id="rId2" Type="http://schemas.openxmlformats.org/officeDocument/2006/relationships/notesSlide" Target="../notesSlides/notesSlide13.xml"/><Relationship Id="rId16" Type="http://schemas.openxmlformats.org/officeDocument/2006/relationships/image" Target="../media/image31.png"/><Relationship Id="rId1" Type="http://schemas.openxmlformats.org/officeDocument/2006/relationships/slideLayout" Target="../slideLayouts/slideLayout4.xml"/><Relationship Id="rId6" Type="http://schemas.openxmlformats.org/officeDocument/2006/relationships/diagramColors" Target="../diagrams/colors1.xml"/><Relationship Id="rId11" Type="http://schemas.openxmlformats.org/officeDocument/2006/relationships/image" Target="../media/image26.png"/><Relationship Id="rId5" Type="http://schemas.openxmlformats.org/officeDocument/2006/relationships/diagramQuickStyle" Target="../diagrams/quickStyle1.xml"/><Relationship Id="rId15" Type="http://schemas.openxmlformats.org/officeDocument/2006/relationships/image" Target="../media/image30.png"/><Relationship Id="rId10" Type="http://schemas.openxmlformats.org/officeDocument/2006/relationships/image" Target="../media/image25.png"/><Relationship Id="rId4" Type="http://schemas.openxmlformats.org/officeDocument/2006/relationships/diagramLayout" Target="../diagrams/layout1.xml"/><Relationship Id="rId9" Type="http://schemas.openxmlformats.org/officeDocument/2006/relationships/image" Target="../media/image24.png"/><Relationship Id="rId14" Type="http://schemas.openxmlformats.org/officeDocument/2006/relationships/image" Target="../media/image2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35.emf"/></Relationships>
</file>

<file path=ppt/slides/_rels/slide25.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chart" Target="../charts/chart12.xml"/><Relationship Id="rId5" Type="http://schemas.openxmlformats.org/officeDocument/2006/relationships/chart" Target="../charts/chart11.xml"/><Relationship Id="rId4" Type="http://schemas.openxmlformats.org/officeDocument/2006/relationships/chart" Target="../charts/char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microsoft.com/office/2007/relationships/hdphoto" Target="../media/hdphoto2.wdp"/></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6.png"/><Relationship Id="rId7"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38.png"/><Relationship Id="rId10" Type="http://schemas.openxmlformats.org/officeDocument/2006/relationships/image" Target="../media/image42.png"/><Relationship Id="rId4" Type="http://schemas.openxmlformats.org/officeDocument/2006/relationships/image" Target="../media/image37.png"/><Relationship Id="rId9" Type="http://schemas.openxmlformats.org/officeDocument/2006/relationships/image" Target="../media/image4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3" Type="http://schemas.openxmlformats.org/officeDocument/2006/relationships/image" Target="../media/image30.png"/><Relationship Id="rId18" Type="http://schemas.openxmlformats.org/officeDocument/2006/relationships/image" Target="../media/image47.png"/><Relationship Id="rId26" Type="http://schemas.openxmlformats.org/officeDocument/2006/relationships/image" Target="../media/image53.png"/><Relationship Id="rId21" Type="http://schemas.openxmlformats.org/officeDocument/2006/relationships/image" Target="../media/image25.png"/><Relationship Id="rId34" Type="http://schemas.openxmlformats.org/officeDocument/2006/relationships/image" Target="../media/image60.png"/><Relationship Id="rId7" Type="http://schemas.microsoft.com/office/2007/relationships/diagramDrawing" Target="../diagrams/drawing2.xml"/><Relationship Id="rId12" Type="http://schemas.openxmlformats.org/officeDocument/2006/relationships/image" Target="../media/image23.png"/><Relationship Id="rId17" Type="http://schemas.openxmlformats.org/officeDocument/2006/relationships/image" Target="../media/image27.png"/><Relationship Id="rId25" Type="http://schemas.openxmlformats.org/officeDocument/2006/relationships/image" Target="../media/image29.png"/><Relationship Id="rId33" Type="http://schemas.openxmlformats.org/officeDocument/2006/relationships/image" Target="../media/image59.png"/><Relationship Id="rId2" Type="http://schemas.openxmlformats.org/officeDocument/2006/relationships/notesSlide" Target="../notesSlides/notesSlide23.xml"/><Relationship Id="rId16" Type="http://schemas.openxmlformats.org/officeDocument/2006/relationships/image" Target="../media/image26.png"/><Relationship Id="rId20" Type="http://schemas.openxmlformats.org/officeDocument/2006/relationships/image" Target="../media/image49.png"/><Relationship Id="rId29" Type="http://schemas.openxmlformats.org/officeDocument/2006/relationships/image" Target="../media/image56.png"/><Relationship Id="rId1" Type="http://schemas.openxmlformats.org/officeDocument/2006/relationships/slideLayout" Target="../slideLayouts/slideLayout4.xml"/><Relationship Id="rId6" Type="http://schemas.openxmlformats.org/officeDocument/2006/relationships/diagramColors" Target="../diagrams/colors2.xml"/><Relationship Id="rId11" Type="http://schemas.openxmlformats.org/officeDocument/2006/relationships/image" Target="../media/image44.png"/><Relationship Id="rId24" Type="http://schemas.openxmlformats.org/officeDocument/2006/relationships/image" Target="../media/image52.png"/><Relationship Id="rId32" Type="http://schemas.openxmlformats.org/officeDocument/2006/relationships/image" Target="../media/image58.png"/><Relationship Id="rId37" Type="http://schemas.openxmlformats.org/officeDocument/2006/relationships/image" Target="../media/image63.png"/><Relationship Id="rId5" Type="http://schemas.openxmlformats.org/officeDocument/2006/relationships/diagramQuickStyle" Target="../diagrams/quickStyle2.xml"/><Relationship Id="rId15" Type="http://schemas.openxmlformats.org/officeDocument/2006/relationships/image" Target="../media/image46.png"/><Relationship Id="rId23" Type="http://schemas.openxmlformats.org/officeDocument/2006/relationships/image" Target="../media/image51.png"/><Relationship Id="rId28" Type="http://schemas.openxmlformats.org/officeDocument/2006/relationships/image" Target="../media/image55.png"/><Relationship Id="rId36" Type="http://schemas.openxmlformats.org/officeDocument/2006/relationships/image" Target="../media/image62.png"/><Relationship Id="rId10" Type="http://schemas.openxmlformats.org/officeDocument/2006/relationships/image" Target="../media/image43.png"/><Relationship Id="rId19" Type="http://schemas.openxmlformats.org/officeDocument/2006/relationships/image" Target="../media/image48.png"/><Relationship Id="rId31" Type="http://schemas.openxmlformats.org/officeDocument/2006/relationships/image" Target="../media/image28.png"/><Relationship Id="rId4" Type="http://schemas.openxmlformats.org/officeDocument/2006/relationships/diagramLayout" Target="../diagrams/layout2.xml"/><Relationship Id="rId9" Type="http://schemas.openxmlformats.org/officeDocument/2006/relationships/image" Target="../media/image24.png"/><Relationship Id="rId14" Type="http://schemas.openxmlformats.org/officeDocument/2006/relationships/image" Target="../media/image45.png"/><Relationship Id="rId22" Type="http://schemas.openxmlformats.org/officeDocument/2006/relationships/image" Target="../media/image50.png"/><Relationship Id="rId27" Type="http://schemas.openxmlformats.org/officeDocument/2006/relationships/image" Target="../media/image54.png"/><Relationship Id="rId30" Type="http://schemas.openxmlformats.org/officeDocument/2006/relationships/image" Target="../media/image57.png"/><Relationship Id="rId35" Type="http://schemas.openxmlformats.org/officeDocument/2006/relationships/image" Target="../media/image61.png"/><Relationship Id="rId8" Type="http://schemas.openxmlformats.org/officeDocument/2006/relationships/image" Target="../media/image31.png"/><Relationship Id="rId3" Type="http://schemas.openxmlformats.org/officeDocument/2006/relationships/diagramData" Target="../diagrams/data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718404F-9311-284B-9E01-D976464D4921}"/>
              </a:ext>
            </a:extLst>
          </p:cNvPr>
          <p:cNvSpPr>
            <a:spLocks noGrp="1"/>
          </p:cNvSpPr>
          <p:nvPr>
            <p:ph type="body" sz="quarter" idx="10"/>
          </p:nvPr>
        </p:nvSpPr>
        <p:spPr>
          <a:xfrm>
            <a:off x="476029" y="1526577"/>
            <a:ext cx="9398001" cy="730252"/>
          </a:xfrm>
        </p:spPr>
        <p:txBody>
          <a:bodyPr/>
          <a:lstStyle/>
          <a:p>
            <a:r>
              <a:rPr lang="en-US" dirty="0"/>
              <a:t>Securing Our Digital Future</a:t>
            </a:r>
          </a:p>
        </p:txBody>
      </p:sp>
      <p:sp>
        <p:nvSpPr>
          <p:cNvPr id="3" name="Text Placeholder 2">
            <a:extLst>
              <a:ext uri="{FF2B5EF4-FFF2-40B4-BE49-F238E27FC236}">
                <a16:creationId xmlns:a16="http://schemas.microsoft.com/office/drawing/2014/main" id="{76FEE9DA-6E2A-0645-847B-7EE7151871A9}"/>
              </a:ext>
            </a:extLst>
          </p:cNvPr>
          <p:cNvSpPr>
            <a:spLocks noGrp="1"/>
          </p:cNvSpPr>
          <p:nvPr>
            <p:ph type="body" sz="quarter" idx="11"/>
          </p:nvPr>
        </p:nvSpPr>
        <p:spPr>
          <a:xfrm>
            <a:off x="476029" y="2482056"/>
            <a:ext cx="6435725" cy="1893887"/>
          </a:xfrm>
        </p:spPr>
        <p:txBody>
          <a:bodyPr/>
          <a:lstStyle/>
          <a:p>
            <a:r>
              <a:rPr lang="en-US" dirty="0"/>
              <a:t>A strategic plan for intelligent application security in the AI generation.</a:t>
            </a:r>
          </a:p>
        </p:txBody>
      </p:sp>
      <p:sp>
        <p:nvSpPr>
          <p:cNvPr id="4" name="TextBox 3">
            <a:extLst>
              <a:ext uri="{FF2B5EF4-FFF2-40B4-BE49-F238E27FC236}">
                <a16:creationId xmlns:a16="http://schemas.microsoft.com/office/drawing/2014/main" id="{1E0078BA-A199-BA3E-EA04-357E545B2060}"/>
              </a:ext>
            </a:extLst>
          </p:cNvPr>
          <p:cNvSpPr txBox="1"/>
          <p:nvPr/>
        </p:nvSpPr>
        <p:spPr>
          <a:xfrm>
            <a:off x="8589364" y="6250898"/>
            <a:ext cx="0" cy="0"/>
          </a:xfrm>
          <a:prstGeom prst="rect">
            <a:avLst/>
          </a:prstGeom>
        </p:spPr>
        <p:txBody>
          <a:bodyPr wrap="none" lIns="0" tIns="0" rIns="0" bIns="0" numCol="1" spcCol="360000" rtlCol="0">
            <a:noAutofit/>
          </a:bodyPr>
          <a:lstStyle/>
          <a:p>
            <a:pPr marL="179388" indent="-179388" algn="l">
              <a:lnSpc>
                <a:spcPct val="110000"/>
              </a:lnSpc>
              <a:buFont typeface="Arial" panose="020B0604020202020204" pitchFamily="34" charset="0"/>
              <a:buChar char="•"/>
              <a:tabLst/>
            </a:pPr>
            <a:endParaRPr lang="en-US" sz="1400" dirty="0">
              <a:solidFill>
                <a:schemeClr val="tx1">
                  <a:lumMod val="50000"/>
                </a:schemeClr>
              </a:solidFill>
              <a:latin typeface="Roboto Condensed Light" panose="02000000000000000000" pitchFamily="2" charset="0"/>
              <a:ea typeface="Roboto Condensed Light" panose="02000000000000000000" pitchFamily="2" charset="0"/>
            </a:endParaRPr>
          </a:p>
        </p:txBody>
      </p:sp>
      <p:pic>
        <p:nvPicPr>
          <p:cNvPr id="5" name="Picture 4" descr="A logo with a blue and white design&#10;&#10;AI-generated content may be incorrect.">
            <a:extLst>
              <a:ext uri="{FF2B5EF4-FFF2-40B4-BE49-F238E27FC236}">
                <a16:creationId xmlns:a16="http://schemas.microsoft.com/office/drawing/2014/main" id="{225CFE18-5C57-20AF-F902-9A45598103B3}"/>
              </a:ext>
            </a:extLst>
          </p:cNvPr>
          <p:cNvPicPr>
            <a:picLocks noChangeAspect="1"/>
          </p:cNvPicPr>
          <p:nvPr/>
        </p:nvPicPr>
        <p:blipFill>
          <a:blip r:embed="rId3" cstate="print">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a:ext>
            </a:extLst>
          </a:blip>
          <a:stretch>
            <a:fillRect/>
          </a:stretch>
        </p:blipFill>
        <p:spPr>
          <a:xfrm>
            <a:off x="476029" y="5331422"/>
            <a:ext cx="1038536" cy="1038536"/>
          </a:xfrm>
          <a:prstGeom prst="rect">
            <a:avLst/>
          </a:prstGeom>
        </p:spPr>
      </p:pic>
      <p:sp>
        <p:nvSpPr>
          <p:cNvPr id="6" name="TextBox 5">
            <a:extLst>
              <a:ext uri="{FF2B5EF4-FFF2-40B4-BE49-F238E27FC236}">
                <a16:creationId xmlns:a16="http://schemas.microsoft.com/office/drawing/2014/main" id="{AC30F6F0-8751-7F8A-7A28-2F58667B0EE6}"/>
              </a:ext>
            </a:extLst>
          </p:cNvPr>
          <p:cNvSpPr txBox="1"/>
          <p:nvPr/>
        </p:nvSpPr>
        <p:spPr>
          <a:xfrm>
            <a:off x="1565036" y="5533809"/>
            <a:ext cx="3875304" cy="633762"/>
          </a:xfrm>
          <a:prstGeom prst="rect">
            <a:avLst/>
          </a:prstGeom>
        </p:spPr>
        <p:txBody>
          <a:bodyPr wrap="square" lIns="0" tIns="0" rIns="0" bIns="0" numCol="1" spcCol="360000" rtlCol="0">
            <a:no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Montserrat" panose="00000500000000000000" pitchFamily="2" charset="0"/>
                <a:ea typeface="Roboto Condensed Light" panose="02000000000000000000" pitchFamily="2" charset="0"/>
                <a:cs typeface="+mn-cs"/>
              </a:rPr>
              <a:t>ACME Corporation</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Roboto Condensed Light" panose="02000000000000000000" pitchFamily="2" charset="0"/>
                <a:cs typeface="+mn-cs"/>
              </a:rPr>
              <a:t>May 2025</a:t>
            </a:r>
          </a:p>
        </p:txBody>
      </p:sp>
      <p:sp>
        <p:nvSpPr>
          <p:cNvPr id="7" name="TextBox 6">
            <a:extLst>
              <a:ext uri="{FF2B5EF4-FFF2-40B4-BE49-F238E27FC236}">
                <a16:creationId xmlns:a16="http://schemas.microsoft.com/office/drawing/2014/main" id="{27409C6B-022E-6FA0-2EC7-239EA8D1A8D9}"/>
              </a:ext>
            </a:extLst>
          </p:cNvPr>
          <p:cNvSpPr txBox="1"/>
          <p:nvPr/>
        </p:nvSpPr>
        <p:spPr>
          <a:xfrm>
            <a:off x="9387080" y="6183618"/>
            <a:ext cx="2342465" cy="400000"/>
          </a:xfrm>
          <a:prstGeom prst="rect">
            <a:avLst/>
          </a:prstGeom>
        </p:spPr>
        <p:txBody>
          <a:bodyPr wrap="square" lIns="0" tIns="0" rIns="0" bIns="0" numCol="1" spcCol="360000" rtlCol="0">
            <a:noAutofit/>
          </a:bodyPr>
          <a:lstStyle/>
          <a:p>
            <a:pPr algn="l">
              <a:lnSpc>
                <a:spcPct val="110000"/>
              </a:lnSpc>
              <a:tabLst/>
            </a:pPr>
            <a:r>
              <a:rPr lang="en-US" sz="1200" dirty="0">
                <a:solidFill>
                  <a:schemeClr val="accent1">
                    <a:lumMod val="20000"/>
                    <a:lumOff val="80000"/>
                  </a:schemeClr>
                </a:solidFill>
                <a:latin typeface="Roboto Condensed Light" panose="02000000000000000000" pitchFamily="2" charset="0"/>
                <a:ea typeface="Roboto Condensed Light" panose="02000000000000000000" pitchFamily="2" charset="0"/>
              </a:rPr>
              <a:t>Image generated by Sora</a:t>
            </a:r>
          </a:p>
        </p:txBody>
      </p:sp>
    </p:spTree>
    <p:extLst>
      <p:ext uri="{BB962C8B-B14F-4D97-AF65-F5344CB8AC3E}">
        <p14:creationId xmlns:p14="http://schemas.microsoft.com/office/powerpoint/2010/main" val="12289372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43B7B-E79C-0DF3-0C1D-7538C5C5F7FE}"/>
              </a:ext>
            </a:extLst>
          </p:cNvPr>
          <p:cNvSpPr>
            <a:spLocks noGrp="1"/>
          </p:cNvSpPr>
          <p:nvPr>
            <p:ph type="title"/>
          </p:nvPr>
        </p:nvSpPr>
        <p:spPr>
          <a:xfrm>
            <a:off x="840582" y="829560"/>
            <a:ext cx="6139746" cy="1227841"/>
          </a:xfrm>
        </p:spPr>
        <p:txBody>
          <a:bodyPr>
            <a:normAutofit/>
          </a:bodyPr>
          <a:lstStyle/>
          <a:p>
            <a:r>
              <a:rPr lang="en-US" sz="4000" dirty="0"/>
              <a:t>How to use this template</a:t>
            </a:r>
          </a:p>
        </p:txBody>
      </p:sp>
      <p:sp>
        <p:nvSpPr>
          <p:cNvPr id="4" name="Text Placeholder 3">
            <a:extLst>
              <a:ext uri="{FF2B5EF4-FFF2-40B4-BE49-F238E27FC236}">
                <a16:creationId xmlns:a16="http://schemas.microsoft.com/office/drawing/2014/main" id="{B230A29C-C63F-E22E-0768-7A1885737BDD}"/>
              </a:ext>
            </a:extLst>
          </p:cNvPr>
          <p:cNvSpPr>
            <a:spLocks noGrp="1"/>
          </p:cNvSpPr>
          <p:nvPr>
            <p:ph type="body" sz="half" idx="2"/>
          </p:nvPr>
        </p:nvSpPr>
        <p:spPr>
          <a:xfrm>
            <a:off x="840581" y="2057400"/>
            <a:ext cx="7135371" cy="4493872"/>
          </a:xfrm>
        </p:spPr>
        <p:txBody>
          <a:bodyPr>
            <a:normAutofit/>
          </a:bodyPr>
          <a:lstStyle/>
          <a:p>
            <a:pPr>
              <a:lnSpc>
                <a:spcPct val="100000"/>
              </a:lnSpc>
              <a:spcBef>
                <a:spcPts val="0"/>
              </a:spcBef>
            </a:pPr>
            <a:r>
              <a:rPr lang="en-US" sz="1200" dirty="0">
                <a:latin typeface="Roboto Light" panose="02000000000000000000" pitchFamily="2" charset="0"/>
                <a:ea typeface="Roboto Light" panose="02000000000000000000" pitchFamily="2" charset="0"/>
              </a:rPr>
              <a:t>This slide deck is a template and completed example of an </a:t>
            </a:r>
            <a:r>
              <a:rPr lang="en-US" sz="1200">
                <a:latin typeface="Roboto Light" panose="02000000000000000000" pitchFamily="2" charset="0"/>
                <a:ea typeface="Roboto Light" panose="02000000000000000000" pitchFamily="2" charset="0"/>
              </a:rPr>
              <a:t>iSSDLC</a:t>
            </a:r>
            <a:r>
              <a:rPr lang="en-US" sz="1200" dirty="0">
                <a:latin typeface="Roboto Light" panose="02000000000000000000" pitchFamily="2" charset="0"/>
                <a:ea typeface="Roboto Light" panose="02000000000000000000" pitchFamily="2" charset="0"/>
              </a:rPr>
              <a:t> strategic plan. It is intended to be informed by the activities in Info-Tech’s </a:t>
            </a:r>
            <a:r>
              <a:rPr lang="en-US" sz="1200" i="1" dirty="0">
                <a:latin typeface="Roboto Light" panose="02000000000000000000" pitchFamily="2" charset="0"/>
                <a:ea typeface="Roboto Light" panose="02000000000000000000" pitchFamily="2" charset="0"/>
              </a:rPr>
              <a:t>Develop a Strategic Plan for Intelligent Application Security</a:t>
            </a:r>
          </a:p>
          <a:p>
            <a:pPr>
              <a:lnSpc>
                <a:spcPct val="100000"/>
              </a:lnSpc>
              <a:spcBef>
                <a:spcPts val="0"/>
              </a:spcBef>
            </a:pPr>
            <a:r>
              <a:rPr lang="en-US" sz="1200" dirty="0">
                <a:latin typeface="Roboto Light" panose="02000000000000000000" pitchFamily="2" charset="0"/>
                <a:ea typeface="Roboto Light" panose="02000000000000000000" pitchFamily="2" charset="0"/>
              </a:rPr>
              <a:t>blueprint. </a:t>
            </a:r>
          </a:p>
          <a:p>
            <a:pPr>
              <a:lnSpc>
                <a:spcPct val="100000"/>
              </a:lnSpc>
              <a:spcBef>
                <a:spcPts val="0"/>
              </a:spcBef>
            </a:pPr>
            <a:endParaRPr lang="en-US" sz="1200" dirty="0">
              <a:latin typeface="Roboto Light" panose="02000000000000000000" pitchFamily="2" charset="0"/>
              <a:ea typeface="Roboto Light" panose="02000000000000000000" pitchFamily="2" charset="0"/>
            </a:endParaRPr>
          </a:p>
          <a:p>
            <a:pPr>
              <a:lnSpc>
                <a:spcPct val="100000"/>
              </a:lnSpc>
              <a:spcBef>
                <a:spcPts val="0"/>
              </a:spcBef>
            </a:pPr>
            <a:r>
              <a:rPr lang="en-US" sz="1200" dirty="0">
                <a:latin typeface="Roboto Light" panose="02000000000000000000" pitchFamily="2" charset="0"/>
                <a:ea typeface="Roboto Light" panose="02000000000000000000" pitchFamily="2" charset="0"/>
              </a:rPr>
              <a:t>Model your own action plan presentation on the examples provided here. Modify the presentation’s flow, style, and content to reflect your organization’s approach to uncertainty, your presentation style, and your intended audience. </a:t>
            </a:r>
          </a:p>
          <a:p>
            <a:pPr>
              <a:lnSpc>
                <a:spcPct val="100000"/>
              </a:lnSpc>
              <a:spcBef>
                <a:spcPts val="0"/>
              </a:spcBef>
            </a:pPr>
            <a:endParaRPr lang="en-US" sz="1200" dirty="0">
              <a:latin typeface="Roboto Light" panose="02000000000000000000" pitchFamily="2" charset="0"/>
              <a:ea typeface="Roboto Light" panose="02000000000000000000" pitchFamily="2" charset="0"/>
            </a:endParaRPr>
          </a:p>
          <a:p>
            <a:pPr>
              <a:lnSpc>
                <a:spcPct val="100000"/>
              </a:lnSpc>
              <a:spcBef>
                <a:spcPts val="0"/>
              </a:spcBef>
              <a:spcAft>
                <a:spcPts val="600"/>
              </a:spcAft>
            </a:pPr>
            <a:r>
              <a:rPr lang="en-US" sz="1200" dirty="0">
                <a:latin typeface="Roboto Light" panose="02000000000000000000" pitchFamily="2" charset="0"/>
                <a:ea typeface="Roboto Light" panose="02000000000000000000" pitchFamily="2" charset="0"/>
              </a:rPr>
              <a:t>This template consists of four core sections:</a:t>
            </a:r>
          </a:p>
          <a:p>
            <a:pPr marL="342900" indent="-342900">
              <a:lnSpc>
                <a:spcPct val="100000"/>
              </a:lnSpc>
              <a:spcBef>
                <a:spcPts val="0"/>
              </a:spcBef>
              <a:spcAft>
                <a:spcPts val="600"/>
              </a:spcAft>
              <a:buFont typeface="+mj-lt"/>
              <a:buAutoNum type="arabicPeriod"/>
            </a:pPr>
            <a:r>
              <a:rPr lang="en-US" sz="1200" b="1" dirty="0">
                <a:latin typeface="Roboto Light" panose="02000000000000000000" pitchFamily="2" charset="0"/>
                <a:ea typeface="Roboto Light" panose="02000000000000000000" pitchFamily="2" charset="0"/>
              </a:rPr>
              <a:t>Executive summary of your strategic plan. </a:t>
            </a:r>
            <a:r>
              <a:rPr lang="en-US" sz="1200" dirty="0">
                <a:latin typeface="Roboto Light" panose="02000000000000000000" pitchFamily="2" charset="0"/>
                <a:ea typeface="Roboto Light" panose="02000000000000000000" pitchFamily="2" charset="0"/>
              </a:rPr>
              <a:t>This is the overarching summary of the presentation and should be modified to reflect your own approach. </a:t>
            </a:r>
          </a:p>
          <a:p>
            <a:pPr marL="342900" indent="-342900">
              <a:lnSpc>
                <a:spcPct val="100000"/>
              </a:lnSpc>
              <a:spcBef>
                <a:spcPts val="0"/>
              </a:spcBef>
              <a:spcAft>
                <a:spcPts val="600"/>
              </a:spcAft>
              <a:buFont typeface="+mj-lt"/>
              <a:buAutoNum type="arabicPeriod"/>
            </a:pPr>
            <a:r>
              <a:rPr lang="en-US" sz="1200" b="1" dirty="0">
                <a:latin typeface="Roboto Light" panose="02000000000000000000" pitchFamily="2" charset="0"/>
                <a:ea typeface="Roboto Light" panose="02000000000000000000" pitchFamily="2" charset="0"/>
              </a:rPr>
              <a:t>Section 1: Starting point. </a:t>
            </a:r>
            <a:r>
              <a:rPr lang="en-US" sz="1200" dirty="0">
                <a:latin typeface="Roboto Light" panose="02000000000000000000" pitchFamily="2" charset="0"/>
                <a:ea typeface="Roboto Light" panose="02000000000000000000" pitchFamily="2" charset="0"/>
              </a:rPr>
              <a:t>This section focuses on the critical risks and opportunities that organizations should consider when designing an </a:t>
            </a:r>
            <a:r>
              <a:rPr lang="en-US" sz="1200">
                <a:latin typeface="Roboto Light" panose="02000000000000000000" pitchFamily="2" charset="0"/>
                <a:ea typeface="Roboto Light" panose="02000000000000000000" pitchFamily="2" charset="0"/>
              </a:rPr>
              <a:t>iSSDLC</a:t>
            </a:r>
            <a:r>
              <a:rPr lang="en-US" sz="1200" dirty="0">
                <a:latin typeface="Roboto Light" panose="02000000000000000000" pitchFamily="2" charset="0"/>
                <a:ea typeface="Roboto Light" panose="02000000000000000000" pitchFamily="2" charset="0"/>
              </a:rPr>
              <a:t>. </a:t>
            </a:r>
            <a:endParaRPr lang="en-US" sz="1200" b="1" dirty="0">
              <a:latin typeface="Roboto Light" panose="02000000000000000000" pitchFamily="2" charset="0"/>
              <a:ea typeface="Roboto Light" panose="02000000000000000000" pitchFamily="2" charset="0"/>
            </a:endParaRPr>
          </a:p>
          <a:p>
            <a:pPr marL="342900" indent="-342900">
              <a:lnSpc>
                <a:spcPct val="100000"/>
              </a:lnSpc>
              <a:spcBef>
                <a:spcPts val="0"/>
              </a:spcBef>
              <a:spcAft>
                <a:spcPts val="600"/>
              </a:spcAft>
              <a:buFont typeface="+mj-lt"/>
              <a:buAutoNum type="arabicPeriod"/>
            </a:pPr>
            <a:r>
              <a:rPr lang="en-US" sz="1200" b="1" dirty="0">
                <a:latin typeface="Roboto Light" panose="02000000000000000000" pitchFamily="2" charset="0"/>
                <a:ea typeface="Roboto Light" panose="02000000000000000000" pitchFamily="2" charset="0"/>
              </a:rPr>
              <a:t>Section 2: Destination. </a:t>
            </a:r>
            <a:r>
              <a:rPr lang="en-US" sz="1200" dirty="0">
                <a:latin typeface="Roboto Light" panose="02000000000000000000" pitchFamily="2" charset="0"/>
                <a:ea typeface="Roboto Light" panose="02000000000000000000" pitchFamily="2" charset="0"/>
              </a:rPr>
              <a:t>Document the vision for the </a:t>
            </a:r>
            <a:r>
              <a:rPr lang="en-US" sz="1200">
                <a:latin typeface="Roboto Light" panose="02000000000000000000" pitchFamily="2" charset="0"/>
                <a:ea typeface="Roboto Light" panose="02000000000000000000" pitchFamily="2" charset="0"/>
              </a:rPr>
              <a:t>iSSDLC</a:t>
            </a:r>
            <a:r>
              <a:rPr lang="en-US" sz="1200" dirty="0">
                <a:latin typeface="Roboto Light" panose="02000000000000000000" pitchFamily="2" charset="0"/>
                <a:ea typeface="Roboto Light" panose="02000000000000000000" pitchFamily="2" charset="0"/>
              </a:rPr>
              <a:t> target state. </a:t>
            </a:r>
            <a:endParaRPr lang="en-US" sz="1200" b="1" dirty="0">
              <a:latin typeface="Roboto Light" panose="02000000000000000000" pitchFamily="2" charset="0"/>
              <a:ea typeface="Roboto Light" panose="02000000000000000000" pitchFamily="2" charset="0"/>
            </a:endParaRPr>
          </a:p>
          <a:p>
            <a:pPr marL="342900" indent="-342900">
              <a:lnSpc>
                <a:spcPct val="100000"/>
              </a:lnSpc>
              <a:spcBef>
                <a:spcPts val="0"/>
              </a:spcBef>
              <a:spcAft>
                <a:spcPts val="600"/>
              </a:spcAft>
              <a:buFont typeface="+mj-lt"/>
              <a:buAutoNum type="arabicPeriod"/>
            </a:pPr>
            <a:r>
              <a:rPr lang="en-US" sz="1200" b="1" dirty="0">
                <a:latin typeface="Roboto Light" panose="02000000000000000000" pitchFamily="2" charset="0"/>
                <a:ea typeface="Roboto Light" panose="02000000000000000000" pitchFamily="2" charset="0"/>
              </a:rPr>
              <a:t>Appendix A: Initiative one-pagers. </a:t>
            </a:r>
            <a:r>
              <a:rPr lang="en-US" sz="1200" dirty="0">
                <a:latin typeface="Roboto Light" panose="02000000000000000000" pitchFamily="2" charset="0"/>
                <a:ea typeface="Roboto Light" panose="02000000000000000000" pitchFamily="2" charset="0"/>
              </a:rPr>
              <a:t>Use the example provided to develop one-page descriptions for your top initiatives for the </a:t>
            </a:r>
            <a:r>
              <a:rPr lang="en-US" sz="1200">
                <a:latin typeface="Roboto Light" panose="02000000000000000000" pitchFamily="2" charset="0"/>
                <a:ea typeface="Roboto Light" panose="02000000000000000000" pitchFamily="2" charset="0"/>
              </a:rPr>
              <a:t>iSSDLC</a:t>
            </a:r>
            <a:r>
              <a:rPr lang="en-US" sz="1200" dirty="0">
                <a:latin typeface="Roboto Light" panose="02000000000000000000" pitchFamily="2" charset="0"/>
                <a:ea typeface="Roboto Light" panose="02000000000000000000" pitchFamily="2" charset="0"/>
              </a:rPr>
              <a:t>.  </a:t>
            </a:r>
          </a:p>
          <a:p>
            <a:pPr>
              <a:lnSpc>
                <a:spcPct val="100000"/>
              </a:lnSpc>
              <a:spcBef>
                <a:spcPts val="0"/>
              </a:spcBef>
              <a:spcAft>
                <a:spcPts val="600"/>
              </a:spcAft>
            </a:pPr>
            <a:r>
              <a:rPr lang="en-US" sz="1200" dirty="0">
                <a:latin typeface="Roboto Light" panose="02000000000000000000" pitchFamily="2" charset="0"/>
                <a:ea typeface="Roboto Light" panose="02000000000000000000" pitchFamily="2" charset="0"/>
              </a:rPr>
              <a:t>Add, change, or remove content as needed to fit your specific requirements. If you add new slides, make sure the additional content is relevant and provides value to the reader, the format follows the other slides within the deck, and the narrative flow of the deck remains logical and clear.</a:t>
            </a:r>
          </a:p>
        </p:txBody>
      </p:sp>
      <p:sp>
        <p:nvSpPr>
          <p:cNvPr id="5" name="Title 1">
            <a:extLst>
              <a:ext uri="{FF2B5EF4-FFF2-40B4-BE49-F238E27FC236}">
                <a16:creationId xmlns:a16="http://schemas.microsoft.com/office/drawing/2014/main" id="{4B165CBE-70ED-2505-5526-3CA198CBD237}"/>
              </a:ext>
            </a:extLst>
          </p:cNvPr>
          <p:cNvSpPr txBox="1">
            <a:spLocks/>
          </p:cNvSpPr>
          <p:nvPr/>
        </p:nvSpPr>
        <p:spPr>
          <a:xfrm>
            <a:off x="8467675" y="0"/>
            <a:ext cx="3725119" cy="6858000"/>
          </a:xfrm>
          <a:prstGeom prst="rect">
            <a:avLst/>
          </a:prstGeom>
          <a:gradFill flip="none" rotWithShape="1">
            <a:gsLst>
              <a:gs pos="0">
                <a:srgbClr val="0E070E"/>
              </a:gs>
              <a:gs pos="100000">
                <a:srgbClr val="271128">
                  <a:lumMod val="88000"/>
                  <a:lumOff val="12000"/>
                </a:srgbClr>
              </a:gs>
            </a:gsLst>
            <a:lin ang="18900000" scaled="1"/>
            <a:tileRect/>
          </a:gradFill>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gn="ctr">
              <a:defRPr/>
            </a:pPr>
            <a:endParaRPr lang="en-US" dirty="0">
              <a:solidFill>
                <a:srgbClr val="A3FDFB"/>
              </a:solidFill>
              <a:latin typeface="Montserrat" panose="00000500000000000000" pitchFamily="2" charset="0"/>
            </a:endParaRPr>
          </a:p>
        </p:txBody>
      </p:sp>
      <p:sp>
        <p:nvSpPr>
          <p:cNvPr id="3" name="TextBox 2">
            <a:extLst>
              <a:ext uri="{FF2B5EF4-FFF2-40B4-BE49-F238E27FC236}">
                <a16:creationId xmlns:a16="http://schemas.microsoft.com/office/drawing/2014/main" id="{7A46AF17-60C1-95EF-A41F-D40DEDEA069A}"/>
              </a:ext>
            </a:extLst>
          </p:cNvPr>
          <p:cNvSpPr txBox="1"/>
          <p:nvPr/>
        </p:nvSpPr>
        <p:spPr>
          <a:xfrm>
            <a:off x="8803670" y="6449570"/>
            <a:ext cx="3437887" cy="123111"/>
          </a:xfrm>
          <a:prstGeom prst="rect">
            <a:avLst/>
          </a:prstGeom>
        </p:spPr>
        <p:txBody>
          <a:bodyPr vert="horz" wrap="square" lIns="0" tIns="0" rIns="91428" bIns="0" rtlCol="0">
            <a:spAutoFit/>
          </a:bodyPr>
          <a:lstStyle/>
          <a:p>
            <a:pPr marL="7700" marR="242951" algn="r" defTabSz="554437">
              <a:spcBef>
                <a:spcPts val="55"/>
              </a:spcBef>
              <a:defRPr/>
            </a:pPr>
            <a:r>
              <a:rPr lang="en-CA" sz="800" spc="-18" dirty="0">
                <a:solidFill>
                  <a:prstClr val="white"/>
                </a:solidFill>
                <a:latin typeface="Exo" panose="02000503000000000000" pitchFamily="2" charset="77"/>
              </a:rPr>
              <a:t>Info-</a:t>
            </a:r>
            <a:r>
              <a:rPr lang="en-CA" sz="800" spc="-103" dirty="0">
                <a:solidFill>
                  <a:prstClr val="white"/>
                </a:solidFill>
                <a:latin typeface="Exo" panose="02000503000000000000" pitchFamily="2" charset="77"/>
              </a:rPr>
              <a:t>T</a:t>
            </a:r>
            <a:r>
              <a:rPr lang="en-CA" sz="800" spc="-15" dirty="0">
                <a:solidFill>
                  <a:prstClr val="white"/>
                </a:solidFill>
                <a:latin typeface="Exo" panose="02000503000000000000" pitchFamily="2" charset="77"/>
              </a:rPr>
              <a:t>ec</a:t>
            </a:r>
            <a:r>
              <a:rPr lang="en-CA" sz="800" spc="6" dirty="0">
                <a:solidFill>
                  <a:prstClr val="white"/>
                </a:solidFill>
                <a:latin typeface="Exo" panose="02000503000000000000" pitchFamily="2" charset="77"/>
              </a:rPr>
              <a:t>h</a:t>
            </a:r>
            <a:r>
              <a:rPr lang="en-CA" sz="800" spc="-39" dirty="0">
                <a:solidFill>
                  <a:prstClr val="white"/>
                </a:solidFill>
                <a:latin typeface="Exo" panose="02000503000000000000" pitchFamily="2" charset="77"/>
              </a:rPr>
              <a:t> </a:t>
            </a:r>
            <a:r>
              <a:rPr lang="en-CA" sz="800" spc="-15" dirty="0">
                <a:solidFill>
                  <a:prstClr val="white"/>
                </a:solidFill>
                <a:latin typeface="Exo" panose="02000503000000000000" pitchFamily="2" charset="77"/>
              </a:rPr>
              <a:t>Researc</a:t>
            </a:r>
            <a:r>
              <a:rPr lang="en-CA" sz="800" spc="6" dirty="0">
                <a:solidFill>
                  <a:prstClr val="white"/>
                </a:solidFill>
                <a:latin typeface="Exo" panose="02000503000000000000" pitchFamily="2" charset="77"/>
              </a:rPr>
              <a:t>h</a:t>
            </a:r>
            <a:r>
              <a:rPr lang="en-CA" sz="800" spc="-39" dirty="0">
                <a:solidFill>
                  <a:prstClr val="white"/>
                </a:solidFill>
                <a:latin typeface="Exo" panose="02000503000000000000" pitchFamily="2" charset="77"/>
              </a:rPr>
              <a:t> </a:t>
            </a:r>
            <a:r>
              <a:rPr lang="en-CA" sz="800" spc="-15" dirty="0">
                <a:solidFill>
                  <a:prstClr val="white"/>
                </a:solidFill>
                <a:latin typeface="Exo" panose="02000503000000000000" pitchFamily="2" charset="77"/>
              </a:rPr>
              <a:t>Grou</a:t>
            </a:r>
            <a:r>
              <a:rPr lang="en-CA" sz="800" spc="6" dirty="0">
                <a:solidFill>
                  <a:prstClr val="white"/>
                </a:solidFill>
                <a:latin typeface="Exo" panose="02000503000000000000" pitchFamily="2" charset="77"/>
              </a:rPr>
              <a:t>p   |   </a:t>
            </a:r>
            <a:fld id="{81D60167-4931-47E6-BA6A-407CBD079E47}" type="slidenum">
              <a:rPr lang="en-CA" sz="800" spc="6">
                <a:solidFill>
                  <a:prstClr val="white"/>
                </a:solidFill>
                <a:latin typeface="Exo" panose="02000503000000000000" pitchFamily="2" charset="77"/>
                <a:cs typeface="Arial" panose="020B0604020202020204" pitchFamily="34" charset="0"/>
              </a:rPr>
              <a:pPr marL="7700" marR="242951" algn="r" defTabSz="554437">
                <a:spcBef>
                  <a:spcPts val="55"/>
                </a:spcBef>
                <a:defRPr/>
              </a:pPr>
              <a:t>2</a:t>
            </a:fld>
            <a:endParaRPr sz="800" spc="6" dirty="0">
              <a:solidFill>
                <a:prstClr val="white"/>
              </a:solidFill>
              <a:latin typeface="Exo" panose="02000503000000000000" pitchFamily="2" charset="77"/>
              <a:cs typeface="Arial" panose="020B0604020202020204" pitchFamily="34" charset="0"/>
            </a:endParaRPr>
          </a:p>
        </p:txBody>
      </p:sp>
    </p:spTree>
    <p:extLst>
      <p:ext uri="{BB962C8B-B14F-4D97-AF65-F5344CB8AC3E}">
        <p14:creationId xmlns:p14="http://schemas.microsoft.com/office/powerpoint/2010/main" val="576892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2D5D29E-5ABA-4841-BCEB-7B7A04A02634}"/>
              </a:ext>
            </a:extLst>
          </p:cNvPr>
          <p:cNvSpPr/>
          <p:nvPr/>
        </p:nvSpPr>
        <p:spPr>
          <a:xfrm>
            <a:off x="0" y="4785448"/>
            <a:ext cx="12193588" cy="902525"/>
          </a:xfrm>
          <a:prstGeom prst="rect">
            <a:avLst/>
          </a:prstGeom>
          <a:gradFill>
            <a:gsLst>
              <a:gs pos="74000">
                <a:srgbClr val="2576B7">
                  <a:alpha val="9000"/>
                </a:srgbClr>
              </a:gs>
              <a:gs pos="0">
                <a:srgbClr val="2576B7">
                  <a:alpha val="47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B388D35-A4AE-6D44-B119-1C64DA5F7779}"/>
              </a:ext>
            </a:extLst>
          </p:cNvPr>
          <p:cNvSpPr txBox="1"/>
          <p:nvPr/>
        </p:nvSpPr>
        <p:spPr>
          <a:xfrm>
            <a:off x="658368" y="5182558"/>
            <a:ext cx="7498080" cy="553998"/>
          </a:xfrm>
          <a:prstGeom prst="rect">
            <a:avLst/>
          </a:prstGeom>
          <a:noFill/>
        </p:spPr>
        <p:txBody>
          <a:bodyPr wrap="square" lIns="0" tIns="0" rIns="0" bIns="0" rtlCol="0">
            <a:spAutoFit/>
          </a:bodyPr>
          <a:lstStyle/>
          <a:p>
            <a:pPr>
              <a:lnSpc>
                <a:spcPts val="1600"/>
              </a:lnSpc>
            </a:pPr>
            <a:r>
              <a:rPr lang="en-US" sz="2800" spc="500" dirty="0">
                <a:solidFill>
                  <a:schemeClr val="bg1"/>
                </a:solidFill>
                <a:latin typeface="Montserrat Medium" pitchFamily="2" charset="77"/>
                <a:ea typeface="Roboto Condensed Light" panose="02000000000000000000" pitchFamily="2" charset="0"/>
              </a:rPr>
              <a:t>EXECUTIVE BRIEF</a:t>
            </a:r>
          </a:p>
          <a:p>
            <a:pPr>
              <a:lnSpc>
                <a:spcPts val="1400"/>
              </a:lnSpc>
            </a:pPr>
            <a:br>
              <a:rPr lang="en-US" spc="500" dirty="0">
                <a:solidFill>
                  <a:schemeClr val="bg1"/>
                </a:solidFill>
                <a:latin typeface="Montserrat" pitchFamily="2" charset="77"/>
              </a:rPr>
            </a:br>
            <a:endParaRPr lang="en-US" spc="500" dirty="0">
              <a:solidFill>
                <a:schemeClr val="bg1"/>
              </a:solidFill>
              <a:latin typeface="Montserrat" pitchFamily="2" charset="77"/>
            </a:endParaRPr>
          </a:p>
        </p:txBody>
      </p:sp>
    </p:spTree>
    <p:extLst>
      <p:ext uri="{BB962C8B-B14F-4D97-AF65-F5344CB8AC3E}">
        <p14:creationId xmlns:p14="http://schemas.microsoft.com/office/powerpoint/2010/main" val="36047437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gradFill>
          <a:gsLst>
            <a:gs pos="38000">
              <a:srgbClr val="0E070E"/>
            </a:gs>
            <a:gs pos="100000">
              <a:srgbClr val="271128">
                <a:lumMod val="88000"/>
                <a:lumOff val="12000"/>
              </a:srgbClr>
            </a:gs>
          </a:gsLst>
          <a:lin ang="18900000" scaled="1"/>
        </a:gradFill>
        <a:effectLst/>
      </p:bgPr>
    </p:bg>
    <p:spTree>
      <p:nvGrpSpPr>
        <p:cNvPr id="1" name="">
          <a:extLst>
            <a:ext uri="{FF2B5EF4-FFF2-40B4-BE49-F238E27FC236}">
              <a16:creationId xmlns:a16="http://schemas.microsoft.com/office/drawing/2014/main" id="{812C08F8-573C-10C4-C061-045DF9ACDB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652644-92AF-5713-1416-ECB1D24BF098}"/>
              </a:ext>
            </a:extLst>
          </p:cNvPr>
          <p:cNvSpPr>
            <a:spLocks noGrp="1"/>
          </p:cNvSpPr>
          <p:nvPr>
            <p:ph type="title"/>
          </p:nvPr>
        </p:nvSpPr>
        <p:spPr>
          <a:xfrm>
            <a:off x="491037" y="320676"/>
            <a:ext cx="10515600" cy="1325563"/>
          </a:xfrm>
          <a:effectLst>
            <a:softEdge rad="127000"/>
          </a:effectLst>
        </p:spPr>
        <p:txBody>
          <a:bodyPr>
            <a:normAutofit/>
          </a:bodyPr>
          <a:lstStyle/>
          <a:p>
            <a:r>
              <a:rPr lang="en-US" sz="4000" dirty="0">
                <a:solidFill>
                  <a:schemeClr val="bg1"/>
                </a:solidFill>
              </a:rPr>
              <a:t>Now is the moment to secure our digital future</a:t>
            </a:r>
          </a:p>
        </p:txBody>
      </p:sp>
      <p:sp>
        <p:nvSpPr>
          <p:cNvPr id="5" name="Rectangle 4">
            <a:extLst>
              <a:ext uri="{FF2B5EF4-FFF2-40B4-BE49-F238E27FC236}">
                <a16:creationId xmlns:a16="http://schemas.microsoft.com/office/drawing/2014/main" id="{18118E34-BA42-4D58-EB29-20C9F0A77D74}"/>
              </a:ext>
            </a:extLst>
          </p:cNvPr>
          <p:cNvSpPr/>
          <p:nvPr/>
        </p:nvSpPr>
        <p:spPr>
          <a:xfrm>
            <a:off x="358894" y="3917980"/>
            <a:ext cx="2650119" cy="248258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defTabSz="914400">
              <a:defRPr/>
            </a:pPr>
            <a:r>
              <a:rPr lang="en-US" sz="1200" dirty="0">
                <a:solidFill>
                  <a:prstClr val="white"/>
                </a:solidFill>
                <a:latin typeface="Roboto Condensed Light" panose="02000000000000000000" pitchFamily="2" charset="0"/>
                <a:ea typeface="Roboto Condensed Light" panose="02000000000000000000" pitchFamily="2" charset="0"/>
              </a:rPr>
              <a:t>Software supply chain compromise lets attackers piggyback on updates and components enterprises install automatically so that malicious code arrives signed and trusted, bypassing perimeter defenses. Once inside, adversaries can exfiltrate data and pivot across cloud and on-premises environments. </a:t>
            </a:r>
            <a:br>
              <a:rPr lang="en-US" sz="1200" dirty="0">
                <a:solidFill>
                  <a:prstClr val="white"/>
                </a:solidFill>
                <a:latin typeface="Roboto Condensed Light" panose="02000000000000000000" pitchFamily="2" charset="0"/>
                <a:ea typeface="Roboto Condensed Light" panose="02000000000000000000" pitchFamily="2" charset="0"/>
              </a:rPr>
            </a:br>
            <a:br>
              <a:rPr lang="en-US" sz="1200" dirty="0">
                <a:solidFill>
                  <a:prstClr val="white"/>
                </a:solidFill>
                <a:latin typeface="Roboto Condensed Light" panose="02000000000000000000" pitchFamily="2" charset="0"/>
                <a:ea typeface="Roboto Condensed Light" panose="02000000000000000000" pitchFamily="2" charset="0"/>
              </a:rPr>
            </a:br>
            <a:r>
              <a:rPr lang="en-US" sz="1200" dirty="0">
                <a:solidFill>
                  <a:prstClr val="white"/>
                </a:solidFill>
                <a:latin typeface="Roboto Condensed Light" panose="02000000000000000000" pitchFamily="2" charset="0"/>
                <a:ea typeface="Roboto Condensed Light" panose="02000000000000000000" pitchFamily="2" charset="0"/>
              </a:rPr>
              <a:t>Such attacks convert every dependency, CI/CD pipeline, and SaaS platform into a potential attack surface.</a:t>
            </a:r>
          </a:p>
        </p:txBody>
      </p:sp>
      <p:sp>
        <p:nvSpPr>
          <p:cNvPr id="33" name="TextBox 32">
            <a:extLst>
              <a:ext uri="{FF2B5EF4-FFF2-40B4-BE49-F238E27FC236}">
                <a16:creationId xmlns:a16="http://schemas.microsoft.com/office/drawing/2014/main" id="{B27476BA-E7A4-91B2-9EB6-908BA9379ECC}"/>
              </a:ext>
            </a:extLst>
          </p:cNvPr>
          <p:cNvSpPr txBox="1"/>
          <p:nvPr/>
        </p:nvSpPr>
        <p:spPr>
          <a:xfrm>
            <a:off x="262415" y="2939422"/>
            <a:ext cx="2418243" cy="877665"/>
          </a:xfrm>
          <a:prstGeom prst="rect">
            <a:avLst/>
          </a:prstGeom>
          <a:noFill/>
        </p:spPr>
        <p:txBody>
          <a:bodyPr wrap="square" rtlCol="0" anchor="ctr">
            <a:noAutofit/>
          </a:bodyPr>
          <a:lstStyle/>
          <a:p>
            <a:pPr algn="ctr" defTabSz="914400"/>
            <a:r>
              <a:rPr lang="en-US" sz="1600" cap="all" spc="200" dirty="0">
                <a:solidFill>
                  <a:prstClr val="white"/>
                </a:solidFill>
                <a:latin typeface="Exo SemiBold" pitchFamily="2" charset="0"/>
              </a:rPr>
              <a:t>Software Supply chain compromise</a:t>
            </a:r>
          </a:p>
        </p:txBody>
      </p:sp>
      <p:sp>
        <p:nvSpPr>
          <p:cNvPr id="34" name="TextBox 33">
            <a:extLst>
              <a:ext uri="{FF2B5EF4-FFF2-40B4-BE49-F238E27FC236}">
                <a16:creationId xmlns:a16="http://schemas.microsoft.com/office/drawing/2014/main" id="{C6A8FC82-ACA4-E5AD-5D69-ABE0D1BE1FCA}"/>
              </a:ext>
            </a:extLst>
          </p:cNvPr>
          <p:cNvSpPr txBox="1"/>
          <p:nvPr/>
        </p:nvSpPr>
        <p:spPr>
          <a:xfrm>
            <a:off x="3516640" y="2939422"/>
            <a:ext cx="2418243" cy="877665"/>
          </a:xfrm>
          <a:prstGeom prst="rect">
            <a:avLst/>
          </a:prstGeom>
          <a:noFill/>
        </p:spPr>
        <p:txBody>
          <a:bodyPr wrap="square" rtlCol="0" anchor="ctr">
            <a:noAutofit/>
          </a:bodyPr>
          <a:lstStyle>
            <a:defPPr>
              <a:defRPr lang="en-US"/>
            </a:defPPr>
            <a:lvl1pPr algn="ctr" defTabSz="914400">
              <a:defRPr sz="1600" cap="all" spc="200">
                <a:solidFill>
                  <a:prstClr val="white"/>
                </a:solidFill>
                <a:latin typeface="Exo SemiBold" pitchFamily="2" charset="0"/>
              </a:defRPr>
            </a:lvl1pPr>
          </a:lstStyle>
          <a:p>
            <a:r>
              <a:rPr lang="en-US" dirty="0"/>
              <a:t>Mass credential stuffing and account takeover</a:t>
            </a:r>
          </a:p>
        </p:txBody>
      </p:sp>
      <p:sp>
        <p:nvSpPr>
          <p:cNvPr id="36" name="TextBox 35">
            <a:extLst>
              <a:ext uri="{FF2B5EF4-FFF2-40B4-BE49-F238E27FC236}">
                <a16:creationId xmlns:a16="http://schemas.microsoft.com/office/drawing/2014/main" id="{F23FC619-DA6E-3A24-6E69-9B02B0B6AA66}"/>
              </a:ext>
            </a:extLst>
          </p:cNvPr>
          <p:cNvSpPr txBox="1"/>
          <p:nvPr/>
        </p:nvSpPr>
        <p:spPr>
          <a:xfrm>
            <a:off x="6375609" y="2939422"/>
            <a:ext cx="2194560" cy="877663"/>
          </a:xfrm>
          <a:prstGeom prst="rect">
            <a:avLst/>
          </a:prstGeom>
          <a:noFill/>
        </p:spPr>
        <p:txBody>
          <a:bodyPr wrap="square" rtlCol="0" anchor="ctr">
            <a:noAutofit/>
          </a:bodyPr>
          <a:lstStyle>
            <a:defPPr>
              <a:defRPr lang="en-US"/>
            </a:defPPr>
            <a:lvl1pPr algn="ctr" defTabSz="914400">
              <a:defRPr sz="1600" cap="all" spc="200">
                <a:solidFill>
                  <a:prstClr val="white"/>
                </a:solidFill>
                <a:latin typeface="Exo SemiBold" pitchFamily="2" charset="0"/>
              </a:defRPr>
            </a:lvl1pPr>
          </a:lstStyle>
          <a:p>
            <a:r>
              <a:rPr lang="en-US" dirty="0"/>
              <a:t>Faster time to value</a:t>
            </a:r>
          </a:p>
        </p:txBody>
      </p:sp>
      <p:sp>
        <p:nvSpPr>
          <p:cNvPr id="37" name="TextBox 36">
            <a:extLst>
              <a:ext uri="{FF2B5EF4-FFF2-40B4-BE49-F238E27FC236}">
                <a16:creationId xmlns:a16="http://schemas.microsoft.com/office/drawing/2014/main" id="{C962B48D-48AD-3191-ACD9-008E82EF8E25}"/>
              </a:ext>
            </a:extLst>
          </p:cNvPr>
          <p:cNvSpPr txBox="1"/>
          <p:nvPr/>
        </p:nvSpPr>
        <p:spPr>
          <a:xfrm>
            <a:off x="9348136" y="2939423"/>
            <a:ext cx="2670883" cy="877662"/>
          </a:xfrm>
          <a:prstGeom prst="rect">
            <a:avLst/>
          </a:prstGeom>
          <a:noFill/>
        </p:spPr>
        <p:txBody>
          <a:bodyPr wrap="square" rtlCol="0" anchor="ctr">
            <a:noAutofit/>
          </a:bodyPr>
          <a:lstStyle>
            <a:defPPr>
              <a:defRPr lang="en-US"/>
            </a:defPPr>
            <a:lvl1pPr algn="ctr" defTabSz="914400">
              <a:defRPr sz="1600" cap="all" spc="200">
                <a:solidFill>
                  <a:prstClr val="white"/>
                </a:solidFill>
                <a:latin typeface="Exo SemiBold" pitchFamily="2" charset="0"/>
              </a:defRPr>
            </a:lvl1pPr>
          </a:lstStyle>
          <a:p>
            <a:r>
              <a:rPr lang="en-US" dirty="0"/>
              <a:t>Improved compliance stance</a:t>
            </a:r>
          </a:p>
        </p:txBody>
      </p:sp>
      <p:sp>
        <p:nvSpPr>
          <p:cNvPr id="38" name="TextBox 37">
            <a:extLst>
              <a:ext uri="{FF2B5EF4-FFF2-40B4-BE49-F238E27FC236}">
                <a16:creationId xmlns:a16="http://schemas.microsoft.com/office/drawing/2014/main" id="{C34DC425-8F2B-405F-EF6E-3AAAC38003E2}"/>
              </a:ext>
            </a:extLst>
          </p:cNvPr>
          <p:cNvSpPr txBox="1"/>
          <p:nvPr/>
        </p:nvSpPr>
        <p:spPr>
          <a:xfrm>
            <a:off x="8803670" y="6449570"/>
            <a:ext cx="3437887" cy="123111"/>
          </a:xfrm>
          <a:prstGeom prst="rect">
            <a:avLst/>
          </a:prstGeom>
        </p:spPr>
        <p:txBody>
          <a:bodyPr vert="horz" wrap="square" lIns="0" tIns="0" rIns="91428" bIns="0" rtlCol="0">
            <a:spAutoFit/>
          </a:bodyPr>
          <a:lstStyle/>
          <a:p>
            <a:pPr marL="7700" marR="242951" algn="r" defTabSz="554437">
              <a:spcBef>
                <a:spcPts val="55"/>
              </a:spcBef>
              <a:defRPr/>
            </a:pPr>
            <a:r>
              <a:rPr lang="en-CA" sz="800" spc="-18" dirty="0">
                <a:solidFill>
                  <a:prstClr val="white"/>
                </a:solidFill>
                <a:latin typeface="Exo" panose="02000503000000000000" pitchFamily="2" charset="77"/>
              </a:rPr>
              <a:t>Info-</a:t>
            </a:r>
            <a:r>
              <a:rPr lang="en-CA" sz="800" spc="-103" dirty="0">
                <a:solidFill>
                  <a:prstClr val="white"/>
                </a:solidFill>
                <a:latin typeface="Exo" panose="02000503000000000000" pitchFamily="2" charset="77"/>
              </a:rPr>
              <a:t>T</a:t>
            </a:r>
            <a:r>
              <a:rPr lang="en-CA" sz="800" spc="-15" dirty="0">
                <a:solidFill>
                  <a:prstClr val="white"/>
                </a:solidFill>
                <a:latin typeface="Exo" panose="02000503000000000000" pitchFamily="2" charset="77"/>
              </a:rPr>
              <a:t>ec</a:t>
            </a:r>
            <a:r>
              <a:rPr lang="en-CA" sz="800" spc="6" dirty="0">
                <a:solidFill>
                  <a:prstClr val="white"/>
                </a:solidFill>
                <a:latin typeface="Exo" panose="02000503000000000000" pitchFamily="2" charset="77"/>
              </a:rPr>
              <a:t>h</a:t>
            </a:r>
            <a:r>
              <a:rPr lang="en-CA" sz="800" spc="-39" dirty="0">
                <a:solidFill>
                  <a:prstClr val="white"/>
                </a:solidFill>
                <a:latin typeface="Exo" panose="02000503000000000000" pitchFamily="2" charset="77"/>
              </a:rPr>
              <a:t> </a:t>
            </a:r>
            <a:r>
              <a:rPr lang="en-CA" sz="800" spc="-15" dirty="0">
                <a:solidFill>
                  <a:prstClr val="white"/>
                </a:solidFill>
                <a:latin typeface="Exo" panose="02000503000000000000" pitchFamily="2" charset="77"/>
              </a:rPr>
              <a:t>Researc</a:t>
            </a:r>
            <a:r>
              <a:rPr lang="en-CA" sz="800" spc="6" dirty="0">
                <a:solidFill>
                  <a:prstClr val="white"/>
                </a:solidFill>
                <a:latin typeface="Exo" panose="02000503000000000000" pitchFamily="2" charset="77"/>
              </a:rPr>
              <a:t>h</a:t>
            </a:r>
            <a:r>
              <a:rPr lang="en-CA" sz="800" spc="-39" dirty="0">
                <a:solidFill>
                  <a:prstClr val="white"/>
                </a:solidFill>
                <a:latin typeface="Exo" panose="02000503000000000000" pitchFamily="2" charset="77"/>
              </a:rPr>
              <a:t> </a:t>
            </a:r>
            <a:r>
              <a:rPr lang="en-CA" sz="800" spc="-15" dirty="0">
                <a:solidFill>
                  <a:prstClr val="white"/>
                </a:solidFill>
                <a:latin typeface="Exo" panose="02000503000000000000" pitchFamily="2" charset="77"/>
              </a:rPr>
              <a:t>Grou</a:t>
            </a:r>
            <a:r>
              <a:rPr lang="en-CA" sz="800" spc="6" dirty="0">
                <a:solidFill>
                  <a:prstClr val="white"/>
                </a:solidFill>
                <a:latin typeface="Exo" panose="02000503000000000000" pitchFamily="2" charset="77"/>
              </a:rPr>
              <a:t>p   |   </a:t>
            </a:r>
            <a:fld id="{81D60167-4931-47E6-BA6A-407CBD079E47}" type="slidenum">
              <a:rPr lang="en-CA" sz="800" spc="6">
                <a:solidFill>
                  <a:prstClr val="white"/>
                </a:solidFill>
                <a:latin typeface="Exo" panose="02000503000000000000" pitchFamily="2" charset="77"/>
                <a:cs typeface="Arial" panose="020B0604020202020204" pitchFamily="34" charset="0"/>
              </a:rPr>
              <a:pPr marL="7700" marR="242951" algn="r" defTabSz="554437">
                <a:spcBef>
                  <a:spcPts val="55"/>
                </a:spcBef>
                <a:defRPr/>
              </a:pPr>
              <a:t>4</a:t>
            </a:fld>
            <a:endParaRPr sz="800" spc="6" dirty="0">
              <a:solidFill>
                <a:prstClr val="white"/>
              </a:solidFill>
              <a:latin typeface="Exo" panose="02000503000000000000" pitchFamily="2" charset="77"/>
              <a:cs typeface="Arial" panose="020B0604020202020204" pitchFamily="34" charset="0"/>
            </a:endParaRPr>
          </a:p>
        </p:txBody>
      </p:sp>
      <p:sp>
        <p:nvSpPr>
          <p:cNvPr id="41" name="TextBox 40">
            <a:extLst>
              <a:ext uri="{FF2B5EF4-FFF2-40B4-BE49-F238E27FC236}">
                <a16:creationId xmlns:a16="http://schemas.microsoft.com/office/drawing/2014/main" id="{E7A2AC4E-C448-8948-0ACF-BF01A859F23D}"/>
              </a:ext>
            </a:extLst>
          </p:cNvPr>
          <p:cNvSpPr txBox="1"/>
          <p:nvPr/>
        </p:nvSpPr>
        <p:spPr>
          <a:xfrm>
            <a:off x="4078705" y="1646239"/>
            <a:ext cx="1293215" cy="369332"/>
          </a:xfrm>
          <a:prstGeom prst="rect">
            <a:avLst/>
          </a:prstGeom>
          <a:noFill/>
        </p:spPr>
        <p:txBody>
          <a:bodyPr wrap="square" rtlCol="0">
            <a:spAutoFit/>
          </a:bodyPr>
          <a:lstStyle/>
          <a:p>
            <a:r>
              <a:rPr lang="en-US" sz="1800" dirty="0">
                <a:solidFill>
                  <a:schemeClr val="bg1"/>
                </a:solidFill>
                <a:latin typeface="Exo SemiBold" pitchFamily="2" charset="0"/>
              </a:rPr>
              <a:t>THREATS</a:t>
            </a:r>
          </a:p>
        </p:txBody>
      </p:sp>
      <p:sp>
        <p:nvSpPr>
          <p:cNvPr id="42" name="TextBox 41">
            <a:extLst>
              <a:ext uri="{FF2B5EF4-FFF2-40B4-BE49-F238E27FC236}">
                <a16:creationId xmlns:a16="http://schemas.microsoft.com/office/drawing/2014/main" id="{47CBB2F2-4F0A-54CA-D6DF-650BCF923035}"/>
              </a:ext>
            </a:extLst>
          </p:cNvPr>
          <p:cNvSpPr txBox="1"/>
          <p:nvPr/>
        </p:nvSpPr>
        <p:spPr>
          <a:xfrm>
            <a:off x="6008687" y="1646239"/>
            <a:ext cx="2194560" cy="369332"/>
          </a:xfrm>
          <a:prstGeom prst="rect">
            <a:avLst/>
          </a:prstGeom>
          <a:noFill/>
        </p:spPr>
        <p:txBody>
          <a:bodyPr wrap="square" rtlCol="0">
            <a:spAutoFit/>
          </a:bodyPr>
          <a:lstStyle/>
          <a:p>
            <a:pPr algn="r"/>
            <a:r>
              <a:rPr lang="en-US" sz="1800" dirty="0">
                <a:solidFill>
                  <a:schemeClr val="bg1"/>
                </a:solidFill>
                <a:latin typeface="Exo SemiBold" pitchFamily="2" charset="0"/>
              </a:rPr>
              <a:t>OPPORTUNITIES</a:t>
            </a:r>
          </a:p>
        </p:txBody>
      </p:sp>
      <p:pic>
        <p:nvPicPr>
          <p:cNvPr id="44" name="Picture 43" descr="A red and white sign with a lightning bolt&#10;&#10;AI-generated content may be incorrect.">
            <a:extLst>
              <a:ext uri="{FF2B5EF4-FFF2-40B4-BE49-F238E27FC236}">
                <a16:creationId xmlns:a16="http://schemas.microsoft.com/office/drawing/2014/main" id="{4FA7D8C0-7A39-304A-F5B3-AA53195CA6D3}"/>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370516" y="1427618"/>
            <a:ext cx="1463398" cy="1463398"/>
          </a:xfrm>
          <a:prstGeom prst="rect">
            <a:avLst/>
          </a:prstGeom>
          <a:effectLst>
            <a:softEdge rad="127000"/>
          </a:effectLst>
        </p:spPr>
      </p:pic>
      <p:pic>
        <p:nvPicPr>
          <p:cNvPr id="46" name="Picture 45" descr="A green square with a light bulb and a arrow&#10;&#10;AI-generated content may be incorrect.">
            <a:extLst>
              <a:ext uri="{FF2B5EF4-FFF2-40B4-BE49-F238E27FC236}">
                <a16:creationId xmlns:a16="http://schemas.microsoft.com/office/drawing/2014/main" id="{06F3A3FE-0F21-B8C3-2BA4-83E78362B1C5}"/>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8290064" y="1440716"/>
            <a:ext cx="1463398" cy="1463398"/>
          </a:xfrm>
          <a:prstGeom prst="rect">
            <a:avLst/>
          </a:prstGeom>
          <a:effectLst>
            <a:softEdge rad="127000"/>
          </a:effectLst>
        </p:spPr>
      </p:pic>
      <p:cxnSp>
        <p:nvCxnSpPr>
          <p:cNvPr id="50" name="Connector: Elbow 49">
            <a:extLst>
              <a:ext uri="{FF2B5EF4-FFF2-40B4-BE49-F238E27FC236}">
                <a16:creationId xmlns:a16="http://schemas.microsoft.com/office/drawing/2014/main" id="{2B7A717F-7A2B-2F26-8E1D-0A6E3B4D872E}"/>
              </a:ext>
            </a:extLst>
          </p:cNvPr>
          <p:cNvCxnSpPr>
            <a:cxnSpLocks/>
            <a:stCxn id="44" idx="1"/>
          </p:cNvCxnSpPr>
          <p:nvPr/>
        </p:nvCxnSpPr>
        <p:spPr>
          <a:xfrm rot="10800000" flipV="1">
            <a:off x="1440402" y="2159317"/>
            <a:ext cx="930115" cy="593864"/>
          </a:xfrm>
          <a:prstGeom prst="bentConnector3">
            <a:avLst>
              <a:gd name="adj1" fmla="val 102506"/>
            </a:avLst>
          </a:prstGeom>
          <a:ln w="25400">
            <a:tailEnd type="oval" w="lg" len="lg"/>
          </a:ln>
          <a:effectLst>
            <a:glow rad="101600">
              <a:schemeClr val="accent2">
                <a:satMod val="175000"/>
                <a:alpha val="40000"/>
              </a:schemeClr>
            </a:glow>
          </a:effectLst>
        </p:spPr>
        <p:style>
          <a:lnRef idx="1">
            <a:schemeClr val="accent2"/>
          </a:lnRef>
          <a:fillRef idx="0">
            <a:schemeClr val="accent2"/>
          </a:fillRef>
          <a:effectRef idx="0">
            <a:schemeClr val="accent2"/>
          </a:effectRef>
          <a:fontRef idx="minor">
            <a:schemeClr val="tx1"/>
          </a:fontRef>
        </p:style>
      </p:cxnSp>
      <p:cxnSp>
        <p:nvCxnSpPr>
          <p:cNvPr id="54" name="Connector: Elbow 53">
            <a:extLst>
              <a:ext uri="{FF2B5EF4-FFF2-40B4-BE49-F238E27FC236}">
                <a16:creationId xmlns:a16="http://schemas.microsoft.com/office/drawing/2014/main" id="{C04CC343-A6E9-7A04-3C75-921DBDE18E5F}"/>
              </a:ext>
            </a:extLst>
          </p:cNvPr>
          <p:cNvCxnSpPr>
            <a:cxnSpLocks/>
            <a:stCxn id="44" idx="3"/>
          </p:cNvCxnSpPr>
          <p:nvPr/>
        </p:nvCxnSpPr>
        <p:spPr>
          <a:xfrm>
            <a:off x="3833914" y="2159317"/>
            <a:ext cx="930116" cy="593864"/>
          </a:xfrm>
          <a:prstGeom prst="bentConnector3">
            <a:avLst>
              <a:gd name="adj1" fmla="val 101390"/>
            </a:avLst>
          </a:prstGeom>
          <a:ln>
            <a:tailEnd type="oval" w="lg" len="lg"/>
          </a:ln>
          <a:effectLst>
            <a:glow rad="101600">
              <a:schemeClr val="accent2">
                <a:satMod val="175000"/>
                <a:alpha val="40000"/>
              </a:schemeClr>
            </a:glow>
          </a:effectLst>
        </p:spPr>
        <p:style>
          <a:lnRef idx="3">
            <a:schemeClr val="accent2"/>
          </a:lnRef>
          <a:fillRef idx="0">
            <a:schemeClr val="accent2"/>
          </a:fillRef>
          <a:effectRef idx="2">
            <a:schemeClr val="accent2"/>
          </a:effectRef>
          <a:fontRef idx="minor">
            <a:schemeClr val="tx1"/>
          </a:fontRef>
        </p:style>
      </p:cxnSp>
      <p:cxnSp>
        <p:nvCxnSpPr>
          <p:cNvPr id="57" name="Connector: Elbow 56">
            <a:extLst>
              <a:ext uri="{FF2B5EF4-FFF2-40B4-BE49-F238E27FC236}">
                <a16:creationId xmlns:a16="http://schemas.microsoft.com/office/drawing/2014/main" id="{AFDB7868-A59B-C1C1-5430-FA9F373616AA}"/>
              </a:ext>
            </a:extLst>
          </p:cNvPr>
          <p:cNvCxnSpPr>
            <a:cxnSpLocks/>
            <a:stCxn id="46" idx="3"/>
            <a:endCxn id="37" idx="0"/>
          </p:cNvCxnSpPr>
          <p:nvPr/>
        </p:nvCxnSpPr>
        <p:spPr>
          <a:xfrm>
            <a:off x="9753462" y="2172415"/>
            <a:ext cx="930116" cy="767008"/>
          </a:xfrm>
          <a:prstGeom prst="bentConnector2">
            <a:avLst/>
          </a:prstGeom>
          <a:ln w="25400">
            <a:tailEnd type="oval" w="lg" len="lg"/>
          </a:ln>
          <a:effectLst>
            <a:glow rad="101600">
              <a:schemeClr val="accent3">
                <a:satMod val="175000"/>
                <a:alpha val="40000"/>
              </a:schemeClr>
            </a:glow>
          </a:effectLst>
        </p:spPr>
        <p:style>
          <a:lnRef idx="1">
            <a:schemeClr val="accent6"/>
          </a:lnRef>
          <a:fillRef idx="0">
            <a:schemeClr val="accent6"/>
          </a:fillRef>
          <a:effectRef idx="0">
            <a:schemeClr val="accent6"/>
          </a:effectRef>
          <a:fontRef idx="minor">
            <a:schemeClr val="tx1"/>
          </a:fontRef>
        </p:style>
      </p:cxnSp>
      <p:cxnSp>
        <p:nvCxnSpPr>
          <p:cNvPr id="60" name="Connector: Elbow 59">
            <a:extLst>
              <a:ext uri="{FF2B5EF4-FFF2-40B4-BE49-F238E27FC236}">
                <a16:creationId xmlns:a16="http://schemas.microsoft.com/office/drawing/2014/main" id="{F985AF13-4162-A55B-C76D-9E162B4DCFA3}"/>
              </a:ext>
            </a:extLst>
          </p:cNvPr>
          <p:cNvCxnSpPr>
            <a:cxnSpLocks/>
            <a:stCxn id="46" idx="1"/>
            <a:endCxn id="36" idx="0"/>
          </p:cNvCxnSpPr>
          <p:nvPr/>
        </p:nvCxnSpPr>
        <p:spPr>
          <a:xfrm rot="10800000" flipV="1">
            <a:off x="7472890" y="2172414"/>
            <a:ext cx="817175" cy="767007"/>
          </a:xfrm>
          <a:prstGeom prst="bentConnector2">
            <a:avLst/>
          </a:prstGeom>
          <a:ln w="25400">
            <a:tailEnd type="oval" w="lg" len="lg"/>
          </a:ln>
          <a:effectLst>
            <a:glow rad="101600">
              <a:schemeClr val="accent3">
                <a:satMod val="175000"/>
                <a:alpha val="40000"/>
              </a:schemeClr>
            </a:glow>
          </a:effectLst>
        </p:spPr>
        <p:style>
          <a:lnRef idx="1">
            <a:schemeClr val="accent6"/>
          </a:lnRef>
          <a:fillRef idx="0">
            <a:schemeClr val="accent6"/>
          </a:fillRef>
          <a:effectRef idx="0">
            <a:schemeClr val="accent6"/>
          </a:effectRef>
          <a:fontRef idx="minor">
            <a:schemeClr val="tx1"/>
          </a:fontRef>
        </p:style>
      </p:cxnSp>
      <p:sp>
        <p:nvSpPr>
          <p:cNvPr id="13" name="Rectangle 12">
            <a:extLst>
              <a:ext uri="{FF2B5EF4-FFF2-40B4-BE49-F238E27FC236}">
                <a16:creationId xmlns:a16="http://schemas.microsoft.com/office/drawing/2014/main" id="{1441649F-60F3-667C-9299-91D827A12B1C}"/>
              </a:ext>
            </a:extLst>
          </p:cNvPr>
          <p:cNvSpPr/>
          <p:nvPr/>
        </p:nvSpPr>
        <p:spPr>
          <a:xfrm>
            <a:off x="3358768" y="3917980"/>
            <a:ext cx="2650119" cy="248258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defTabSz="914400">
              <a:defRPr/>
            </a:pPr>
            <a:r>
              <a:rPr lang="en-US" sz="1200" dirty="0">
                <a:solidFill>
                  <a:prstClr val="white"/>
                </a:solidFill>
                <a:latin typeface="Roboto Condensed Light" panose="02000000000000000000" pitchFamily="2" charset="0"/>
                <a:ea typeface="Roboto Condensed Light" panose="02000000000000000000" pitchFamily="2" charset="0"/>
              </a:rPr>
              <a:t>Credential stuffing — the automated replay of passwords leaked in earlier breaches — has become the fastest growing path to account takeover. Account takeover destroys customer trust and drains money.</a:t>
            </a:r>
            <a:br>
              <a:rPr lang="en-US" sz="1200" dirty="0">
                <a:solidFill>
                  <a:prstClr val="white"/>
                </a:solidFill>
                <a:latin typeface="Roboto Condensed Light" panose="02000000000000000000" pitchFamily="2" charset="0"/>
                <a:ea typeface="Roboto Condensed Light" panose="02000000000000000000" pitchFamily="2" charset="0"/>
              </a:rPr>
            </a:br>
            <a:br>
              <a:rPr lang="en-US" sz="1200" dirty="0">
                <a:solidFill>
                  <a:prstClr val="white"/>
                </a:solidFill>
                <a:latin typeface="Roboto Condensed Light" panose="02000000000000000000" pitchFamily="2" charset="0"/>
                <a:ea typeface="Roboto Condensed Light" panose="02000000000000000000" pitchFamily="2" charset="0"/>
              </a:rPr>
            </a:br>
            <a:r>
              <a:rPr lang="en-US" sz="1200" dirty="0">
                <a:solidFill>
                  <a:prstClr val="white"/>
                </a:solidFill>
                <a:latin typeface="Roboto Condensed Light" panose="02000000000000000000" pitchFamily="2" charset="0"/>
                <a:ea typeface="Roboto Condensed Light" panose="02000000000000000000" pitchFamily="2" charset="0"/>
              </a:rPr>
              <a:t>Any login protected only by a shared secret is effectively public, necessitating multifactor checks, anomaly-based lockouts, and vigilant session-risk scoring.</a:t>
            </a:r>
          </a:p>
        </p:txBody>
      </p:sp>
      <p:sp>
        <p:nvSpPr>
          <p:cNvPr id="14" name="Rectangle 13">
            <a:extLst>
              <a:ext uri="{FF2B5EF4-FFF2-40B4-BE49-F238E27FC236}">
                <a16:creationId xmlns:a16="http://schemas.microsoft.com/office/drawing/2014/main" id="{FFCA016F-7325-9083-BCF8-EED10EDECADC}"/>
              </a:ext>
            </a:extLst>
          </p:cNvPr>
          <p:cNvSpPr/>
          <p:nvPr/>
        </p:nvSpPr>
        <p:spPr>
          <a:xfrm>
            <a:off x="6375609" y="3917980"/>
            <a:ext cx="2650119" cy="248258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defTabSz="914400">
              <a:defRPr/>
            </a:pPr>
            <a:r>
              <a:rPr lang="en-US" sz="1200" dirty="0">
                <a:solidFill>
                  <a:prstClr val="white"/>
                </a:solidFill>
                <a:latin typeface="Roboto Condensed Light" panose="02000000000000000000" pitchFamily="2" charset="0"/>
                <a:ea typeface="Roboto Condensed Light" panose="02000000000000000000" pitchFamily="2" charset="0"/>
              </a:rPr>
              <a:t>Robust application security practices —automated code scanning, threat modeling, and secure-by-design frameworks — shift defect detection to the earliest stages of development, preventing late-stage rework and post-launch patches that derail release schedules. </a:t>
            </a:r>
            <a:br>
              <a:rPr lang="en-US" sz="1200" dirty="0">
                <a:solidFill>
                  <a:prstClr val="white"/>
                </a:solidFill>
                <a:latin typeface="Roboto Condensed Light" panose="02000000000000000000" pitchFamily="2" charset="0"/>
                <a:ea typeface="Roboto Condensed Light" panose="02000000000000000000" pitchFamily="2" charset="0"/>
              </a:rPr>
            </a:br>
            <a:br>
              <a:rPr lang="en-US" sz="1200" dirty="0">
                <a:solidFill>
                  <a:prstClr val="white"/>
                </a:solidFill>
                <a:latin typeface="Roboto Condensed Light" panose="02000000000000000000" pitchFamily="2" charset="0"/>
                <a:ea typeface="Roboto Condensed Light" panose="02000000000000000000" pitchFamily="2" charset="0"/>
              </a:rPr>
            </a:br>
            <a:r>
              <a:rPr lang="en-US" sz="1200" dirty="0">
                <a:solidFill>
                  <a:prstClr val="white"/>
                </a:solidFill>
                <a:latin typeface="Roboto Condensed Light" panose="02000000000000000000" pitchFamily="2" charset="0"/>
                <a:ea typeface="Roboto Condensed Light" panose="02000000000000000000" pitchFamily="2" charset="0"/>
              </a:rPr>
              <a:t>The result is a shorter feedback loop from concept to customer value, turning security from a gatekeeper into a force multiplier for rapid product rollout.</a:t>
            </a:r>
          </a:p>
        </p:txBody>
      </p:sp>
      <p:sp>
        <p:nvSpPr>
          <p:cNvPr id="15" name="Rectangle 14">
            <a:extLst>
              <a:ext uri="{FF2B5EF4-FFF2-40B4-BE49-F238E27FC236}">
                <a16:creationId xmlns:a16="http://schemas.microsoft.com/office/drawing/2014/main" id="{29FC92A4-1ED5-8ADD-F62F-4AA7A7DED93F}"/>
              </a:ext>
            </a:extLst>
          </p:cNvPr>
          <p:cNvSpPr/>
          <p:nvPr/>
        </p:nvSpPr>
        <p:spPr>
          <a:xfrm>
            <a:off x="9358517" y="3917980"/>
            <a:ext cx="2650119" cy="248258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defTabSz="914400">
              <a:defRPr/>
            </a:pPr>
            <a:r>
              <a:rPr lang="en-US" sz="1200" dirty="0">
                <a:solidFill>
                  <a:prstClr val="white"/>
                </a:solidFill>
                <a:latin typeface="Roboto Condensed Light" panose="02000000000000000000" pitchFamily="2" charset="0"/>
                <a:ea typeface="Roboto Condensed Light" panose="02000000000000000000" pitchFamily="2" charset="0"/>
              </a:rPr>
              <a:t>Secure data pipelines, authenticated APIs, and model-governance guardrails ensure sensitive data, proprietary algorithms, and cloud resources driving AI and advanced analytics remain reliable and compliant from the outset. </a:t>
            </a:r>
            <a:br>
              <a:rPr lang="en-US" sz="1200" dirty="0">
                <a:solidFill>
                  <a:prstClr val="white"/>
                </a:solidFill>
                <a:latin typeface="Roboto Condensed Light" panose="02000000000000000000" pitchFamily="2" charset="0"/>
                <a:ea typeface="Roboto Condensed Light" panose="02000000000000000000" pitchFamily="2" charset="0"/>
              </a:rPr>
            </a:br>
            <a:br>
              <a:rPr lang="en-US" sz="1200" dirty="0">
                <a:solidFill>
                  <a:prstClr val="white"/>
                </a:solidFill>
                <a:latin typeface="Roboto Condensed Light" panose="02000000000000000000" pitchFamily="2" charset="0"/>
                <a:ea typeface="Roboto Condensed Light" panose="02000000000000000000" pitchFamily="2" charset="0"/>
              </a:rPr>
            </a:br>
            <a:r>
              <a:rPr lang="en-US" sz="1200" dirty="0">
                <a:solidFill>
                  <a:prstClr val="white"/>
                </a:solidFill>
                <a:latin typeface="Roboto Condensed Light" panose="02000000000000000000" pitchFamily="2" charset="0"/>
                <a:ea typeface="Roboto Condensed Light" panose="02000000000000000000" pitchFamily="2" charset="0"/>
              </a:rPr>
              <a:t>This allows development teams to train, deploy, and iterate models quickly, shortening the path from raw data to actionable insights and freeing the organization to scale analytics initiatives with confidence.</a:t>
            </a:r>
          </a:p>
        </p:txBody>
      </p:sp>
      <p:sp>
        <p:nvSpPr>
          <p:cNvPr id="7" name="TextBox 6">
            <a:extLst>
              <a:ext uri="{FF2B5EF4-FFF2-40B4-BE49-F238E27FC236}">
                <a16:creationId xmlns:a16="http://schemas.microsoft.com/office/drawing/2014/main" id="{F141B73B-F0E4-2F8B-F967-186FF6786B69}"/>
              </a:ext>
            </a:extLst>
          </p:cNvPr>
          <p:cNvSpPr txBox="1"/>
          <p:nvPr/>
        </p:nvSpPr>
        <p:spPr>
          <a:xfrm>
            <a:off x="4035352" y="2329448"/>
            <a:ext cx="4149213" cy="2438400"/>
          </a:xfrm>
          <a:prstGeom prst="rect">
            <a:avLst/>
          </a:prstGeom>
          <a:gradFill>
            <a:gsLst>
              <a:gs pos="0">
                <a:schemeClr val="accent5">
                  <a:lumMod val="110000"/>
                  <a:satMod val="105000"/>
                  <a:tint val="67000"/>
                  <a:alpha val="75000"/>
                </a:schemeClr>
              </a:gs>
              <a:gs pos="50000">
                <a:schemeClr val="accent5">
                  <a:lumMod val="105000"/>
                  <a:satMod val="103000"/>
                  <a:tint val="73000"/>
                </a:schemeClr>
              </a:gs>
              <a:gs pos="100000">
                <a:schemeClr val="accent5">
                  <a:lumMod val="105000"/>
                  <a:satMod val="109000"/>
                  <a:tint val="81000"/>
                </a:schemeClr>
              </a:gs>
            </a:gsLst>
          </a:gradFill>
        </p:spPr>
        <p:style>
          <a:lnRef idx="1">
            <a:schemeClr val="accent5"/>
          </a:lnRef>
          <a:fillRef idx="2">
            <a:schemeClr val="accent5"/>
          </a:fillRef>
          <a:effectRef idx="1">
            <a:schemeClr val="accent5"/>
          </a:effectRef>
          <a:fontRef idx="minor">
            <a:schemeClr val="dk1"/>
          </a:fontRef>
        </p:style>
        <p:txBody>
          <a:bodyPr wrap="square" rtlCol="0">
            <a:noAutofit/>
          </a:bodyPr>
          <a:lstStyle/>
          <a:p>
            <a:pPr algn="ctr"/>
            <a:endParaRPr lang="en-US" sz="2800" dirty="0"/>
          </a:p>
          <a:p>
            <a:pPr algn="ctr"/>
            <a:r>
              <a:rPr lang="en-US" sz="2800" dirty="0"/>
              <a:t>Update this slide with your top two security threats and business opportunities.</a:t>
            </a:r>
          </a:p>
        </p:txBody>
      </p:sp>
    </p:spTree>
    <p:extLst>
      <p:ext uri="{BB962C8B-B14F-4D97-AF65-F5344CB8AC3E}">
        <p14:creationId xmlns:p14="http://schemas.microsoft.com/office/powerpoint/2010/main" val="6800871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gradFill>
          <a:gsLst>
            <a:gs pos="38000">
              <a:srgbClr val="0E070E"/>
            </a:gs>
            <a:gs pos="100000">
              <a:srgbClr val="271128">
                <a:lumMod val="88000"/>
                <a:lumOff val="12000"/>
              </a:srgbClr>
            </a:gs>
          </a:gsLst>
          <a:lin ang="18900000" scaled="1"/>
        </a:gradFill>
        <a:effectLst/>
      </p:bgPr>
    </p:bg>
    <p:spTree>
      <p:nvGrpSpPr>
        <p:cNvPr id="1" name="">
          <a:extLst>
            <a:ext uri="{FF2B5EF4-FFF2-40B4-BE49-F238E27FC236}">
              <a16:creationId xmlns:a16="http://schemas.microsoft.com/office/drawing/2014/main" id="{3FD0C82A-8E25-4A6B-DC67-E8AB90EF77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ACBA0E-A6CD-86E8-C745-3E51211D795E}"/>
              </a:ext>
            </a:extLst>
          </p:cNvPr>
          <p:cNvSpPr>
            <a:spLocks noGrp="1"/>
          </p:cNvSpPr>
          <p:nvPr>
            <p:ph type="title"/>
          </p:nvPr>
        </p:nvSpPr>
        <p:spPr>
          <a:xfrm>
            <a:off x="491037" y="320676"/>
            <a:ext cx="10515600" cy="1325563"/>
          </a:xfrm>
        </p:spPr>
        <p:txBody>
          <a:bodyPr>
            <a:normAutofit/>
          </a:bodyPr>
          <a:lstStyle/>
          <a:p>
            <a:r>
              <a:rPr lang="en-US" sz="4000" dirty="0">
                <a:solidFill>
                  <a:schemeClr val="bg1"/>
                </a:solidFill>
              </a:rPr>
              <a:t>We must chart a bold path toward intelligent application security</a:t>
            </a:r>
          </a:p>
        </p:txBody>
      </p:sp>
      <p:sp>
        <p:nvSpPr>
          <p:cNvPr id="5" name="Rectangle 4">
            <a:extLst>
              <a:ext uri="{FF2B5EF4-FFF2-40B4-BE49-F238E27FC236}">
                <a16:creationId xmlns:a16="http://schemas.microsoft.com/office/drawing/2014/main" id="{AD09650D-39C1-6225-A59D-F5433CDAE618}"/>
              </a:ext>
            </a:extLst>
          </p:cNvPr>
          <p:cNvSpPr/>
          <p:nvPr/>
        </p:nvSpPr>
        <p:spPr>
          <a:xfrm>
            <a:off x="491037" y="3447631"/>
            <a:ext cx="4855972" cy="300193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defTabSz="914400">
              <a:spcAft>
                <a:spcPts val="1200"/>
              </a:spcAft>
              <a:defRPr/>
            </a:pPr>
            <a:r>
              <a:rPr lang="en-US" sz="1400" dirty="0">
                <a:solidFill>
                  <a:prstClr val="white"/>
                </a:solidFill>
                <a:latin typeface="Roboto Condensed Light" panose="02000000000000000000" pitchFamily="2" charset="0"/>
                <a:ea typeface="Roboto Condensed Light" panose="02000000000000000000" pitchFamily="2" charset="0"/>
              </a:rPr>
              <a:t>Our application security posture is still mostly manual</a:t>
            </a:r>
            <a:r>
              <a:rPr lang="en-US" sz="1400">
                <a:solidFill>
                  <a:prstClr val="white"/>
                </a:solidFill>
                <a:latin typeface="Roboto Condensed Light" panose="02000000000000000000" pitchFamily="2" charset="0"/>
                <a:ea typeface="Roboto Condensed Light" panose="02000000000000000000" pitchFamily="2" charset="0"/>
              </a:rPr>
              <a:t>. Without automated capabilities, flaws surface late, frequently forcing hotfixes that stall new factory-analytics and supplier-portal rollouts. </a:t>
            </a:r>
            <a:endParaRPr lang="en-US" sz="1400" dirty="0">
              <a:solidFill>
                <a:prstClr val="white"/>
              </a:solidFill>
              <a:latin typeface="Roboto Condensed Light" panose="02000000000000000000" pitchFamily="2" charset="0"/>
              <a:ea typeface="Roboto Condensed Light" panose="02000000000000000000" pitchFamily="2" charset="0"/>
            </a:endParaRPr>
          </a:p>
          <a:p>
            <a:pPr defTabSz="914400">
              <a:spcAft>
                <a:spcPts val="1200"/>
              </a:spcAft>
              <a:defRPr/>
            </a:pPr>
            <a:r>
              <a:rPr lang="en-US" sz="1400" dirty="0">
                <a:solidFill>
                  <a:prstClr val="white"/>
                </a:solidFill>
                <a:latin typeface="Roboto Condensed Light" panose="02000000000000000000" pitchFamily="2" charset="0"/>
                <a:ea typeface="Roboto Condensed Light" panose="02000000000000000000" pitchFamily="2" charset="0"/>
              </a:rPr>
              <a:t>Developers rely on ad hoc checklists rather than a defined secure coding standard, so we</a:t>
            </a:r>
            <a:r>
              <a:rPr lang="en-US" sz="1400" b="1" dirty="0">
                <a:solidFill>
                  <a:prstClr val="white"/>
                </a:solidFill>
                <a:latin typeface="Roboto Condensed Light" panose="02000000000000000000" pitchFamily="2" charset="0"/>
                <a:ea typeface="Roboto Condensed Light" panose="02000000000000000000" pitchFamily="2" charset="0"/>
              </a:rPr>
              <a:t> struggle to satisfy California privacy audits and customer cybersecurity questionnaires</a:t>
            </a:r>
            <a:r>
              <a:rPr lang="en-US" sz="1400" dirty="0">
                <a:solidFill>
                  <a:prstClr val="white"/>
                </a:solidFill>
                <a:latin typeface="Roboto Condensed Light" panose="02000000000000000000" pitchFamily="2" charset="0"/>
                <a:ea typeface="Roboto Condensed Light" panose="02000000000000000000" pitchFamily="2" charset="0"/>
              </a:rPr>
              <a:t>. Lacking versioned dependency tracking and continuous monitoring, we remain vulnerable to supply chain exploits that could spill from IT into operational technology. This low-maturity SSDLC </a:t>
            </a:r>
            <a:r>
              <a:rPr lang="en-US" sz="1400" b="1" dirty="0">
                <a:solidFill>
                  <a:prstClr val="white"/>
                </a:solidFill>
                <a:latin typeface="Roboto Condensed Light" panose="02000000000000000000" pitchFamily="2" charset="0"/>
                <a:ea typeface="Roboto Condensed Light" panose="02000000000000000000" pitchFamily="2" charset="0"/>
              </a:rPr>
              <a:t>drives rework costs, slows time to market, and leaves compliance and uptime at risk.</a:t>
            </a:r>
          </a:p>
        </p:txBody>
      </p:sp>
      <p:sp>
        <p:nvSpPr>
          <p:cNvPr id="33" name="TextBox 32">
            <a:extLst>
              <a:ext uri="{FF2B5EF4-FFF2-40B4-BE49-F238E27FC236}">
                <a16:creationId xmlns:a16="http://schemas.microsoft.com/office/drawing/2014/main" id="{52F4C9C2-AF6F-8AF9-B5A0-D5038AE0E631}"/>
              </a:ext>
            </a:extLst>
          </p:cNvPr>
          <p:cNvSpPr txBox="1"/>
          <p:nvPr/>
        </p:nvSpPr>
        <p:spPr>
          <a:xfrm>
            <a:off x="1194168" y="2923953"/>
            <a:ext cx="3186446" cy="338554"/>
          </a:xfrm>
          <a:prstGeom prst="rect">
            <a:avLst/>
          </a:prstGeom>
          <a:noFill/>
        </p:spPr>
        <p:txBody>
          <a:bodyPr wrap="square" rtlCol="0">
            <a:spAutoFit/>
          </a:bodyPr>
          <a:lstStyle/>
          <a:p>
            <a:pPr algn="ctr" defTabSz="914400"/>
            <a:r>
              <a:rPr lang="en-US" sz="1600" cap="all" spc="200" dirty="0">
                <a:solidFill>
                  <a:prstClr val="white"/>
                </a:solidFill>
                <a:latin typeface="Exo SemiBold" pitchFamily="2" charset="0"/>
              </a:rPr>
              <a:t>manual security</a:t>
            </a:r>
          </a:p>
        </p:txBody>
      </p:sp>
      <p:sp>
        <p:nvSpPr>
          <p:cNvPr id="37" name="TextBox 36">
            <a:extLst>
              <a:ext uri="{FF2B5EF4-FFF2-40B4-BE49-F238E27FC236}">
                <a16:creationId xmlns:a16="http://schemas.microsoft.com/office/drawing/2014/main" id="{75DCA54C-5E1D-D112-58E5-D2E74199B11E}"/>
              </a:ext>
            </a:extLst>
          </p:cNvPr>
          <p:cNvSpPr txBox="1"/>
          <p:nvPr/>
        </p:nvSpPr>
        <p:spPr>
          <a:xfrm>
            <a:off x="7197712" y="2920798"/>
            <a:ext cx="3551274" cy="338554"/>
          </a:xfrm>
          <a:prstGeom prst="rect">
            <a:avLst/>
          </a:prstGeom>
          <a:noFill/>
        </p:spPr>
        <p:txBody>
          <a:bodyPr wrap="square" rtlCol="0">
            <a:spAutoFit/>
          </a:bodyPr>
          <a:lstStyle/>
          <a:p>
            <a:pPr algn="ctr" defTabSz="914400"/>
            <a:r>
              <a:rPr lang="en-US" sz="1600" cap="all" spc="200" dirty="0">
                <a:solidFill>
                  <a:prstClr val="white"/>
                </a:solidFill>
                <a:latin typeface="Exo SemiBold" pitchFamily="2" charset="0"/>
              </a:rPr>
              <a:t>Intelligent security</a:t>
            </a:r>
          </a:p>
        </p:txBody>
      </p:sp>
      <p:sp>
        <p:nvSpPr>
          <p:cNvPr id="38" name="TextBox 37">
            <a:extLst>
              <a:ext uri="{FF2B5EF4-FFF2-40B4-BE49-F238E27FC236}">
                <a16:creationId xmlns:a16="http://schemas.microsoft.com/office/drawing/2014/main" id="{40E35821-03A3-6B9D-6B86-537F9C180990}"/>
              </a:ext>
            </a:extLst>
          </p:cNvPr>
          <p:cNvSpPr txBox="1"/>
          <p:nvPr/>
        </p:nvSpPr>
        <p:spPr>
          <a:xfrm>
            <a:off x="8803670" y="6449570"/>
            <a:ext cx="3437887" cy="123111"/>
          </a:xfrm>
          <a:prstGeom prst="rect">
            <a:avLst/>
          </a:prstGeom>
        </p:spPr>
        <p:txBody>
          <a:bodyPr vert="horz" wrap="square" lIns="0" tIns="0" rIns="91428" bIns="0" rtlCol="0">
            <a:spAutoFit/>
          </a:bodyPr>
          <a:lstStyle/>
          <a:p>
            <a:pPr marL="7700" marR="242951" algn="r" defTabSz="554437">
              <a:spcBef>
                <a:spcPts val="55"/>
              </a:spcBef>
              <a:defRPr/>
            </a:pPr>
            <a:r>
              <a:rPr lang="en-CA" sz="800" spc="-18" dirty="0">
                <a:solidFill>
                  <a:prstClr val="white"/>
                </a:solidFill>
                <a:latin typeface="Exo" panose="02000503000000000000" pitchFamily="2" charset="77"/>
              </a:rPr>
              <a:t>Info-</a:t>
            </a:r>
            <a:r>
              <a:rPr lang="en-CA" sz="800" spc="-103" dirty="0">
                <a:solidFill>
                  <a:prstClr val="white"/>
                </a:solidFill>
                <a:latin typeface="Exo" panose="02000503000000000000" pitchFamily="2" charset="77"/>
              </a:rPr>
              <a:t>T</a:t>
            </a:r>
            <a:r>
              <a:rPr lang="en-CA" sz="800" spc="-15" dirty="0">
                <a:solidFill>
                  <a:prstClr val="white"/>
                </a:solidFill>
                <a:latin typeface="Exo" panose="02000503000000000000" pitchFamily="2" charset="77"/>
              </a:rPr>
              <a:t>ec</a:t>
            </a:r>
            <a:r>
              <a:rPr lang="en-CA" sz="800" spc="6" dirty="0">
                <a:solidFill>
                  <a:prstClr val="white"/>
                </a:solidFill>
                <a:latin typeface="Exo" panose="02000503000000000000" pitchFamily="2" charset="77"/>
              </a:rPr>
              <a:t>h</a:t>
            </a:r>
            <a:r>
              <a:rPr lang="en-CA" sz="800" spc="-39" dirty="0">
                <a:solidFill>
                  <a:prstClr val="white"/>
                </a:solidFill>
                <a:latin typeface="Exo" panose="02000503000000000000" pitchFamily="2" charset="77"/>
              </a:rPr>
              <a:t> </a:t>
            </a:r>
            <a:r>
              <a:rPr lang="en-CA" sz="800" spc="-15" dirty="0">
                <a:solidFill>
                  <a:prstClr val="white"/>
                </a:solidFill>
                <a:latin typeface="Exo" panose="02000503000000000000" pitchFamily="2" charset="77"/>
              </a:rPr>
              <a:t>Researc</a:t>
            </a:r>
            <a:r>
              <a:rPr lang="en-CA" sz="800" spc="6" dirty="0">
                <a:solidFill>
                  <a:prstClr val="white"/>
                </a:solidFill>
                <a:latin typeface="Exo" panose="02000503000000000000" pitchFamily="2" charset="77"/>
              </a:rPr>
              <a:t>h</a:t>
            </a:r>
            <a:r>
              <a:rPr lang="en-CA" sz="800" spc="-39" dirty="0">
                <a:solidFill>
                  <a:prstClr val="white"/>
                </a:solidFill>
                <a:latin typeface="Exo" panose="02000503000000000000" pitchFamily="2" charset="77"/>
              </a:rPr>
              <a:t> </a:t>
            </a:r>
            <a:r>
              <a:rPr lang="en-CA" sz="800" spc="-15" dirty="0">
                <a:solidFill>
                  <a:prstClr val="white"/>
                </a:solidFill>
                <a:latin typeface="Exo" panose="02000503000000000000" pitchFamily="2" charset="77"/>
              </a:rPr>
              <a:t>Grou</a:t>
            </a:r>
            <a:r>
              <a:rPr lang="en-CA" sz="800" spc="6" dirty="0">
                <a:solidFill>
                  <a:prstClr val="white"/>
                </a:solidFill>
                <a:latin typeface="Exo" panose="02000503000000000000" pitchFamily="2" charset="77"/>
              </a:rPr>
              <a:t>p   |   </a:t>
            </a:r>
            <a:fld id="{81D60167-4931-47E6-BA6A-407CBD079E47}" type="slidenum">
              <a:rPr lang="en-CA" sz="800" spc="6">
                <a:solidFill>
                  <a:prstClr val="white"/>
                </a:solidFill>
                <a:latin typeface="Exo" panose="02000503000000000000" pitchFamily="2" charset="77"/>
                <a:cs typeface="Arial" panose="020B0604020202020204" pitchFamily="34" charset="0"/>
              </a:rPr>
              <a:pPr marL="7700" marR="242951" algn="r" defTabSz="554437">
                <a:spcBef>
                  <a:spcPts val="55"/>
                </a:spcBef>
                <a:defRPr/>
              </a:pPr>
              <a:t>5</a:t>
            </a:fld>
            <a:endParaRPr sz="800" spc="6" dirty="0">
              <a:solidFill>
                <a:prstClr val="white"/>
              </a:solidFill>
              <a:latin typeface="Exo" panose="02000503000000000000" pitchFamily="2" charset="77"/>
              <a:cs typeface="Arial" panose="020B0604020202020204" pitchFamily="34" charset="0"/>
            </a:endParaRPr>
          </a:p>
        </p:txBody>
      </p:sp>
      <p:pic>
        <p:nvPicPr>
          <p:cNvPr id="10" name="Picture 9" descr="A blue and purple square with a play button&#10;&#10;AI-generated content may be incorrect.">
            <a:extLst>
              <a:ext uri="{FF2B5EF4-FFF2-40B4-BE49-F238E27FC236}">
                <a16:creationId xmlns:a16="http://schemas.microsoft.com/office/drawing/2014/main" id="{3DB9FFF0-1668-E710-87E7-7ED313B516F8}"/>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046252" y="1415849"/>
            <a:ext cx="1357038" cy="1357038"/>
          </a:xfrm>
          <a:prstGeom prst="rect">
            <a:avLst/>
          </a:prstGeom>
          <a:effectLst>
            <a:softEdge rad="254000"/>
          </a:effectLst>
        </p:spPr>
      </p:pic>
      <p:pic>
        <p:nvPicPr>
          <p:cNvPr id="12" name="Picture 11" descr="A purple and white logo&#10;&#10;AI-generated content may be incorrect.">
            <a:extLst>
              <a:ext uri="{FF2B5EF4-FFF2-40B4-BE49-F238E27FC236}">
                <a16:creationId xmlns:a16="http://schemas.microsoft.com/office/drawing/2014/main" id="{632E04C4-E08B-E128-F694-B31274D10C9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9639233" y="1415849"/>
            <a:ext cx="1508104" cy="1508104"/>
          </a:xfrm>
          <a:prstGeom prst="rect">
            <a:avLst/>
          </a:prstGeom>
          <a:effectLst>
            <a:softEdge rad="254000"/>
          </a:effectLst>
        </p:spPr>
      </p:pic>
      <p:cxnSp>
        <p:nvCxnSpPr>
          <p:cNvPr id="22" name="Straight Connector 21">
            <a:extLst>
              <a:ext uri="{FF2B5EF4-FFF2-40B4-BE49-F238E27FC236}">
                <a16:creationId xmlns:a16="http://schemas.microsoft.com/office/drawing/2014/main" id="{9784A57F-EEB0-4B65-386C-EA7910EF7ADB}"/>
              </a:ext>
            </a:extLst>
          </p:cNvPr>
          <p:cNvCxnSpPr>
            <a:cxnSpLocks/>
          </p:cNvCxnSpPr>
          <p:nvPr/>
        </p:nvCxnSpPr>
        <p:spPr>
          <a:xfrm>
            <a:off x="2294241" y="2059140"/>
            <a:ext cx="7344992" cy="0"/>
          </a:xfrm>
          <a:prstGeom prst="line">
            <a:avLst/>
          </a:prstGeom>
          <a:ln w="25400" cap="flat">
            <a:gradFill flip="none" rotWithShape="1">
              <a:gsLst>
                <a:gs pos="0">
                  <a:schemeClr val="tx2">
                    <a:lumMod val="50000"/>
                    <a:lumOff val="50000"/>
                  </a:schemeClr>
                </a:gs>
                <a:gs pos="100000">
                  <a:schemeClr val="accent5">
                    <a:lumMod val="75000"/>
                  </a:schemeClr>
                </a:gs>
              </a:gsLst>
              <a:lin ang="0" scaled="1"/>
              <a:tileRect/>
            </a:gradFill>
            <a:tailEnd type="oval" w="lg" len="lg"/>
          </a:ln>
          <a:effectLst>
            <a:glow rad="63500">
              <a:schemeClr val="accent5">
                <a:satMod val="175000"/>
                <a:alpha val="40000"/>
              </a:schemeClr>
            </a:glow>
          </a:effectLst>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E24CBAD0-5BA6-8A9F-133B-2F7CACF38C51}"/>
              </a:ext>
            </a:extLst>
          </p:cNvPr>
          <p:cNvSpPr/>
          <p:nvPr/>
        </p:nvSpPr>
        <p:spPr>
          <a:xfrm>
            <a:off x="6359236" y="3429000"/>
            <a:ext cx="5153891" cy="300193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defTabSz="914400">
              <a:spcAft>
                <a:spcPts val="1200"/>
              </a:spcAft>
              <a:defRPr/>
            </a:pPr>
            <a:r>
              <a:rPr lang="en-US" sz="1400" dirty="0">
                <a:solidFill>
                  <a:prstClr val="white"/>
                </a:solidFill>
                <a:latin typeface="Roboto Condensed Light" panose="02000000000000000000" pitchFamily="2" charset="0"/>
                <a:ea typeface="Roboto Condensed Light" panose="02000000000000000000" pitchFamily="2" charset="0"/>
              </a:rPr>
              <a:t>Transitioning to an intelligent secure software development lifecycle (</a:t>
            </a:r>
            <a:r>
              <a:rPr lang="en-US" sz="1400">
                <a:solidFill>
                  <a:prstClr val="white"/>
                </a:solidFill>
                <a:latin typeface="Roboto Condensed Light" panose="02000000000000000000" pitchFamily="2" charset="0"/>
                <a:ea typeface="Roboto Condensed Light" panose="02000000000000000000" pitchFamily="2" charset="0"/>
              </a:rPr>
              <a:t>iSSDLC</a:t>
            </a:r>
            <a:r>
              <a:rPr lang="en-US" sz="1400" dirty="0">
                <a:solidFill>
                  <a:prstClr val="white"/>
                </a:solidFill>
                <a:latin typeface="Roboto Condensed Light" panose="02000000000000000000" pitchFamily="2" charset="0"/>
                <a:ea typeface="Roboto Condensed Light" panose="02000000000000000000" pitchFamily="2" charset="0"/>
              </a:rPr>
              <a:t>) will embed security checks directly into each commit and build. </a:t>
            </a:r>
          </a:p>
          <a:p>
            <a:pPr defTabSz="914400">
              <a:spcAft>
                <a:spcPts val="1200"/>
              </a:spcAft>
              <a:defRPr/>
            </a:pPr>
            <a:r>
              <a:rPr lang="en-US" sz="1400">
                <a:solidFill>
                  <a:prstClr val="white"/>
                </a:solidFill>
                <a:latin typeface="Roboto Condensed Light" panose="02000000000000000000" pitchFamily="2" charset="0"/>
                <a:ea typeface="Roboto Condensed Light" panose="02000000000000000000" pitchFamily="2" charset="0"/>
              </a:rPr>
              <a:t>Autogenerated SBOMs and compliance reports will satisfy California privacy mandates and aerospace-customer audits in minutes instead of weeks. Real-time </a:t>
            </a:r>
            <a:r>
              <a:rPr lang="en-US" sz="1400" dirty="0">
                <a:solidFill>
                  <a:prstClr val="white"/>
                </a:solidFill>
                <a:latin typeface="Roboto Condensed Light" panose="02000000000000000000" pitchFamily="2" charset="0"/>
                <a:ea typeface="Roboto Condensed Light" panose="02000000000000000000" pitchFamily="2" charset="0"/>
              </a:rPr>
              <a:t>dependency monitoring and automated patch orchestration will shrink exposure windows for supply chain exploits, </a:t>
            </a:r>
            <a:r>
              <a:rPr lang="en-US" sz="1400" b="1" dirty="0">
                <a:solidFill>
                  <a:prstClr val="white"/>
                </a:solidFill>
                <a:latin typeface="Roboto Condensed Light" panose="02000000000000000000" pitchFamily="2" charset="0"/>
                <a:ea typeface="Roboto Condensed Light" panose="02000000000000000000" pitchFamily="2" charset="0"/>
              </a:rPr>
              <a:t>reducing unplanned downtime across both IT and shop floor OT networks</a:t>
            </a:r>
            <a:r>
              <a:rPr lang="en-US" sz="1400" dirty="0">
                <a:solidFill>
                  <a:prstClr val="white"/>
                </a:solidFill>
                <a:latin typeface="Roboto Condensed Light" panose="02000000000000000000" pitchFamily="2" charset="0"/>
                <a:ea typeface="Roboto Condensed Light" panose="02000000000000000000" pitchFamily="2" charset="0"/>
              </a:rPr>
              <a:t>. </a:t>
            </a:r>
          </a:p>
          <a:p>
            <a:pPr defTabSz="914400">
              <a:spcAft>
                <a:spcPts val="1200"/>
              </a:spcAft>
              <a:defRPr/>
            </a:pPr>
            <a:r>
              <a:rPr lang="en-US" sz="1400" dirty="0">
                <a:solidFill>
                  <a:prstClr val="white"/>
                </a:solidFill>
                <a:latin typeface="Roboto Condensed Light" panose="02000000000000000000" pitchFamily="2" charset="0"/>
                <a:ea typeface="Roboto Condensed Light" panose="02000000000000000000" pitchFamily="2" charset="0"/>
              </a:rPr>
              <a:t>Overall, security shifts from a last-minute hurdle to a streamlined, invisible partner that </a:t>
            </a:r>
            <a:r>
              <a:rPr lang="en-US" sz="1400" b="1" dirty="0">
                <a:solidFill>
                  <a:prstClr val="white"/>
                </a:solidFill>
                <a:latin typeface="Roboto Condensed Light" panose="02000000000000000000" pitchFamily="2" charset="0"/>
                <a:ea typeface="Roboto Condensed Light" panose="02000000000000000000" pitchFamily="2" charset="0"/>
              </a:rPr>
              <a:t>accelerates product releases and preserves uptime.</a:t>
            </a:r>
          </a:p>
        </p:txBody>
      </p:sp>
      <p:sp>
        <p:nvSpPr>
          <p:cNvPr id="3" name="TextBox 2">
            <a:extLst>
              <a:ext uri="{FF2B5EF4-FFF2-40B4-BE49-F238E27FC236}">
                <a16:creationId xmlns:a16="http://schemas.microsoft.com/office/drawing/2014/main" id="{DBE9299F-E707-89C6-4DBE-4C1536DCB550}"/>
              </a:ext>
            </a:extLst>
          </p:cNvPr>
          <p:cNvSpPr txBox="1"/>
          <p:nvPr/>
        </p:nvSpPr>
        <p:spPr>
          <a:xfrm>
            <a:off x="3827617" y="2244265"/>
            <a:ext cx="4149213" cy="2438400"/>
          </a:xfrm>
          <a:prstGeom prst="rect">
            <a:avLst/>
          </a:prstGeom>
          <a:gradFill>
            <a:gsLst>
              <a:gs pos="0">
                <a:schemeClr val="accent5">
                  <a:lumMod val="110000"/>
                  <a:satMod val="105000"/>
                  <a:tint val="67000"/>
                  <a:alpha val="75000"/>
                </a:schemeClr>
              </a:gs>
              <a:gs pos="50000">
                <a:schemeClr val="accent5">
                  <a:lumMod val="105000"/>
                  <a:satMod val="103000"/>
                  <a:tint val="73000"/>
                </a:schemeClr>
              </a:gs>
              <a:gs pos="100000">
                <a:schemeClr val="accent5">
                  <a:lumMod val="105000"/>
                  <a:satMod val="109000"/>
                  <a:tint val="81000"/>
                </a:schemeClr>
              </a:gs>
            </a:gsLst>
          </a:gradFill>
        </p:spPr>
        <p:style>
          <a:lnRef idx="1">
            <a:schemeClr val="accent5"/>
          </a:lnRef>
          <a:fillRef idx="2">
            <a:schemeClr val="accent5"/>
          </a:fillRef>
          <a:effectRef idx="1">
            <a:schemeClr val="accent5"/>
          </a:effectRef>
          <a:fontRef idx="minor">
            <a:schemeClr val="dk1"/>
          </a:fontRef>
        </p:style>
        <p:txBody>
          <a:bodyPr wrap="square" rtlCol="0">
            <a:noAutofit/>
          </a:bodyPr>
          <a:lstStyle/>
          <a:p>
            <a:pPr algn="ctr"/>
            <a:endParaRPr lang="en-US" sz="2800" dirty="0"/>
          </a:p>
          <a:p>
            <a:pPr algn="ctr"/>
            <a:r>
              <a:rPr lang="en-US" sz="2800" dirty="0"/>
              <a:t>Summarize the current state, target state, and roadmap.</a:t>
            </a:r>
          </a:p>
        </p:txBody>
      </p:sp>
    </p:spTree>
    <p:extLst>
      <p:ext uri="{BB962C8B-B14F-4D97-AF65-F5344CB8AC3E}">
        <p14:creationId xmlns:p14="http://schemas.microsoft.com/office/powerpoint/2010/main" val="3181956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gradFill>
          <a:gsLst>
            <a:gs pos="38000">
              <a:srgbClr val="0E070E"/>
            </a:gs>
            <a:gs pos="100000">
              <a:srgbClr val="271128">
                <a:lumMod val="88000"/>
                <a:lumOff val="12000"/>
              </a:srgbClr>
            </a:gs>
          </a:gsLst>
          <a:lin ang="18900000" scaled="1"/>
        </a:gradFill>
        <a:effectLst/>
      </p:bgPr>
    </p:bg>
    <p:spTree>
      <p:nvGrpSpPr>
        <p:cNvPr id="1" name="">
          <a:extLst>
            <a:ext uri="{FF2B5EF4-FFF2-40B4-BE49-F238E27FC236}">
              <a16:creationId xmlns:a16="http://schemas.microsoft.com/office/drawing/2014/main" id="{3892CA99-2E59-B803-8F30-392BC64F59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40D7AE-D836-4E0A-3DED-1DB9DC1000CE}"/>
              </a:ext>
            </a:extLst>
          </p:cNvPr>
          <p:cNvSpPr>
            <a:spLocks noGrp="1"/>
          </p:cNvSpPr>
          <p:nvPr>
            <p:ph type="title"/>
          </p:nvPr>
        </p:nvSpPr>
        <p:spPr>
          <a:xfrm>
            <a:off x="491037" y="320676"/>
            <a:ext cx="10515600" cy="1325563"/>
          </a:xfrm>
        </p:spPr>
        <p:txBody>
          <a:bodyPr>
            <a:normAutofit/>
          </a:bodyPr>
          <a:lstStyle/>
          <a:p>
            <a:r>
              <a:rPr lang="en-US" sz="4000" dirty="0">
                <a:solidFill>
                  <a:schemeClr val="bg1"/>
                </a:solidFill>
              </a:rPr>
              <a:t>To ensure success on this journey we shall follow our guiding stars </a:t>
            </a:r>
          </a:p>
        </p:txBody>
      </p:sp>
      <p:sp>
        <p:nvSpPr>
          <p:cNvPr id="5" name="Rectangle 4">
            <a:extLst>
              <a:ext uri="{FF2B5EF4-FFF2-40B4-BE49-F238E27FC236}">
                <a16:creationId xmlns:a16="http://schemas.microsoft.com/office/drawing/2014/main" id="{83889312-F7AC-E3AC-EDDC-505FDC22FC4D}"/>
              </a:ext>
            </a:extLst>
          </p:cNvPr>
          <p:cNvSpPr/>
          <p:nvPr/>
        </p:nvSpPr>
        <p:spPr>
          <a:xfrm>
            <a:off x="5497033" y="1790288"/>
            <a:ext cx="6330773" cy="84908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defTabSz="914400">
              <a:defRPr/>
            </a:pPr>
            <a:r>
              <a:rPr lang="en-US" sz="1400" dirty="0">
                <a:solidFill>
                  <a:prstClr val="white"/>
                </a:solidFill>
                <a:latin typeface="Roboto Condensed Light" panose="02000000000000000000" pitchFamily="2" charset="0"/>
                <a:ea typeface="Roboto Condensed Light" panose="02000000000000000000" pitchFamily="2" charset="0"/>
              </a:rPr>
              <a:t>Reducing “time to remediate” shortens the window in which attackers can exploit known flaws, limiting potential business disruption, regulatory penalties, and emergency patch costs—turning security fixes from fire drills into routine operational hygiene.</a:t>
            </a:r>
          </a:p>
        </p:txBody>
      </p:sp>
      <p:sp>
        <p:nvSpPr>
          <p:cNvPr id="33" name="TextBox 32">
            <a:extLst>
              <a:ext uri="{FF2B5EF4-FFF2-40B4-BE49-F238E27FC236}">
                <a16:creationId xmlns:a16="http://schemas.microsoft.com/office/drawing/2014/main" id="{4C4B25B2-DEFD-C236-093F-7AC6B8D05641}"/>
              </a:ext>
            </a:extLst>
          </p:cNvPr>
          <p:cNvSpPr txBox="1"/>
          <p:nvPr/>
        </p:nvSpPr>
        <p:spPr>
          <a:xfrm>
            <a:off x="2572788" y="3020257"/>
            <a:ext cx="2924244" cy="584775"/>
          </a:xfrm>
          <a:prstGeom prst="rect">
            <a:avLst/>
          </a:prstGeom>
          <a:noFill/>
        </p:spPr>
        <p:txBody>
          <a:bodyPr wrap="square" rtlCol="0">
            <a:spAutoFit/>
          </a:bodyPr>
          <a:lstStyle/>
          <a:p>
            <a:pPr defTabSz="914400"/>
            <a:r>
              <a:rPr lang="en-US" sz="1600" cap="all" spc="200" dirty="0">
                <a:solidFill>
                  <a:prstClr val="white"/>
                </a:solidFill>
                <a:latin typeface="Exo SemiBold" pitchFamily="2" charset="0"/>
              </a:rPr>
              <a:t>Credential stuffing detection rate</a:t>
            </a:r>
          </a:p>
        </p:txBody>
      </p:sp>
      <p:sp>
        <p:nvSpPr>
          <p:cNvPr id="34" name="TextBox 33">
            <a:extLst>
              <a:ext uri="{FF2B5EF4-FFF2-40B4-BE49-F238E27FC236}">
                <a16:creationId xmlns:a16="http://schemas.microsoft.com/office/drawing/2014/main" id="{A4BCB807-5048-74AD-4C66-44474BFBDDF0}"/>
              </a:ext>
            </a:extLst>
          </p:cNvPr>
          <p:cNvSpPr txBox="1"/>
          <p:nvPr/>
        </p:nvSpPr>
        <p:spPr>
          <a:xfrm>
            <a:off x="2572788" y="1922442"/>
            <a:ext cx="2584026" cy="584775"/>
          </a:xfrm>
          <a:prstGeom prst="rect">
            <a:avLst/>
          </a:prstGeom>
          <a:noFill/>
        </p:spPr>
        <p:txBody>
          <a:bodyPr wrap="square" rtlCol="0">
            <a:spAutoFit/>
          </a:bodyPr>
          <a:lstStyle/>
          <a:p>
            <a:pPr defTabSz="914400"/>
            <a:r>
              <a:rPr lang="en-US" sz="1600" cap="all" spc="200" dirty="0">
                <a:solidFill>
                  <a:prstClr val="white"/>
                </a:solidFill>
                <a:latin typeface="Exo SemiBold" pitchFamily="2" charset="0"/>
              </a:rPr>
              <a:t>Time to remediate vulnerabilities</a:t>
            </a:r>
          </a:p>
        </p:txBody>
      </p:sp>
      <p:sp>
        <p:nvSpPr>
          <p:cNvPr id="36" name="TextBox 35">
            <a:extLst>
              <a:ext uri="{FF2B5EF4-FFF2-40B4-BE49-F238E27FC236}">
                <a16:creationId xmlns:a16="http://schemas.microsoft.com/office/drawing/2014/main" id="{D5043C11-9707-D4CE-9922-9EBBF40B2FE4}"/>
              </a:ext>
            </a:extLst>
          </p:cNvPr>
          <p:cNvSpPr txBox="1"/>
          <p:nvPr/>
        </p:nvSpPr>
        <p:spPr>
          <a:xfrm>
            <a:off x="2572788" y="5469836"/>
            <a:ext cx="3062130" cy="830997"/>
          </a:xfrm>
          <a:prstGeom prst="rect">
            <a:avLst/>
          </a:prstGeom>
          <a:noFill/>
        </p:spPr>
        <p:txBody>
          <a:bodyPr wrap="square" rtlCol="0">
            <a:spAutoFit/>
          </a:bodyPr>
          <a:lstStyle/>
          <a:p>
            <a:pPr defTabSz="914400"/>
            <a:r>
              <a:rPr lang="en-US" sz="1600" cap="all" spc="200" dirty="0">
                <a:solidFill>
                  <a:prstClr val="white"/>
                </a:solidFill>
                <a:latin typeface="Exo SemiBold" pitchFamily="2" charset="0"/>
              </a:rPr>
              <a:t>Cost per vulnerability remediated</a:t>
            </a:r>
          </a:p>
        </p:txBody>
      </p:sp>
      <p:sp>
        <p:nvSpPr>
          <p:cNvPr id="37" name="TextBox 36">
            <a:extLst>
              <a:ext uri="{FF2B5EF4-FFF2-40B4-BE49-F238E27FC236}">
                <a16:creationId xmlns:a16="http://schemas.microsoft.com/office/drawing/2014/main" id="{5A3EE9CE-4E02-BB82-0B6D-B5D562461B57}"/>
              </a:ext>
            </a:extLst>
          </p:cNvPr>
          <p:cNvSpPr txBox="1"/>
          <p:nvPr/>
        </p:nvSpPr>
        <p:spPr>
          <a:xfrm>
            <a:off x="2572788" y="4215824"/>
            <a:ext cx="2418243" cy="830997"/>
          </a:xfrm>
          <a:prstGeom prst="rect">
            <a:avLst/>
          </a:prstGeom>
          <a:noFill/>
        </p:spPr>
        <p:txBody>
          <a:bodyPr wrap="square" rtlCol="0">
            <a:spAutoFit/>
          </a:bodyPr>
          <a:lstStyle/>
          <a:p>
            <a:pPr defTabSz="914400"/>
            <a:r>
              <a:rPr lang="en-US" sz="1600" cap="all" spc="200" dirty="0">
                <a:solidFill>
                  <a:prstClr val="white"/>
                </a:solidFill>
                <a:latin typeface="Exo SemiBold" pitchFamily="2" charset="0"/>
              </a:rPr>
              <a:t>Applications with integrated security testing</a:t>
            </a:r>
          </a:p>
        </p:txBody>
      </p:sp>
      <p:sp>
        <p:nvSpPr>
          <p:cNvPr id="38" name="TextBox 37">
            <a:extLst>
              <a:ext uri="{FF2B5EF4-FFF2-40B4-BE49-F238E27FC236}">
                <a16:creationId xmlns:a16="http://schemas.microsoft.com/office/drawing/2014/main" id="{443DFDBE-7639-ACE4-D98D-3BC3E58271DE}"/>
              </a:ext>
            </a:extLst>
          </p:cNvPr>
          <p:cNvSpPr txBox="1"/>
          <p:nvPr/>
        </p:nvSpPr>
        <p:spPr>
          <a:xfrm>
            <a:off x="8803670" y="6449570"/>
            <a:ext cx="3437887" cy="123111"/>
          </a:xfrm>
          <a:prstGeom prst="rect">
            <a:avLst/>
          </a:prstGeom>
        </p:spPr>
        <p:txBody>
          <a:bodyPr vert="horz" wrap="square" lIns="0" tIns="0" rIns="91428" bIns="0" rtlCol="0">
            <a:spAutoFit/>
          </a:bodyPr>
          <a:lstStyle/>
          <a:p>
            <a:pPr marL="7700" marR="242951" algn="r" defTabSz="554437">
              <a:spcBef>
                <a:spcPts val="55"/>
              </a:spcBef>
              <a:defRPr/>
            </a:pPr>
            <a:r>
              <a:rPr lang="en-CA" sz="800" spc="-18" dirty="0">
                <a:solidFill>
                  <a:prstClr val="white"/>
                </a:solidFill>
                <a:latin typeface="Exo" panose="02000503000000000000" pitchFamily="2" charset="77"/>
              </a:rPr>
              <a:t>Info-</a:t>
            </a:r>
            <a:r>
              <a:rPr lang="en-CA" sz="800" spc="-103" dirty="0">
                <a:solidFill>
                  <a:prstClr val="white"/>
                </a:solidFill>
                <a:latin typeface="Exo" panose="02000503000000000000" pitchFamily="2" charset="77"/>
              </a:rPr>
              <a:t>T</a:t>
            </a:r>
            <a:r>
              <a:rPr lang="en-CA" sz="800" spc="-15" dirty="0">
                <a:solidFill>
                  <a:prstClr val="white"/>
                </a:solidFill>
                <a:latin typeface="Exo" panose="02000503000000000000" pitchFamily="2" charset="77"/>
              </a:rPr>
              <a:t>ec</a:t>
            </a:r>
            <a:r>
              <a:rPr lang="en-CA" sz="800" spc="6" dirty="0">
                <a:solidFill>
                  <a:prstClr val="white"/>
                </a:solidFill>
                <a:latin typeface="Exo" panose="02000503000000000000" pitchFamily="2" charset="77"/>
              </a:rPr>
              <a:t>h</a:t>
            </a:r>
            <a:r>
              <a:rPr lang="en-CA" sz="800" spc="-39" dirty="0">
                <a:solidFill>
                  <a:prstClr val="white"/>
                </a:solidFill>
                <a:latin typeface="Exo" panose="02000503000000000000" pitchFamily="2" charset="77"/>
              </a:rPr>
              <a:t> </a:t>
            </a:r>
            <a:r>
              <a:rPr lang="en-CA" sz="800" spc="-15" dirty="0">
                <a:solidFill>
                  <a:prstClr val="white"/>
                </a:solidFill>
                <a:latin typeface="Exo" panose="02000503000000000000" pitchFamily="2" charset="77"/>
              </a:rPr>
              <a:t>Researc</a:t>
            </a:r>
            <a:r>
              <a:rPr lang="en-CA" sz="800" spc="6" dirty="0">
                <a:solidFill>
                  <a:prstClr val="white"/>
                </a:solidFill>
                <a:latin typeface="Exo" panose="02000503000000000000" pitchFamily="2" charset="77"/>
              </a:rPr>
              <a:t>h</a:t>
            </a:r>
            <a:r>
              <a:rPr lang="en-CA" sz="800" spc="-39" dirty="0">
                <a:solidFill>
                  <a:prstClr val="white"/>
                </a:solidFill>
                <a:latin typeface="Exo" panose="02000503000000000000" pitchFamily="2" charset="77"/>
              </a:rPr>
              <a:t> </a:t>
            </a:r>
            <a:r>
              <a:rPr lang="en-CA" sz="800" spc="-15" dirty="0">
                <a:solidFill>
                  <a:prstClr val="white"/>
                </a:solidFill>
                <a:latin typeface="Exo" panose="02000503000000000000" pitchFamily="2" charset="77"/>
              </a:rPr>
              <a:t>Grou</a:t>
            </a:r>
            <a:r>
              <a:rPr lang="en-CA" sz="800" spc="6" dirty="0">
                <a:solidFill>
                  <a:prstClr val="white"/>
                </a:solidFill>
                <a:latin typeface="Exo" panose="02000503000000000000" pitchFamily="2" charset="77"/>
              </a:rPr>
              <a:t>p   |   </a:t>
            </a:r>
            <a:fld id="{81D60167-4931-47E6-BA6A-407CBD079E47}" type="slidenum">
              <a:rPr lang="en-CA" sz="800" spc="6">
                <a:solidFill>
                  <a:prstClr val="white"/>
                </a:solidFill>
                <a:latin typeface="Exo" panose="02000503000000000000" pitchFamily="2" charset="77"/>
                <a:cs typeface="Arial" panose="020B0604020202020204" pitchFamily="34" charset="0"/>
              </a:rPr>
              <a:pPr marL="7700" marR="242951" algn="r" defTabSz="554437">
                <a:spcBef>
                  <a:spcPts val="55"/>
                </a:spcBef>
                <a:defRPr/>
              </a:pPr>
              <a:t>6</a:t>
            </a:fld>
            <a:endParaRPr sz="800" spc="6" dirty="0">
              <a:solidFill>
                <a:prstClr val="white"/>
              </a:solidFill>
              <a:latin typeface="Exo" panose="02000503000000000000" pitchFamily="2" charset="77"/>
              <a:cs typeface="Arial" panose="020B0604020202020204" pitchFamily="34" charset="0"/>
            </a:endParaRPr>
          </a:p>
        </p:txBody>
      </p:sp>
      <p:pic>
        <p:nvPicPr>
          <p:cNvPr id="11" name="Picture 10" descr="A blue square with a stopwatch&#10;&#10;AI-generated content may be incorrect.">
            <a:extLst>
              <a:ext uri="{FF2B5EF4-FFF2-40B4-BE49-F238E27FC236}">
                <a16:creationId xmlns:a16="http://schemas.microsoft.com/office/drawing/2014/main" id="{B86C1571-DD14-7E4E-697D-8C44AD381BFC}"/>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144806" y="1563798"/>
            <a:ext cx="1265274" cy="1265274"/>
          </a:xfrm>
          <a:prstGeom prst="rect">
            <a:avLst/>
          </a:prstGeom>
          <a:effectLst>
            <a:softEdge rad="127000"/>
          </a:effectLst>
        </p:spPr>
      </p:pic>
      <p:pic>
        <p:nvPicPr>
          <p:cNvPr id="13" name="Picture 12" descr="A green square with a bug and a tick on it&#10;&#10;AI-generated content may be incorrect.">
            <a:extLst>
              <a:ext uri="{FF2B5EF4-FFF2-40B4-BE49-F238E27FC236}">
                <a16:creationId xmlns:a16="http://schemas.microsoft.com/office/drawing/2014/main" id="{CBDE1C3A-DFCF-9E32-0D31-125A95961F5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144806" y="2812939"/>
            <a:ext cx="1265274" cy="1265274"/>
          </a:xfrm>
          <a:prstGeom prst="rect">
            <a:avLst/>
          </a:prstGeom>
          <a:effectLst>
            <a:softEdge rad="127000"/>
          </a:effectLst>
        </p:spPr>
      </p:pic>
      <p:pic>
        <p:nvPicPr>
          <p:cNvPr id="16" name="Picture 15" descr="A blue and purple neon sign with a shield and code&#10;&#10;AI-generated content may be incorrect.">
            <a:extLst>
              <a:ext uri="{FF2B5EF4-FFF2-40B4-BE49-F238E27FC236}">
                <a16:creationId xmlns:a16="http://schemas.microsoft.com/office/drawing/2014/main" id="{25E34E22-F702-28CB-8743-0D08C5DC9D2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144806" y="4062080"/>
            <a:ext cx="1265274" cy="1265274"/>
          </a:xfrm>
          <a:prstGeom prst="rect">
            <a:avLst/>
          </a:prstGeom>
          <a:effectLst>
            <a:softEdge rad="127000"/>
          </a:effectLst>
        </p:spPr>
      </p:pic>
      <p:pic>
        <p:nvPicPr>
          <p:cNvPr id="18" name="Picture 17" descr="A neon sign with a bug and dollar symbol&#10;&#10;AI-generated content may be incorrect.">
            <a:extLst>
              <a:ext uri="{FF2B5EF4-FFF2-40B4-BE49-F238E27FC236}">
                <a16:creationId xmlns:a16="http://schemas.microsoft.com/office/drawing/2014/main" id="{B43C44C6-E1F7-F5D3-5500-06FCAEF7DD12}"/>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1144806" y="5311220"/>
            <a:ext cx="1265274" cy="1265274"/>
          </a:xfrm>
          <a:prstGeom prst="rect">
            <a:avLst/>
          </a:prstGeom>
          <a:effectLst>
            <a:softEdge rad="127000"/>
          </a:effectLst>
        </p:spPr>
      </p:pic>
      <p:cxnSp>
        <p:nvCxnSpPr>
          <p:cNvPr id="24" name="Connector: Elbow 23">
            <a:extLst>
              <a:ext uri="{FF2B5EF4-FFF2-40B4-BE49-F238E27FC236}">
                <a16:creationId xmlns:a16="http://schemas.microsoft.com/office/drawing/2014/main" id="{5C4D9031-78EB-7AE3-E0F9-BF0619FE11D8}"/>
              </a:ext>
            </a:extLst>
          </p:cNvPr>
          <p:cNvCxnSpPr>
            <a:stCxn id="11" idx="1"/>
            <a:endCxn id="18" idx="1"/>
          </p:cNvCxnSpPr>
          <p:nvPr/>
        </p:nvCxnSpPr>
        <p:spPr>
          <a:xfrm rot="10800000" flipV="1">
            <a:off x="1144806" y="2196435"/>
            <a:ext cx="12700" cy="3747422"/>
          </a:xfrm>
          <a:prstGeom prst="bentConnector3">
            <a:avLst>
              <a:gd name="adj1" fmla="val 4897677"/>
            </a:avLst>
          </a:prstGeom>
          <a:effectLst>
            <a:glow rad="63500">
              <a:schemeClr val="accent6">
                <a:satMod val="175000"/>
                <a:alpha val="40000"/>
              </a:schemeClr>
            </a:glow>
          </a:effectLst>
        </p:spPr>
        <p:style>
          <a:lnRef idx="2">
            <a:schemeClr val="accent6"/>
          </a:lnRef>
          <a:fillRef idx="0">
            <a:schemeClr val="accent6"/>
          </a:fillRef>
          <a:effectRef idx="1">
            <a:schemeClr val="accent6"/>
          </a:effectRef>
          <a:fontRef idx="minor">
            <a:schemeClr val="tx1"/>
          </a:fontRef>
        </p:style>
      </p:cxnSp>
      <p:cxnSp>
        <p:nvCxnSpPr>
          <p:cNvPr id="26" name="Connector: Elbow 25">
            <a:extLst>
              <a:ext uri="{FF2B5EF4-FFF2-40B4-BE49-F238E27FC236}">
                <a16:creationId xmlns:a16="http://schemas.microsoft.com/office/drawing/2014/main" id="{D0A9A7ED-0743-F579-F32C-5D68974E0796}"/>
              </a:ext>
            </a:extLst>
          </p:cNvPr>
          <p:cNvCxnSpPr>
            <a:cxnSpLocks/>
            <a:stCxn id="13" idx="1"/>
            <a:endCxn id="16" idx="1"/>
          </p:cNvCxnSpPr>
          <p:nvPr/>
        </p:nvCxnSpPr>
        <p:spPr>
          <a:xfrm rot="10800000" flipV="1">
            <a:off x="1144806" y="3445575"/>
            <a:ext cx="12700" cy="1249141"/>
          </a:xfrm>
          <a:prstGeom prst="bentConnector3">
            <a:avLst>
              <a:gd name="adj1" fmla="val 4897669"/>
            </a:avLst>
          </a:prstGeom>
          <a:effectLst>
            <a:glow rad="63500">
              <a:schemeClr val="accent6">
                <a:satMod val="175000"/>
                <a:alpha val="40000"/>
              </a:schemeClr>
            </a:glow>
          </a:effectLst>
        </p:spPr>
        <p:style>
          <a:lnRef idx="2">
            <a:schemeClr val="accent6"/>
          </a:lnRef>
          <a:fillRef idx="0">
            <a:schemeClr val="accent6"/>
          </a:fillRef>
          <a:effectRef idx="1">
            <a:schemeClr val="accent6"/>
          </a:effectRef>
          <a:fontRef idx="minor">
            <a:schemeClr val="tx1"/>
          </a:fontRef>
        </p:style>
      </p:cxnSp>
      <p:sp>
        <p:nvSpPr>
          <p:cNvPr id="3" name="Rectangle 2">
            <a:extLst>
              <a:ext uri="{FF2B5EF4-FFF2-40B4-BE49-F238E27FC236}">
                <a16:creationId xmlns:a16="http://schemas.microsoft.com/office/drawing/2014/main" id="{3C166760-C91B-CA44-FC6B-10C19E39FB2C}"/>
              </a:ext>
            </a:extLst>
          </p:cNvPr>
          <p:cNvSpPr/>
          <p:nvPr/>
        </p:nvSpPr>
        <p:spPr>
          <a:xfrm>
            <a:off x="5497030" y="2919736"/>
            <a:ext cx="6330773" cy="84908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defTabSz="914400">
              <a:defRPr/>
            </a:pPr>
            <a:r>
              <a:rPr lang="en-US" sz="1400">
                <a:solidFill>
                  <a:prstClr val="white"/>
                </a:solidFill>
                <a:latin typeface="Roboto Condensed Light" panose="02000000000000000000" pitchFamily="2" charset="0"/>
                <a:ea typeface="Roboto Condensed Light" panose="02000000000000000000" pitchFamily="2" charset="0"/>
              </a:rPr>
              <a:t>Elevating the credential stuffing detection rate closes the gap between automated login attacks and defensive response, preventing bulk account takeovers that can siphon funds, expose sensitive data, and undermine user trust before damage spreads across integrated systems.</a:t>
            </a:r>
            <a:endParaRPr lang="en-US" sz="1400" dirty="0">
              <a:solidFill>
                <a:prstClr val="white"/>
              </a:solidFill>
              <a:latin typeface="Roboto Condensed Light" panose="02000000000000000000" pitchFamily="2" charset="0"/>
              <a:ea typeface="Roboto Condensed Light" panose="02000000000000000000" pitchFamily="2" charset="0"/>
            </a:endParaRPr>
          </a:p>
        </p:txBody>
      </p:sp>
      <p:sp>
        <p:nvSpPr>
          <p:cNvPr id="4" name="Rectangle 3">
            <a:extLst>
              <a:ext uri="{FF2B5EF4-FFF2-40B4-BE49-F238E27FC236}">
                <a16:creationId xmlns:a16="http://schemas.microsoft.com/office/drawing/2014/main" id="{12562A86-C413-645A-30C8-9C7BA683C9CB}"/>
              </a:ext>
            </a:extLst>
          </p:cNvPr>
          <p:cNvSpPr/>
          <p:nvPr/>
        </p:nvSpPr>
        <p:spPr>
          <a:xfrm>
            <a:off x="5497031" y="4206780"/>
            <a:ext cx="6330773" cy="84908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defTabSz="914400">
              <a:defRPr/>
            </a:pPr>
            <a:r>
              <a:rPr lang="en-US" sz="1400" dirty="0">
                <a:solidFill>
                  <a:prstClr val="white"/>
                </a:solidFill>
                <a:latin typeface="Roboto Condensed Light" panose="02000000000000000000" pitchFamily="2" charset="0"/>
                <a:ea typeface="Roboto Condensed Light" panose="02000000000000000000" pitchFamily="2" charset="0"/>
              </a:rPr>
              <a:t>Boosting the share of applications with integrated security testing uncovers flaws at build time, cutting costly rework, shrinking breach exposure, and letting new features reach customers faster and more safely.</a:t>
            </a:r>
          </a:p>
        </p:txBody>
      </p:sp>
      <p:sp>
        <p:nvSpPr>
          <p:cNvPr id="6" name="Rectangle 5">
            <a:extLst>
              <a:ext uri="{FF2B5EF4-FFF2-40B4-BE49-F238E27FC236}">
                <a16:creationId xmlns:a16="http://schemas.microsoft.com/office/drawing/2014/main" id="{2AACC62E-C26A-900A-530A-F74EDCDBAF38}"/>
              </a:ext>
            </a:extLst>
          </p:cNvPr>
          <p:cNvSpPr/>
          <p:nvPr/>
        </p:nvSpPr>
        <p:spPr>
          <a:xfrm>
            <a:off x="5497030" y="5364605"/>
            <a:ext cx="6330773" cy="84908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defTabSz="914400">
              <a:defRPr/>
            </a:pPr>
            <a:r>
              <a:rPr lang="en-US" sz="1400" dirty="0">
                <a:solidFill>
                  <a:prstClr val="white"/>
                </a:solidFill>
                <a:latin typeface="Roboto Condensed Light" panose="02000000000000000000" pitchFamily="2" charset="0"/>
                <a:ea typeface="Roboto Condensed Light" panose="02000000000000000000" pitchFamily="2" charset="0"/>
              </a:rPr>
              <a:t>Lowering the cost per vulnerability remediated directs scarce security dollars toward innovation instead of emergency fixes, enabling more flaws to be resolved within the same budget while preserving resources for strategic growth and resilience initiatives.</a:t>
            </a:r>
          </a:p>
        </p:txBody>
      </p:sp>
      <p:sp>
        <p:nvSpPr>
          <p:cNvPr id="7" name="TextBox 6">
            <a:extLst>
              <a:ext uri="{FF2B5EF4-FFF2-40B4-BE49-F238E27FC236}">
                <a16:creationId xmlns:a16="http://schemas.microsoft.com/office/drawing/2014/main" id="{782A27C6-608B-18D7-93F6-90F436513B6D}"/>
              </a:ext>
            </a:extLst>
          </p:cNvPr>
          <p:cNvSpPr txBox="1"/>
          <p:nvPr/>
        </p:nvSpPr>
        <p:spPr>
          <a:xfrm>
            <a:off x="3928768" y="2465270"/>
            <a:ext cx="4149213" cy="2438400"/>
          </a:xfrm>
          <a:prstGeom prst="rect">
            <a:avLst/>
          </a:prstGeom>
          <a:gradFill>
            <a:gsLst>
              <a:gs pos="0">
                <a:schemeClr val="accent5">
                  <a:lumMod val="110000"/>
                  <a:satMod val="105000"/>
                  <a:tint val="67000"/>
                  <a:alpha val="75000"/>
                </a:schemeClr>
              </a:gs>
              <a:gs pos="50000">
                <a:schemeClr val="accent5">
                  <a:lumMod val="105000"/>
                  <a:satMod val="103000"/>
                  <a:tint val="73000"/>
                </a:schemeClr>
              </a:gs>
              <a:gs pos="100000">
                <a:schemeClr val="accent5">
                  <a:lumMod val="105000"/>
                  <a:satMod val="109000"/>
                  <a:tint val="81000"/>
                </a:schemeClr>
              </a:gs>
            </a:gsLst>
          </a:gradFill>
        </p:spPr>
        <p:style>
          <a:lnRef idx="1">
            <a:schemeClr val="accent5"/>
          </a:lnRef>
          <a:fillRef idx="2">
            <a:schemeClr val="accent5"/>
          </a:fillRef>
          <a:effectRef idx="1">
            <a:schemeClr val="accent5"/>
          </a:effectRef>
          <a:fontRef idx="minor">
            <a:schemeClr val="dk1"/>
          </a:fontRef>
        </p:style>
        <p:txBody>
          <a:bodyPr wrap="square" rtlCol="0">
            <a:noAutofit/>
          </a:bodyPr>
          <a:lstStyle/>
          <a:p>
            <a:pPr algn="ctr"/>
            <a:endParaRPr lang="en-US" sz="2800" dirty="0"/>
          </a:p>
          <a:p>
            <a:pPr algn="ctr"/>
            <a:endParaRPr lang="en-US" sz="2800" dirty="0"/>
          </a:p>
          <a:p>
            <a:pPr algn="ctr"/>
            <a:r>
              <a:rPr lang="en-US" sz="2800" dirty="0"/>
              <a:t>Summarize the top metrics selected.</a:t>
            </a:r>
          </a:p>
        </p:txBody>
      </p:sp>
    </p:spTree>
    <p:extLst>
      <p:ext uri="{BB962C8B-B14F-4D97-AF65-F5344CB8AC3E}">
        <p14:creationId xmlns:p14="http://schemas.microsoft.com/office/powerpoint/2010/main" val="492673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gradFill>
          <a:gsLst>
            <a:gs pos="38000">
              <a:srgbClr val="0E070E"/>
            </a:gs>
            <a:gs pos="100000">
              <a:srgbClr val="271128">
                <a:lumMod val="88000"/>
                <a:lumOff val="12000"/>
              </a:srgbClr>
            </a:gs>
          </a:gsLst>
          <a:lin ang="18900000" scaled="1"/>
        </a:gradFill>
        <a:effectLst/>
      </p:bgPr>
    </p:bg>
    <p:spTree>
      <p:nvGrpSpPr>
        <p:cNvPr id="1" name="">
          <a:extLst>
            <a:ext uri="{FF2B5EF4-FFF2-40B4-BE49-F238E27FC236}">
              <a16:creationId xmlns:a16="http://schemas.microsoft.com/office/drawing/2014/main" id="{BB51F973-F5FF-9744-7FE1-8FC443902F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7BB4EF-00CD-6101-BDAD-E5031539182F}"/>
              </a:ext>
            </a:extLst>
          </p:cNvPr>
          <p:cNvSpPr>
            <a:spLocks noGrp="1"/>
          </p:cNvSpPr>
          <p:nvPr>
            <p:ph type="title"/>
          </p:nvPr>
        </p:nvSpPr>
        <p:spPr>
          <a:xfrm>
            <a:off x="491037" y="320676"/>
            <a:ext cx="10515600" cy="1325563"/>
          </a:xfrm>
        </p:spPr>
        <p:txBody>
          <a:bodyPr>
            <a:normAutofit/>
          </a:bodyPr>
          <a:lstStyle/>
          <a:p>
            <a:r>
              <a:rPr lang="en-US" sz="4000" dirty="0">
                <a:solidFill>
                  <a:schemeClr val="bg1"/>
                </a:solidFill>
              </a:rPr>
              <a:t>Every successful new venture starts with solid support</a:t>
            </a:r>
          </a:p>
        </p:txBody>
      </p:sp>
      <p:sp>
        <p:nvSpPr>
          <p:cNvPr id="5" name="Rectangle 4">
            <a:extLst>
              <a:ext uri="{FF2B5EF4-FFF2-40B4-BE49-F238E27FC236}">
                <a16:creationId xmlns:a16="http://schemas.microsoft.com/office/drawing/2014/main" id="{26F3A5DB-2127-85CB-F4E4-76E684011C64}"/>
              </a:ext>
            </a:extLst>
          </p:cNvPr>
          <p:cNvSpPr/>
          <p:nvPr/>
        </p:nvSpPr>
        <p:spPr>
          <a:xfrm>
            <a:off x="743998" y="3912781"/>
            <a:ext cx="3298065" cy="245684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defTabSz="914400">
              <a:defRPr/>
            </a:pPr>
            <a:r>
              <a:rPr lang="en-US" sz="1400" dirty="0">
                <a:solidFill>
                  <a:prstClr val="white"/>
                </a:solidFill>
                <a:latin typeface="Roboto Condensed Light" panose="02000000000000000000" pitchFamily="2" charset="0"/>
                <a:ea typeface="Roboto Condensed Light" panose="02000000000000000000" pitchFamily="2" charset="0"/>
              </a:rPr>
              <a:t>Implementing the </a:t>
            </a:r>
            <a:r>
              <a:rPr lang="en-US" sz="1400">
                <a:solidFill>
                  <a:prstClr val="white"/>
                </a:solidFill>
                <a:latin typeface="Roboto Condensed Light" panose="02000000000000000000" pitchFamily="2" charset="0"/>
                <a:ea typeface="Roboto Condensed Light" panose="02000000000000000000" pitchFamily="2" charset="0"/>
              </a:rPr>
              <a:t>iSSDLC</a:t>
            </a:r>
            <a:r>
              <a:rPr lang="en-US" sz="1400" dirty="0">
                <a:solidFill>
                  <a:prstClr val="white"/>
                </a:solidFill>
                <a:latin typeface="Roboto Condensed Light" panose="02000000000000000000" pitchFamily="2" charset="0"/>
                <a:ea typeface="Roboto Condensed Light" panose="02000000000000000000" pitchFamily="2" charset="0"/>
              </a:rPr>
              <a:t> will require a total investment of ≈ </a:t>
            </a:r>
            <a:r>
              <a:rPr lang="en-US" sz="1400" b="1" dirty="0">
                <a:solidFill>
                  <a:prstClr val="white"/>
                </a:solidFill>
                <a:latin typeface="Roboto Condensed Light" panose="02000000000000000000" pitchFamily="2" charset="0"/>
                <a:ea typeface="Roboto Condensed Light" panose="02000000000000000000" pitchFamily="2" charset="0"/>
              </a:rPr>
              <a:t>$1.5 million over three years</a:t>
            </a:r>
            <a:r>
              <a:rPr lang="en-US" sz="1400" dirty="0">
                <a:solidFill>
                  <a:prstClr val="white"/>
                </a:solidFill>
                <a:latin typeface="Roboto Condensed Light" panose="02000000000000000000" pitchFamily="2" charset="0"/>
                <a:ea typeface="Roboto Condensed Light" panose="02000000000000000000" pitchFamily="2" charset="0"/>
              </a:rPr>
              <a:t>, front-loaded to fund tooling licenses, pipeline integrations, and staff up-skilling: roughly 20% ($300,000) in Year 1 for planning and pilot deployments, 60% ($900,000) in Year 2 for full rollout and training, and the remaining 20% ($300,000) in Year 3 for optimization and ongoing support.</a:t>
            </a:r>
          </a:p>
        </p:txBody>
      </p:sp>
      <p:sp>
        <p:nvSpPr>
          <p:cNvPr id="33" name="TextBox 32">
            <a:extLst>
              <a:ext uri="{FF2B5EF4-FFF2-40B4-BE49-F238E27FC236}">
                <a16:creationId xmlns:a16="http://schemas.microsoft.com/office/drawing/2014/main" id="{D9390C8A-9180-05C1-18B9-AB22244A9BBC}"/>
              </a:ext>
            </a:extLst>
          </p:cNvPr>
          <p:cNvSpPr txBox="1"/>
          <p:nvPr/>
        </p:nvSpPr>
        <p:spPr>
          <a:xfrm>
            <a:off x="1240897" y="3307388"/>
            <a:ext cx="2418243" cy="338554"/>
          </a:xfrm>
          <a:prstGeom prst="rect">
            <a:avLst/>
          </a:prstGeom>
          <a:noFill/>
        </p:spPr>
        <p:txBody>
          <a:bodyPr wrap="square" rtlCol="0">
            <a:spAutoFit/>
          </a:bodyPr>
          <a:lstStyle/>
          <a:p>
            <a:pPr algn="ctr" defTabSz="914400"/>
            <a:r>
              <a:rPr lang="en-US" sz="1600" cap="all" spc="200" dirty="0">
                <a:solidFill>
                  <a:prstClr val="white"/>
                </a:solidFill>
                <a:latin typeface="Exo SemiBold" pitchFamily="2" charset="0"/>
              </a:rPr>
              <a:t>costs</a:t>
            </a:r>
          </a:p>
        </p:txBody>
      </p:sp>
      <p:sp>
        <p:nvSpPr>
          <p:cNvPr id="36" name="TextBox 35">
            <a:extLst>
              <a:ext uri="{FF2B5EF4-FFF2-40B4-BE49-F238E27FC236}">
                <a16:creationId xmlns:a16="http://schemas.microsoft.com/office/drawing/2014/main" id="{73517C73-F02E-93A6-E42A-8EB5F8D54426}"/>
              </a:ext>
            </a:extLst>
          </p:cNvPr>
          <p:cNvSpPr txBox="1"/>
          <p:nvPr/>
        </p:nvSpPr>
        <p:spPr>
          <a:xfrm>
            <a:off x="5024735" y="3307388"/>
            <a:ext cx="2144118" cy="338554"/>
          </a:xfrm>
          <a:prstGeom prst="rect">
            <a:avLst/>
          </a:prstGeom>
          <a:noFill/>
        </p:spPr>
        <p:txBody>
          <a:bodyPr wrap="square" rtlCol="0">
            <a:spAutoFit/>
          </a:bodyPr>
          <a:lstStyle/>
          <a:p>
            <a:pPr algn="ctr" defTabSz="914400"/>
            <a:r>
              <a:rPr lang="en-US" sz="1600" cap="all" spc="200" dirty="0">
                <a:solidFill>
                  <a:prstClr val="white"/>
                </a:solidFill>
                <a:latin typeface="Exo SemiBold" pitchFamily="2" charset="0"/>
              </a:rPr>
              <a:t>Staffing</a:t>
            </a:r>
          </a:p>
        </p:txBody>
      </p:sp>
      <p:sp>
        <p:nvSpPr>
          <p:cNvPr id="37" name="TextBox 36">
            <a:extLst>
              <a:ext uri="{FF2B5EF4-FFF2-40B4-BE49-F238E27FC236}">
                <a16:creationId xmlns:a16="http://schemas.microsoft.com/office/drawing/2014/main" id="{604600B8-F536-724D-010A-2C6F20797328}"/>
              </a:ext>
            </a:extLst>
          </p:cNvPr>
          <p:cNvSpPr txBox="1"/>
          <p:nvPr/>
        </p:nvSpPr>
        <p:spPr>
          <a:xfrm>
            <a:off x="8370235" y="3307388"/>
            <a:ext cx="2418243" cy="338554"/>
          </a:xfrm>
          <a:prstGeom prst="rect">
            <a:avLst/>
          </a:prstGeom>
          <a:noFill/>
        </p:spPr>
        <p:txBody>
          <a:bodyPr wrap="square" rtlCol="0">
            <a:spAutoFit/>
          </a:bodyPr>
          <a:lstStyle/>
          <a:p>
            <a:pPr algn="ctr" defTabSz="914400"/>
            <a:r>
              <a:rPr lang="en-US" sz="1600" cap="all" spc="200" dirty="0">
                <a:solidFill>
                  <a:prstClr val="white"/>
                </a:solidFill>
                <a:latin typeface="Exo SemiBold" pitchFamily="2" charset="0"/>
              </a:rPr>
              <a:t>timeline</a:t>
            </a:r>
          </a:p>
        </p:txBody>
      </p:sp>
      <p:sp>
        <p:nvSpPr>
          <p:cNvPr id="38" name="TextBox 37">
            <a:extLst>
              <a:ext uri="{FF2B5EF4-FFF2-40B4-BE49-F238E27FC236}">
                <a16:creationId xmlns:a16="http://schemas.microsoft.com/office/drawing/2014/main" id="{D9130F05-D909-EBA6-C708-380E807A37BB}"/>
              </a:ext>
            </a:extLst>
          </p:cNvPr>
          <p:cNvSpPr txBox="1"/>
          <p:nvPr/>
        </p:nvSpPr>
        <p:spPr>
          <a:xfrm>
            <a:off x="8803670" y="6449570"/>
            <a:ext cx="3437887" cy="123111"/>
          </a:xfrm>
          <a:prstGeom prst="rect">
            <a:avLst/>
          </a:prstGeom>
        </p:spPr>
        <p:txBody>
          <a:bodyPr vert="horz" wrap="square" lIns="0" tIns="0" rIns="91428" bIns="0" rtlCol="0">
            <a:spAutoFit/>
          </a:bodyPr>
          <a:lstStyle/>
          <a:p>
            <a:pPr marL="7700" marR="242951" algn="r" defTabSz="554437">
              <a:spcBef>
                <a:spcPts val="55"/>
              </a:spcBef>
              <a:defRPr/>
            </a:pPr>
            <a:r>
              <a:rPr lang="en-CA" sz="800" spc="-18" dirty="0">
                <a:solidFill>
                  <a:prstClr val="white"/>
                </a:solidFill>
                <a:latin typeface="Exo" panose="02000503000000000000" pitchFamily="2" charset="77"/>
              </a:rPr>
              <a:t>Info-</a:t>
            </a:r>
            <a:r>
              <a:rPr lang="en-CA" sz="800" spc="-103" dirty="0">
                <a:solidFill>
                  <a:prstClr val="white"/>
                </a:solidFill>
                <a:latin typeface="Exo" panose="02000503000000000000" pitchFamily="2" charset="77"/>
              </a:rPr>
              <a:t>T</a:t>
            </a:r>
            <a:r>
              <a:rPr lang="en-CA" sz="800" spc="-15" dirty="0">
                <a:solidFill>
                  <a:prstClr val="white"/>
                </a:solidFill>
                <a:latin typeface="Exo" panose="02000503000000000000" pitchFamily="2" charset="77"/>
              </a:rPr>
              <a:t>ec</a:t>
            </a:r>
            <a:r>
              <a:rPr lang="en-CA" sz="800" spc="6" dirty="0">
                <a:solidFill>
                  <a:prstClr val="white"/>
                </a:solidFill>
                <a:latin typeface="Exo" panose="02000503000000000000" pitchFamily="2" charset="77"/>
              </a:rPr>
              <a:t>h</a:t>
            </a:r>
            <a:r>
              <a:rPr lang="en-CA" sz="800" spc="-39" dirty="0">
                <a:solidFill>
                  <a:prstClr val="white"/>
                </a:solidFill>
                <a:latin typeface="Exo" panose="02000503000000000000" pitchFamily="2" charset="77"/>
              </a:rPr>
              <a:t> </a:t>
            </a:r>
            <a:r>
              <a:rPr lang="en-CA" sz="800" spc="-15" dirty="0">
                <a:solidFill>
                  <a:prstClr val="white"/>
                </a:solidFill>
                <a:latin typeface="Exo" panose="02000503000000000000" pitchFamily="2" charset="77"/>
              </a:rPr>
              <a:t>Researc</a:t>
            </a:r>
            <a:r>
              <a:rPr lang="en-CA" sz="800" spc="6" dirty="0">
                <a:solidFill>
                  <a:prstClr val="white"/>
                </a:solidFill>
                <a:latin typeface="Exo" panose="02000503000000000000" pitchFamily="2" charset="77"/>
              </a:rPr>
              <a:t>h</a:t>
            </a:r>
            <a:r>
              <a:rPr lang="en-CA" sz="800" spc="-39" dirty="0">
                <a:solidFill>
                  <a:prstClr val="white"/>
                </a:solidFill>
                <a:latin typeface="Exo" panose="02000503000000000000" pitchFamily="2" charset="77"/>
              </a:rPr>
              <a:t> </a:t>
            </a:r>
            <a:r>
              <a:rPr lang="en-CA" sz="800" spc="-15" dirty="0">
                <a:solidFill>
                  <a:prstClr val="white"/>
                </a:solidFill>
                <a:latin typeface="Exo" panose="02000503000000000000" pitchFamily="2" charset="77"/>
              </a:rPr>
              <a:t>Grou</a:t>
            </a:r>
            <a:r>
              <a:rPr lang="en-CA" sz="800" spc="6" dirty="0">
                <a:solidFill>
                  <a:prstClr val="white"/>
                </a:solidFill>
                <a:latin typeface="Exo" panose="02000503000000000000" pitchFamily="2" charset="77"/>
              </a:rPr>
              <a:t>p   |   </a:t>
            </a:r>
            <a:fld id="{81D60167-4931-47E6-BA6A-407CBD079E47}" type="slidenum">
              <a:rPr lang="en-CA" sz="800" spc="6">
                <a:solidFill>
                  <a:prstClr val="white"/>
                </a:solidFill>
                <a:latin typeface="Exo" panose="02000503000000000000" pitchFamily="2" charset="77"/>
                <a:cs typeface="Arial" panose="020B0604020202020204" pitchFamily="34" charset="0"/>
              </a:rPr>
              <a:pPr marL="7700" marR="242951" algn="r" defTabSz="554437">
                <a:spcBef>
                  <a:spcPts val="55"/>
                </a:spcBef>
                <a:defRPr/>
              </a:pPr>
              <a:t>7</a:t>
            </a:fld>
            <a:endParaRPr sz="800" spc="6" dirty="0">
              <a:solidFill>
                <a:prstClr val="white"/>
              </a:solidFill>
              <a:latin typeface="Exo" panose="02000503000000000000" pitchFamily="2" charset="77"/>
              <a:cs typeface="Arial" panose="020B0604020202020204" pitchFamily="34" charset="0"/>
            </a:endParaRPr>
          </a:p>
        </p:txBody>
      </p:sp>
      <p:pic>
        <p:nvPicPr>
          <p:cNvPr id="10" name="Picture 9" descr="A yellow square with a graphic of coins and an arrow&#10;&#10;AI-generated content may be incorrect.">
            <a:extLst>
              <a:ext uri="{FF2B5EF4-FFF2-40B4-BE49-F238E27FC236}">
                <a16:creationId xmlns:a16="http://schemas.microsoft.com/office/drawing/2014/main" id="{364785FA-6E2D-517F-71FA-7DA72D70C59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674385" y="1701126"/>
            <a:ext cx="1551375" cy="1551375"/>
          </a:xfrm>
          <a:prstGeom prst="rect">
            <a:avLst/>
          </a:prstGeom>
          <a:effectLst>
            <a:softEdge rad="127000"/>
          </a:effectLst>
        </p:spPr>
      </p:pic>
      <p:pic>
        <p:nvPicPr>
          <p:cNvPr id="12" name="Picture 11" descr="A neon light with a group of people&#10;&#10;AI-generated content may be incorrect.">
            <a:extLst>
              <a:ext uri="{FF2B5EF4-FFF2-40B4-BE49-F238E27FC236}">
                <a16:creationId xmlns:a16="http://schemas.microsoft.com/office/drawing/2014/main" id="{A01A4955-C568-6E02-1FF5-1FDB75E39B7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39027" y="1701126"/>
            <a:ext cx="1551375" cy="1551375"/>
          </a:xfrm>
          <a:prstGeom prst="rect">
            <a:avLst/>
          </a:prstGeom>
          <a:effectLst>
            <a:softEdge rad="127000"/>
          </a:effectLst>
        </p:spPr>
      </p:pic>
      <p:pic>
        <p:nvPicPr>
          <p:cNvPr id="14" name="Picture 13" descr="A blue square with a white line and a check mark on it&#10;&#10;AI-generated content may be incorrect.">
            <a:extLst>
              <a:ext uri="{FF2B5EF4-FFF2-40B4-BE49-F238E27FC236}">
                <a16:creationId xmlns:a16="http://schemas.microsoft.com/office/drawing/2014/main" id="{F432F1CF-A9F5-FD94-CF58-15D3916FA17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8803670" y="1701126"/>
            <a:ext cx="1551375" cy="1551375"/>
          </a:xfrm>
          <a:prstGeom prst="rect">
            <a:avLst/>
          </a:prstGeom>
          <a:effectLst>
            <a:softEdge rad="127000"/>
          </a:effectLst>
        </p:spPr>
      </p:pic>
      <p:sp>
        <p:nvSpPr>
          <p:cNvPr id="3" name="Rectangle 2">
            <a:extLst>
              <a:ext uri="{FF2B5EF4-FFF2-40B4-BE49-F238E27FC236}">
                <a16:creationId xmlns:a16="http://schemas.microsoft.com/office/drawing/2014/main" id="{F881500D-8F61-53B2-6C23-9E6058C25788}"/>
              </a:ext>
            </a:extLst>
          </p:cNvPr>
          <p:cNvSpPr/>
          <p:nvPr/>
        </p:nvSpPr>
        <p:spPr>
          <a:xfrm>
            <a:off x="7930323" y="3912781"/>
            <a:ext cx="3298065" cy="245684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defTabSz="914400">
              <a:defRPr/>
            </a:pPr>
            <a:r>
              <a:rPr lang="en-US" sz="1400">
                <a:solidFill>
                  <a:prstClr val="white"/>
                </a:solidFill>
                <a:latin typeface="Roboto Condensed Light" panose="02000000000000000000" pitchFamily="2" charset="0"/>
                <a:ea typeface="Roboto Condensed Light" panose="02000000000000000000" pitchFamily="2" charset="0"/>
              </a:rPr>
              <a:t>The three-year roadmap is deliberately front-loaded: core automation — CI/CD security gates, continuous SAST/DAST, and autogenerated SBOMs — lands in the first year to deliver immediate risk reduction and developer efficiency. </a:t>
            </a:r>
            <a:r>
              <a:rPr lang="en-US" sz="1400" b="1">
                <a:solidFill>
                  <a:prstClr val="white"/>
                </a:solidFill>
                <a:latin typeface="Roboto Condensed Light" panose="02000000000000000000" pitchFamily="2" charset="0"/>
                <a:ea typeface="Roboto Condensed Light" panose="02000000000000000000" pitchFamily="2" charset="0"/>
              </a:rPr>
              <a:t>Years </a:t>
            </a:r>
            <a:r>
              <a:rPr lang="en-US" sz="1400" b="1" dirty="0">
                <a:solidFill>
                  <a:prstClr val="white"/>
                </a:solidFill>
                <a:latin typeface="Roboto Condensed Light" panose="02000000000000000000" pitchFamily="2" charset="0"/>
                <a:ea typeface="Roboto Condensed Light" panose="02000000000000000000" pitchFamily="2" charset="0"/>
              </a:rPr>
              <a:t>2 and 3 then shift to longer term work,</a:t>
            </a:r>
            <a:r>
              <a:rPr lang="en-US" sz="1400" dirty="0">
                <a:solidFill>
                  <a:prstClr val="white"/>
                </a:solidFill>
                <a:latin typeface="Roboto Condensed Light" panose="02000000000000000000" pitchFamily="2" charset="0"/>
                <a:ea typeface="Roboto Condensed Light" panose="02000000000000000000" pitchFamily="2" charset="0"/>
              </a:rPr>
              <a:t> bringing legacy apps under the same guardrails, expanding model-governance and data-privacy tooling, and maturing metrics-driven oversight so the program can scale sustainably.</a:t>
            </a:r>
          </a:p>
        </p:txBody>
      </p:sp>
      <p:sp>
        <p:nvSpPr>
          <p:cNvPr id="4" name="Rectangle 3">
            <a:extLst>
              <a:ext uri="{FF2B5EF4-FFF2-40B4-BE49-F238E27FC236}">
                <a16:creationId xmlns:a16="http://schemas.microsoft.com/office/drawing/2014/main" id="{7965CDED-8479-BCEB-1EBA-8D9C9B880D7C}"/>
              </a:ext>
            </a:extLst>
          </p:cNvPr>
          <p:cNvSpPr/>
          <p:nvPr/>
        </p:nvSpPr>
        <p:spPr>
          <a:xfrm>
            <a:off x="4447761" y="3912781"/>
            <a:ext cx="3298065" cy="245684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defTabSz="914400">
              <a:defRPr/>
            </a:pPr>
            <a:r>
              <a:rPr lang="en-US" sz="1400">
                <a:solidFill>
                  <a:prstClr val="white"/>
                </a:solidFill>
                <a:latin typeface="Roboto Condensed Light" panose="02000000000000000000" pitchFamily="2" charset="0"/>
                <a:ea typeface="Roboto Condensed Light" panose="02000000000000000000" pitchFamily="2" charset="0"/>
              </a:rPr>
              <a:t>Staffing scales in lockstep with rollout: add one dedicated application security engineer in Year 1 to lead tooling integration and standards work, then free up a second engineer in Year 2 by reallocating a developer whose effort is released through automation-driven efficiency gains — so the second position comes from existing headcount rather than an incremental hire.</a:t>
            </a:r>
            <a:endParaRPr lang="en-US" sz="1400" b="1" dirty="0">
              <a:solidFill>
                <a:prstClr val="white"/>
              </a:solidFill>
              <a:latin typeface="Roboto Condensed Light" panose="02000000000000000000" pitchFamily="2" charset="0"/>
              <a:ea typeface="Roboto Condensed Light" panose="02000000000000000000" pitchFamily="2" charset="0"/>
            </a:endParaRPr>
          </a:p>
        </p:txBody>
      </p:sp>
      <p:sp>
        <p:nvSpPr>
          <p:cNvPr id="7" name="TextBox 6">
            <a:extLst>
              <a:ext uri="{FF2B5EF4-FFF2-40B4-BE49-F238E27FC236}">
                <a16:creationId xmlns:a16="http://schemas.microsoft.com/office/drawing/2014/main" id="{B7E09715-D2F5-2115-8C60-C1CE9668A691}"/>
              </a:ext>
            </a:extLst>
          </p:cNvPr>
          <p:cNvSpPr txBox="1"/>
          <p:nvPr/>
        </p:nvSpPr>
        <p:spPr>
          <a:xfrm>
            <a:off x="3940107" y="2426742"/>
            <a:ext cx="4149213" cy="2438400"/>
          </a:xfrm>
          <a:prstGeom prst="rect">
            <a:avLst/>
          </a:prstGeom>
          <a:gradFill>
            <a:gsLst>
              <a:gs pos="0">
                <a:schemeClr val="accent5">
                  <a:lumMod val="110000"/>
                  <a:satMod val="105000"/>
                  <a:tint val="67000"/>
                  <a:alpha val="75000"/>
                </a:schemeClr>
              </a:gs>
              <a:gs pos="50000">
                <a:schemeClr val="accent5">
                  <a:lumMod val="105000"/>
                  <a:satMod val="103000"/>
                  <a:tint val="73000"/>
                </a:schemeClr>
              </a:gs>
              <a:gs pos="100000">
                <a:schemeClr val="accent5">
                  <a:lumMod val="105000"/>
                  <a:satMod val="109000"/>
                  <a:tint val="81000"/>
                </a:schemeClr>
              </a:gs>
            </a:gsLst>
          </a:gradFill>
        </p:spPr>
        <p:style>
          <a:lnRef idx="1">
            <a:schemeClr val="accent5"/>
          </a:lnRef>
          <a:fillRef idx="2">
            <a:schemeClr val="accent5"/>
          </a:fillRef>
          <a:effectRef idx="1">
            <a:schemeClr val="accent5"/>
          </a:effectRef>
          <a:fontRef idx="minor">
            <a:schemeClr val="dk1"/>
          </a:fontRef>
        </p:style>
        <p:txBody>
          <a:bodyPr wrap="square" rtlCol="0">
            <a:noAutofit/>
          </a:bodyPr>
          <a:lstStyle/>
          <a:p>
            <a:pPr algn="ctr"/>
            <a:endParaRPr lang="en-US" sz="2800" dirty="0"/>
          </a:p>
          <a:p>
            <a:pPr algn="ctr"/>
            <a:r>
              <a:rPr lang="en-US" sz="2800" dirty="0"/>
              <a:t>Summarize requests for funding and staffing from the Results tab.</a:t>
            </a:r>
          </a:p>
        </p:txBody>
      </p:sp>
    </p:spTree>
    <p:extLst>
      <p:ext uri="{BB962C8B-B14F-4D97-AF65-F5344CB8AC3E}">
        <p14:creationId xmlns:p14="http://schemas.microsoft.com/office/powerpoint/2010/main" val="27194650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5B8E9-47BE-0E4E-9D6C-8471FE62BE91}"/>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73B1E344-9070-B510-F97C-6905D704039A}"/>
              </a:ext>
            </a:extLst>
          </p:cNvPr>
          <p:cNvSpPr/>
          <p:nvPr/>
        </p:nvSpPr>
        <p:spPr>
          <a:xfrm>
            <a:off x="0" y="4785448"/>
            <a:ext cx="12193588" cy="902525"/>
          </a:xfrm>
          <a:prstGeom prst="rect">
            <a:avLst/>
          </a:prstGeom>
          <a:gradFill>
            <a:gsLst>
              <a:gs pos="74000">
                <a:srgbClr val="2576B7">
                  <a:alpha val="9000"/>
                </a:srgbClr>
              </a:gs>
              <a:gs pos="0">
                <a:srgbClr val="2576B7">
                  <a:alpha val="47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11669E8D-B293-371A-4497-3E57A4C49311}"/>
              </a:ext>
            </a:extLst>
          </p:cNvPr>
          <p:cNvSpPr txBox="1"/>
          <p:nvPr/>
        </p:nvSpPr>
        <p:spPr>
          <a:xfrm>
            <a:off x="658368" y="5182558"/>
            <a:ext cx="7498080" cy="553998"/>
          </a:xfrm>
          <a:prstGeom prst="rect">
            <a:avLst/>
          </a:prstGeom>
          <a:noFill/>
        </p:spPr>
        <p:txBody>
          <a:bodyPr wrap="square" lIns="0" tIns="0" rIns="0" bIns="0" rtlCol="0">
            <a:spAutoFit/>
          </a:bodyPr>
          <a:lstStyle/>
          <a:p>
            <a:pPr>
              <a:lnSpc>
                <a:spcPts val="1600"/>
              </a:lnSpc>
            </a:pPr>
            <a:r>
              <a:rPr lang="en-US" sz="2800" spc="500" dirty="0">
                <a:solidFill>
                  <a:schemeClr val="bg1"/>
                </a:solidFill>
                <a:latin typeface="Montserrat Medium" pitchFamily="2" charset="77"/>
                <a:ea typeface="Roboto Condensed Light" panose="02000000000000000000" pitchFamily="2" charset="0"/>
              </a:rPr>
              <a:t>OUR STARTING POINT</a:t>
            </a:r>
          </a:p>
          <a:p>
            <a:pPr>
              <a:lnSpc>
                <a:spcPts val="1400"/>
              </a:lnSpc>
            </a:pPr>
            <a:br>
              <a:rPr lang="en-US" spc="500" dirty="0">
                <a:solidFill>
                  <a:schemeClr val="bg1"/>
                </a:solidFill>
                <a:latin typeface="Montserrat" pitchFamily="2" charset="77"/>
              </a:rPr>
            </a:br>
            <a:endParaRPr lang="en-US" spc="500" dirty="0">
              <a:solidFill>
                <a:schemeClr val="bg1"/>
              </a:solidFill>
              <a:latin typeface="Montserrat" pitchFamily="2" charset="77"/>
            </a:endParaRPr>
          </a:p>
        </p:txBody>
      </p:sp>
    </p:spTree>
    <p:extLst>
      <p:ext uri="{BB962C8B-B14F-4D97-AF65-F5344CB8AC3E}">
        <p14:creationId xmlns:p14="http://schemas.microsoft.com/office/powerpoint/2010/main" val="15496274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2636F-ECE2-8B9E-E0E5-0B3ADB3D3651}"/>
            </a:ext>
          </a:extLst>
        </p:cNvPr>
        <p:cNvGrpSpPr/>
        <p:nvPr/>
      </p:nvGrpSpPr>
      <p:grpSpPr>
        <a:xfrm>
          <a:off x="0" y="0"/>
          <a:ext cx="0" cy="0"/>
          <a:chOff x="0" y="0"/>
          <a:chExt cx="0" cy="0"/>
        </a:xfrm>
      </p:grpSpPr>
      <p:pic>
        <p:nvPicPr>
          <p:cNvPr id="6" name="Picture 5" descr="A screenshot of a computer&#10;&#10;AI-generated content may be incorrect.">
            <a:extLst>
              <a:ext uri="{FF2B5EF4-FFF2-40B4-BE49-F238E27FC236}">
                <a16:creationId xmlns:a16="http://schemas.microsoft.com/office/drawing/2014/main" id="{C56C00CF-74E9-9D0E-498E-B52CC8E692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8699540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descr="A blue and purple lit up cubes&#10;&#10;AI-generated content may be incorrect.">
            <a:extLst>
              <a:ext uri="{FF2B5EF4-FFF2-40B4-BE49-F238E27FC236}">
                <a16:creationId xmlns:a16="http://schemas.microsoft.com/office/drawing/2014/main" id="{94A82D74-47D3-03E9-C400-BA0805938328}"/>
              </a:ext>
            </a:extLst>
          </p:cNvPr>
          <p:cNvPicPr>
            <a:picLocks noGrp="1" noRot="1" noMove="1" noResize="1" noEditPoints="1" noAdjustHandles="1" noChangeArrowheads="1" noChangeShapeType="1" noCrop="1"/>
          </p:cNvPicPr>
          <p:nvPr/>
        </p:nvPicPr>
        <p:blipFill>
          <a:blip r:embed="rId3">
            <a:extLst>
              <a:ext uri="{28A0092B-C50C-407E-A947-70E740481C1C}">
                <a14:useLocalDpi xmlns:a14="http://schemas.microsoft.com/office/drawing/2010/main"/>
              </a:ext>
            </a:extLst>
          </a:blip>
          <a:stretch>
            <a:fillRect/>
          </a:stretch>
        </p:blipFill>
        <p:spPr>
          <a:xfrm>
            <a:off x="1" y="0"/>
            <a:ext cx="12252960" cy="6858000"/>
          </a:xfrm>
          <a:prstGeom prst="rect">
            <a:avLst/>
          </a:prstGeom>
        </p:spPr>
      </p:pic>
      <p:sp>
        <p:nvSpPr>
          <p:cNvPr id="3" name="Title 2">
            <a:extLst>
              <a:ext uri="{FF2B5EF4-FFF2-40B4-BE49-F238E27FC236}">
                <a16:creationId xmlns:a16="http://schemas.microsoft.com/office/drawing/2014/main" id="{368BDF6D-59D8-6049-B61C-26B3A300E432}"/>
              </a:ext>
            </a:extLst>
          </p:cNvPr>
          <p:cNvSpPr>
            <a:spLocks noGrp="1"/>
          </p:cNvSpPr>
          <p:nvPr>
            <p:ph type="title"/>
          </p:nvPr>
        </p:nvSpPr>
        <p:spPr>
          <a:xfrm>
            <a:off x="4423364" y="381190"/>
            <a:ext cx="6998164" cy="592053"/>
          </a:xfrm>
        </p:spPr>
        <p:txBody>
          <a:bodyPr/>
          <a:lstStyle/>
          <a:p>
            <a:r>
              <a:rPr lang="en-US">
                <a:solidFill>
                  <a:schemeClr val="accent1">
                    <a:lumMod val="60000"/>
                    <a:lumOff val="40000"/>
                  </a:schemeClr>
                </a:solidFill>
              </a:rPr>
              <a:t>iSSDLC</a:t>
            </a:r>
            <a:r>
              <a:rPr lang="en-US" dirty="0">
                <a:solidFill>
                  <a:schemeClr val="accent1">
                    <a:lumMod val="60000"/>
                    <a:lumOff val="40000"/>
                  </a:schemeClr>
                </a:solidFill>
              </a:rPr>
              <a:t> Maturity Scale</a:t>
            </a:r>
          </a:p>
        </p:txBody>
      </p:sp>
      <p:sp>
        <p:nvSpPr>
          <p:cNvPr id="24" name="TextBox 23">
            <a:extLst>
              <a:ext uri="{FF2B5EF4-FFF2-40B4-BE49-F238E27FC236}">
                <a16:creationId xmlns:a16="http://schemas.microsoft.com/office/drawing/2014/main" id="{60231411-7BEA-B8A8-C03E-FD851B688F29}"/>
              </a:ext>
            </a:extLst>
          </p:cNvPr>
          <p:cNvSpPr txBox="1"/>
          <p:nvPr/>
        </p:nvSpPr>
        <p:spPr>
          <a:xfrm>
            <a:off x="3455581" y="1594883"/>
            <a:ext cx="2147777" cy="563526"/>
          </a:xfrm>
          <a:prstGeom prst="rect">
            <a:avLst/>
          </a:prstGeom>
        </p:spPr>
        <p:txBody>
          <a:bodyPr wrap="square" lIns="0" tIns="0" rIns="0" bIns="0" numCol="1" spcCol="360000" rtlCol="0">
            <a:noAutofit/>
          </a:bodyPr>
          <a:lstStyle/>
          <a:p>
            <a:pPr algn="l">
              <a:lnSpc>
                <a:spcPct val="110000"/>
              </a:lnSpc>
              <a:tabLst/>
            </a:pPr>
            <a:r>
              <a:rPr lang="en-US" sz="2800" b="1" dirty="0">
                <a:solidFill>
                  <a:schemeClr val="accent1">
                    <a:lumMod val="60000"/>
                    <a:lumOff val="40000"/>
                  </a:schemeClr>
                </a:solidFill>
                <a:latin typeface="Exo" pitchFamily="2" charset="0"/>
                <a:ea typeface="Roboto Condensed Light" panose="02000000000000000000" pitchFamily="2" charset="0"/>
              </a:rPr>
              <a:t>Autonomous</a:t>
            </a:r>
          </a:p>
        </p:txBody>
      </p:sp>
      <p:sp>
        <p:nvSpPr>
          <p:cNvPr id="25" name="TextBox 24">
            <a:extLst>
              <a:ext uri="{FF2B5EF4-FFF2-40B4-BE49-F238E27FC236}">
                <a16:creationId xmlns:a16="http://schemas.microsoft.com/office/drawing/2014/main" id="{A27CD688-E411-D945-7DD2-8569EADD43F6}"/>
              </a:ext>
            </a:extLst>
          </p:cNvPr>
          <p:cNvSpPr txBox="1"/>
          <p:nvPr/>
        </p:nvSpPr>
        <p:spPr>
          <a:xfrm>
            <a:off x="3455580" y="2545112"/>
            <a:ext cx="2147777" cy="563526"/>
          </a:xfrm>
          <a:prstGeom prst="rect">
            <a:avLst/>
          </a:prstGeom>
        </p:spPr>
        <p:txBody>
          <a:bodyPr wrap="square" lIns="0" tIns="0" rIns="0" bIns="0" numCol="1" spcCol="360000" rtlCol="0">
            <a:noAutofit/>
          </a:bodyPr>
          <a:lstStyle/>
          <a:p>
            <a:pPr algn="l">
              <a:lnSpc>
                <a:spcPct val="110000"/>
              </a:lnSpc>
              <a:tabLst/>
            </a:pPr>
            <a:r>
              <a:rPr lang="en-US" sz="2800" b="1" dirty="0">
                <a:solidFill>
                  <a:schemeClr val="accent1">
                    <a:lumMod val="60000"/>
                    <a:lumOff val="40000"/>
                  </a:schemeClr>
                </a:solidFill>
                <a:latin typeface="Exo" pitchFamily="2" charset="0"/>
                <a:ea typeface="Roboto Condensed Light" panose="02000000000000000000" pitchFamily="2" charset="0"/>
              </a:rPr>
              <a:t>Automated</a:t>
            </a:r>
          </a:p>
        </p:txBody>
      </p:sp>
      <p:sp>
        <p:nvSpPr>
          <p:cNvPr id="26" name="TextBox 25">
            <a:extLst>
              <a:ext uri="{FF2B5EF4-FFF2-40B4-BE49-F238E27FC236}">
                <a16:creationId xmlns:a16="http://schemas.microsoft.com/office/drawing/2014/main" id="{10B13356-B1CF-5EA6-B0C5-C1421EE7693E}"/>
              </a:ext>
            </a:extLst>
          </p:cNvPr>
          <p:cNvSpPr txBox="1"/>
          <p:nvPr/>
        </p:nvSpPr>
        <p:spPr>
          <a:xfrm>
            <a:off x="3455578" y="3495341"/>
            <a:ext cx="2281079" cy="563526"/>
          </a:xfrm>
          <a:prstGeom prst="rect">
            <a:avLst/>
          </a:prstGeom>
        </p:spPr>
        <p:txBody>
          <a:bodyPr wrap="square" lIns="0" tIns="0" rIns="0" bIns="0" numCol="1" spcCol="360000" rtlCol="0">
            <a:noAutofit/>
          </a:bodyPr>
          <a:lstStyle/>
          <a:p>
            <a:pPr algn="l">
              <a:lnSpc>
                <a:spcPct val="110000"/>
              </a:lnSpc>
              <a:tabLst/>
            </a:pPr>
            <a:r>
              <a:rPr lang="en-US" sz="2800" b="1" dirty="0">
                <a:solidFill>
                  <a:schemeClr val="accent1">
                    <a:lumMod val="60000"/>
                    <a:lumOff val="40000"/>
                  </a:schemeClr>
                </a:solidFill>
                <a:latin typeface="Exo" pitchFamily="2" charset="0"/>
                <a:ea typeface="Roboto Condensed Light" panose="02000000000000000000" pitchFamily="2" charset="0"/>
              </a:rPr>
              <a:t>Orchestrated</a:t>
            </a:r>
          </a:p>
        </p:txBody>
      </p:sp>
      <p:sp>
        <p:nvSpPr>
          <p:cNvPr id="27" name="TextBox 26">
            <a:extLst>
              <a:ext uri="{FF2B5EF4-FFF2-40B4-BE49-F238E27FC236}">
                <a16:creationId xmlns:a16="http://schemas.microsoft.com/office/drawing/2014/main" id="{4A5E077B-9B9B-6B20-D8E4-A76AAEED627B}"/>
              </a:ext>
            </a:extLst>
          </p:cNvPr>
          <p:cNvSpPr txBox="1"/>
          <p:nvPr/>
        </p:nvSpPr>
        <p:spPr>
          <a:xfrm>
            <a:off x="3455579" y="4445570"/>
            <a:ext cx="2147777" cy="563526"/>
          </a:xfrm>
          <a:prstGeom prst="rect">
            <a:avLst/>
          </a:prstGeom>
        </p:spPr>
        <p:txBody>
          <a:bodyPr wrap="square" lIns="0" tIns="0" rIns="0" bIns="0" numCol="1" spcCol="360000" rtlCol="0">
            <a:noAutofit/>
          </a:bodyPr>
          <a:lstStyle/>
          <a:p>
            <a:pPr algn="l">
              <a:lnSpc>
                <a:spcPct val="110000"/>
              </a:lnSpc>
              <a:tabLst/>
            </a:pPr>
            <a:r>
              <a:rPr lang="en-US" sz="2800" b="1" dirty="0">
                <a:solidFill>
                  <a:schemeClr val="accent1">
                    <a:lumMod val="60000"/>
                    <a:lumOff val="40000"/>
                  </a:schemeClr>
                </a:solidFill>
                <a:latin typeface="Exo" pitchFamily="2" charset="0"/>
                <a:ea typeface="Roboto Condensed Light" panose="02000000000000000000" pitchFamily="2" charset="0"/>
              </a:rPr>
              <a:t>Assisted</a:t>
            </a:r>
          </a:p>
        </p:txBody>
      </p:sp>
      <p:sp>
        <p:nvSpPr>
          <p:cNvPr id="28" name="TextBox 27">
            <a:extLst>
              <a:ext uri="{FF2B5EF4-FFF2-40B4-BE49-F238E27FC236}">
                <a16:creationId xmlns:a16="http://schemas.microsoft.com/office/drawing/2014/main" id="{848488F7-3805-E480-15A0-A11F448F99B5}"/>
              </a:ext>
            </a:extLst>
          </p:cNvPr>
          <p:cNvSpPr txBox="1"/>
          <p:nvPr/>
        </p:nvSpPr>
        <p:spPr>
          <a:xfrm>
            <a:off x="3455580" y="5395799"/>
            <a:ext cx="2147777" cy="563526"/>
          </a:xfrm>
          <a:prstGeom prst="rect">
            <a:avLst/>
          </a:prstGeom>
        </p:spPr>
        <p:txBody>
          <a:bodyPr wrap="square" lIns="0" tIns="0" rIns="0" bIns="0" numCol="1" spcCol="360000" rtlCol="0">
            <a:noAutofit/>
          </a:bodyPr>
          <a:lstStyle/>
          <a:p>
            <a:pPr algn="l">
              <a:lnSpc>
                <a:spcPct val="110000"/>
              </a:lnSpc>
              <a:tabLst/>
            </a:pPr>
            <a:r>
              <a:rPr lang="en-US" sz="2800" b="1" dirty="0">
                <a:solidFill>
                  <a:schemeClr val="accent1">
                    <a:lumMod val="60000"/>
                    <a:lumOff val="40000"/>
                  </a:schemeClr>
                </a:solidFill>
                <a:latin typeface="Exo" pitchFamily="2" charset="0"/>
                <a:ea typeface="Roboto Condensed Light" panose="02000000000000000000" pitchFamily="2" charset="0"/>
              </a:rPr>
              <a:t>Manual</a:t>
            </a:r>
          </a:p>
        </p:txBody>
      </p:sp>
      <p:sp>
        <p:nvSpPr>
          <p:cNvPr id="29" name="TextBox 28">
            <a:extLst>
              <a:ext uri="{FF2B5EF4-FFF2-40B4-BE49-F238E27FC236}">
                <a16:creationId xmlns:a16="http://schemas.microsoft.com/office/drawing/2014/main" id="{C9E6F9C6-EEFE-F729-A315-9AF9DE232CAC}"/>
              </a:ext>
            </a:extLst>
          </p:cNvPr>
          <p:cNvSpPr txBox="1"/>
          <p:nvPr/>
        </p:nvSpPr>
        <p:spPr>
          <a:xfrm>
            <a:off x="5989924" y="1446027"/>
            <a:ext cx="5131187" cy="861237"/>
          </a:xfrm>
          <a:prstGeom prst="rect">
            <a:avLst/>
          </a:prstGeom>
        </p:spPr>
        <p:txBody>
          <a:bodyPr wrap="square" lIns="0" tIns="0" rIns="0" bIns="0" numCol="1" spcCol="360000" rtlCol="0">
            <a:noAutofit/>
          </a:bodyPr>
          <a:lstStyle/>
          <a:p>
            <a:pPr algn="l">
              <a:lnSpc>
                <a:spcPct val="110000"/>
              </a:lnSpc>
              <a:tabLst/>
            </a:pPr>
            <a:r>
              <a:rPr lang="en-US" sz="1400" dirty="0">
                <a:solidFill>
                  <a:schemeClr val="accent1">
                    <a:lumMod val="20000"/>
                    <a:lumOff val="80000"/>
                  </a:schemeClr>
                </a:solidFill>
                <a:latin typeface="Roboto Condensed Light" panose="02000000000000000000" pitchFamily="2" charset="0"/>
                <a:ea typeface="Roboto Condensed Light" panose="02000000000000000000" pitchFamily="2" charset="0"/>
              </a:rPr>
              <a:t>Humans set strategy and ethics. AI agents operate, learn, and optimize security end to end with minimal human input. The </a:t>
            </a:r>
            <a:r>
              <a:rPr lang="en-US" sz="1400">
                <a:solidFill>
                  <a:schemeClr val="accent1">
                    <a:lumMod val="20000"/>
                    <a:lumOff val="80000"/>
                  </a:schemeClr>
                </a:solidFill>
                <a:latin typeface="Roboto Condensed Light" panose="02000000000000000000" pitchFamily="2" charset="0"/>
                <a:ea typeface="Roboto Condensed Light" panose="02000000000000000000" pitchFamily="2" charset="0"/>
              </a:rPr>
              <a:t>iSSDLC</a:t>
            </a:r>
            <a:r>
              <a:rPr lang="en-US" sz="1400" dirty="0">
                <a:solidFill>
                  <a:schemeClr val="accent1">
                    <a:lumMod val="20000"/>
                    <a:lumOff val="80000"/>
                  </a:schemeClr>
                </a:solidFill>
                <a:latin typeface="Roboto Condensed Light" panose="02000000000000000000" pitchFamily="2" charset="0"/>
                <a:ea typeface="Roboto Condensed Light" panose="02000000000000000000" pitchFamily="2" charset="0"/>
              </a:rPr>
              <a:t> capability proves compliance on its own.</a:t>
            </a:r>
          </a:p>
        </p:txBody>
      </p:sp>
      <p:sp>
        <p:nvSpPr>
          <p:cNvPr id="31" name="TextBox 30">
            <a:extLst>
              <a:ext uri="{FF2B5EF4-FFF2-40B4-BE49-F238E27FC236}">
                <a16:creationId xmlns:a16="http://schemas.microsoft.com/office/drawing/2014/main" id="{0267600C-1225-081B-9A47-E104F2F35E57}"/>
              </a:ext>
            </a:extLst>
          </p:cNvPr>
          <p:cNvSpPr txBox="1"/>
          <p:nvPr/>
        </p:nvSpPr>
        <p:spPr>
          <a:xfrm>
            <a:off x="5989923" y="2363473"/>
            <a:ext cx="5131187" cy="861237"/>
          </a:xfrm>
          <a:prstGeom prst="rect">
            <a:avLst/>
          </a:prstGeom>
        </p:spPr>
        <p:txBody>
          <a:bodyPr wrap="square" lIns="0" tIns="0" rIns="0" bIns="0" numCol="1" spcCol="360000" rtlCol="0">
            <a:noAutofit/>
          </a:bodyPr>
          <a:lstStyle/>
          <a:p>
            <a:pPr algn="l">
              <a:lnSpc>
                <a:spcPct val="110000"/>
              </a:lnSpc>
              <a:tabLst/>
            </a:pPr>
            <a:r>
              <a:rPr lang="en-US" sz="1400" dirty="0">
                <a:solidFill>
                  <a:schemeClr val="accent1">
                    <a:lumMod val="20000"/>
                    <a:lumOff val="80000"/>
                  </a:schemeClr>
                </a:solidFill>
                <a:latin typeface="Roboto Condensed Light" panose="02000000000000000000" pitchFamily="2" charset="0"/>
                <a:ea typeface="Roboto Condensed Light" panose="02000000000000000000" pitchFamily="2" charset="0"/>
              </a:rPr>
              <a:t>Analytics and AI adapt controls continuously, remediate most routine issues without waiting for people, and escalate only edge cases. Security processes run largely hands-free.	</a:t>
            </a:r>
          </a:p>
        </p:txBody>
      </p:sp>
      <p:sp>
        <p:nvSpPr>
          <p:cNvPr id="33" name="TextBox 32">
            <a:extLst>
              <a:ext uri="{FF2B5EF4-FFF2-40B4-BE49-F238E27FC236}">
                <a16:creationId xmlns:a16="http://schemas.microsoft.com/office/drawing/2014/main" id="{511F88BA-A24F-9ED5-86AD-21D4EC3660C4}"/>
              </a:ext>
            </a:extLst>
          </p:cNvPr>
          <p:cNvSpPr txBox="1"/>
          <p:nvPr/>
        </p:nvSpPr>
        <p:spPr>
          <a:xfrm>
            <a:off x="5989923" y="3372101"/>
            <a:ext cx="5131187" cy="683642"/>
          </a:xfrm>
          <a:prstGeom prst="rect">
            <a:avLst/>
          </a:prstGeom>
        </p:spPr>
        <p:txBody>
          <a:bodyPr wrap="square" lIns="0" tIns="0" rIns="0" bIns="0" numCol="1" spcCol="360000" rtlCol="0">
            <a:noAutofit/>
          </a:bodyPr>
          <a:lstStyle/>
          <a:p>
            <a:pPr algn="l">
              <a:lnSpc>
                <a:spcPct val="110000"/>
              </a:lnSpc>
              <a:tabLst/>
            </a:pPr>
            <a:r>
              <a:rPr lang="en-US" sz="1400">
                <a:solidFill>
                  <a:schemeClr val="accent1">
                    <a:lumMod val="20000"/>
                    <a:lumOff val="80000"/>
                  </a:schemeClr>
                </a:solidFill>
                <a:latin typeface="Roboto Condensed Light" panose="02000000000000000000" pitchFamily="2" charset="0"/>
                <a:ea typeface="Roboto Condensed Light" panose="02000000000000000000" pitchFamily="2" charset="0"/>
              </a:rPr>
              <a:t>Tool-driven, multistep workflows carry out security tasks end to end (e.g. scans → PRs → tests) while humans provide oversight and final approval at defined risk gates.	</a:t>
            </a:r>
            <a:endParaRPr lang="en-US" sz="1400" dirty="0">
              <a:solidFill>
                <a:schemeClr val="accent1">
                  <a:lumMod val="20000"/>
                  <a:lumOff val="80000"/>
                </a:schemeClr>
              </a:solidFill>
              <a:latin typeface="Roboto Condensed Light" panose="02000000000000000000" pitchFamily="2" charset="0"/>
              <a:ea typeface="Roboto Condensed Light" panose="02000000000000000000" pitchFamily="2" charset="0"/>
            </a:endParaRPr>
          </a:p>
        </p:txBody>
      </p:sp>
      <p:sp>
        <p:nvSpPr>
          <p:cNvPr id="35" name="TextBox 34">
            <a:extLst>
              <a:ext uri="{FF2B5EF4-FFF2-40B4-BE49-F238E27FC236}">
                <a16:creationId xmlns:a16="http://schemas.microsoft.com/office/drawing/2014/main" id="{BF7C96DE-14D4-7604-A56C-3FC0C345E529}"/>
              </a:ext>
            </a:extLst>
          </p:cNvPr>
          <p:cNvSpPr txBox="1"/>
          <p:nvPr/>
        </p:nvSpPr>
        <p:spPr>
          <a:xfrm>
            <a:off x="5989924" y="4445570"/>
            <a:ext cx="5131187" cy="563526"/>
          </a:xfrm>
          <a:prstGeom prst="rect">
            <a:avLst/>
          </a:prstGeom>
        </p:spPr>
        <p:txBody>
          <a:bodyPr wrap="square" lIns="0" tIns="0" rIns="0" bIns="0" numCol="1" spcCol="360000" rtlCol="0">
            <a:noAutofit/>
          </a:bodyPr>
          <a:lstStyle/>
          <a:p>
            <a:pPr algn="l">
              <a:lnSpc>
                <a:spcPct val="110000"/>
              </a:lnSpc>
              <a:tabLst/>
            </a:pPr>
            <a:r>
              <a:rPr lang="en-US" sz="1400" dirty="0">
                <a:solidFill>
                  <a:schemeClr val="accent1">
                    <a:lumMod val="20000"/>
                    <a:lumOff val="80000"/>
                  </a:schemeClr>
                </a:solidFill>
                <a:latin typeface="Roboto Condensed Light" panose="02000000000000000000" pitchFamily="2" charset="0"/>
                <a:ea typeface="Roboto Condensed Light" panose="02000000000000000000" pitchFamily="2" charset="0"/>
              </a:rPr>
              <a:t>Basic tools, checklists, or templates help humans find issues or follow best practices, but people still decide and perform every task.	</a:t>
            </a:r>
          </a:p>
        </p:txBody>
      </p:sp>
      <p:sp>
        <p:nvSpPr>
          <p:cNvPr id="37" name="TextBox 36">
            <a:extLst>
              <a:ext uri="{FF2B5EF4-FFF2-40B4-BE49-F238E27FC236}">
                <a16:creationId xmlns:a16="http://schemas.microsoft.com/office/drawing/2014/main" id="{9077A4F2-7C09-FF22-A967-AB36420C1260}"/>
              </a:ext>
            </a:extLst>
          </p:cNvPr>
          <p:cNvSpPr txBox="1"/>
          <p:nvPr/>
        </p:nvSpPr>
        <p:spPr>
          <a:xfrm>
            <a:off x="5989924" y="5345710"/>
            <a:ext cx="5131187" cy="563526"/>
          </a:xfrm>
          <a:prstGeom prst="rect">
            <a:avLst/>
          </a:prstGeom>
        </p:spPr>
        <p:txBody>
          <a:bodyPr wrap="square" lIns="0" tIns="0" rIns="0" bIns="0" numCol="1" spcCol="360000" rtlCol="0">
            <a:noAutofit/>
          </a:bodyPr>
          <a:lstStyle/>
          <a:p>
            <a:pPr algn="l">
              <a:lnSpc>
                <a:spcPct val="110000"/>
              </a:lnSpc>
              <a:tabLst/>
            </a:pPr>
            <a:r>
              <a:rPr lang="en-US" sz="1400" dirty="0">
                <a:solidFill>
                  <a:schemeClr val="accent1">
                    <a:lumMod val="20000"/>
                    <a:lumOff val="80000"/>
                  </a:schemeClr>
                </a:solidFill>
                <a:latin typeface="Roboto Condensed Light" panose="02000000000000000000" pitchFamily="2" charset="0"/>
                <a:ea typeface="Roboto Condensed Light" panose="02000000000000000000" pitchFamily="2" charset="0"/>
              </a:rPr>
              <a:t>Capability is ad hoc and entirely human-driven. Little or no tooling; success depends on individual effort and local knowledge.	</a:t>
            </a:r>
          </a:p>
        </p:txBody>
      </p:sp>
      <p:sp>
        <p:nvSpPr>
          <p:cNvPr id="38" name="Arrow: Right 37">
            <a:extLst>
              <a:ext uri="{FF2B5EF4-FFF2-40B4-BE49-F238E27FC236}">
                <a16:creationId xmlns:a16="http://schemas.microsoft.com/office/drawing/2014/main" id="{6B32234D-0AC0-BA47-FB8A-4C1BE4140BFA}"/>
              </a:ext>
            </a:extLst>
          </p:cNvPr>
          <p:cNvSpPr/>
          <p:nvPr/>
        </p:nvSpPr>
        <p:spPr>
          <a:xfrm>
            <a:off x="106326" y="4055743"/>
            <a:ext cx="1212111" cy="803336"/>
          </a:xfrm>
          <a:prstGeom prst="rightArrow">
            <a:avLst/>
          </a:prstGeom>
          <a:solidFill>
            <a:schemeClr val="accent1">
              <a:lumMod val="75000"/>
            </a:schemeClr>
          </a:solidFill>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Exo" pitchFamily="2" charset="0"/>
              </a:rPr>
              <a:t>Current</a:t>
            </a:r>
          </a:p>
        </p:txBody>
      </p:sp>
      <p:sp>
        <p:nvSpPr>
          <p:cNvPr id="39" name="Arrow: Right 38">
            <a:extLst>
              <a:ext uri="{FF2B5EF4-FFF2-40B4-BE49-F238E27FC236}">
                <a16:creationId xmlns:a16="http://schemas.microsoft.com/office/drawing/2014/main" id="{3544858B-7778-CA0B-DDD9-89E7103E8BA6}"/>
              </a:ext>
            </a:extLst>
          </p:cNvPr>
          <p:cNvSpPr/>
          <p:nvPr/>
        </p:nvSpPr>
        <p:spPr>
          <a:xfrm>
            <a:off x="106326" y="2305302"/>
            <a:ext cx="1212111" cy="803336"/>
          </a:xfrm>
          <a:prstGeom prst="rightArrow">
            <a:avLst/>
          </a:prstGeom>
          <a:solidFill>
            <a:schemeClr val="accent1">
              <a:lumMod val="75000"/>
            </a:schemeClr>
          </a:solidFill>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Exo" pitchFamily="2" charset="0"/>
              </a:rPr>
              <a:t>Target</a:t>
            </a:r>
          </a:p>
        </p:txBody>
      </p:sp>
      <p:sp>
        <p:nvSpPr>
          <p:cNvPr id="40" name="TextBox 39">
            <a:extLst>
              <a:ext uri="{FF2B5EF4-FFF2-40B4-BE49-F238E27FC236}">
                <a16:creationId xmlns:a16="http://schemas.microsoft.com/office/drawing/2014/main" id="{6805B0E7-8A97-A890-6363-01E188F65AB4}"/>
              </a:ext>
            </a:extLst>
          </p:cNvPr>
          <p:cNvSpPr txBox="1"/>
          <p:nvPr/>
        </p:nvSpPr>
        <p:spPr>
          <a:xfrm>
            <a:off x="3662050" y="2363473"/>
            <a:ext cx="4149213" cy="2438400"/>
          </a:xfrm>
          <a:prstGeom prst="rect">
            <a:avLst/>
          </a:prstGeom>
          <a:gradFill>
            <a:gsLst>
              <a:gs pos="0">
                <a:schemeClr val="accent5">
                  <a:lumMod val="110000"/>
                  <a:satMod val="105000"/>
                  <a:tint val="67000"/>
                  <a:alpha val="75000"/>
                </a:schemeClr>
              </a:gs>
              <a:gs pos="50000">
                <a:schemeClr val="accent5">
                  <a:lumMod val="105000"/>
                  <a:satMod val="103000"/>
                  <a:tint val="73000"/>
                </a:schemeClr>
              </a:gs>
              <a:gs pos="100000">
                <a:schemeClr val="accent5">
                  <a:lumMod val="105000"/>
                  <a:satMod val="109000"/>
                  <a:tint val="81000"/>
                </a:schemeClr>
              </a:gs>
            </a:gsLst>
          </a:gradFill>
        </p:spPr>
        <p:style>
          <a:lnRef idx="1">
            <a:schemeClr val="accent5"/>
          </a:lnRef>
          <a:fillRef idx="2">
            <a:schemeClr val="accent5"/>
          </a:fillRef>
          <a:effectRef idx="1">
            <a:schemeClr val="accent5"/>
          </a:effectRef>
          <a:fontRef idx="minor">
            <a:schemeClr val="dk1"/>
          </a:fontRef>
        </p:style>
        <p:txBody>
          <a:bodyPr wrap="square" rtlCol="0">
            <a:noAutofit/>
          </a:bodyPr>
          <a:lstStyle/>
          <a:p>
            <a:pPr algn="ctr"/>
            <a:endParaRPr lang="en-US" sz="2800" dirty="0"/>
          </a:p>
          <a:p>
            <a:pPr algn="ctr"/>
            <a:r>
              <a:rPr lang="en-US" sz="2800" dirty="0"/>
              <a:t>Move arrows to indicate current and target states.</a:t>
            </a:r>
          </a:p>
        </p:txBody>
      </p:sp>
      <p:sp>
        <p:nvSpPr>
          <p:cNvPr id="2" name="TextBox 1">
            <a:extLst>
              <a:ext uri="{FF2B5EF4-FFF2-40B4-BE49-F238E27FC236}">
                <a16:creationId xmlns:a16="http://schemas.microsoft.com/office/drawing/2014/main" id="{34DEB0BC-710B-595A-B7F1-95FB25407C31}"/>
              </a:ext>
            </a:extLst>
          </p:cNvPr>
          <p:cNvSpPr txBox="1"/>
          <p:nvPr/>
        </p:nvSpPr>
        <p:spPr>
          <a:xfrm>
            <a:off x="9387080" y="6183618"/>
            <a:ext cx="2342465" cy="400000"/>
          </a:xfrm>
          <a:prstGeom prst="rect">
            <a:avLst/>
          </a:prstGeom>
        </p:spPr>
        <p:txBody>
          <a:bodyPr wrap="square" lIns="0" tIns="0" rIns="0" bIns="0" numCol="1" spcCol="360000" rtlCol="0">
            <a:noAutofit/>
          </a:bodyPr>
          <a:lstStyle/>
          <a:p>
            <a:pPr algn="l">
              <a:lnSpc>
                <a:spcPct val="110000"/>
              </a:lnSpc>
              <a:tabLst/>
            </a:pPr>
            <a:r>
              <a:rPr lang="en-US" sz="1200" dirty="0">
                <a:solidFill>
                  <a:schemeClr val="accent1">
                    <a:lumMod val="20000"/>
                    <a:lumOff val="80000"/>
                  </a:schemeClr>
                </a:solidFill>
                <a:latin typeface="Roboto Condensed Light" panose="02000000000000000000" pitchFamily="2" charset="0"/>
                <a:ea typeface="Roboto Condensed Light" panose="02000000000000000000" pitchFamily="2" charset="0"/>
              </a:rPr>
              <a:t>Image generated by ChatGPT</a:t>
            </a:r>
          </a:p>
        </p:txBody>
      </p:sp>
    </p:spTree>
    <p:extLst>
      <p:ext uri="{BB962C8B-B14F-4D97-AF65-F5344CB8AC3E}">
        <p14:creationId xmlns:p14="http://schemas.microsoft.com/office/powerpoint/2010/main" val="13260862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E6E8AF-AA02-8A45-8B51-0888B0C66904}"/>
              </a:ext>
            </a:extLst>
          </p:cNvPr>
          <p:cNvSpPr>
            <a:spLocks noGrp="1"/>
          </p:cNvSpPr>
          <p:nvPr>
            <p:ph type="title"/>
          </p:nvPr>
        </p:nvSpPr>
        <p:spPr>
          <a:xfrm>
            <a:off x="354106" y="530021"/>
            <a:ext cx="8449652" cy="1130188"/>
          </a:xfrm>
        </p:spPr>
        <p:txBody>
          <a:bodyPr/>
          <a:lstStyle/>
          <a:p>
            <a:r>
              <a:rPr lang="en-US" dirty="0"/>
              <a:t>Drivers</a:t>
            </a:r>
          </a:p>
        </p:txBody>
      </p:sp>
      <p:sp>
        <p:nvSpPr>
          <p:cNvPr id="4" name="Text Placeholder 3">
            <a:extLst>
              <a:ext uri="{FF2B5EF4-FFF2-40B4-BE49-F238E27FC236}">
                <a16:creationId xmlns:a16="http://schemas.microsoft.com/office/drawing/2014/main" id="{977F6EAB-41A6-0F49-9C36-8B0BE7544424}"/>
              </a:ext>
            </a:extLst>
          </p:cNvPr>
          <p:cNvSpPr>
            <a:spLocks noGrp="1"/>
          </p:cNvSpPr>
          <p:nvPr>
            <p:ph type="body" sz="quarter" idx="11"/>
          </p:nvPr>
        </p:nvSpPr>
        <p:spPr>
          <a:xfrm>
            <a:off x="374087" y="1177271"/>
            <a:ext cx="8476667" cy="456696"/>
          </a:xfrm>
        </p:spPr>
        <p:txBody>
          <a:bodyPr/>
          <a:lstStyle/>
          <a:p>
            <a:r>
              <a:rPr lang="en-US" dirty="0"/>
              <a:t>The drivers behind the need to evolve application security.</a:t>
            </a:r>
          </a:p>
        </p:txBody>
      </p:sp>
      <p:grpSp>
        <p:nvGrpSpPr>
          <p:cNvPr id="9" name="Group 8">
            <a:extLst>
              <a:ext uri="{FF2B5EF4-FFF2-40B4-BE49-F238E27FC236}">
                <a16:creationId xmlns:a16="http://schemas.microsoft.com/office/drawing/2014/main" id="{8DE8B37F-6332-F50B-C6E1-8B2E9FCEEEFB}"/>
              </a:ext>
            </a:extLst>
          </p:cNvPr>
          <p:cNvGrpSpPr/>
          <p:nvPr/>
        </p:nvGrpSpPr>
        <p:grpSpPr>
          <a:xfrm>
            <a:off x="5040713" y="3190922"/>
            <a:ext cx="1977494" cy="1977495"/>
            <a:chOff x="10263698" y="5879400"/>
            <a:chExt cx="3954987" cy="3954990"/>
          </a:xfrm>
        </p:grpSpPr>
        <p:sp>
          <p:nvSpPr>
            <p:cNvPr id="10" name="Shape 55293">
              <a:extLst>
                <a:ext uri="{FF2B5EF4-FFF2-40B4-BE49-F238E27FC236}">
                  <a16:creationId xmlns:a16="http://schemas.microsoft.com/office/drawing/2014/main" id="{480299E7-67CB-19E7-9ABF-37F0B396DCE3}"/>
                </a:ext>
              </a:extLst>
            </p:cNvPr>
            <p:cNvSpPr/>
            <p:nvPr/>
          </p:nvSpPr>
          <p:spPr>
            <a:xfrm>
              <a:off x="10263698" y="7856895"/>
              <a:ext cx="1977493" cy="1977495"/>
            </a:xfrm>
            <a:prstGeom prst="rect">
              <a:avLst/>
            </a:prstGeom>
            <a:solidFill>
              <a:schemeClr val="accent4"/>
            </a:solidFill>
            <a:ln w="12700" cap="flat">
              <a:noFill/>
              <a:miter lim="400000"/>
            </a:ln>
            <a:effectLst/>
          </p:spPr>
          <p:txBody>
            <a:bodyPr wrap="square" lIns="0" tIns="0" rIns="0" bIns="0" numCol="1" anchor="t">
              <a:noAutofit/>
            </a:bodyPr>
            <a:lstStyle/>
            <a:p>
              <a:pPr>
                <a:lnSpc>
                  <a:spcPct val="110000"/>
                </a:lnSpc>
              </a:pPr>
              <a:endParaRPr sz="2532" dirty="0">
                <a:latin typeface="Arial" panose="020B0604020202020204" pitchFamily="34" charset="0"/>
              </a:endParaRPr>
            </a:p>
          </p:txBody>
        </p:sp>
        <p:sp>
          <p:nvSpPr>
            <p:cNvPr id="11" name="Shape 55294">
              <a:extLst>
                <a:ext uri="{FF2B5EF4-FFF2-40B4-BE49-F238E27FC236}">
                  <a16:creationId xmlns:a16="http://schemas.microsoft.com/office/drawing/2014/main" id="{E99F738F-E624-1F7A-28F6-670A9FBA5078}"/>
                </a:ext>
              </a:extLst>
            </p:cNvPr>
            <p:cNvSpPr/>
            <p:nvPr/>
          </p:nvSpPr>
          <p:spPr>
            <a:xfrm>
              <a:off x="12241190" y="7856895"/>
              <a:ext cx="1977495" cy="1977495"/>
            </a:xfrm>
            <a:prstGeom prst="rect">
              <a:avLst/>
            </a:prstGeom>
            <a:solidFill>
              <a:schemeClr val="accent3"/>
            </a:solidFill>
            <a:ln w="12700" cap="flat">
              <a:noFill/>
              <a:miter lim="400000"/>
            </a:ln>
            <a:effectLst/>
          </p:spPr>
          <p:txBody>
            <a:bodyPr wrap="square" lIns="0" tIns="0" rIns="0" bIns="0" numCol="1" anchor="t">
              <a:noAutofit/>
            </a:bodyPr>
            <a:lstStyle/>
            <a:p>
              <a:pPr>
                <a:lnSpc>
                  <a:spcPct val="110000"/>
                </a:lnSpc>
              </a:pPr>
              <a:endParaRPr sz="2532" dirty="0">
                <a:latin typeface="Arial" panose="020B0604020202020204" pitchFamily="34" charset="0"/>
              </a:endParaRPr>
            </a:p>
          </p:txBody>
        </p:sp>
        <p:sp>
          <p:nvSpPr>
            <p:cNvPr id="12" name="Shape 55295">
              <a:extLst>
                <a:ext uri="{FF2B5EF4-FFF2-40B4-BE49-F238E27FC236}">
                  <a16:creationId xmlns:a16="http://schemas.microsoft.com/office/drawing/2014/main" id="{A8CCF017-80C7-8892-CF33-CB8D9B867E94}"/>
                </a:ext>
              </a:extLst>
            </p:cNvPr>
            <p:cNvSpPr/>
            <p:nvPr/>
          </p:nvSpPr>
          <p:spPr>
            <a:xfrm>
              <a:off x="10263698" y="5879400"/>
              <a:ext cx="1977493" cy="1977495"/>
            </a:xfrm>
            <a:prstGeom prst="rect">
              <a:avLst/>
            </a:prstGeom>
            <a:solidFill>
              <a:schemeClr val="accent1"/>
            </a:solidFill>
            <a:ln w="12700" cap="flat">
              <a:noFill/>
              <a:miter lim="400000"/>
            </a:ln>
            <a:effectLst/>
          </p:spPr>
          <p:txBody>
            <a:bodyPr wrap="square" lIns="0" tIns="0" rIns="0" bIns="0" numCol="1" anchor="t">
              <a:noAutofit/>
            </a:bodyPr>
            <a:lstStyle/>
            <a:p>
              <a:pPr>
                <a:lnSpc>
                  <a:spcPct val="110000"/>
                </a:lnSpc>
              </a:pPr>
              <a:endParaRPr sz="2532" dirty="0">
                <a:latin typeface="Arial" panose="020B0604020202020204" pitchFamily="34" charset="0"/>
              </a:endParaRPr>
            </a:p>
          </p:txBody>
        </p:sp>
        <p:sp>
          <p:nvSpPr>
            <p:cNvPr id="13" name="Shape 55296">
              <a:extLst>
                <a:ext uri="{FF2B5EF4-FFF2-40B4-BE49-F238E27FC236}">
                  <a16:creationId xmlns:a16="http://schemas.microsoft.com/office/drawing/2014/main" id="{B7481A7C-F0DF-F60C-50A3-267391761A97}"/>
                </a:ext>
              </a:extLst>
            </p:cNvPr>
            <p:cNvSpPr/>
            <p:nvPr/>
          </p:nvSpPr>
          <p:spPr>
            <a:xfrm>
              <a:off x="12241190" y="5879400"/>
              <a:ext cx="1977495" cy="1977495"/>
            </a:xfrm>
            <a:prstGeom prst="rect">
              <a:avLst/>
            </a:prstGeom>
            <a:solidFill>
              <a:schemeClr val="accent2"/>
            </a:solidFill>
            <a:ln w="12700" cap="flat">
              <a:noFill/>
              <a:miter lim="400000"/>
            </a:ln>
            <a:effectLst/>
          </p:spPr>
          <p:txBody>
            <a:bodyPr wrap="square" lIns="0" tIns="0" rIns="0" bIns="0" numCol="1" anchor="t">
              <a:noAutofit/>
            </a:bodyPr>
            <a:lstStyle/>
            <a:p>
              <a:pPr>
                <a:lnSpc>
                  <a:spcPct val="110000"/>
                </a:lnSpc>
              </a:pPr>
              <a:endParaRPr sz="2532" dirty="0">
                <a:latin typeface="Arial" panose="020B0604020202020204" pitchFamily="34" charset="0"/>
              </a:endParaRPr>
            </a:p>
          </p:txBody>
        </p:sp>
      </p:grpSp>
      <p:grpSp>
        <p:nvGrpSpPr>
          <p:cNvPr id="14" name="Group 13">
            <a:extLst>
              <a:ext uri="{FF2B5EF4-FFF2-40B4-BE49-F238E27FC236}">
                <a16:creationId xmlns:a16="http://schemas.microsoft.com/office/drawing/2014/main" id="{083F92B1-3525-B05E-CACE-10985C982153}"/>
              </a:ext>
            </a:extLst>
          </p:cNvPr>
          <p:cNvGrpSpPr/>
          <p:nvPr/>
        </p:nvGrpSpPr>
        <p:grpSpPr>
          <a:xfrm>
            <a:off x="6335881" y="2731053"/>
            <a:ext cx="1197669" cy="1097087"/>
            <a:chOff x="12854033" y="4959661"/>
            <a:chExt cx="2395337" cy="2194174"/>
          </a:xfrm>
        </p:grpSpPr>
        <p:sp>
          <p:nvSpPr>
            <p:cNvPr id="15" name="Shape 55298">
              <a:extLst>
                <a:ext uri="{FF2B5EF4-FFF2-40B4-BE49-F238E27FC236}">
                  <a16:creationId xmlns:a16="http://schemas.microsoft.com/office/drawing/2014/main" id="{6E16C613-E95F-D81F-A0A9-D8A8F442CC0B}"/>
                </a:ext>
              </a:extLst>
            </p:cNvPr>
            <p:cNvSpPr/>
            <p:nvPr/>
          </p:nvSpPr>
          <p:spPr>
            <a:xfrm>
              <a:off x="13792811" y="4959687"/>
              <a:ext cx="1456409" cy="1456412"/>
            </a:xfrm>
            <a:prstGeom prst="rect">
              <a:avLst/>
            </a:prstGeom>
            <a:solidFill>
              <a:schemeClr val="accent2"/>
            </a:solidFill>
            <a:ln w="12700" cap="flat">
              <a:noFill/>
              <a:miter lim="400000"/>
            </a:ln>
            <a:effectLst/>
          </p:spPr>
          <p:txBody>
            <a:bodyPr wrap="square" lIns="0" tIns="0" rIns="0" bIns="0" numCol="1" anchor="t">
              <a:noAutofit/>
            </a:bodyPr>
            <a:lstStyle/>
            <a:p>
              <a:pPr>
                <a:lnSpc>
                  <a:spcPct val="110000"/>
                </a:lnSpc>
              </a:pPr>
              <a:endParaRPr sz="2532" dirty="0">
                <a:latin typeface="Arial" panose="020B0604020202020204" pitchFamily="34" charset="0"/>
              </a:endParaRPr>
            </a:p>
          </p:txBody>
        </p:sp>
        <p:sp>
          <p:nvSpPr>
            <p:cNvPr id="16" name="Shape 55299">
              <a:extLst>
                <a:ext uri="{FF2B5EF4-FFF2-40B4-BE49-F238E27FC236}">
                  <a16:creationId xmlns:a16="http://schemas.microsoft.com/office/drawing/2014/main" id="{AAD04BD5-8732-4811-E0A9-B64F2BCC0CC1}"/>
                </a:ext>
              </a:extLst>
            </p:cNvPr>
            <p:cNvSpPr/>
            <p:nvPr/>
          </p:nvSpPr>
          <p:spPr>
            <a:xfrm>
              <a:off x="12857671" y="4959661"/>
              <a:ext cx="935289" cy="2194174"/>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18132"/>
                  </a:lnTo>
                  <a:lnTo>
                    <a:pt x="0" y="21600"/>
                  </a:lnTo>
                  <a:lnTo>
                    <a:pt x="21600" y="14337"/>
                  </a:lnTo>
                  <a:lnTo>
                    <a:pt x="21600" y="0"/>
                  </a:lnTo>
                  <a:close/>
                </a:path>
              </a:pathLst>
            </a:custGeom>
            <a:solidFill>
              <a:schemeClr val="accent2">
                <a:lumMod val="75000"/>
              </a:schemeClr>
            </a:solidFill>
            <a:ln w="12700" cap="flat">
              <a:noFill/>
              <a:miter lim="400000"/>
            </a:ln>
            <a:effectLst/>
          </p:spPr>
          <p:txBody>
            <a:bodyPr wrap="square" lIns="0" tIns="0" rIns="0" bIns="0" numCol="1" anchor="t">
              <a:noAutofit/>
            </a:bodyPr>
            <a:lstStyle/>
            <a:p>
              <a:pPr>
                <a:lnSpc>
                  <a:spcPct val="110000"/>
                </a:lnSpc>
              </a:pPr>
              <a:endParaRPr sz="2532" dirty="0">
                <a:latin typeface="Arial" panose="020B0604020202020204" pitchFamily="34" charset="0"/>
              </a:endParaRPr>
            </a:p>
          </p:txBody>
        </p:sp>
        <p:sp>
          <p:nvSpPr>
            <p:cNvPr id="17" name="Shape 55300">
              <a:extLst>
                <a:ext uri="{FF2B5EF4-FFF2-40B4-BE49-F238E27FC236}">
                  <a16:creationId xmlns:a16="http://schemas.microsoft.com/office/drawing/2014/main" id="{02064F2C-62D0-23F6-EE7C-86AB93DC31C2}"/>
                </a:ext>
              </a:extLst>
            </p:cNvPr>
            <p:cNvSpPr/>
            <p:nvPr/>
          </p:nvSpPr>
          <p:spPr>
            <a:xfrm>
              <a:off x="12854033" y="6416069"/>
              <a:ext cx="2395337" cy="736855"/>
            </a:xfrm>
            <a:custGeom>
              <a:avLst/>
              <a:gdLst/>
              <a:ahLst/>
              <a:cxnLst>
                <a:cxn ang="0">
                  <a:pos x="wd2" y="hd2"/>
                </a:cxn>
                <a:cxn ang="5400000">
                  <a:pos x="wd2" y="hd2"/>
                </a:cxn>
                <a:cxn ang="10800000">
                  <a:pos x="wd2" y="hd2"/>
                </a:cxn>
                <a:cxn ang="16200000">
                  <a:pos x="wd2" y="hd2"/>
                </a:cxn>
              </a:cxnLst>
              <a:rect l="0" t="0" r="r" b="b"/>
              <a:pathLst>
                <a:path w="21600" h="21600" extrusionOk="0">
                  <a:moveTo>
                    <a:pt x="8434" y="0"/>
                  </a:moveTo>
                  <a:lnTo>
                    <a:pt x="0" y="21600"/>
                  </a:lnTo>
                  <a:lnTo>
                    <a:pt x="3058" y="21573"/>
                  </a:lnTo>
                  <a:lnTo>
                    <a:pt x="21600" y="0"/>
                  </a:lnTo>
                  <a:lnTo>
                    <a:pt x="8434" y="0"/>
                  </a:lnTo>
                  <a:close/>
                </a:path>
              </a:pathLst>
            </a:custGeom>
            <a:solidFill>
              <a:schemeClr val="accent2">
                <a:lumMod val="50000"/>
              </a:schemeClr>
            </a:solidFill>
            <a:ln w="12700" cap="flat">
              <a:noFill/>
              <a:miter lim="400000"/>
            </a:ln>
            <a:effectLst/>
          </p:spPr>
          <p:txBody>
            <a:bodyPr wrap="square" lIns="0" tIns="0" rIns="0" bIns="0" numCol="1" anchor="t">
              <a:noAutofit/>
            </a:bodyPr>
            <a:lstStyle/>
            <a:p>
              <a:pPr>
                <a:lnSpc>
                  <a:spcPct val="110000"/>
                </a:lnSpc>
              </a:pPr>
              <a:endParaRPr sz="2532" dirty="0">
                <a:latin typeface="Arial" panose="020B0604020202020204" pitchFamily="34" charset="0"/>
              </a:endParaRPr>
            </a:p>
          </p:txBody>
        </p:sp>
      </p:grpSp>
      <p:grpSp>
        <p:nvGrpSpPr>
          <p:cNvPr id="19" name="Group 18">
            <a:extLst>
              <a:ext uri="{FF2B5EF4-FFF2-40B4-BE49-F238E27FC236}">
                <a16:creationId xmlns:a16="http://schemas.microsoft.com/office/drawing/2014/main" id="{B465F212-FF6C-DA6F-04BC-B1EF1EF7A5D6}"/>
              </a:ext>
            </a:extLst>
          </p:cNvPr>
          <p:cNvGrpSpPr/>
          <p:nvPr/>
        </p:nvGrpSpPr>
        <p:grpSpPr>
          <a:xfrm>
            <a:off x="3878289" y="4534053"/>
            <a:ext cx="1792385" cy="1641857"/>
            <a:chOff x="7938848" y="8565662"/>
            <a:chExt cx="3584769" cy="3283713"/>
          </a:xfrm>
        </p:grpSpPr>
        <p:sp>
          <p:nvSpPr>
            <p:cNvPr id="20" name="Shape 55310">
              <a:extLst>
                <a:ext uri="{FF2B5EF4-FFF2-40B4-BE49-F238E27FC236}">
                  <a16:creationId xmlns:a16="http://schemas.microsoft.com/office/drawing/2014/main" id="{C006997C-A06A-962E-619C-C9979334646A}"/>
                </a:ext>
              </a:extLst>
            </p:cNvPr>
            <p:cNvSpPr/>
            <p:nvPr/>
          </p:nvSpPr>
          <p:spPr>
            <a:xfrm>
              <a:off x="7939068" y="9669725"/>
              <a:ext cx="2179606" cy="2179607"/>
            </a:xfrm>
            <a:prstGeom prst="rect">
              <a:avLst/>
            </a:prstGeom>
            <a:solidFill>
              <a:schemeClr val="accent4"/>
            </a:solidFill>
            <a:ln w="12700" cap="flat">
              <a:noFill/>
              <a:miter lim="400000"/>
            </a:ln>
            <a:effectLst/>
          </p:spPr>
          <p:txBody>
            <a:bodyPr wrap="square" lIns="0" tIns="0" rIns="0" bIns="0" numCol="1" anchor="t">
              <a:noAutofit/>
            </a:bodyPr>
            <a:lstStyle/>
            <a:p>
              <a:pPr>
                <a:lnSpc>
                  <a:spcPct val="110000"/>
                </a:lnSpc>
              </a:pPr>
              <a:endParaRPr sz="2532" dirty="0">
                <a:latin typeface="Arial" panose="020B0604020202020204" pitchFamily="34" charset="0"/>
              </a:endParaRPr>
            </a:p>
          </p:txBody>
        </p:sp>
        <p:sp>
          <p:nvSpPr>
            <p:cNvPr id="21" name="Shape 55311">
              <a:extLst>
                <a:ext uri="{FF2B5EF4-FFF2-40B4-BE49-F238E27FC236}">
                  <a16:creationId xmlns:a16="http://schemas.microsoft.com/office/drawing/2014/main" id="{A330E241-0AC6-6CDA-AD88-A5FC86782CE7}"/>
                </a:ext>
              </a:extLst>
            </p:cNvPr>
            <p:cNvSpPr/>
            <p:nvPr/>
          </p:nvSpPr>
          <p:spPr>
            <a:xfrm>
              <a:off x="10118450" y="8565662"/>
              <a:ext cx="1399717" cy="3283713"/>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3468"/>
                  </a:lnTo>
                  <a:lnTo>
                    <a:pt x="21600" y="0"/>
                  </a:lnTo>
                  <a:lnTo>
                    <a:pt x="0" y="7263"/>
                  </a:lnTo>
                  <a:lnTo>
                    <a:pt x="0" y="21600"/>
                  </a:lnTo>
                  <a:close/>
                </a:path>
              </a:pathLst>
            </a:custGeom>
            <a:solidFill>
              <a:schemeClr val="accent4">
                <a:lumMod val="75000"/>
              </a:schemeClr>
            </a:solidFill>
            <a:ln w="12700" cap="flat">
              <a:noFill/>
              <a:miter lim="400000"/>
            </a:ln>
            <a:effectLst/>
          </p:spPr>
          <p:txBody>
            <a:bodyPr wrap="square" lIns="0" tIns="0" rIns="0" bIns="0" numCol="1" anchor="t">
              <a:noAutofit/>
            </a:bodyPr>
            <a:lstStyle/>
            <a:p>
              <a:pPr>
                <a:lnSpc>
                  <a:spcPct val="110000"/>
                </a:lnSpc>
              </a:pPr>
              <a:endParaRPr sz="2532" dirty="0">
                <a:latin typeface="Arial" panose="020B0604020202020204" pitchFamily="34" charset="0"/>
              </a:endParaRPr>
            </a:p>
          </p:txBody>
        </p:sp>
        <p:sp>
          <p:nvSpPr>
            <p:cNvPr id="22" name="Shape 55312">
              <a:extLst>
                <a:ext uri="{FF2B5EF4-FFF2-40B4-BE49-F238E27FC236}">
                  <a16:creationId xmlns:a16="http://schemas.microsoft.com/office/drawing/2014/main" id="{538F3A3F-EC66-A489-6975-3836800B6BAC}"/>
                </a:ext>
              </a:extLst>
            </p:cNvPr>
            <p:cNvSpPr/>
            <p:nvPr/>
          </p:nvSpPr>
          <p:spPr>
            <a:xfrm>
              <a:off x="7938848" y="8567023"/>
              <a:ext cx="3584769" cy="1102746"/>
            </a:xfrm>
            <a:custGeom>
              <a:avLst/>
              <a:gdLst/>
              <a:ahLst/>
              <a:cxnLst>
                <a:cxn ang="0">
                  <a:pos x="wd2" y="hd2"/>
                </a:cxn>
                <a:cxn ang="5400000">
                  <a:pos x="wd2" y="hd2"/>
                </a:cxn>
                <a:cxn ang="10800000">
                  <a:pos x="wd2" y="hd2"/>
                </a:cxn>
                <a:cxn ang="16200000">
                  <a:pos x="wd2" y="hd2"/>
                </a:cxn>
              </a:cxnLst>
              <a:rect l="0" t="0" r="r" b="b"/>
              <a:pathLst>
                <a:path w="21600" h="21600" extrusionOk="0">
                  <a:moveTo>
                    <a:pt x="13166" y="21600"/>
                  </a:moveTo>
                  <a:lnTo>
                    <a:pt x="21600" y="0"/>
                  </a:lnTo>
                  <a:lnTo>
                    <a:pt x="18542" y="27"/>
                  </a:lnTo>
                  <a:lnTo>
                    <a:pt x="0" y="21600"/>
                  </a:lnTo>
                  <a:lnTo>
                    <a:pt x="13166" y="21600"/>
                  </a:lnTo>
                  <a:close/>
                </a:path>
              </a:pathLst>
            </a:custGeom>
            <a:solidFill>
              <a:schemeClr val="accent4">
                <a:lumMod val="50000"/>
              </a:schemeClr>
            </a:solidFill>
            <a:ln w="12700" cap="flat">
              <a:noFill/>
              <a:miter lim="400000"/>
            </a:ln>
            <a:effectLst/>
          </p:spPr>
          <p:txBody>
            <a:bodyPr wrap="square" lIns="0" tIns="0" rIns="0" bIns="0" numCol="1" anchor="t">
              <a:noAutofit/>
            </a:bodyPr>
            <a:lstStyle/>
            <a:p>
              <a:pPr>
                <a:lnSpc>
                  <a:spcPct val="110000"/>
                </a:lnSpc>
              </a:pPr>
              <a:endParaRPr sz="2532" dirty="0">
                <a:latin typeface="Arial" panose="020B0604020202020204" pitchFamily="34" charset="0"/>
              </a:endParaRPr>
            </a:p>
          </p:txBody>
        </p:sp>
      </p:grpSp>
      <p:grpSp>
        <p:nvGrpSpPr>
          <p:cNvPr id="24" name="Group 23">
            <a:extLst>
              <a:ext uri="{FF2B5EF4-FFF2-40B4-BE49-F238E27FC236}">
                <a16:creationId xmlns:a16="http://schemas.microsoft.com/office/drawing/2014/main" id="{EE7E6F43-663C-F55E-B278-653D931DE497}"/>
              </a:ext>
            </a:extLst>
          </p:cNvPr>
          <p:cNvGrpSpPr/>
          <p:nvPr/>
        </p:nvGrpSpPr>
        <p:grpSpPr>
          <a:xfrm>
            <a:off x="6335880" y="4534052"/>
            <a:ext cx="2395336" cy="2194170"/>
            <a:chOff x="12854033" y="8565662"/>
            <a:chExt cx="4790671" cy="4388340"/>
          </a:xfrm>
        </p:grpSpPr>
        <p:sp>
          <p:nvSpPr>
            <p:cNvPr id="25" name="Shape 55316">
              <a:extLst>
                <a:ext uri="{FF2B5EF4-FFF2-40B4-BE49-F238E27FC236}">
                  <a16:creationId xmlns:a16="http://schemas.microsoft.com/office/drawing/2014/main" id="{58247DC9-781E-AF64-1D10-08FA284CE9CD}"/>
                </a:ext>
              </a:extLst>
            </p:cNvPr>
            <p:cNvSpPr/>
            <p:nvPr/>
          </p:nvSpPr>
          <p:spPr>
            <a:xfrm>
              <a:off x="14731590" y="10041129"/>
              <a:ext cx="2912817" cy="2912818"/>
            </a:xfrm>
            <a:prstGeom prst="rect">
              <a:avLst/>
            </a:prstGeom>
            <a:solidFill>
              <a:schemeClr val="accent3"/>
            </a:solidFill>
            <a:ln w="12700" cap="flat">
              <a:noFill/>
              <a:miter lim="400000"/>
            </a:ln>
            <a:effectLst/>
          </p:spPr>
          <p:txBody>
            <a:bodyPr wrap="square" lIns="0" tIns="0" rIns="0" bIns="0" numCol="1" anchor="t">
              <a:noAutofit/>
            </a:bodyPr>
            <a:lstStyle/>
            <a:p>
              <a:pPr>
                <a:lnSpc>
                  <a:spcPct val="110000"/>
                </a:lnSpc>
              </a:pPr>
              <a:endParaRPr sz="2532" dirty="0">
                <a:latin typeface="Arial" panose="020B0604020202020204" pitchFamily="34" charset="0"/>
              </a:endParaRPr>
            </a:p>
          </p:txBody>
        </p:sp>
        <p:sp>
          <p:nvSpPr>
            <p:cNvPr id="26" name="Shape 55317">
              <a:extLst>
                <a:ext uri="{FF2B5EF4-FFF2-40B4-BE49-F238E27FC236}">
                  <a16:creationId xmlns:a16="http://schemas.microsoft.com/office/drawing/2014/main" id="{36ACC291-C82A-6F8E-EFE8-1105F022E0D6}"/>
                </a:ext>
              </a:extLst>
            </p:cNvPr>
            <p:cNvSpPr/>
            <p:nvPr/>
          </p:nvSpPr>
          <p:spPr>
            <a:xfrm>
              <a:off x="12861314" y="8565662"/>
              <a:ext cx="1870575" cy="4388340"/>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3468"/>
                  </a:lnTo>
                  <a:lnTo>
                    <a:pt x="0" y="0"/>
                  </a:lnTo>
                  <a:lnTo>
                    <a:pt x="21600" y="7203"/>
                  </a:lnTo>
                  <a:lnTo>
                    <a:pt x="21600" y="21600"/>
                  </a:lnTo>
                  <a:close/>
                </a:path>
              </a:pathLst>
            </a:custGeom>
            <a:solidFill>
              <a:schemeClr val="accent3">
                <a:lumMod val="75000"/>
              </a:schemeClr>
            </a:solidFill>
            <a:ln w="12700" cap="flat">
              <a:noFill/>
              <a:miter lim="400000"/>
            </a:ln>
            <a:effectLst/>
          </p:spPr>
          <p:txBody>
            <a:bodyPr wrap="square" lIns="0" tIns="0" rIns="0" bIns="0" numCol="1" anchor="t">
              <a:noAutofit/>
            </a:bodyPr>
            <a:lstStyle/>
            <a:p>
              <a:pPr>
                <a:lnSpc>
                  <a:spcPct val="110000"/>
                </a:lnSpc>
              </a:pPr>
              <a:endParaRPr sz="2532" dirty="0">
                <a:latin typeface="Arial" panose="020B0604020202020204" pitchFamily="34" charset="0"/>
              </a:endParaRPr>
            </a:p>
          </p:txBody>
        </p:sp>
        <p:sp>
          <p:nvSpPr>
            <p:cNvPr id="27" name="Shape 55318">
              <a:extLst>
                <a:ext uri="{FF2B5EF4-FFF2-40B4-BE49-F238E27FC236}">
                  <a16:creationId xmlns:a16="http://schemas.microsoft.com/office/drawing/2014/main" id="{B2DE63FB-67BF-7F38-D0E9-D2F038D5DCEE}"/>
                </a:ext>
              </a:extLst>
            </p:cNvPr>
            <p:cNvSpPr/>
            <p:nvPr/>
          </p:nvSpPr>
          <p:spPr>
            <a:xfrm>
              <a:off x="12854033" y="8567482"/>
              <a:ext cx="4790671" cy="1473704"/>
            </a:xfrm>
            <a:custGeom>
              <a:avLst/>
              <a:gdLst/>
              <a:ahLst/>
              <a:cxnLst>
                <a:cxn ang="0">
                  <a:pos x="wd2" y="hd2"/>
                </a:cxn>
                <a:cxn ang="5400000">
                  <a:pos x="wd2" y="hd2"/>
                </a:cxn>
                <a:cxn ang="10800000">
                  <a:pos x="wd2" y="hd2"/>
                </a:cxn>
                <a:cxn ang="16200000">
                  <a:pos x="wd2" y="hd2"/>
                </a:cxn>
              </a:cxnLst>
              <a:rect l="0" t="0" r="r" b="b"/>
              <a:pathLst>
                <a:path w="21600" h="21600" extrusionOk="0">
                  <a:moveTo>
                    <a:pt x="8434" y="21600"/>
                  </a:moveTo>
                  <a:lnTo>
                    <a:pt x="0" y="0"/>
                  </a:lnTo>
                  <a:lnTo>
                    <a:pt x="3058" y="27"/>
                  </a:lnTo>
                  <a:lnTo>
                    <a:pt x="21600" y="21600"/>
                  </a:lnTo>
                  <a:lnTo>
                    <a:pt x="8434" y="21600"/>
                  </a:lnTo>
                  <a:close/>
                </a:path>
              </a:pathLst>
            </a:custGeom>
            <a:solidFill>
              <a:schemeClr val="accent3">
                <a:lumMod val="50000"/>
              </a:schemeClr>
            </a:solidFill>
            <a:ln w="12700" cap="flat">
              <a:noFill/>
              <a:miter lim="400000"/>
            </a:ln>
            <a:effectLst/>
          </p:spPr>
          <p:txBody>
            <a:bodyPr wrap="square" lIns="0" tIns="0" rIns="0" bIns="0" numCol="1" anchor="t">
              <a:noAutofit/>
            </a:bodyPr>
            <a:lstStyle/>
            <a:p>
              <a:pPr>
                <a:lnSpc>
                  <a:spcPct val="110000"/>
                </a:lnSpc>
              </a:pPr>
              <a:endParaRPr sz="2532" dirty="0">
                <a:latin typeface="Arial" panose="020B0604020202020204" pitchFamily="34" charset="0"/>
              </a:endParaRPr>
            </a:p>
          </p:txBody>
        </p:sp>
      </p:grpSp>
      <p:sp>
        <p:nvSpPr>
          <p:cNvPr id="30" name="Shape 55304">
            <a:extLst>
              <a:ext uri="{FF2B5EF4-FFF2-40B4-BE49-F238E27FC236}">
                <a16:creationId xmlns:a16="http://schemas.microsoft.com/office/drawing/2014/main" id="{C34EA6FA-ADAC-B70F-43B1-4003C5D24B4C}"/>
              </a:ext>
            </a:extLst>
          </p:cNvPr>
          <p:cNvSpPr/>
          <p:nvPr/>
        </p:nvSpPr>
        <p:spPr>
          <a:xfrm>
            <a:off x="3275486" y="1633994"/>
            <a:ext cx="1456408" cy="1456410"/>
          </a:xfrm>
          <a:prstGeom prst="rect">
            <a:avLst/>
          </a:prstGeom>
          <a:solidFill>
            <a:schemeClr val="accent1"/>
          </a:solidFill>
          <a:ln w="12700" cap="flat">
            <a:noFill/>
            <a:miter lim="400000"/>
          </a:ln>
          <a:effectLst/>
        </p:spPr>
        <p:txBody>
          <a:bodyPr wrap="square" lIns="0" tIns="0" rIns="0" bIns="0" numCol="1" anchor="t">
            <a:noAutofit/>
          </a:bodyPr>
          <a:lstStyle/>
          <a:p>
            <a:pPr>
              <a:lnSpc>
                <a:spcPct val="110000"/>
              </a:lnSpc>
            </a:pPr>
            <a:endParaRPr sz="2532" dirty="0">
              <a:latin typeface="Arial" panose="020B0604020202020204" pitchFamily="34" charset="0"/>
            </a:endParaRPr>
          </a:p>
        </p:txBody>
      </p:sp>
      <p:sp>
        <p:nvSpPr>
          <p:cNvPr id="31" name="Shape 55305">
            <a:extLst>
              <a:ext uri="{FF2B5EF4-FFF2-40B4-BE49-F238E27FC236}">
                <a16:creationId xmlns:a16="http://schemas.microsoft.com/office/drawing/2014/main" id="{CE8FB74E-F8B5-EB31-2F2D-9AE184A6931E}"/>
              </a:ext>
            </a:extLst>
          </p:cNvPr>
          <p:cNvSpPr/>
          <p:nvPr/>
        </p:nvSpPr>
        <p:spPr>
          <a:xfrm>
            <a:off x="4731744" y="1633967"/>
            <a:ext cx="935287" cy="219417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18132"/>
                </a:lnTo>
                <a:lnTo>
                  <a:pt x="21600" y="21600"/>
                </a:lnTo>
                <a:lnTo>
                  <a:pt x="0" y="14337"/>
                </a:lnTo>
                <a:lnTo>
                  <a:pt x="0" y="0"/>
                </a:lnTo>
                <a:close/>
              </a:path>
            </a:pathLst>
          </a:custGeom>
          <a:solidFill>
            <a:schemeClr val="accent1">
              <a:lumMod val="75000"/>
            </a:schemeClr>
          </a:solidFill>
          <a:ln w="12700" cap="flat">
            <a:noFill/>
            <a:miter lim="400000"/>
          </a:ln>
          <a:effectLst/>
        </p:spPr>
        <p:txBody>
          <a:bodyPr wrap="square" lIns="0" tIns="0" rIns="0" bIns="0" numCol="1" anchor="t">
            <a:noAutofit/>
          </a:bodyPr>
          <a:lstStyle/>
          <a:p>
            <a:pPr>
              <a:lnSpc>
                <a:spcPct val="110000"/>
              </a:lnSpc>
            </a:pPr>
            <a:endParaRPr sz="2532" dirty="0">
              <a:latin typeface="Arial" panose="020B0604020202020204" pitchFamily="34" charset="0"/>
            </a:endParaRPr>
          </a:p>
        </p:txBody>
      </p:sp>
      <p:sp>
        <p:nvSpPr>
          <p:cNvPr id="32" name="Shape 55306">
            <a:extLst>
              <a:ext uri="{FF2B5EF4-FFF2-40B4-BE49-F238E27FC236}">
                <a16:creationId xmlns:a16="http://schemas.microsoft.com/office/drawing/2014/main" id="{2ACEA89B-60FB-66FB-ECEF-2D2C5CFF8647}"/>
              </a:ext>
            </a:extLst>
          </p:cNvPr>
          <p:cNvSpPr/>
          <p:nvPr/>
        </p:nvSpPr>
        <p:spPr>
          <a:xfrm>
            <a:off x="3275339" y="3090376"/>
            <a:ext cx="2395335" cy="736853"/>
          </a:xfrm>
          <a:custGeom>
            <a:avLst/>
            <a:gdLst/>
            <a:ahLst/>
            <a:cxnLst>
              <a:cxn ang="0">
                <a:pos x="wd2" y="hd2"/>
              </a:cxn>
              <a:cxn ang="5400000">
                <a:pos x="wd2" y="hd2"/>
              </a:cxn>
              <a:cxn ang="10800000">
                <a:pos x="wd2" y="hd2"/>
              </a:cxn>
              <a:cxn ang="16200000">
                <a:pos x="wd2" y="hd2"/>
              </a:cxn>
            </a:cxnLst>
            <a:rect l="0" t="0" r="r" b="b"/>
            <a:pathLst>
              <a:path w="21600" h="21600" extrusionOk="0">
                <a:moveTo>
                  <a:pt x="13166" y="0"/>
                </a:moveTo>
                <a:lnTo>
                  <a:pt x="21600" y="21600"/>
                </a:lnTo>
                <a:lnTo>
                  <a:pt x="18542" y="21573"/>
                </a:lnTo>
                <a:lnTo>
                  <a:pt x="0" y="0"/>
                </a:lnTo>
                <a:lnTo>
                  <a:pt x="13166" y="0"/>
                </a:lnTo>
                <a:close/>
              </a:path>
            </a:pathLst>
          </a:custGeom>
          <a:solidFill>
            <a:schemeClr val="accent1">
              <a:lumMod val="50000"/>
            </a:schemeClr>
          </a:solidFill>
          <a:ln w="12700" cap="flat">
            <a:noFill/>
            <a:miter lim="400000"/>
          </a:ln>
          <a:effectLst/>
        </p:spPr>
        <p:txBody>
          <a:bodyPr wrap="square" lIns="0" tIns="0" rIns="0" bIns="0" numCol="1" anchor="t">
            <a:noAutofit/>
          </a:bodyPr>
          <a:lstStyle/>
          <a:p>
            <a:pPr>
              <a:lnSpc>
                <a:spcPct val="110000"/>
              </a:lnSpc>
            </a:pPr>
            <a:endParaRPr sz="2532" dirty="0">
              <a:latin typeface="Arial" panose="020B0604020202020204" pitchFamily="34" charset="0"/>
            </a:endParaRPr>
          </a:p>
        </p:txBody>
      </p:sp>
      <p:pic>
        <p:nvPicPr>
          <p:cNvPr id="42" name="Picture 41">
            <a:extLst>
              <a:ext uri="{FF2B5EF4-FFF2-40B4-BE49-F238E27FC236}">
                <a16:creationId xmlns:a16="http://schemas.microsoft.com/office/drawing/2014/main" id="{FF2025A6-6DB3-80F1-78A8-80EEB9408CB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469281" y="1819424"/>
            <a:ext cx="1068521" cy="1068521"/>
          </a:xfrm>
          <a:prstGeom prst="rect">
            <a:avLst/>
          </a:prstGeom>
        </p:spPr>
      </p:pic>
      <p:pic>
        <p:nvPicPr>
          <p:cNvPr id="43" name="Picture 42">
            <a:extLst>
              <a:ext uri="{FF2B5EF4-FFF2-40B4-BE49-F238E27FC236}">
                <a16:creationId xmlns:a16="http://schemas.microsoft.com/office/drawing/2014/main" id="{3141433B-1B39-C573-8552-DAC07F8A013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955301" y="5118922"/>
            <a:ext cx="940278" cy="940278"/>
          </a:xfrm>
          <a:prstGeom prst="rect">
            <a:avLst/>
          </a:prstGeom>
        </p:spPr>
      </p:pic>
      <p:pic>
        <p:nvPicPr>
          <p:cNvPr id="44" name="Picture 43">
            <a:extLst>
              <a:ext uri="{FF2B5EF4-FFF2-40B4-BE49-F238E27FC236}">
                <a16:creationId xmlns:a16="http://schemas.microsoft.com/office/drawing/2014/main" id="{1E50F103-F47A-CA48-3500-7D887EDC7140}"/>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851910" y="2751729"/>
            <a:ext cx="635000" cy="635000"/>
          </a:xfrm>
          <a:prstGeom prst="rect">
            <a:avLst/>
          </a:prstGeom>
        </p:spPr>
      </p:pic>
      <p:pic>
        <p:nvPicPr>
          <p:cNvPr id="45" name="Picture 44">
            <a:extLst>
              <a:ext uri="{FF2B5EF4-FFF2-40B4-BE49-F238E27FC236}">
                <a16:creationId xmlns:a16="http://schemas.microsoft.com/office/drawing/2014/main" id="{93A360EF-6B1F-E57D-54DC-26101B24EB69}"/>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7533475" y="5501674"/>
            <a:ext cx="954833" cy="954833"/>
          </a:xfrm>
          <a:prstGeom prst="rect">
            <a:avLst/>
          </a:prstGeom>
        </p:spPr>
      </p:pic>
      <p:sp>
        <p:nvSpPr>
          <p:cNvPr id="49" name="TextBox 48">
            <a:extLst>
              <a:ext uri="{FF2B5EF4-FFF2-40B4-BE49-F238E27FC236}">
                <a16:creationId xmlns:a16="http://schemas.microsoft.com/office/drawing/2014/main" id="{51F8B413-4E2C-FE4D-39DF-4488694A13E1}"/>
              </a:ext>
            </a:extLst>
          </p:cNvPr>
          <p:cNvSpPr txBox="1"/>
          <p:nvPr/>
        </p:nvSpPr>
        <p:spPr>
          <a:xfrm>
            <a:off x="297261" y="1654643"/>
            <a:ext cx="2732766" cy="2194172"/>
          </a:xfrm>
          <a:prstGeom prst="rect">
            <a:avLst/>
          </a:prstGeom>
          <a:gradFill flip="none" rotWithShape="1">
            <a:gsLst>
              <a:gs pos="0">
                <a:schemeClr val="accent4">
                  <a:lumMod val="20000"/>
                  <a:lumOff val="80000"/>
                </a:schemeClr>
              </a:gs>
              <a:gs pos="50000">
                <a:schemeClr val="accent4">
                  <a:lumMod val="20000"/>
                  <a:lumOff val="80000"/>
                </a:schemeClr>
              </a:gs>
              <a:gs pos="100000">
                <a:schemeClr val="accent4">
                  <a:lumMod val="40000"/>
                  <a:lumOff val="60000"/>
                </a:schemeClr>
              </a:gs>
            </a:gsLst>
            <a:lin ang="16200000" scaled="1"/>
            <a:tileRect/>
          </a:gradFill>
          <a:effectLst>
            <a:outerShdw blurRad="50800" dist="38100" dir="2700000" algn="tl" rotWithShape="0">
              <a:prstClr val="black">
                <a:alpha val="40000"/>
              </a:prstClr>
            </a:outerShdw>
          </a:effectLst>
        </p:spPr>
        <p:style>
          <a:lnRef idx="1">
            <a:schemeClr val="accent4"/>
          </a:lnRef>
          <a:fillRef idx="2">
            <a:schemeClr val="accent4"/>
          </a:fillRef>
          <a:effectRef idx="1">
            <a:schemeClr val="accent4"/>
          </a:effectRef>
          <a:fontRef idx="minor">
            <a:schemeClr val="dk1"/>
          </a:fontRef>
        </p:style>
        <p:txBody>
          <a:bodyPr wrap="square" lIns="91440" tIns="91440" rIns="91440" bIns="91440" numCol="1" spcCol="360000" rtlCol="0">
            <a:noAutofit/>
          </a:bodyPr>
          <a:lstStyle/>
          <a:p>
            <a:pPr>
              <a:lnSpc>
                <a:spcPct val="110000"/>
              </a:lnSpc>
              <a:spcAft>
                <a:spcPts val="1200"/>
              </a:spcAft>
            </a:pPr>
            <a:r>
              <a:rPr lang="en-US" sz="1600" b="1" dirty="0">
                <a:solidFill>
                  <a:schemeClr val="accent1"/>
                </a:solidFill>
                <a:latin typeface="Montserrat" pitchFamily="2" charset="77"/>
                <a:ea typeface="League Spartan" charset="0"/>
                <a:cs typeface="Poppins" pitchFamily="2" charset="77"/>
              </a:rPr>
              <a:t>Business opportunities</a:t>
            </a:r>
            <a:endParaRPr lang="en-US" sz="1600" dirty="0">
              <a:solidFill>
                <a:schemeClr val="accent1"/>
              </a:solidFill>
              <a:latin typeface="Roboto Light" panose="02000000000000000000" pitchFamily="2" charset="0"/>
              <a:ea typeface="Roboto Light" panose="02000000000000000000" pitchFamily="2" charset="0"/>
              <a:cs typeface="Mukta ExtraLight" panose="020B0000000000000000" pitchFamily="34" charset="77"/>
            </a:endParaRPr>
          </a:p>
          <a:p>
            <a:pPr marL="171450" indent="-171450">
              <a:lnSpc>
                <a:spcPct val="110000"/>
              </a:lnSpc>
              <a:spcAft>
                <a:spcPts val="600"/>
              </a:spcAft>
              <a:buFont typeface="Arial" panose="020B0604020202020204" pitchFamily="34" charset="0"/>
              <a:buChar char="•"/>
            </a:pPr>
            <a:r>
              <a:rPr lang="en-US" sz="1200" dirty="0">
                <a:solidFill>
                  <a:srgbClr val="000000"/>
                </a:solidFill>
                <a:latin typeface="Roboto Light" panose="02000000000000000000" pitchFamily="2" charset="0"/>
                <a:ea typeface="Roboto Light" panose="02000000000000000000" pitchFamily="2" charset="0"/>
                <a:cs typeface="Mukta ExtraLight" panose="020B0000000000000000" pitchFamily="34" charset="77"/>
              </a:rPr>
              <a:t>Monetize data and services through open, premium application programming interfaces (APIs).</a:t>
            </a:r>
          </a:p>
          <a:p>
            <a:pPr marL="171450" indent="-171450">
              <a:lnSpc>
                <a:spcPct val="110000"/>
              </a:lnSpc>
              <a:spcAft>
                <a:spcPts val="600"/>
              </a:spcAft>
              <a:buFont typeface="Arial" panose="020B0604020202020204" pitchFamily="34" charset="0"/>
              <a:buChar char="•"/>
            </a:pPr>
            <a:r>
              <a:rPr lang="en-US" sz="1200" dirty="0">
                <a:solidFill>
                  <a:srgbClr val="000000"/>
                </a:solidFill>
                <a:latin typeface="Roboto Light" panose="02000000000000000000" pitchFamily="2" charset="0"/>
                <a:ea typeface="Roboto Light" panose="02000000000000000000" pitchFamily="2" charset="0"/>
                <a:cs typeface="Mukta ExtraLight" panose="020B0000000000000000" pitchFamily="34" charset="77"/>
              </a:rPr>
              <a:t>Faster time to value for new products.</a:t>
            </a:r>
          </a:p>
          <a:p>
            <a:pPr marL="171450" indent="-171450">
              <a:lnSpc>
                <a:spcPct val="110000"/>
              </a:lnSpc>
              <a:spcAft>
                <a:spcPts val="600"/>
              </a:spcAft>
              <a:buFont typeface="Arial" panose="020B0604020202020204" pitchFamily="34" charset="0"/>
              <a:buChar char="•"/>
            </a:pPr>
            <a:r>
              <a:rPr lang="en-US" sz="1200" dirty="0">
                <a:solidFill>
                  <a:srgbClr val="000000"/>
                </a:solidFill>
                <a:latin typeface="Roboto Light" panose="02000000000000000000" pitchFamily="2" charset="0"/>
                <a:ea typeface="Roboto Light" panose="02000000000000000000" pitchFamily="2" charset="0"/>
                <a:cs typeface="Mukta ExtraLight" panose="020B0000000000000000" pitchFamily="34" charset="77"/>
              </a:rPr>
              <a:t>Accelerate AI and advanced analytics initiatives.</a:t>
            </a:r>
          </a:p>
        </p:txBody>
      </p:sp>
      <p:sp>
        <p:nvSpPr>
          <p:cNvPr id="50" name="TextBox 49">
            <a:extLst>
              <a:ext uri="{FF2B5EF4-FFF2-40B4-BE49-F238E27FC236}">
                <a16:creationId xmlns:a16="http://schemas.microsoft.com/office/drawing/2014/main" id="{447E9C47-46AF-1B18-60E5-AAA163E1AD18}"/>
              </a:ext>
            </a:extLst>
          </p:cNvPr>
          <p:cNvSpPr txBox="1"/>
          <p:nvPr/>
        </p:nvSpPr>
        <p:spPr>
          <a:xfrm>
            <a:off x="786533" y="4625638"/>
            <a:ext cx="2833089" cy="1847751"/>
          </a:xfrm>
          <a:prstGeom prst="rect">
            <a:avLst/>
          </a:prstGeom>
          <a:gradFill flip="none" rotWithShape="1">
            <a:gsLst>
              <a:gs pos="0">
                <a:schemeClr val="accent5">
                  <a:lumMod val="20000"/>
                  <a:lumOff val="80000"/>
                </a:schemeClr>
              </a:gs>
              <a:gs pos="50000">
                <a:schemeClr val="accent5">
                  <a:lumMod val="40000"/>
                  <a:lumOff val="60000"/>
                </a:schemeClr>
              </a:gs>
              <a:gs pos="100000">
                <a:schemeClr val="accent5">
                  <a:lumMod val="40000"/>
                  <a:lumOff val="60000"/>
                </a:schemeClr>
              </a:gs>
            </a:gsLst>
            <a:lin ang="16200000" scaled="1"/>
            <a:tileRect/>
          </a:gradFill>
          <a:ln>
            <a:solidFill>
              <a:schemeClr val="accent5"/>
            </a:solidFill>
          </a:ln>
          <a:effectLst>
            <a:outerShdw blurRad="50800" dist="38100" dir="2700000" algn="tl" rotWithShape="0">
              <a:prstClr val="black">
                <a:alpha val="40000"/>
              </a:prstClr>
            </a:outerShdw>
          </a:effectLst>
        </p:spPr>
        <p:style>
          <a:lnRef idx="1">
            <a:schemeClr val="accent4"/>
          </a:lnRef>
          <a:fillRef idx="2">
            <a:schemeClr val="accent4"/>
          </a:fillRef>
          <a:effectRef idx="1">
            <a:schemeClr val="accent4"/>
          </a:effectRef>
          <a:fontRef idx="minor">
            <a:schemeClr val="dk1"/>
          </a:fontRef>
        </p:style>
        <p:txBody>
          <a:bodyPr wrap="square" lIns="91440" tIns="91440" rIns="91440" bIns="91440" numCol="1" spcCol="360000" rtlCol="0">
            <a:noAutofit/>
          </a:bodyPr>
          <a:lstStyle>
            <a:defPPr>
              <a:defRPr lang="en-US"/>
            </a:defPPr>
            <a:lvl1pPr>
              <a:lnSpc>
                <a:spcPct val="110000"/>
              </a:lnSpc>
              <a:spcAft>
                <a:spcPts val="1200"/>
              </a:spcAft>
              <a:defRPr sz="1600" b="1">
                <a:solidFill>
                  <a:schemeClr val="accent1"/>
                </a:solidFill>
                <a:latin typeface="Montserrat" pitchFamily="2" charset="77"/>
                <a:ea typeface="League Spartan" charset="0"/>
                <a:cs typeface="Poppins" pitchFamily="2" charset="77"/>
              </a:defRPr>
            </a:lvl1pPr>
          </a:lstStyle>
          <a:p>
            <a:r>
              <a:rPr lang="en-US" dirty="0"/>
              <a:t>Security threats</a:t>
            </a:r>
          </a:p>
          <a:p>
            <a:pPr marL="171450" indent="-171450">
              <a:spcAft>
                <a:spcPts val="600"/>
              </a:spcAft>
              <a:buFont typeface="Arial" panose="020B0604020202020204" pitchFamily="34" charset="0"/>
              <a:buChar char="•"/>
            </a:pPr>
            <a:r>
              <a:rPr lang="en-US" sz="1200" b="0" dirty="0">
                <a:solidFill>
                  <a:srgbClr val="000000"/>
                </a:solidFill>
                <a:latin typeface="Roboto Light" panose="02000000000000000000" pitchFamily="2" charset="0"/>
                <a:ea typeface="Roboto Light" panose="02000000000000000000" pitchFamily="2" charset="0"/>
              </a:rPr>
              <a:t>Mass credential stuffing and account takeover.</a:t>
            </a:r>
          </a:p>
          <a:p>
            <a:pPr marL="171450" indent="-171450">
              <a:spcAft>
                <a:spcPts val="600"/>
              </a:spcAft>
              <a:buFont typeface="Arial" panose="020B0604020202020204" pitchFamily="34" charset="0"/>
              <a:buChar char="•"/>
            </a:pPr>
            <a:r>
              <a:rPr lang="en-US" sz="1200" b="0" dirty="0">
                <a:solidFill>
                  <a:srgbClr val="000000"/>
                </a:solidFill>
                <a:latin typeface="Roboto Light" panose="02000000000000000000" pitchFamily="2" charset="0"/>
                <a:ea typeface="Roboto Light" panose="02000000000000000000" pitchFamily="2" charset="0"/>
              </a:rPr>
              <a:t>Software supply chain compromise.</a:t>
            </a:r>
          </a:p>
          <a:p>
            <a:pPr marL="171450" indent="-171450">
              <a:spcAft>
                <a:spcPts val="600"/>
              </a:spcAft>
              <a:buFont typeface="Arial" panose="020B0604020202020204" pitchFamily="34" charset="0"/>
              <a:buChar char="•"/>
            </a:pPr>
            <a:r>
              <a:rPr lang="en-US" sz="1200" b="0" dirty="0">
                <a:solidFill>
                  <a:srgbClr val="000000"/>
                </a:solidFill>
                <a:latin typeface="Roboto Light" panose="02000000000000000000" pitchFamily="2" charset="0"/>
                <a:ea typeface="Roboto Light" panose="02000000000000000000" pitchFamily="2" charset="0"/>
              </a:rPr>
              <a:t>Sensitive data leakage in AI‑enabled apps.</a:t>
            </a:r>
          </a:p>
        </p:txBody>
      </p:sp>
      <p:sp>
        <p:nvSpPr>
          <p:cNvPr id="51" name="TextBox 50">
            <a:extLst>
              <a:ext uri="{FF2B5EF4-FFF2-40B4-BE49-F238E27FC236}">
                <a16:creationId xmlns:a16="http://schemas.microsoft.com/office/drawing/2014/main" id="{929EB350-8E7D-D395-D281-4FD3D6297925}"/>
              </a:ext>
            </a:extLst>
          </p:cNvPr>
          <p:cNvSpPr txBox="1"/>
          <p:nvPr/>
        </p:nvSpPr>
        <p:spPr>
          <a:xfrm>
            <a:off x="8001045" y="1746088"/>
            <a:ext cx="3171212" cy="1513935"/>
          </a:xfrm>
          <a:prstGeom prst="rect">
            <a:avLst/>
          </a:prstGeom>
          <a:gradFill flip="none" rotWithShape="1">
            <a:gsLst>
              <a:gs pos="0">
                <a:schemeClr val="accent3">
                  <a:lumMod val="20000"/>
                  <a:lumOff val="80000"/>
                </a:schemeClr>
              </a:gs>
              <a:gs pos="50000">
                <a:schemeClr val="accent3">
                  <a:lumMod val="40000"/>
                  <a:lumOff val="60000"/>
                </a:schemeClr>
              </a:gs>
              <a:gs pos="100000">
                <a:schemeClr val="accent3">
                  <a:lumMod val="40000"/>
                  <a:lumOff val="60000"/>
                </a:schemeClr>
              </a:gs>
            </a:gsLst>
            <a:lin ang="16200000" scaled="1"/>
            <a:tileRect/>
          </a:gradFill>
          <a:ln>
            <a:solidFill>
              <a:schemeClr val="accent3">
                <a:lumMod val="50000"/>
              </a:schemeClr>
            </a:solidFill>
          </a:ln>
          <a:effectLst>
            <a:outerShdw blurRad="50800" dist="38100" dir="2700000" algn="tl" rotWithShape="0">
              <a:prstClr val="black">
                <a:alpha val="40000"/>
              </a:prstClr>
            </a:outerShdw>
          </a:effectLst>
        </p:spPr>
        <p:style>
          <a:lnRef idx="1">
            <a:schemeClr val="accent4"/>
          </a:lnRef>
          <a:fillRef idx="2">
            <a:schemeClr val="accent4"/>
          </a:fillRef>
          <a:effectRef idx="1">
            <a:schemeClr val="accent4"/>
          </a:effectRef>
          <a:fontRef idx="minor">
            <a:schemeClr val="dk1"/>
          </a:fontRef>
        </p:style>
        <p:txBody>
          <a:bodyPr wrap="square" lIns="91440" tIns="91440" rIns="91440" bIns="91440" numCol="1" spcCol="360000" rtlCol="0">
            <a:noAutofit/>
          </a:bodyPr>
          <a:lstStyle/>
          <a:p>
            <a:pPr>
              <a:lnSpc>
                <a:spcPct val="110000"/>
              </a:lnSpc>
              <a:spcAft>
                <a:spcPts val="1200"/>
              </a:spcAft>
            </a:pPr>
            <a:r>
              <a:rPr lang="en-US" sz="1600" b="1" dirty="0">
                <a:solidFill>
                  <a:schemeClr val="accent1"/>
                </a:solidFill>
                <a:latin typeface="Montserrat" pitchFamily="2" charset="77"/>
                <a:ea typeface="League Spartan" charset="0"/>
                <a:cs typeface="Poppins" pitchFamily="2" charset="77"/>
              </a:rPr>
              <a:t>Compliance requirements</a:t>
            </a:r>
          </a:p>
          <a:p>
            <a:pPr marL="171450" indent="-171450">
              <a:lnSpc>
                <a:spcPct val="110000"/>
              </a:lnSpc>
              <a:spcAft>
                <a:spcPts val="600"/>
              </a:spcAft>
              <a:buFont typeface="Arial" panose="020B0604020202020204" pitchFamily="34" charset="0"/>
              <a:buChar char="•"/>
            </a:pPr>
            <a:r>
              <a:rPr lang="en-US" sz="1200" dirty="0">
                <a:solidFill>
                  <a:srgbClr val="000000"/>
                </a:solidFill>
                <a:latin typeface="Roboto Light" panose="02000000000000000000" pitchFamily="2" charset="0"/>
                <a:ea typeface="Roboto Light" panose="02000000000000000000" pitchFamily="2" charset="0"/>
                <a:cs typeface="Mukta ExtraLight" panose="020B0000000000000000" pitchFamily="34" charset="77"/>
              </a:rPr>
              <a:t>PCI Data Security Standards. </a:t>
            </a:r>
          </a:p>
          <a:p>
            <a:pPr marL="171450" indent="-171450">
              <a:lnSpc>
                <a:spcPct val="110000"/>
              </a:lnSpc>
              <a:spcAft>
                <a:spcPts val="600"/>
              </a:spcAft>
              <a:buFont typeface="Arial" panose="020B0604020202020204" pitchFamily="34" charset="0"/>
              <a:buChar char="•"/>
            </a:pPr>
            <a:r>
              <a:rPr lang="en-US" sz="1200" dirty="0">
                <a:solidFill>
                  <a:srgbClr val="000000"/>
                </a:solidFill>
                <a:latin typeface="Roboto Light" panose="02000000000000000000" pitchFamily="2" charset="0"/>
                <a:ea typeface="Roboto Light" panose="02000000000000000000" pitchFamily="2" charset="0"/>
                <a:cs typeface="Mukta ExtraLight" panose="020B0000000000000000" pitchFamily="34" charset="77"/>
              </a:rPr>
              <a:t>California privacy laws.</a:t>
            </a:r>
          </a:p>
          <a:p>
            <a:pPr marL="171450" indent="-171450">
              <a:lnSpc>
                <a:spcPct val="110000"/>
              </a:lnSpc>
              <a:spcAft>
                <a:spcPts val="600"/>
              </a:spcAft>
              <a:buFont typeface="Arial" panose="020B0604020202020204" pitchFamily="34" charset="0"/>
              <a:buChar char="•"/>
            </a:pPr>
            <a:r>
              <a:rPr lang="en-US" sz="1200" dirty="0">
                <a:solidFill>
                  <a:srgbClr val="000000"/>
                </a:solidFill>
                <a:latin typeface="Roboto Light" panose="02000000000000000000" pitchFamily="2" charset="0"/>
                <a:ea typeface="Roboto Light" panose="02000000000000000000" pitchFamily="2" charset="0"/>
                <a:cs typeface="Mukta ExtraLight" panose="020B0000000000000000" pitchFamily="34" charset="77"/>
              </a:rPr>
              <a:t>CMMC Level 2 requirements.</a:t>
            </a:r>
          </a:p>
        </p:txBody>
      </p:sp>
      <p:sp>
        <p:nvSpPr>
          <p:cNvPr id="52" name="TextBox 51">
            <a:extLst>
              <a:ext uri="{FF2B5EF4-FFF2-40B4-BE49-F238E27FC236}">
                <a16:creationId xmlns:a16="http://schemas.microsoft.com/office/drawing/2014/main" id="{D2684B79-1CA4-2706-B9AF-8DE0032D45FE}"/>
              </a:ext>
            </a:extLst>
          </p:cNvPr>
          <p:cNvSpPr txBox="1"/>
          <p:nvPr/>
        </p:nvSpPr>
        <p:spPr>
          <a:xfrm>
            <a:off x="8896738" y="4170308"/>
            <a:ext cx="3171212" cy="1996219"/>
          </a:xfrm>
          <a:prstGeom prst="rect">
            <a:avLst/>
          </a:prstGeom>
          <a:gradFill flip="none" rotWithShape="1">
            <a:gsLst>
              <a:gs pos="0">
                <a:schemeClr val="accent5">
                  <a:lumMod val="20000"/>
                  <a:lumOff val="80000"/>
                </a:schemeClr>
              </a:gs>
              <a:gs pos="50000">
                <a:schemeClr val="accent5">
                  <a:lumMod val="40000"/>
                  <a:lumOff val="60000"/>
                </a:schemeClr>
              </a:gs>
              <a:gs pos="100000">
                <a:schemeClr val="accent5">
                  <a:lumMod val="40000"/>
                  <a:lumOff val="60000"/>
                </a:schemeClr>
              </a:gs>
            </a:gsLst>
            <a:lin ang="16200000" scaled="1"/>
            <a:tileRect/>
          </a:gradFill>
          <a:ln>
            <a:solidFill>
              <a:schemeClr val="accent5"/>
            </a:solidFill>
          </a:ln>
          <a:effectLst>
            <a:outerShdw blurRad="50800" dist="38100" dir="2700000" algn="tl" rotWithShape="0">
              <a:prstClr val="black">
                <a:alpha val="40000"/>
              </a:prstClr>
            </a:outerShdw>
          </a:effectLst>
        </p:spPr>
        <p:style>
          <a:lnRef idx="1">
            <a:schemeClr val="accent4"/>
          </a:lnRef>
          <a:fillRef idx="2">
            <a:schemeClr val="accent4"/>
          </a:fillRef>
          <a:effectRef idx="1">
            <a:schemeClr val="accent4"/>
          </a:effectRef>
          <a:fontRef idx="minor">
            <a:schemeClr val="dk1"/>
          </a:fontRef>
        </p:style>
        <p:txBody>
          <a:bodyPr wrap="square" lIns="91440" tIns="91440" rIns="91440" bIns="91440" numCol="1" spcCol="360000" rtlCol="0">
            <a:noAutofit/>
          </a:bodyPr>
          <a:lstStyle/>
          <a:p>
            <a:pPr>
              <a:lnSpc>
                <a:spcPct val="110000"/>
              </a:lnSpc>
              <a:spcAft>
                <a:spcPts val="1200"/>
              </a:spcAft>
            </a:pPr>
            <a:r>
              <a:rPr lang="en-US" sz="1600" b="1" dirty="0">
                <a:solidFill>
                  <a:schemeClr val="accent1"/>
                </a:solidFill>
                <a:latin typeface="Montserrat" pitchFamily="2" charset="77"/>
                <a:ea typeface="League Spartan" charset="0"/>
                <a:cs typeface="Poppins" pitchFamily="2" charset="77"/>
              </a:rPr>
              <a:t>Pain points</a:t>
            </a:r>
          </a:p>
          <a:p>
            <a:pPr marL="171450" indent="-171450">
              <a:lnSpc>
                <a:spcPct val="110000"/>
              </a:lnSpc>
              <a:spcAft>
                <a:spcPts val="600"/>
              </a:spcAft>
              <a:buFont typeface="Arial" panose="020B0604020202020204" pitchFamily="34" charset="0"/>
              <a:buChar char="•"/>
            </a:pPr>
            <a:r>
              <a:rPr lang="en-US" sz="1200" dirty="0">
                <a:solidFill>
                  <a:srgbClr val="000000"/>
                </a:solidFill>
                <a:latin typeface="Roboto Light" panose="02000000000000000000" pitchFamily="2" charset="0"/>
                <a:ea typeface="Roboto Light" panose="02000000000000000000" pitchFamily="2" charset="0"/>
                <a:cs typeface="Mukta ExtraLight" panose="020B0000000000000000" pitchFamily="34" charset="77"/>
              </a:rPr>
              <a:t>Manual SBOMs become obsolete too quickly to be of use.</a:t>
            </a:r>
          </a:p>
          <a:p>
            <a:pPr marL="171450" indent="-171450">
              <a:lnSpc>
                <a:spcPct val="110000"/>
              </a:lnSpc>
              <a:spcAft>
                <a:spcPts val="600"/>
              </a:spcAft>
              <a:buFont typeface="Arial" panose="020B0604020202020204" pitchFamily="34" charset="0"/>
              <a:buChar char="•"/>
            </a:pPr>
            <a:r>
              <a:rPr lang="en-US" sz="1200" dirty="0">
                <a:solidFill>
                  <a:srgbClr val="000000"/>
                </a:solidFill>
                <a:latin typeface="Roboto Light" panose="02000000000000000000" pitchFamily="2" charset="0"/>
                <a:ea typeface="Roboto Light" panose="02000000000000000000" pitchFamily="2" charset="0"/>
                <a:cs typeface="Mukta ExtraLight" panose="020B0000000000000000" pitchFamily="34" charset="77"/>
              </a:rPr>
              <a:t>Security architecture reviews take too long and hold up development.</a:t>
            </a:r>
          </a:p>
          <a:p>
            <a:pPr marL="171450" indent="-171450">
              <a:lnSpc>
                <a:spcPct val="110000"/>
              </a:lnSpc>
              <a:spcAft>
                <a:spcPts val="600"/>
              </a:spcAft>
              <a:buFont typeface="Arial" panose="020B0604020202020204" pitchFamily="34" charset="0"/>
              <a:buChar char="•"/>
            </a:pPr>
            <a:r>
              <a:rPr lang="en-US" sz="1200" dirty="0">
                <a:solidFill>
                  <a:srgbClr val="000000"/>
                </a:solidFill>
                <a:latin typeface="Roboto Light" panose="02000000000000000000" pitchFamily="2" charset="0"/>
                <a:ea typeface="Roboto Light" panose="02000000000000000000" pitchFamily="2" charset="0"/>
                <a:cs typeface="Mukta ExtraLight" panose="020B0000000000000000" pitchFamily="34" charset="77"/>
              </a:rPr>
              <a:t>Developers are expected to lead security but aren’t getting the training they need.</a:t>
            </a:r>
          </a:p>
        </p:txBody>
      </p:sp>
      <p:sp>
        <p:nvSpPr>
          <p:cNvPr id="2" name="TextBox 1">
            <a:extLst>
              <a:ext uri="{FF2B5EF4-FFF2-40B4-BE49-F238E27FC236}">
                <a16:creationId xmlns:a16="http://schemas.microsoft.com/office/drawing/2014/main" id="{A7CB3257-D3D9-FA1C-A0B5-27B15BA853A8}"/>
              </a:ext>
            </a:extLst>
          </p:cNvPr>
          <p:cNvSpPr txBox="1"/>
          <p:nvPr/>
        </p:nvSpPr>
        <p:spPr>
          <a:xfrm>
            <a:off x="3789862" y="2346921"/>
            <a:ext cx="4149213" cy="2438400"/>
          </a:xfrm>
          <a:prstGeom prst="rect">
            <a:avLst/>
          </a:prstGeom>
          <a:gradFill>
            <a:gsLst>
              <a:gs pos="0">
                <a:schemeClr val="accent5">
                  <a:lumMod val="110000"/>
                  <a:satMod val="105000"/>
                  <a:tint val="67000"/>
                  <a:alpha val="75000"/>
                </a:schemeClr>
              </a:gs>
              <a:gs pos="50000">
                <a:schemeClr val="accent5">
                  <a:lumMod val="105000"/>
                  <a:satMod val="103000"/>
                  <a:tint val="73000"/>
                </a:schemeClr>
              </a:gs>
              <a:gs pos="100000">
                <a:schemeClr val="accent5">
                  <a:lumMod val="105000"/>
                  <a:satMod val="109000"/>
                  <a:tint val="81000"/>
                </a:schemeClr>
              </a:gs>
            </a:gsLst>
          </a:gradFill>
        </p:spPr>
        <p:style>
          <a:lnRef idx="1">
            <a:schemeClr val="accent5"/>
          </a:lnRef>
          <a:fillRef idx="2">
            <a:schemeClr val="accent5"/>
          </a:fillRef>
          <a:effectRef idx="1">
            <a:schemeClr val="accent5"/>
          </a:effectRef>
          <a:fontRef idx="minor">
            <a:schemeClr val="dk1"/>
          </a:fontRef>
        </p:style>
        <p:txBody>
          <a:bodyPr wrap="square" rtlCol="0">
            <a:noAutofit/>
          </a:bodyPr>
          <a:lstStyle/>
          <a:p>
            <a:pPr algn="ctr"/>
            <a:endParaRPr lang="en-US" sz="2800" dirty="0"/>
          </a:p>
          <a:p>
            <a:pPr algn="ctr"/>
            <a:r>
              <a:rPr lang="en-US" sz="2800" dirty="0"/>
              <a:t>Describe major business drivers for change (compliance, business needs).</a:t>
            </a:r>
          </a:p>
        </p:txBody>
      </p:sp>
    </p:spTree>
    <p:extLst>
      <p:ext uri="{BB962C8B-B14F-4D97-AF65-F5344CB8AC3E}">
        <p14:creationId xmlns:p14="http://schemas.microsoft.com/office/powerpoint/2010/main" val="42072200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8BDF6D-59D8-6049-B61C-26B3A300E432}"/>
              </a:ext>
            </a:extLst>
          </p:cNvPr>
          <p:cNvSpPr>
            <a:spLocks noGrp="1"/>
          </p:cNvSpPr>
          <p:nvPr>
            <p:ph type="title"/>
          </p:nvPr>
        </p:nvSpPr>
        <p:spPr>
          <a:xfrm>
            <a:off x="354106" y="528090"/>
            <a:ext cx="8879801" cy="1130188"/>
          </a:xfrm>
        </p:spPr>
        <p:txBody>
          <a:bodyPr/>
          <a:lstStyle/>
          <a:p>
            <a:r>
              <a:rPr lang="en-US" dirty="0"/>
              <a:t>Current state assessment</a:t>
            </a:r>
          </a:p>
        </p:txBody>
      </p:sp>
      <p:sp>
        <p:nvSpPr>
          <p:cNvPr id="7" name="Text Placeholder 6">
            <a:extLst>
              <a:ext uri="{FF2B5EF4-FFF2-40B4-BE49-F238E27FC236}">
                <a16:creationId xmlns:a16="http://schemas.microsoft.com/office/drawing/2014/main" id="{4DE2C51F-CA2C-C44C-A5F4-DCD90CF05181}"/>
              </a:ext>
            </a:extLst>
          </p:cNvPr>
          <p:cNvSpPr>
            <a:spLocks noGrp="1"/>
          </p:cNvSpPr>
          <p:nvPr>
            <p:ph type="body" sz="quarter" idx="11"/>
          </p:nvPr>
        </p:nvSpPr>
        <p:spPr>
          <a:xfrm>
            <a:off x="481373" y="1656992"/>
            <a:ext cx="2699303" cy="403416"/>
          </a:xfrm>
        </p:spPr>
        <p:txBody>
          <a:bodyPr/>
          <a:lstStyle/>
          <a:p>
            <a:pPr algn="ctr"/>
            <a:r>
              <a:rPr lang="en-US" dirty="0">
                <a:solidFill>
                  <a:schemeClr val="accent1"/>
                </a:solidFill>
              </a:rPr>
              <a:t>Current maturity</a:t>
            </a:r>
          </a:p>
        </p:txBody>
      </p:sp>
      <p:sp>
        <p:nvSpPr>
          <p:cNvPr id="39" name="Text Placeholder 7">
            <a:extLst>
              <a:ext uri="{FF2B5EF4-FFF2-40B4-BE49-F238E27FC236}">
                <a16:creationId xmlns:a16="http://schemas.microsoft.com/office/drawing/2014/main" id="{5CFDDEC7-B651-9D46-9FB0-A8CE01FDBEEB}"/>
              </a:ext>
            </a:extLst>
          </p:cNvPr>
          <p:cNvSpPr txBox="1">
            <a:spLocks/>
          </p:cNvSpPr>
          <p:nvPr/>
        </p:nvSpPr>
        <p:spPr>
          <a:xfrm>
            <a:off x="481373" y="2165768"/>
            <a:ext cx="2712857" cy="1498355"/>
          </a:xfrm>
          <a:prstGeom prst="rect">
            <a:avLst/>
          </a:prstGeom>
        </p:spPr>
        <p:txBody>
          <a:bodyPr lIns="0" tIns="0" rIns="0" bIns="0" numCol="1" spcCol="360000">
            <a:noAutofit/>
          </a:bodyPr>
          <a:lstStyle>
            <a:lvl1pPr marL="0" indent="0" algn="l" defTabSz="914400" rtl="0" eaLnBrk="1" latinLnBrk="0" hangingPunct="1">
              <a:lnSpc>
                <a:spcPts val="1800"/>
              </a:lnSpc>
              <a:spcBef>
                <a:spcPts val="1000"/>
              </a:spcBef>
              <a:buFont typeface="Arial" panose="020B0604020202020204" pitchFamily="34" charset="0"/>
              <a:buNone/>
              <a:defRPr sz="1400" b="0" i="0" kern="1200">
                <a:solidFill>
                  <a:srgbClr val="4A4A4A"/>
                </a:solidFill>
                <a:latin typeface="Roboto Condensed Light" panose="02000000000000000000" pitchFamily="2" charset="0"/>
                <a:ea typeface="+mn-ea"/>
                <a:cs typeface="Arial Narrow" panose="020B0604020202020204" pitchFamily="34" charset="0"/>
              </a:defRPr>
            </a:lvl1pPr>
            <a:lvl2pPr marL="457200" indent="0" algn="l" defTabSz="914400" rtl="0" eaLnBrk="1" latinLnBrk="0" hangingPunct="1">
              <a:lnSpc>
                <a:spcPts val="1700"/>
              </a:lnSpc>
              <a:spcBef>
                <a:spcPts val="500"/>
              </a:spcBef>
              <a:buFont typeface="Arial" panose="020B0604020202020204" pitchFamily="34" charset="0"/>
              <a:buNone/>
              <a:defRPr sz="1400" kern="1200">
                <a:solidFill>
                  <a:srgbClr val="4B4B4B"/>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ts val="1700"/>
              </a:lnSpc>
              <a:spcBef>
                <a:spcPts val="500"/>
              </a:spcBef>
              <a:buFont typeface="Arial" panose="020B0604020202020204" pitchFamily="34" charset="0"/>
              <a:buNone/>
              <a:defRPr sz="1400" kern="1200">
                <a:solidFill>
                  <a:srgbClr val="4B4B4B"/>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ts val="1700"/>
              </a:lnSpc>
              <a:spcBef>
                <a:spcPts val="500"/>
              </a:spcBef>
              <a:buFont typeface="Arial" panose="020B0604020202020204" pitchFamily="34" charset="0"/>
              <a:buNone/>
              <a:defRPr sz="1400" kern="1200">
                <a:solidFill>
                  <a:srgbClr val="4B4B4B"/>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ts val="1700"/>
              </a:lnSpc>
              <a:spcBef>
                <a:spcPts val="500"/>
              </a:spcBef>
              <a:buFont typeface="Arial" panose="020B0604020202020204" pitchFamily="34" charset="0"/>
              <a:buNone/>
              <a:defRPr sz="1400" kern="1200">
                <a:solidFill>
                  <a:srgbClr val="4B4B4B"/>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CA" sz="2400" b="1" dirty="0">
                <a:solidFill>
                  <a:schemeClr val="accent1"/>
                </a:solidFill>
                <a:latin typeface="Exo SemiBold" pitchFamily="2" charset="0"/>
                <a:ea typeface="Roboto Condensed Light" panose="02000000000000000000" pitchFamily="2" charset="0"/>
              </a:rPr>
              <a:t>2.3</a:t>
            </a:r>
          </a:p>
          <a:p>
            <a:r>
              <a:rPr lang="en-US" sz="1200" dirty="0">
                <a:solidFill>
                  <a:srgbClr val="000000"/>
                </a:solidFill>
                <a:ea typeface="Roboto Condensed Light" panose="02000000000000000000" pitchFamily="2" charset="0"/>
              </a:rPr>
              <a:t>Basic tools, checklists, or templates help humans find issues or follow best practices, but people still decide and perform every task.	</a:t>
            </a:r>
            <a:r>
              <a:rPr lang="en-US" dirty="0">
                <a:solidFill>
                  <a:srgbClr val="000000"/>
                </a:solidFill>
                <a:ea typeface="Roboto Condensed Light" panose="02000000000000000000" pitchFamily="2" charset="0"/>
              </a:rPr>
              <a:t>								</a:t>
            </a:r>
          </a:p>
          <a:p>
            <a:endParaRPr lang="en-CA" dirty="0">
              <a:solidFill>
                <a:srgbClr val="000000"/>
              </a:solidFill>
              <a:ea typeface="Roboto Condensed Light" panose="02000000000000000000" pitchFamily="2" charset="0"/>
            </a:endParaRPr>
          </a:p>
        </p:txBody>
      </p:sp>
      <p:graphicFrame>
        <p:nvGraphicFramePr>
          <p:cNvPr id="5" name="Chart 4">
            <a:extLst>
              <a:ext uri="{FF2B5EF4-FFF2-40B4-BE49-F238E27FC236}">
                <a16:creationId xmlns:a16="http://schemas.microsoft.com/office/drawing/2014/main" id="{9E4460FE-E412-44CC-835E-DF77A7432291}"/>
              </a:ext>
            </a:extLst>
          </p:cNvPr>
          <p:cNvGraphicFramePr>
            <a:graphicFrameLocks/>
          </p:cNvGraphicFramePr>
          <p:nvPr>
            <p:extLst>
              <p:ext uri="{D42A27DB-BD31-4B8C-83A1-F6EECF244321}">
                <p14:modId xmlns:p14="http://schemas.microsoft.com/office/powerpoint/2010/main" val="3658892154"/>
              </p:ext>
            </p:extLst>
          </p:nvPr>
        </p:nvGraphicFramePr>
        <p:xfrm>
          <a:off x="3395671" y="1110043"/>
          <a:ext cx="5197643" cy="294643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a:extLst>
              <a:ext uri="{FF2B5EF4-FFF2-40B4-BE49-F238E27FC236}">
                <a16:creationId xmlns:a16="http://schemas.microsoft.com/office/drawing/2014/main" id="{BEA62023-722A-44F5-915D-C57B2AD82FD1}"/>
              </a:ext>
            </a:extLst>
          </p:cNvPr>
          <p:cNvGraphicFramePr>
            <a:graphicFrameLocks/>
          </p:cNvGraphicFramePr>
          <p:nvPr>
            <p:extLst>
              <p:ext uri="{D42A27DB-BD31-4B8C-83A1-F6EECF244321}">
                <p14:modId xmlns:p14="http://schemas.microsoft.com/office/powerpoint/2010/main" val="2398429420"/>
              </p:ext>
            </p:extLst>
          </p:nvPr>
        </p:nvGraphicFramePr>
        <p:xfrm>
          <a:off x="354104" y="4171614"/>
          <a:ext cx="10804525" cy="252238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Box 8">
            <a:extLst>
              <a:ext uri="{FF2B5EF4-FFF2-40B4-BE49-F238E27FC236}">
                <a16:creationId xmlns:a16="http://schemas.microsoft.com/office/drawing/2014/main" id="{6612C372-9811-07AD-3FD8-30B2A40912E8}"/>
              </a:ext>
            </a:extLst>
          </p:cNvPr>
          <p:cNvSpPr txBox="1"/>
          <p:nvPr/>
        </p:nvSpPr>
        <p:spPr>
          <a:xfrm>
            <a:off x="8929761" y="1448812"/>
            <a:ext cx="2909721" cy="2522380"/>
          </a:xfrm>
          <a:prstGeom prst="rect">
            <a:avLst/>
          </a:prstGeom>
          <a:gradFill flip="none" rotWithShape="1">
            <a:gsLst>
              <a:gs pos="0">
                <a:schemeClr val="accent4">
                  <a:lumMod val="20000"/>
                  <a:lumOff val="80000"/>
                </a:schemeClr>
              </a:gs>
              <a:gs pos="50000">
                <a:schemeClr val="accent4">
                  <a:lumMod val="20000"/>
                  <a:lumOff val="80000"/>
                </a:schemeClr>
              </a:gs>
              <a:gs pos="100000">
                <a:schemeClr val="accent4">
                  <a:lumMod val="40000"/>
                  <a:lumOff val="60000"/>
                </a:schemeClr>
              </a:gs>
            </a:gsLst>
            <a:lin ang="16200000" scaled="1"/>
            <a:tileRect/>
          </a:gradFill>
          <a:effectLst>
            <a:outerShdw blurRad="50800" dist="38100" dir="2700000" algn="tl" rotWithShape="0">
              <a:prstClr val="black">
                <a:alpha val="40000"/>
              </a:prstClr>
            </a:outerShdw>
          </a:effectLst>
        </p:spPr>
        <p:style>
          <a:lnRef idx="1">
            <a:schemeClr val="accent4"/>
          </a:lnRef>
          <a:fillRef idx="2">
            <a:schemeClr val="accent4"/>
          </a:fillRef>
          <a:effectRef idx="1">
            <a:schemeClr val="accent4"/>
          </a:effectRef>
          <a:fontRef idx="minor">
            <a:schemeClr val="dk1"/>
          </a:fontRef>
        </p:style>
        <p:txBody>
          <a:bodyPr wrap="square" lIns="91440" tIns="91440" rIns="91440" bIns="91440" numCol="1" spcCol="360000" rtlCol="0">
            <a:noAutofit/>
          </a:bodyPr>
          <a:lstStyle/>
          <a:p>
            <a:pPr algn="l">
              <a:lnSpc>
                <a:spcPct val="110000"/>
              </a:lnSpc>
              <a:tabLst/>
            </a:pPr>
            <a:r>
              <a:rPr lang="en-US" sz="1400" b="1" dirty="0">
                <a:solidFill>
                  <a:schemeClr val="tx1">
                    <a:lumMod val="50000"/>
                  </a:schemeClr>
                </a:solidFill>
                <a:latin typeface="Roboto Condensed Light" panose="02000000000000000000" pitchFamily="2" charset="0"/>
                <a:ea typeface="Roboto Condensed Light" panose="02000000000000000000" pitchFamily="2" charset="0"/>
              </a:rPr>
              <a:t>Strengths:</a:t>
            </a:r>
          </a:p>
          <a:p>
            <a:pPr marL="179388" indent="-179388" algn="l">
              <a:lnSpc>
                <a:spcPct val="110000"/>
              </a:lnSpc>
              <a:buFont typeface="Arial" panose="020B0604020202020204" pitchFamily="34" charset="0"/>
              <a:buChar char="•"/>
              <a:tabLst/>
            </a:pPr>
            <a:r>
              <a:rPr lang="en-US" sz="1400" dirty="0">
                <a:solidFill>
                  <a:schemeClr val="tx1">
                    <a:lumMod val="50000"/>
                  </a:schemeClr>
                </a:solidFill>
                <a:latin typeface="Roboto Condensed Light" panose="02000000000000000000" pitchFamily="2" charset="0"/>
                <a:ea typeface="Roboto Condensed Light" panose="02000000000000000000" pitchFamily="2" charset="0"/>
              </a:rPr>
              <a:t>Strong vulnerability management</a:t>
            </a:r>
          </a:p>
          <a:p>
            <a:pPr marL="179388" indent="-179388" algn="l">
              <a:lnSpc>
                <a:spcPct val="110000"/>
              </a:lnSpc>
              <a:buFont typeface="Arial" panose="020B0604020202020204" pitchFamily="34" charset="0"/>
              <a:buChar char="•"/>
              <a:tabLst/>
            </a:pPr>
            <a:r>
              <a:rPr lang="en-US" sz="1400" dirty="0">
                <a:solidFill>
                  <a:schemeClr val="tx1">
                    <a:lumMod val="50000"/>
                  </a:schemeClr>
                </a:solidFill>
                <a:latin typeface="Roboto Condensed Light" panose="02000000000000000000" pitchFamily="2" charset="0"/>
                <a:ea typeface="Roboto Condensed Light" panose="02000000000000000000" pitchFamily="2" charset="0"/>
              </a:rPr>
              <a:t>Robust deployment security gates</a:t>
            </a:r>
          </a:p>
          <a:p>
            <a:pPr marL="179388" indent="-179388" algn="l">
              <a:lnSpc>
                <a:spcPct val="110000"/>
              </a:lnSpc>
              <a:buFont typeface="Arial" panose="020B0604020202020204" pitchFamily="34" charset="0"/>
              <a:buChar char="•"/>
              <a:tabLst/>
            </a:pPr>
            <a:r>
              <a:rPr lang="en-US" sz="1400" dirty="0">
                <a:solidFill>
                  <a:schemeClr val="tx1">
                    <a:lumMod val="50000"/>
                  </a:schemeClr>
                </a:solidFill>
                <a:latin typeface="Roboto Condensed Light" panose="02000000000000000000" pitchFamily="2" charset="0"/>
                <a:ea typeface="Roboto Condensed Light" panose="02000000000000000000" pitchFamily="2" charset="0"/>
              </a:rPr>
              <a:t>Effective code reviews</a:t>
            </a:r>
          </a:p>
          <a:p>
            <a:pPr marL="179388" indent="-179388" algn="l">
              <a:lnSpc>
                <a:spcPct val="110000"/>
              </a:lnSpc>
              <a:buFont typeface="Arial" panose="020B0604020202020204" pitchFamily="34" charset="0"/>
              <a:buChar char="•"/>
              <a:tabLst/>
            </a:pPr>
            <a:endParaRPr lang="en-US" sz="1400" dirty="0">
              <a:solidFill>
                <a:schemeClr val="tx1">
                  <a:lumMod val="50000"/>
                </a:schemeClr>
              </a:solidFill>
              <a:latin typeface="Roboto Condensed Light" panose="02000000000000000000" pitchFamily="2" charset="0"/>
              <a:ea typeface="Roboto Condensed Light" panose="02000000000000000000" pitchFamily="2" charset="0"/>
            </a:endParaRPr>
          </a:p>
          <a:p>
            <a:pPr algn="l">
              <a:lnSpc>
                <a:spcPct val="110000"/>
              </a:lnSpc>
              <a:tabLst/>
            </a:pPr>
            <a:r>
              <a:rPr lang="en-US" sz="1400" b="1" dirty="0">
                <a:solidFill>
                  <a:schemeClr val="tx1">
                    <a:lumMod val="50000"/>
                  </a:schemeClr>
                </a:solidFill>
                <a:latin typeface="Roboto Condensed Light" panose="02000000000000000000" pitchFamily="2" charset="0"/>
                <a:ea typeface="Roboto Condensed Light" panose="02000000000000000000" pitchFamily="2" charset="0"/>
              </a:rPr>
              <a:t>Concerns:</a:t>
            </a:r>
          </a:p>
          <a:p>
            <a:pPr marL="179388" indent="-179388" algn="l">
              <a:lnSpc>
                <a:spcPct val="110000"/>
              </a:lnSpc>
              <a:buFont typeface="Arial" panose="020B0604020202020204" pitchFamily="34" charset="0"/>
              <a:buChar char="•"/>
              <a:tabLst/>
            </a:pPr>
            <a:r>
              <a:rPr lang="en-US" sz="1400" dirty="0">
                <a:solidFill>
                  <a:schemeClr val="tx1">
                    <a:lumMod val="50000"/>
                  </a:schemeClr>
                </a:solidFill>
                <a:latin typeface="Roboto Condensed Light" panose="02000000000000000000" pitchFamily="2" charset="0"/>
                <a:ea typeface="Roboto Condensed Light" panose="02000000000000000000" pitchFamily="2" charset="0"/>
              </a:rPr>
              <a:t>No security architecture reviews</a:t>
            </a:r>
          </a:p>
          <a:p>
            <a:pPr marL="179388" indent="-179388" algn="l">
              <a:lnSpc>
                <a:spcPct val="110000"/>
              </a:lnSpc>
              <a:buFont typeface="Arial" panose="020B0604020202020204" pitchFamily="34" charset="0"/>
              <a:buChar char="•"/>
              <a:tabLst/>
            </a:pPr>
            <a:r>
              <a:rPr lang="en-US" sz="1400" dirty="0">
                <a:solidFill>
                  <a:schemeClr val="tx1">
                    <a:lumMod val="50000"/>
                  </a:schemeClr>
                </a:solidFill>
                <a:latin typeface="Roboto Condensed Light" panose="02000000000000000000" pitchFamily="2" charset="0"/>
                <a:ea typeface="Roboto Condensed Light" panose="02000000000000000000" pitchFamily="2" charset="0"/>
              </a:rPr>
              <a:t>Poor secure test environment practices</a:t>
            </a:r>
          </a:p>
          <a:p>
            <a:pPr marL="179388" indent="-179388" algn="l">
              <a:lnSpc>
                <a:spcPct val="110000"/>
              </a:lnSpc>
              <a:buFont typeface="Arial" panose="020B0604020202020204" pitchFamily="34" charset="0"/>
              <a:buChar char="•"/>
              <a:tabLst/>
            </a:pPr>
            <a:r>
              <a:rPr lang="en-US" sz="1400" dirty="0">
                <a:solidFill>
                  <a:schemeClr val="tx1">
                    <a:lumMod val="50000"/>
                  </a:schemeClr>
                </a:solidFill>
                <a:latin typeface="Roboto Condensed Light" panose="02000000000000000000" pitchFamily="2" charset="0"/>
                <a:ea typeface="Roboto Condensed Light" panose="02000000000000000000" pitchFamily="2" charset="0"/>
              </a:rPr>
              <a:t>Ineffective threat modeling</a:t>
            </a:r>
          </a:p>
          <a:p>
            <a:pPr marL="179388" indent="-179388" algn="l">
              <a:lnSpc>
                <a:spcPct val="110000"/>
              </a:lnSpc>
              <a:buFont typeface="Arial" panose="020B0604020202020204" pitchFamily="34" charset="0"/>
              <a:buChar char="•"/>
              <a:tabLst/>
            </a:pPr>
            <a:endParaRPr lang="en-US" sz="1400" dirty="0">
              <a:solidFill>
                <a:schemeClr val="tx1">
                  <a:lumMod val="50000"/>
                </a:schemeClr>
              </a:solidFill>
              <a:latin typeface="Roboto Condensed Light" panose="02000000000000000000" pitchFamily="2" charset="0"/>
              <a:ea typeface="Roboto Condensed Light" panose="02000000000000000000" pitchFamily="2" charset="0"/>
            </a:endParaRPr>
          </a:p>
        </p:txBody>
      </p:sp>
      <p:sp>
        <p:nvSpPr>
          <p:cNvPr id="2" name="TextBox 1">
            <a:extLst>
              <a:ext uri="{FF2B5EF4-FFF2-40B4-BE49-F238E27FC236}">
                <a16:creationId xmlns:a16="http://schemas.microsoft.com/office/drawing/2014/main" id="{9FDD5448-E9F3-7B07-3128-DFB22E3D0F15}"/>
              </a:ext>
            </a:extLst>
          </p:cNvPr>
          <p:cNvSpPr txBox="1"/>
          <p:nvPr/>
        </p:nvSpPr>
        <p:spPr>
          <a:xfrm>
            <a:off x="3681759" y="2240231"/>
            <a:ext cx="4149213" cy="2438400"/>
          </a:xfrm>
          <a:prstGeom prst="rect">
            <a:avLst/>
          </a:prstGeom>
          <a:gradFill>
            <a:gsLst>
              <a:gs pos="0">
                <a:schemeClr val="accent5">
                  <a:lumMod val="110000"/>
                  <a:satMod val="105000"/>
                  <a:tint val="67000"/>
                  <a:alpha val="75000"/>
                </a:schemeClr>
              </a:gs>
              <a:gs pos="50000">
                <a:schemeClr val="accent5">
                  <a:lumMod val="105000"/>
                  <a:satMod val="103000"/>
                  <a:tint val="73000"/>
                </a:schemeClr>
              </a:gs>
              <a:gs pos="100000">
                <a:schemeClr val="accent5">
                  <a:lumMod val="105000"/>
                  <a:satMod val="109000"/>
                  <a:tint val="81000"/>
                </a:schemeClr>
              </a:gs>
            </a:gsLst>
          </a:gradFill>
        </p:spPr>
        <p:style>
          <a:lnRef idx="1">
            <a:schemeClr val="accent5"/>
          </a:lnRef>
          <a:fillRef idx="2">
            <a:schemeClr val="accent5"/>
          </a:fillRef>
          <a:effectRef idx="1">
            <a:schemeClr val="accent5"/>
          </a:effectRef>
          <a:fontRef idx="minor">
            <a:schemeClr val="dk1"/>
          </a:fontRef>
        </p:style>
        <p:txBody>
          <a:bodyPr wrap="square" rtlCol="0">
            <a:noAutofit/>
          </a:bodyPr>
          <a:lstStyle/>
          <a:p>
            <a:pPr algn="ctr"/>
            <a:endParaRPr lang="en-US" sz="2800" dirty="0"/>
          </a:p>
          <a:p>
            <a:pPr algn="ctr"/>
            <a:r>
              <a:rPr lang="en-US" sz="2800" dirty="0"/>
              <a:t>Add charts showing the current state of capabilities and provide comments.</a:t>
            </a:r>
          </a:p>
        </p:txBody>
      </p:sp>
    </p:spTree>
    <p:extLst>
      <p:ext uri="{BB962C8B-B14F-4D97-AF65-F5344CB8AC3E}">
        <p14:creationId xmlns:p14="http://schemas.microsoft.com/office/powerpoint/2010/main" val="2670824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E6E8AF-AA02-8A45-8B51-0888B0C66904}"/>
              </a:ext>
            </a:extLst>
          </p:cNvPr>
          <p:cNvSpPr>
            <a:spLocks noGrp="1"/>
          </p:cNvSpPr>
          <p:nvPr>
            <p:ph type="title"/>
          </p:nvPr>
        </p:nvSpPr>
        <p:spPr>
          <a:xfrm>
            <a:off x="354106" y="530021"/>
            <a:ext cx="8449652" cy="1130188"/>
          </a:xfrm>
        </p:spPr>
        <p:txBody>
          <a:bodyPr/>
          <a:lstStyle/>
          <a:p>
            <a:r>
              <a:rPr lang="en-US" dirty="0"/>
              <a:t>Baseline metrics</a:t>
            </a:r>
          </a:p>
        </p:txBody>
      </p:sp>
      <p:graphicFrame>
        <p:nvGraphicFramePr>
          <p:cNvPr id="6" name="Chart 5">
            <a:extLst>
              <a:ext uri="{FF2B5EF4-FFF2-40B4-BE49-F238E27FC236}">
                <a16:creationId xmlns:a16="http://schemas.microsoft.com/office/drawing/2014/main" id="{6E228018-C33F-244B-9C48-A6C911E5FF9D}"/>
              </a:ext>
            </a:extLst>
          </p:cNvPr>
          <p:cNvGraphicFramePr/>
          <p:nvPr>
            <p:extLst>
              <p:ext uri="{D42A27DB-BD31-4B8C-83A1-F6EECF244321}">
                <p14:modId xmlns:p14="http://schemas.microsoft.com/office/powerpoint/2010/main" val="1206910731"/>
              </p:ext>
            </p:extLst>
          </p:nvPr>
        </p:nvGraphicFramePr>
        <p:xfrm>
          <a:off x="354106" y="1095115"/>
          <a:ext cx="5395478" cy="28495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a:extLst>
              <a:ext uri="{FF2B5EF4-FFF2-40B4-BE49-F238E27FC236}">
                <a16:creationId xmlns:a16="http://schemas.microsoft.com/office/drawing/2014/main" id="{369B12F3-4E62-9F4D-8030-42057FCBA7A7}"/>
              </a:ext>
            </a:extLst>
          </p:cNvPr>
          <p:cNvGraphicFramePr/>
          <p:nvPr>
            <p:extLst>
              <p:ext uri="{D42A27DB-BD31-4B8C-83A1-F6EECF244321}">
                <p14:modId xmlns:p14="http://schemas.microsoft.com/office/powerpoint/2010/main" val="1531089258"/>
              </p:ext>
            </p:extLst>
          </p:nvPr>
        </p:nvGraphicFramePr>
        <p:xfrm>
          <a:off x="354106" y="3944640"/>
          <a:ext cx="5395478" cy="284952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Chart 13">
            <a:extLst>
              <a:ext uri="{FF2B5EF4-FFF2-40B4-BE49-F238E27FC236}">
                <a16:creationId xmlns:a16="http://schemas.microsoft.com/office/drawing/2014/main" id="{05D9FB8E-88ED-97DC-A718-9FA87AB48402}"/>
              </a:ext>
            </a:extLst>
          </p:cNvPr>
          <p:cNvGraphicFramePr/>
          <p:nvPr>
            <p:extLst>
              <p:ext uri="{D42A27DB-BD31-4B8C-83A1-F6EECF244321}">
                <p14:modId xmlns:p14="http://schemas.microsoft.com/office/powerpoint/2010/main" val="2725058767"/>
              </p:ext>
            </p:extLst>
          </p:nvPr>
        </p:nvGraphicFramePr>
        <p:xfrm>
          <a:off x="6106019" y="453210"/>
          <a:ext cx="5395478" cy="284952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5" name="Chart 14">
            <a:extLst>
              <a:ext uri="{FF2B5EF4-FFF2-40B4-BE49-F238E27FC236}">
                <a16:creationId xmlns:a16="http://schemas.microsoft.com/office/drawing/2014/main" id="{BA97EABD-7D34-2F20-4866-0DB52DDFA5A8}"/>
              </a:ext>
            </a:extLst>
          </p:cNvPr>
          <p:cNvGraphicFramePr/>
          <p:nvPr>
            <p:extLst>
              <p:ext uri="{D42A27DB-BD31-4B8C-83A1-F6EECF244321}">
                <p14:modId xmlns:p14="http://schemas.microsoft.com/office/powerpoint/2010/main" val="2945225781"/>
              </p:ext>
            </p:extLst>
          </p:nvPr>
        </p:nvGraphicFramePr>
        <p:xfrm>
          <a:off x="6106019" y="3478454"/>
          <a:ext cx="5395478" cy="2849525"/>
        </p:xfrm>
        <a:graphic>
          <a:graphicData uri="http://schemas.openxmlformats.org/drawingml/2006/chart">
            <c:chart xmlns:c="http://schemas.openxmlformats.org/drawingml/2006/chart" xmlns:r="http://schemas.openxmlformats.org/officeDocument/2006/relationships" r:id="rId6"/>
          </a:graphicData>
        </a:graphic>
      </p:graphicFrame>
      <p:sp>
        <p:nvSpPr>
          <p:cNvPr id="4" name="TextBox 3">
            <a:extLst>
              <a:ext uri="{FF2B5EF4-FFF2-40B4-BE49-F238E27FC236}">
                <a16:creationId xmlns:a16="http://schemas.microsoft.com/office/drawing/2014/main" id="{4723F375-593E-80A5-0CCD-A3560B2C6D13}"/>
              </a:ext>
            </a:extLst>
          </p:cNvPr>
          <p:cNvSpPr txBox="1"/>
          <p:nvPr/>
        </p:nvSpPr>
        <p:spPr>
          <a:xfrm>
            <a:off x="3674977" y="2336066"/>
            <a:ext cx="4149213" cy="2438400"/>
          </a:xfrm>
          <a:prstGeom prst="rect">
            <a:avLst/>
          </a:prstGeom>
          <a:gradFill>
            <a:gsLst>
              <a:gs pos="0">
                <a:schemeClr val="accent5">
                  <a:lumMod val="110000"/>
                  <a:satMod val="105000"/>
                  <a:tint val="67000"/>
                  <a:alpha val="75000"/>
                </a:schemeClr>
              </a:gs>
              <a:gs pos="50000">
                <a:schemeClr val="accent5">
                  <a:lumMod val="105000"/>
                  <a:satMod val="103000"/>
                  <a:tint val="73000"/>
                </a:schemeClr>
              </a:gs>
              <a:gs pos="100000">
                <a:schemeClr val="accent5">
                  <a:lumMod val="105000"/>
                  <a:satMod val="109000"/>
                  <a:tint val="81000"/>
                </a:schemeClr>
              </a:gs>
            </a:gsLst>
          </a:gradFill>
        </p:spPr>
        <p:style>
          <a:lnRef idx="1">
            <a:schemeClr val="accent5"/>
          </a:lnRef>
          <a:fillRef idx="2">
            <a:schemeClr val="accent5"/>
          </a:fillRef>
          <a:effectRef idx="1">
            <a:schemeClr val="accent5"/>
          </a:effectRef>
          <a:fontRef idx="minor">
            <a:schemeClr val="dk1"/>
          </a:fontRef>
        </p:style>
        <p:txBody>
          <a:bodyPr wrap="square" rtlCol="0">
            <a:noAutofit/>
          </a:bodyPr>
          <a:lstStyle/>
          <a:p>
            <a:pPr algn="ctr"/>
            <a:endParaRPr lang="en-US" sz="2800" dirty="0"/>
          </a:p>
          <a:p>
            <a:pPr algn="ctr"/>
            <a:r>
              <a:rPr lang="en-US" sz="2800" dirty="0"/>
              <a:t>Update charts showing the current metrics, if available.</a:t>
            </a:r>
          </a:p>
        </p:txBody>
      </p:sp>
    </p:spTree>
    <p:extLst>
      <p:ext uri="{BB962C8B-B14F-4D97-AF65-F5344CB8AC3E}">
        <p14:creationId xmlns:p14="http://schemas.microsoft.com/office/powerpoint/2010/main" val="6923679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close-up of a circuit board&#10;&#10;AI-generated content may be incorrect.">
            <a:extLst>
              <a:ext uri="{FF2B5EF4-FFF2-40B4-BE49-F238E27FC236}">
                <a16:creationId xmlns:a16="http://schemas.microsoft.com/office/drawing/2014/main" id="{546C56EB-63F7-DF18-FE97-0C04E342A696}"/>
              </a:ext>
            </a:extLst>
          </p:cNvPr>
          <p:cNvPicPr>
            <a:picLocks noGrp="1" noRot="1" noChangeAspect="1" noMove="1" noResize="1" noEditPoints="1" noAdjustHandles="1" noChangeArrowheads="1" noChangeShapeType="1" noCrop="1"/>
          </p:cNvPicPr>
          <p:nvPr/>
        </p:nvPicPr>
        <p:blipFill>
          <a:blip r:embed="rId3" cstate="print">
            <a:extLst>
              <a:ext uri="{28A0092B-C50C-407E-A947-70E740481C1C}">
                <a14:useLocalDpi xmlns:a14="http://schemas.microsoft.com/office/drawing/2010/main"/>
              </a:ext>
            </a:extLst>
          </a:blip>
          <a:srcRect t="-664"/>
          <a:stretch>
            <a:fillRect/>
          </a:stretch>
        </p:blipFill>
        <p:spPr>
          <a:xfrm>
            <a:off x="8144540" y="-74429"/>
            <a:ext cx="4049048" cy="6927338"/>
          </a:xfrm>
          <a:prstGeom prst="rect">
            <a:avLst/>
          </a:prstGeom>
        </p:spPr>
      </p:pic>
      <p:sp>
        <p:nvSpPr>
          <p:cNvPr id="3" name="Title 2">
            <a:extLst>
              <a:ext uri="{FF2B5EF4-FFF2-40B4-BE49-F238E27FC236}">
                <a16:creationId xmlns:a16="http://schemas.microsoft.com/office/drawing/2014/main" id="{FBE6E8AF-AA02-8A45-8B51-0888B0C66904}"/>
              </a:ext>
            </a:extLst>
          </p:cNvPr>
          <p:cNvSpPr>
            <a:spLocks noGrp="1"/>
          </p:cNvSpPr>
          <p:nvPr>
            <p:ph type="title"/>
          </p:nvPr>
        </p:nvSpPr>
        <p:spPr>
          <a:xfrm>
            <a:off x="354106" y="530021"/>
            <a:ext cx="8449652" cy="1130188"/>
          </a:xfrm>
        </p:spPr>
        <p:txBody>
          <a:bodyPr/>
          <a:lstStyle/>
          <a:p>
            <a:r>
              <a:rPr lang="en-US" dirty="0"/>
              <a:t>Threat impacts</a:t>
            </a:r>
          </a:p>
        </p:txBody>
      </p:sp>
      <p:sp>
        <p:nvSpPr>
          <p:cNvPr id="4" name="Text Placeholder 3">
            <a:extLst>
              <a:ext uri="{FF2B5EF4-FFF2-40B4-BE49-F238E27FC236}">
                <a16:creationId xmlns:a16="http://schemas.microsoft.com/office/drawing/2014/main" id="{977F6EAB-41A6-0F49-9C36-8B0BE7544424}"/>
              </a:ext>
            </a:extLst>
          </p:cNvPr>
          <p:cNvSpPr>
            <a:spLocks noGrp="1"/>
          </p:cNvSpPr>
          <p:nvPr>
            <p:ph type="body" sz="quarter" idx="11"/>
          </p:nvPr>
        </p:nvSpPr>
        <p:spPr>
          <a:xfrm>
            <a:off x="374088" y="1177271"/>
            <a:ext cx="7462108" cy="456696"/>
          </a:xfrm>
        </p:spPr>
        <p:txBody>
          <a:bodyPr/>
          <a:lstStyle/>
          <a:p>
            <a:r>
              <a:rPr lang="en-US" dirty="0"/>
              <a:t>Examine high-priority security threats and associated potential business impacts.</a:t>
            </a:r>
          </a:p>
        </p:txBody>
      </p:sp>
      <p:graphicFrame>
        <p:nvGraphicFramePr>
          <p:cNvPr id="10" name="Table 9">
            <a:extLst>
              <a:ext uri="{FF2B5EF4-FFF2-40B4-BE49-F238E27FC236}">
                <a16:creationId xmlns:a16="http://schemas.microsoft.com/office/drawing/2014/main" id="{7DFC7067-29B6-8463-8570-214568437EC6}"/>
              </a:ext>
            </a:extLst>
          </p:cNvPr>
          <p:cNvGraphicFramePr>
            <a:graphicFrameLocks noGrp="1"/>
          </p:cNvGraphicFramePr>
          <p:nvPr>
            <p:extLst>
              <p:ext uri="{D42A27DB-BD31-4B8C-83A1-F6EECF244321}">
                <p14:modId xmlns:p14="http://schemas.microsoft.com/office/powerpoint/2010/main" val="3426609436"/>
              </p:ext>
            </p:extLst>
          </p:nvPr>
        </p:nvGraphicFramePr>
        <p:xfrm>
          <a:off x="354106" y="2264659"/>
          <a:ext cx="7609680" cy="4249049"/>
        </p:xfrm>
        <a:graphic>
          <a:graphicData uri="http://schemas.openxmlformats.org/drawingml/2006/table">
            <a:tbl>
              <a:tblPr firstRow="1" bandRow="1">
                <a:tableStyleId>{5C22544A-7EE6-4342-B048-85BDC9FD1C3A}</a:tableStyleId>
              </a:tblPr>
              <a:tblGrid>
                <a:gridCol w="2335931">
                  <a:extLst>
                    <a:ext uri="{9D8B030D-6E8A-4147-A177-3AD203B41FA5}">
                      <a16:colId xmlns:a16="http://schemas.microsoft.com/office/drawing/2014/main" val="1209083333"/>
                    </a:ext>
                  </a:extLst>
                </a:gridCol>
                <a:gridCol w="5273749">
                  <a:extLst>
                    <a:ext uri="{9D8B030D-6E8A-4147-A177-3AD203B41FA5}">
                      <a16:colId xmlns:a16="http://schemas.microsoft.com/office/drawing/2014/main" val="3367694333"/>
                    </a:ext>
                  </a:extLst>
                </a:gridCol>
              </a:tblGrid>
              <a:tr h="408253">
                <a:tc>
                  <a:txBody>
                    <a:bodyPr/>
                    <a:lstStyle/>
                    <a:p>
                      <a:r>
                        <a:rPr lang="en-US" dirty="0">
                          <a:latin typeface="+mj-lt"/>
                        </a:rPr>
                        <a:t>Security threat</a:t>
                      </a:r>
                    </a:p>
                  </a:txBody>
                  <a:tcPr/>
                </a:tc>
                <a:tc>
                  <a:txBody>
                    <a:bodyPr/>
                    <a:lstStyle/>
                    <a:p>
                      <a:r>
                        <a:rPr lang="en-US" dirty="0">
                          <a:latin typeface="+mj-lt"/>
                        </a:rPr>
                        <a:t>Potential business impacts</a:t>
                      </a:r>
                    </a:p>
                  </a:txBody>
                  <a:tcPr/>
                </a:tc>
                <a:extLst>
                  <a:ext uri="{0D108BD9-81ED-4DB2-BD59-A6C34878D82A}">
                    <a16:rowId xmlns:a16="http://schemas.microsoft.com/office/drawing/2014/main" val="1758759600"/>
                  </a:ext>
                </a:extLst>
              </a:tr>
              <a:tr h="1059300">
                <a:tc>
                  <a:txBody>
                    <a:bodyPr/>
                    <a:lstStyle/>
                    <a:p>
                      <a:r>
                        <a:rPr lang="en-US" dirty="0"/>
                        <a:t>Mass credential stuffing and account takeover</a:t>
                      </a:r>
                    </a:p>
                  </a:txBody>
                  <a:tcPr/>
                </a:tc>
                <a:tc>
                  <a:txBody>
                    <a:bodyPr/>
                    <a:lstStyle/>
                    <a:p>
                      <a:pPr marL="171450" indent="-171450">
                        <a:buFont typeface="Arial" panose="020B0604020202020204" pitchFamily="34" charset="0"/>
                        <a:buChar char="•"/>
                      </a:pPr>
                      <a:r>
                        <a:rPr lang="en-US" sz="1400" dirty="0"/>
                        <a:t>Erosion of customer trust</a:t>
                      </a:r>
                    </a:p>
                    <a:p>
                      <a:pPr marL="171450" indent="-171450">
                        <a:buFont typeface="Arial" panose="020B0604020202020204" pitchFamily="34" charset="0"/>
                        <a:buChar char="•"/>
                      </a:pPr>
                      <a:r>
                        <a:rPr lang="en-US" sz="1400" dirty="0"/>
                        <a:t>Expenses related to customer redress due to cyberfraud</a:t>
                      </a:r>
                    </a:p>
                    <a:p>
                      <a:pPr marL="171450" indent="-171450">
                        <a:buFont typeface="Arial" panose="020B0604020202020204" pitchFamily="34" charset="0"/>
                        <a:buChar char="•"/>
                      </a:pPr>
                      <a:r>
                        <a:rPr lang="en-US" sz="1400"/>
                        <a:t>Increased cyberinsurance premiums</a:t>
                      </a:r>
                      <a:endParaRPr lang="en-US" sz="1400" dirty="0"/>
                    </a:p>
                    <a:p>
                      <a:pPr marL="171450" indent="-171450">
                        <a:buFont typeface="Arial" panose="020B0604020202020204" pitchFamily="34" charset="0"/>
                        <a:buChar char="•"/>
                      </a:pPr>
                      <a:r>
                        <a:rPr lang="en-US" sz="1400" dirty="0"/>
                        <a:t>Pollution in customer identity databases</a:t>
                      </a:r>
                    </a:p>
                  </a:txBody>
                  <a:tcPr/>
                </a:tc>
                <a:extLst>
                  <a:ext uri="{0D108BD9-81ED-4DB2-BD59-A6C34878D82A}">
                    <a16:rowId xmlns:a16="http://schemas.microsoft.com/office/drawing/2014/main" val="1488129223"/>
                  </a:ext>
                </a:extLst>
              </a:tr>
              <a:tr h="1026456">
                <a:tc>
                  <a:txBody>
                    <a:bodyPr/>
                    <a:lstStyle/>
                    <a:p>
                      <a:r>
                        <a:rPr lang="en-US" dirty="0"/>
                        <a:t>Software supply chain compromise</a:t>
                      </a:r>
                    </a:p>
                    <a:p>
                      <a:endParaRPr lang="en-US" dirty="0"/>
                    </a:p>
                  </a:txBody>
                  <a:tcPr/>
                </a:tc>
                <a:tc>
                  <a:txBody>
                    <a:bodyPr/>
                    <a:lstStyle/>
                    <a:p>
                      <a:pPr marL="171450" indent="-171450">
                        <a:buFont typeface="Arial" panose="020B0604020202020204" pitchFamily="34" charset="0"/>
                        <a:buChar char="•"/>
                      </a:pPr>
                      <a:r>
                        <a:rPr lang="en-US" sz="1400" dirty="0"/>
                        <a:t>Delayed product launches due to security concerns with software components</a:t>
                      </a:r>
                    </a:p>
                    <a:p>
                      <a:pPr marL="171450" indent="-171450">
                        <a:buFont typeface="Arial" panose="020B0604020202020204" pitchFamily="34" charset="0"/>
                        <a:buChar char="•"/>
                      </a:pPr>
                      <a:r>
                        <a:rPr lang="en-US" sz="1400" dirty="0"/>
                        <a:t>Increased liability of redistributing compromised software</a:t>
                      </a:r>
                    </a:p>
                    <a:p>
                      <a:pPr marL="171450" indent="-171450">
                        <a:buFont typeface="Arial" panose="020B0604020202020204" pitchFamily="34" charset="0"/>
                        <a:buChar char="•"/>
                      </a:pPr>
                      <a:endParaRPr lang="en-US" sz="1400" dirty="0"/>
                    </a:p>
                    <a:p>
                      <a:pPr marL="171450" indent="-171450">
                        <a:buFont typeface="Arial" panose="020B0604020202020204" pitchFamily="34" charset="0"/>
                        <a:buChar char="•"/>
                      </a:pPr>
                      <a:endParaRPr lang="en-US" sz="1400" dirty="0"/>
                    </a:p>
                    <a:p>
                      <a:endParaRPr lang="en-US" sz="1200" dirty="0"/>
                    </a:p>
                  </a:txBody>
                  <a:tcPr/>
                </a:tc>
                <a:extLst>
                  <a:ext uri="{0D108BD9-81ED-4DB2-BD59-A6C34878D82A}">
                    <a16:rowId xmlns:a16="http://schemas.microsoft.com/office/drawing/2014/main" val="1037813076"/>
                  </a:ext>
                </a:extLst>
              </a:tr>
              <a:tr h="1440376">
                <a:tc>
                  <a:txBody>
                    <a:bodyPr/>
                    <a:lstStyle/>
                    <a:p>
                      <a:r>
                        <a:rPr lang="en-US" dirty="0"/>
                        <a:t>Sensitive data leakage in AI‑enabled apps</a:t>
                      </a:r>
                    </a:p>
                    <a:p>
                      <a:endParaRPr lang="en-US" dirty="0"/>
                    </a:p>
                  </a:txBody>
                  <a:tcPr/>
                </a:tc>
                <a:tc>
                  <a:txBody>
                    <a:bodyPr/>
                    <a:lstStyle/>
                    <a:p>
                      <a:pPr marL="171450" indent="-171450">
                        <a:buFont typeface="Arial" panose="020B0604020202020204" pitchFamily="34" charset="0"/>
                        <a:buChar char="•"/>
                      </a:pPr>
                      <a:r>
                        <a:rPr lang="en-US" sz="1400" dirty="0"/>
                        <a:t>Erosion of customer trust</a:t>
                      </a:r>
                    </a:p>
                    <a:p>
                      <a:pPr marL="171450" indent="-171450">
                        <a:buFont typeface="Arial" panose="020B0604020202020204" pitchFamily="34" charset="0"/>
                        <a:buChar char="•"/>
                      </a:pPr>
                      <a:r>
                        <a:rPr lang="en-US" sz="1400" dirty="0"/>
                        <a:t>Potential regulatory fines </a:t>
                      </a:r>
                    </a:p>
                    <a:p>
                      <a:pPr marL="171450" indent="-171450">
                        <a:buFont typeface="Arial" panose="020B0604020202020204" pitchFamily="34" charset="0"/>
                        <a:buChar char="•"/>
                      </a:pPr>
                      <a:endParaRPr lang="en-US" sz="1400" dirty="0"/>
                    </a:p>
                  </a:txBody>
                  <a:tcPr/>
                </a:tc>
                <a:extLst>
                  <a:ext uri="{0D108BD9-81ED-4DB2-BD59-A6C34878D82A}">
                    <a16:rowId xmlns:a16="http://schemas.microsoft.com/office/drawing/2014/main" val="3541708987"/>
                  </a:ext>
                </a:extLst>
              </a:tr>
            </a:tbl>
          </a:graphicData>
        </a:graphic>
      </p:graphicFrame>
      <p:sp>
        <p:nvSpPr>
          <p:cNvPr id="2" name="TextBox 1">
            <a:extLst>
              <a:ext uri="{FF2B5EF4-FFF2-40B4-BE49-F238E27FC236}">
                <a16:creationId xmlns:a16="http://schemas.microsoft.com/office/drawing/2014/main" id="{65543CAF-6132-2B3D-B3B3-44C705343541}"/>
              </a:ext>
            </a:extLst>
          </p:cNvPr>
          <p:cNvSpPr txBox="1"/>
          <p:nvPr/>
        </p:nvSpPr>
        <p:spPr>
          <a:xfrm>
            <a:off x="3686983" y="2501623"/>
            <a:ext cx="4149213" cy="2438400"/>
          </a:xfrm>
          <a:prstGeom prst="rect">
            <a:avLst/>
          </a:prstGeom>
          <a:gradFill>
            <a:gsLst>
              <a:gs pos="0">
                <a:schemeClr val="accent5">
                  <a:lumMod val="110000"/>
                  <a:satMod val="105000"/>
                  <a:tint val="67000"/>
                  <a:alpha val="75000"/>
                </a:schemeClr>
              </a:gs>
              <a:gs pos="50000">
                <a:schemeClr val="accent5">
                  <a:lumMod val="105000"/>
                  <a:satMod val="103000"/>
                  <a:tint val="73000"/>
                </a:schemeClr>
              </a:gs>
              <a:gs pos="100000">
                <a:schemeClr val="accent5">
                  <a:lumMod val="105000"/>
                  <a:satMod val="109000"/>
                  <a:tint val="81000"/>
                </a:schemeClr>
              </a:gs>
            </a:gsLst>
          </a:gradFill>
        </p:spPr>
        <p:style>
          <a:lnRef idx="1">
            <a:schemeClr val="accent5"/>
          </a:lnRef>
          <a:fillRef idx="2">
            <a:schemeClr val="accent5"/>
          </a:fillRef>
          <a:effectRef idx="1">
            <a:schemeClr val="accent5"/>
          </a:effectRef>
          <a:fontRef idx="minor">
            <a:schemeClr val="dk1"/>
          </a:fontRef>
        </p:style>
        <p:txBody>
          <a:bodyPr wrap="square" rtlCol="0">
            <a:noAutofit/>
          </a:bodyPr>
          <a:lstStyle/>
          <a:p>
            <a:pPr algn="ctr"/>
            <a:endParaRPr lang="en-US" sz="2800" dirty="0"/>
          </a:p>
          <a:p>
            <a:pPr algn="ctr"/>
            <a:r>
              <a:rPr lang="en-US" sz="2800" dirty="0"/>
              <a:t>Enter your priority security threats and include potential business impacts.</a:t>
            </a:r>
          </a:p>
        </p:txBody>
      </p:sp>
    </p:spTree>
    <p:extLst>
      <p:ext uri="{BB962C8B-B14F-4D97-AF65-F5344CB8AC3E}">
        <p14:creationId xmlns:p14="http://schemas.microsoft.com/office/powerpoint/2010/main" val="1928805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E6E8AF-AA02-8A45-8B51-0888B0C66904}"/>
              </a:ext>
            </a:extLst>
          </p:cNvPr>
          <p:cNvSpPr>
            <a:spLocks noGrp="1"/>
          </p:cNvSpPr>
          <p:nvPr>
            <p:ph type="title"/>
          </p:nvPr>
        </p:nvSpPr>
        <p:spPr>
          <a:xfrm>
            <a:off x="354106" y="530021"/>
            <a:ext cx="8449652" cy="1130188"/>
          </a:xfrm>
        </p:spPr>
        <p:txBody>
          <a:bodyPr/>
          <a:lstStyle/>
          <a:p>
            <a:r>
              <a:rPr lang="en-US" dirty="0"/>
              <a:t>Capability prioritization</a:t>
            </a:r>
          </a:p>
        </p:txBody>
      </p:sp>
      <p:sp>
        <p:nvSpPr>
          <p:cNvPr id="4" name="Text Placeholder 3">
            <a:extLst>
              <a:ext uri="{FF2B5EF4-FFF2-40B4-BE49-F238E27FC236}">
                <a16:creationId xmlns:a16="http://schemas.microsoft.com/office/drawing/2014/main" id="{977F6EAB-41A6-0F49-9C36-8B0BE7544424}"/>
              </a:ext>
            </a:extLst>
          </p:cNvPr>
          <p:cNvSpPr>
            <a:spLocks noGrp="1"/>
          </p:cNvSpPr>
          <p:nvPr>
            <p:ph type="body" sz="quarter" idx="11"/>
          </p:nvPr>
        </p:nvSpPr>
        <p:spPr>
          <a:xfrm>
            <a:off x="374088" y="1177271"/>
            <a:ext cx="7588226" cy="456696"/>
          </a:xfrm>
        </p:spPr>
        <p:txBody>
          <a:bodyPr/>
          <a:lstStyle/>
          <a:p>
            <a:r>
              <a:rPr lang="en-US" dirty="0"/>
              <a:t>Top iSSDLC capabilities prioritized.</a:t>
            </a:r>
          </a:p>
        </p:txBody>
      </p:sp>
      <p:graphicFrame>
        <p:nvGraphicFramePr>
          <p:cNvPr id="11" name="Object 10">
            <a:extLst>
              <a:ext uri="{FF2B5EF4-FFF2-40B4-BE49-F238E27FC236}">
                <a16:creationId xmlns:a16="http://schemas.microsoft.com/office/drawing/2014/main" id="{F1ECD765-04B7-28CE-3B9B-A3682167E339}"/>
              </a:ext>
            </a:extLst>
          </p:cNvPr>
          <p:cNvGraphicFramePr>
            <a:graphicFrameLocks noChangeAspect="1"/>
          </p:cNvGraphicFramePr>
          <p:nvPr>
            <p:extLst>
              <p:ext uri="{D42A27DB-BD31-4B8C-83A1-F6EECF244321}">
                <p14:modId xmlns:p14="http://schemas.microsoft.com/office/powerpoint/2010/main" val="1078875976"/>
              </p:ext>
            </p:extLst>
          </p:nvPr>
        </p:nvGraphicFramePr>
        <p:xfrm>
          <a:off x="304800" y="2308225"/>
          <a:ext cx="11582400" cy="2238375"/>
        </p:xfrm>
        <a:graphic>
          <a:graphicData uri="http://schemas.openxmlformats.org/presentationml/2006/ole">
            <mc:AlternateContent xmlns:mc="http://schemas.openxmlformats.org/markup-compatibility/2006">
              <mc:Choice xmlns:v="urn:schemas-microsoft-com:vml" Requires="v">
                <p:oleObj name="Worksheet" r:id="rId3" imgW="11582517" imgH="2238212" progId="Excel.Sheet.12">
                  <p:embed/>
                </p:oleObj>
              </mc:Choice>
              <mc:Fallback>
                <p:oleObj name="Worksheet" r:id="rId3" imgW="11582517" imgH="2238212" progId="Excel.Sheet.12">
                  <p:embed/>
                  <p:pic>
                    <p:nvPicPr>
                      <p:cNvPr id="11" name="Object 10">
                        <a:extLst>
                          <a:ext uri="{FF2B5EF4-FFF2-40B4-BE49-F238E27FC236}">
                            <a16:creationId xmlns:a16="http://schemas.microsoft.com/office/drawing/2014/main" id="{F1ECD765-04B7-28CE-3B9B-A3682167E339}"/>
                          </a:ext>
                        </a:extLst>
                      </p:cNvPr>
                      <p:cNvPicPr/>
                      <p:nvPr/>
                    </p:nvPicPr>
                    <p:blipFill>
                      <a:blip r:embed="rId4"/>
                      <a:stretch>
                        <a:fillRect/>
                      </a:stretch>
                    </p:blipFill>
                    <p:spPr>
                      <a:xfrm>
                        <a:off x="304800" y="2308225"/>
                        <a:ext cx="11582400" cy="2238375"/>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60BA888B-E4AA-AC97-71CC-2B62D2027FD9}"/>
              </a:ext>
            </a:extLst>
          </p:cNvPr>
          <p:cNvSpPr txBox="1"/>
          <p:nvPr/>
        </p:nvSpPr>
        <p:spPr>
          <a:xfrm>
            <a:off x="4021393" y="2643958"/>
            <a:ext cx="4149213" cy="2438400"/>
          </a:xfrm>
          <a:prstGeom prst="rect">
            <a:avLst/>
          </a:prstGeom>
          <a:gradFill>
            <a:gsLst>
              <a:gs pos="0">
                <a:schemeClr val="accent5">
                  <a:lumMod val="110000"/>
                  <a:satMod val="105000"/>
                  <a:tint val="67000"/>
                  <a:alpha val="75000"/>
                </a:schemeClr>
              </a:gs>
              <a:gs pos="50000">
                <a:schemeClr val="accent5">
                  <a:lumMod val="105000"/>
                  <a:satMod val="103000"/>
                  <a:tint val="73000"/>
                </a:schemeClr>
              </a:gs>
              <a:gs pos="100000">
                <a:schemeClr val="accent5">
                  <a:lumMod val="105000"/>
                  <a:satMod val="109000"/>
                  <a:tint val="81000"/>
                </a:schemeClr>
              </a:gs>
            </a:gsLst>
          </a:gradFill>
        </p:spPr>
        <p:style>
          <a:lnRef idx="1">
            <a:schemeClr val="accent5"/>
          </a:lnRef>
          <a:fillRef idx="2">
            <a:schemeClr val="accent5"/>
          </a:fillRef>
          <a:effectRef idx="1">
            <a:schemeClr val="accent5"/>
          </a:effectRef>
          <a:fontRef idx="minor">
            <a:schemeClr val="dk1"/>
          </a:fontRef>
        </p:style>
        <p:txBody>
          <a:bodyPr wrap="square" rtlCol="0">
            <a:noAutofit/>
          </a:bodyPr>
          <a:lstStyle/>
          <a:p>
            <a:pPr algn="ctr"/>
            <a:endParaRPr lang="en-US" sz="2800" dirty="0"/>
          </a:p>
          <a:p>
            <a:pPr algn="ctr"/>
            <a:r>
              <a:rPr lang="en-US" sz="2800" dirty="0"/>
              <a:t>Copy the capability prioritization table from the Results tab.</a:t>
            </a:r>
          </a:p>
        </p:txBody>
      </p:sp>
    </p:spTree>
    <p:extLst>
      <p:ext uri="{BB962C8B-B14F-4D97-AF65-F5344CB8AC3E}">
        <p14:creationId xmlns:p14="http://schemas.microsoft.com/office/powerpoint/2010/main" val="12375636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38C82-961E-B10C-69B6-C11E65C5CD05}"/>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00A60F91-8217-2A43-A660-89D852621D3A}"/>
              </a:ext>
            </a:extLst>
          </p:cNvPr>
          <p:cNvSpPr/>
          <p:nvPr/>
        </p:nvSpPr>
        <p:spPr>
          <a:xfrm>
            <a:off x="0" y="4785448"/>
            <a:ext cx="12193588" cy="902525"/>
          </a:xfrm>
          <a:prstGeom prst="rect">
            <a:avLst/>
          </a:prstGeom>
          <a:gradFill>
            <a:gsLst>
              <a:gs pos="74000">
                <a:srgbClr val="2576B7">
                  <a:alpha val="9000"/>
                </a:srgbClr>
              </a:gs>
              <a:gs pos="0">
                <a:srgbClr val="2576B7">
                  <a:alpha val="47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4B88D7BA-439E-34FD-4C3B-2EB3BCAA8CE7}"/>
              </a:ext>
            </a:extLst>
          </p:cNvPr>
          <p:cNvSpPr txBox="1"/>
          <p:nvPr/>
        </p:nvSpPr>
        <p:spPr>
          <a:xfrm>
            <a:off x="658368" y="5182558"/>
            <a:ext cx="7498080" cy="553998"/>
          </a:xfrm>
          <a:prstGeom prst="rect">
            <a:avLst/>
          </a:prstGeom>
          <a:noFill/>
        </p:spPr>
        <p:txBody>
          <a:bodyPr wrap="square" lIns="0" tIns="0" rIns="0" bIns="0" rtlCol="0">
            <a:spAutoFit/>
          </a:bodyPr>
          <a:lstStyle/>
          <a:p>
            <a:pPr>
              <a:lnSpc>
                <a:spcPts val="1600"/>
              </a:lnSpc>
            </a:pPr>
            <a:r>
              <a:rPr lang="en-US" sz="2800" spc="500" dirty="0">
                <a:solidFill>
                  <a:schemeClr val="bg1"/>
                </a:solidFill>
                <a:latin typeface="Montserrat Medium" pitchFamily="2" charset="77"/>
                <a:ea typeface="Roboto Condensed Light" panose="02000000000000000000" pitchFamily="2" charset="0"/>
              </a:rPr>
              <a:t>OUR DESTINATION</a:t>
            </a:r>
          </a:p>
          <a:p>
            <a:pPr>
              <a:lnSpc>
                <a:spcPts val="1400"/>
              </a:lnSpc>
            </a:pPr>
            <a:br>
              <a:rPr lang="en-US" spc="500" dirty="0">
                <a:solidFill>
                  <a:schemeClr val="bg1"/>
                </a:solidFill>
                <a:latin typeface="Montserrat" pitchFamily="2" charset="77"/>
              </a:rPr>
            </a:br>
            <a:endParaRPr lang="en-US" spc="500" dirty="0">
              <a:solidFill>
                <a:schemeClr val="bg1"/>
              </a:solidFill>
              <a:latin typeface="Montserrat" pitchFamily="2" charset="77"/>
            </a:endParaRPr>
          </a:p>
        </p:txBody>
      </p:sp>
    </p:spTree>
    <p:extLst>
      <p:ext uri="{BB962C8B-B14F-4D97-AF65-F5344CB8AC3E}">
        <p14:creationId xmlns:p14="http://schemas.microsoft.com/office/powerpoint/2010/main" val="7907538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80FF4-9FC5-98C5-58DB-C7E4E6B4997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A32A8D5-3A54-FABF-A76A-5D32F0E73AFE}"/>
              </a:ext>
            </a:extLst>
          </p:cNvPr>
          <p:cNvSpPr>
            <a:spLocks noGrp="1"/>
          </p:cNvSpPr>
          <p:nvPr>
            <p:ph type="title"/>
          </p:nvPr>
        </p:nvSpPr>
        <p:spPr>
          <a:xfrm>
            <a:off x="354106" y="528090"/>
            <a:ext cx="8879801" cy="1130188"/>
          </a:xfrm>
        </p:spPr>
        <p:txBody>
          <a:bodyPr/>
          <a:lstStyle/>
          <a:p>
            <a:r>
              <a:rPr lang="en-US" dirty="0"/>
              <a:t>Gap assessment</a:t>
            </a:r>
          </a:p>
        </p:txBody>
      </p:sp>
      <p:graphicFrame>
        <p:nvGraphicFramePr>
          <p:cNvPr id="10" name="Chart 9">
            <a:extLst>
              <a:ext uri="{FF2B5EF4-FFF2-40B4-BE49-F238E27FC236}">
                <a16:creationId xmlns:a16="http://schemas.microsoft.com/office/drawing/2014/main" id="{8C8E8812-E427-4706-94FE-D8AAE3367F3B}"/>
              </a:ext>
            </a:extLst>
          </p:cNvPr>
          <p:cNvGraphicFramePr>
            <a:graphicFrameLocks/>
          </p:cNvGraphicFramePr>
          <p:nvPr>
            <p:extLst>
              <p:ext uri="{D42A27DB-BD31-4B8C-83A1-F6EECF244321}">
                <p14:modId xmlns:p14="http://schemas.microsoft.com/office/powerpoint/2010/main" val="189807942"/>
              </p:ext>
            </p:extLst>
          </p:nvPr>
        </p:nvGraphicFramePr>
        <p:xfrm>
          <a:off x="3760598" y="348523"/>
          <a:ext cx="8268929" cy="696071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a:extLst>
              <a:ext uri="{FF2B5EF4-FFF2-40B4-BE49-F238E27FC236}">
                <a16:creationId xmlns:a16="http://schemas.microsoft.com/office/drawing/2014/main" id="{8216642F-BA28-A84D-116B-B273A9C559C4}"/>
              </a:ext>
            </a:extLst>
          </p:cNvPr>
          <p:cNvSpPr txBox="1"/>
          <p:nvPr/>
        </p:nvSpPr>
        <p:spPr>
          <a:xfrm>
            <a:off x="850877" y="2167810"/>
            <a:ext cx="2909721" cy="3456242"/>
          </a:xfrm>
          <a:prstGeom prst="rect">
            <a:avLst/>
          </a:prstGeom>
          <a:gradFill flip="none" rotWithShape="1">
            <a:gsLst>
              <a:gs pos="0">
                <a:schemeClr val="accent4">
                  <a:lumMod val="20000"/>
                  <a:lumOff val="80000"/>
                </a:schemeClr>
              </a:gs>
              <a:gs pos="50000">
                <a:schemeClr val="accent4">
                  <a:lumMod val="20000"/>
                  <a:lumOff val="80000"/>
                </a:schemeClr>
              </a:gs>
              <a:gs pos="100000">
                <a:schemeClr val="accent4">
                  <a:lumMod val="40000"/>
                  <a:lumOff val="60000"/>
                </a:schemeClr>
              </a:gs>
            </a:gsLst>
            <a:lin ang="16200000" scaled="1"/>
            <a:tileRect/>
          </a:gradFill>
          <a:effectLst>
            <a:outerShdw blurRad="50800" dist="38100" dir="2700000" algn="tl" rotWithShape="0">
              <a:prstClr val="black">
                <a:alpha val="40000"/>
              </a:prstClr>
            </a:outerShdw>
          </a:effectLst>
        </p:spPr>
        <p:style>
          <a:lnRef idx="1">
            <a:schemeClr val="accent4"/>
          </a:lnRef>
          <a:fillRef idx="2">
            <a:schemeClr val="accent4"/>
          </a:fillRef>
          <a:effectRef idx="1">
            <a:schemeClr val="accent4"/>
          </a:effectRef>
          <a:fontRef idx="minor">
            <a:schemeClr val="dk1"/>
          </a:fontRef>
        </p:style>
        <p:txBody>
          <a:bodyPr wrap="square" lIns="91440" tIns="91440" rIns="91440" bIns="91440" numCol="1" spcCol="360000" rtlCol="0">
            <a:noAutofit/>
          </a:bodyPr>
          <a:lstStyle/>
          <a:p>
            <a:pPr algn="l">
              <a:lnSpc>
                <a:spcPct val="110000"/>
              </a:lnSpc>
              <a:tabLst/>
            </a:pPr>
            <a:r>
              <a:rPr lang="en-US" sz="1400" b="1" dirty="0">
                <a:solidFill>
                  <a:schemeClr val="tx1">
                    <a:lumMod val="50000"/>
                  </a:schemeClr>
                </a:solidFill>
                <a:latin typeface="Roboto Condensed Light" panose="02000000000000000000" pitchFamily="2" charset="0"/>
                <a:ea typeface="Roboto Condensed Light" panose="02000000000000000000" pitchFamily="2" charset="0"/>
              </a:rPr>
              <a:t>Biggest gap: Build</a:t>
            </a:r>
          </a:p>
          <a:p>
            <a:pPr marL="179388" indent="-179388" algn="l">
              <a:lnSpc>
                <a:spcPct val="110000"/>
              </a:lnSpc>
              <a:buFont typeface="Arial" panose="020B0604020202020204" pitchFamily="34" charset="0"/>
              <a:buChar char="•"/>
              <a:tabLst/>
            </a:pPr>
            <a:endParaRPr lang="en-US" sz="1400" dirty="0">
              <a:solidFill>
                <a:schemeClr val="tx1">
                  <a:lumMod val="50000"/>
                </a:schemeClr>
              </a:solidFill>
              <a:latin typeface="Roboto Condensed Light" panose="02000000000000000000" pitchFamily="2" charset="0"/>
              <a:ea typeface="Roboto Condensed Light" panose="02000000000000000000" pitchFamily="2" charset="0"/>
            </a:endParaRPr>
          </a:p>
          <a:p>
            <a:pPr marL="179388" indent="-179388" algn="l">
              <a:lnSpc>
                <a:spcPct val="110000"/>
              </a:lnSpc>
              <a:buFont typeface="Arial" panose="020B0604020202020204" pitchFamily="34" charset="0"/>
              <a:buChar char="•"/>
              <a:tabLst/>
            </a:pPr>
            <a:r>
              <a:rPr lang="en-US" sz="1400" dirty="0">
                <a:solidFill>
                  <a:schemeClr val="tx1">
                    <a:lumMod val="50000"/>
                  </a:schemeClr>
                </a:solidFill>
                <a:latin typeface="Roboto Condensed Light" panose="02000000000000000000" pitchFamily="2" charset="0"/>
                <a:ea typeface="Roboto Condensed Light" panose="02000000000000000000" pitchFamily="2" charset="0"/>
              </a:rPr>
              <a:t>The build phase represents our largest opportunity for improvement.</a:t>
            </a:r>
          </a:p>
          <a:p>
            <a:pPr marL="179388" indent="-179388" algn="l">
              <a:lnSpc>
                <a:spcPct val="110000"/>
              </a:lnSpc>
              <a:buFont typeface="Arial" panose="020B0604020202020204" pitchFamily="34" charset="0"/>
              <a:buChar char="•"/>
              <a:tabLst/>
            </a:pPr>
            <a:r>
              <a:rPr lang="en-US" sz="1400" dirty="0">
                <a:solidFill>
                  <a:schemeClr val="tx1">
                    <a:lumMod val="50000"/>
                  </a:schemeClr>
                </a:solidFill>
                <a:latin typeface="Roboto Condensed Light" panose="02000000000000000000" pitchFamily="2" charset="0"/>
                <a:ea typeface="Roboto Condensed Light" panose="02000000000000000000" pitchFamily="2" charset="0"/>
              </a:rPr>
              <a:t>Software supply chain security represents a significant threat where automation can play a major role in efficiencies and threat reduction.</a:t>
            </a:r>
          </a:p>
          <a:p>
            <a:pPr marL="179388" indent="-179388" algn="l">
              <a:lnSpc>
                <a:spcPct val="110000"/>
              </a:lnSpc>
              <a:buFont typeface="Arial" panose="020B0604020202020204" pitchFamily="34" charset="0"/>
              <a:buChar char="•"/>
              <a:tabLst/>
            </a:pPr>
            <a:r>
              <a:rPr lang="en-US" sz="1400" dirty="0">
                <a:solidFill>
                  <a:schemeClr val="tx1">
                    <a:lumMod val="50000"/>
                  </a:schemeClr>
                </a:solidFill>
                <a:latin typeface="Roboto Condensed Light" panose="02000000000000000000" pitchFamily="2" charset="0"/>
                <a:ea typeface="Roboto Condensed Light" panose="02000000000000000000" pitchFamily="2" charset="0"/>
              </a:rPr>
              <a:t>Version control and repository management is another key area for improvement.</a:t>
            </a:r>
          </a:p>
          <a:p>
            <a:pPr marL="179388" indent="-179388" algn="l">
              <a:lnSpc>
                <a:spcPct val="110000"/>
              </a:lnSpc>
              <a:buFont typeface="Arial" panose="020B0604020202020204" pitchFamily="34" charset="0"/>
              <a:buChar char="•"/>
              <a:tabLst/>
            </a:pPr>
            <a:endParaRPr lang="en-US" sz="1400" dirty="0">
              <a:solidFill>
                <a:schemeClr val="tx1">
                  <a:lumMod val="50000"/>
                </a:schemeClr>
              </a:solidFill>
              <a:latin typeface="Roboto Condensed Light" panose="02000000000000000000" pitchFamily="2" charset="0"/>
              <a:ea typeface="Roboto Condensed Light" panose="02000000000000000000" pitchFamily="2" charset="0"/>
            </a:endParaRPr>
          </a:p>
        </p:txBody>
      </p:sp>
      <p:sp>
        <p:nvSpPr>
          <p:cNvPr id="2" name="TextBox 1">
            <a:extLst>
              <a:ext uri="{FF2B5EF4-FFF2-40B4-BE49-F238E27FC236}">
                <a16:creationId xmlns:a16="http://schemas.microsoft.com/office/drawing/2014/main" id="{EF27B788-E5BF-B84A-E878-62C02F49B2AB}"/>
              </a:ext>
            </a:extLst>
          </p:cNvPr>
          <p:cNvSpPr txBox="1"/>
          <p:nvPr/>
        </p:nvSpPr>
        <p:spPr>
          <a:xfrm>
            <a:off x="4117138" y="2433281"/>
            <a:ext cx="4149213" cy="2438400"/>
          </a:xfrm>
          <a:prstGeom prst="rect">
            <a:avLst/>
          </a:prstGeom>
          <a:gradFill>
            <a:gsLst>
              <a:gs pos="0">
                <a:schemeClr val="accent5">
                  <a:lumMod val="110000"/>
                  <a:satMod val="105000"/>
                  <a:tint val="67000"/>
                  <a:alpha val="75000"/>
                </a:schemeClr>
              </a:gs>
              <a:gs pos="50000">
                <a:schemeClr val="accent5">
                  <a:lumMod val="105000"/>
                  <a:satMod val="103000"/>
                  <a:tint val="73000"/>
                </a:schemeClr>
              </a:gs>
              <a:gs pos="100000">
                <a:schemeClr val="accent5">
                  <a:lumMod val="105000"/>
                  <a:satMod val="109000"/>
                  <a:tint val="81000"/>
                </a:schemeClr>
              </a:gs>
            </a:gsLst>
          </a:gradFill>
        </p:spPr>
        <p:style>
          <a:lnRef idx="1">
            <a:schemeClr val="accent5"/>
          </a:lnRef>
          <a:fillRef idx="2">
            <a:schemeClr val="accent5"/>
          </a:fillRef>
          <a:effectRef idx="1">
            <a:schemeClr val="accent5"/>
          </a:effectRef>
          <a:fontRef idx="minor">
            <a:schemeClr val="dk1"/>
          </a:fontRef>
        </p:style>
        <p:txBody>
          <a:bodyPr wrap="square" rtlCol="0">
            <a:noAutofit/>
          </a:bodyPr>
          <a:lstStyle/>
          <a:p>
            <a:pPr algn="ctr"/>
            <a:endParaRPr lang="en-US" sz="2800" dirty="0"/>
          </a:p>
          <a:p>
            <a:pPr algn="ctr"/>
            <a:r>
              <a:rPr lang="en-US" sz="2800" dirty="0"/>
              <a:t>Add charts showing the current state of capabilities and provide comments.</a:t>
            </a:r>
          </a:p>
        </p:txBody>
      </p:sp>
    </p:spTree>
    <p:extLst>
      <p:ext uri="{BB962C8B-B14F-4D97-AF65-F5344CB8AC3E}">
        <p14:creationId xmlns:p14="http://schemas.microsoft.com/office/powerpoint/2010/main" val="12923721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0555C-04E6-5E1C-7E7A-7A5455DBC06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86798EA-D93B-F8CA-F8FA-6F03D4AE293C}"/>
              </a:ext>
            </a:extLst>
          </p:cNvPr>
          <p:cNvSpPr>
            <a:spLocks noGrp="1"/>
          </p:cNvSpPr>
          <p:nvPr>
            <p:ph type="title"/>
          </p:nvPr>
        </p:nvSpPr>
        <p:spPr>
          <a:xfrm>
            <a:off x="354106" y="528090"/>
            <a:ext cx="8879801" cy="1130188"/>
          </a:xfrm>
        </p:spPr>
        <p:txBody>
          <a:bodyPr/>
          <a:lstStyle/>
          <a:p>
            <a:r>
              <a:rPr lang="en-US" dirty="0"/>
              <a:t>Target state assessment</a:t>
            </a:r>
          </a:p>
        </p:txBody>
      </p:sp>
      <p:sp>
        <p:nvSpPr>
          <p:cNvPr id="7" name="Text Placeholder 6">
            <a:extLst>
              <a:ext uri="{FF2B5EF4-FFF2-40B4-BE49-F238E27FC236}">
                <a16:creationId xmlns:a16="http://schemas.microsoft.com/office/drawing/2014/main" id="{1DDAEABE-F33A-F259-0115-30AB315F1322}"/>
              </a:ext>
            </a:extLst>
          </p:cNvPr>
          <p:cNvSpPr>
            <a:spLocks noGrp="1"/>
          </p:cNvSpPr>
          <p:nvPr>
            <p:ph type="body" sz="quarter" idx="11"/>
          </p:nvPr>
        </p:nvSpPr>
        <p:spPr>
          <a:xfrm>
            <a:off x="354106" y="1323190"/>
            <a:ext cx="3608846" cy="403416"/>
          </a:xfrm>
        </p:spPr>
        <p:txBody>
          <a:bodyPr/>
          <a:lstStyle/>
          <a:p>
            <a:pPr algn="ctr"/>
            <a:r>
              <a:rPr lang="en-US" dirty="0">
                <a:solidFill>
                  <a:schemeClr val="accent1"/>
                </a:solidFill>
              </a:rPr>
              <a:t>Target maturity: 3.3</a:t>
            </a:r>
          </a:p>
        </p:txBody>
      </p:sp>
      <p:sp>
        <p:nvSpPr>
          <p:cNvPr id="39" name="Text Placeholder 7">
            <a:extLst>
              <a:ext uri="{FF2B5EF4-FFF2-40B4-BE49-F238E27FC236}">
                <a16:creationId xmlns:a16="http://schemas.microsoft.com/office/drawing/2014/main" id="{26DF9268-DA6B-5D90-87FB-9A3F970430B9}"/>
              </a:ext>
            </a:extLst>
          </p:cNvPr>
          <p:cNvSpPr txBox="1">
            <a:spLocks/>
          </p:cNvSpPr>
          <p:nvPr/>
        </p:nvSpPr>
        <p:spPr>
          <a:xfrm>
            <a:off x="3718493" y="1208187"/>
            <a:ext cx="5759873" cy="633422"/>
          </a:xfrm>
          <a:prstGeom prst="rect">
            <a:avLst/>
          </a:prstGeom>
        </p:spPr>
        <p:txBody>
          <a:bodyPr lIns="0" tIns="0" rIns="0" bIns="0" numCol="1" spcCol="360000">
            <a:noAutofit/>
          </a:bodyPr>
          <a:lstStyle>
            <a:lvl1pPr marL="0" indent="0" algn="l" defTabSz="914400" rtl="0" eaLnBrk="1" latinLnBrk="0" hangingPunct="1">
              <a:lnSpc>
                <a:spcPts val="1800"/>
              </a:lnSpc>
              <a:spcBef>
                <a:spcPts val="1000"/>
              </a:spcBef>
              <a:buFont typeface="Arial" panose="020B0604020202020204" pitchFamily="34" charset="0"/>
              <a:buNone/>
              <a:defRPr sz="1400" b="0" i="0" kern="1200">
                <a:solidFill>
                  <a:srgbClr val="4A4A4A"/>
                </a:solidFill>
                <a:latin typeface="Roboto Condensed Light" panose="02000000000000000000" pitchFamily="2" charset="0"/>
                <a:ea typeface="+mn-ea"/>
                <a:cs typeface="Arial Narrow" panose="020B0604020202020204" pitchFamily="34" charset="0"/>
              </a:defRPr>
            </a:lvl1pPr>
            <a:lvl2pPr marL="457200" indent="0" algn="l" defTabSz="914400" rtl="0" eaLnBrk="1" latinLnBrk="0" hangingPunct="1">
              <a:lnSpc>
                <a:spcPts val="1700"/>
              </a:lnSpc>
              <a:spcBef>
                <a:spcPts val="500"/>
              </a:spcBef>
              <a:buFont typeface="Arial" panose="020B0604020202020204" pitchFamily="34" charset="0"/>
              <a:buNone/>
              <a:defRPr sz="1400" kern="1200">
                <a:solidFill>
                  <a:srgbClr val="4B4B4B"/>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ts val="1700"/>
              </a:lnSpc>
              <a:spcBef>
                <a:spcPts val="500"/>
              </a:spcBef>
              <a:buFont typeface="Arial" panose="020B0604020202020204" pitchFamily="34" charset="0"/>
              <a:buNone/>
              <a:defRPr sz="1400" kern="1200">
                <a:solidFill>
                  <a:srgbClr val="4B4B4B"/>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ts val="1700"/>
              </a:lnSpc>
              <a:spcBef>
                <a:spcPts val="500"/>
              </a:spcBef>
              <a:buFont typeface="Arial" panose="020B0604020202020204" pitchFamily="34" charset="0"/>
              <a:buNone/>
              <a:defRPr sz="1400" kern="1200">
                <a:solidFill>
                  <a:srgbClr val="4B4B4B"/>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ts val="1700"/>
              </a:lnSpc>
              <a:spcBef>
                <a:spcPts val="500"/>
              </a:spcBef>
              <a:buFont typeface="Arial" panose="020B0604020202020204" pitchFamily="34" charset="0"/>
              <a:buNone/>
              <a:defRPr sz="1400" kern="1200">
                <a:solidFill>
                  <a:srgbClr val="4B4B4B"/>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a:solidFill>
                  <a:srgbClr val="000000"/>
                </a:solidFill>
                <a:ea typeface="Roboto Condensed Light" panose="02000000000000000000" pitchFamily="2" charset="0"/>
              </a:rPr>
              <a:t>Tool-driven, multistep workflows carry out security tasks end to end (e.g. scans → PRs → tests) while humans provide oversight and final approval at defined risk gates.									</a:t>
            </a:r>
            <a:endParaRPr lang="en-US" sz="1200" dirty="0">
              <a:solidFill>
                <a:srgbClr val="000000"/>
              </a:solidFill>
              <a:ea typeface="Roboto Condensed Light" panose="02000000000000000000" pitchFamily="2" charset="0"/>
            </a:endParaRPr>
          </a:p>
          <a:p>
            <a:r>
              <a:rPr lang="en-US" dirty="0">
                <a:solidFill>
                  <a:srgbClr val="000000"/>
                </a:solidFill>
                <a:ea typeface="Roboto Condensed Light" panose="02000000000000000000" pitchFamily="2" charset="0"/>
              </a:rPr>
              <a:t>			</a:t>
            </a:r>
          </a:p>
          <a:p>
            <a:endParaRPr lang="en-CA" dirty="0">
              <a:solidFill>
                <a:srgbClr val="000000"/>
              </a:solidFill>
              <a:ea typeface="Roboto Condensed Light" panose="02000000000000000000" pitchFamily="2" charset="0"/>
            </a:endParaRPr>
          </a:p>
        </p:txBody>
      </p:sp>
      <p:graphicFrame>
        <p:nvGraphicFramePr>
          <p:cNvPr id="4" name="Chart 3">
            <a:extLst>
              <a:ext uri="{FF2B5EF4-FFF2-40B4-BE49-F238E27FC236}">
                <a16:creationId xmlns:a16="http://schemas.microsoft.com/office/drawing/2014/main" id="{F898CA90-3D7B-4CC7-8186-64B457BF9072}"/>
              </a:ext>
            </a:extLst>
          </p:cNvPr>
          <p:cNvGraphicFramePr>
            <a:graphicFrameLocks/>
          </p:cNvGraphicFramePr>
          <p:nvPr>
            <p:extLst>
              <p:ext uri="{D42A27DB-BD31-4B8C-83A1-F6EECF244321}">
                <p14:modId xmlns:p14="http://schemas.microsoft.com/office/powerpoint/2010/main" val="1590145329"/>
              </p:ext>
            </p:extLst>
          </p:nvPr>
        </p:nvGraphicFramePr>
        <p:xfrm>
          <a:off x="481373" y="1956612"/>
          <a:ext cx="10804525" cy="4680162"/>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5C8D5223-C0FB-97CF-6F90-09EECC230424}"/>
              </a:ext>
            </a:extLst>
          </p:cNvPr>
          <p:cNvSpPr txBox="1"/>
          <p:nvPr/>
        </p:nvSpPr>
        <p:spPr>
          <a:xfrm>
            <a:off x="3718493" y="2341496"/>
            <a:ext cx="4149213" cy="2438400"/>
          </a:xfrm>
          <a:prstGeom prst="rect">
            <a:avLst/>
          </a:prstGeom>
          <a:gradFill>
            <a:gsLst>
              <a:gs pos="0">
                <a:schemeClr val="accent5">
                  <a:lumMod val="110000"/>
                  <a:satMod val="105000"/>
                  <a:tint val="67000"/>
                  <a:alpha val="75000"/>
                </a:schemeClr>
              </a:gs>
              <a:gs pos="50000">
                <a:schemeClr val="accent5">
                  <a:lumMod val="105000"/>
                  <a:satMod val="103000"/>
                  <a:tint val="73000"/>
                </a:schemeClr>
              </a:gs>
              <a:gs pos="100000">
                <a:schemeClr val="accent5">
                  <a:lumMod val="105000"/>
                  <a:satMod val="109000"/>
                  <a:tint val="81000"/>
                </a:schemeClr>
              </a:gs>
            </a:gsLst>
          </a:gradFill>
        </p:spPr>
        <p:style>
          <a:lnRef idx="1">
            <a:schemeClr val="accent5"/>
          </a:lnRef>
          <a:fillRef idx="2">
            <a:schemeClr val="accent5"/>
          </a:fillRef>
          <a:effectRef idx="1">
            <a:schemeClr val="accent5"/>
          </a:effectRef>
          <a:fontRef idx="minor">
            <a:schemeClr val="dk1"/>
          </a:fontRef>
        </p:style>
        <p:txBody>
          <a:bodyPr wrap="square" rtlCol="0">
            <a:noAutofit/>
          </a:bodyPr>
          <a:lstStyle/>
          <a:p>
            <a:pPr algn="ctr"/>
            <a:endParaRPr lang="en-US" sz="2800" dirty="0"/>
          </a:p>
          <a:p>
            <a:pPr algn="ctr"/>
            <a:r>
              <a:rPr lang="en-US" sz="2800" dirty="0"/>
              <a:t>Add chart showing the current and target state of capabilities. Summarize target state.</a:t>
            </a:r>
          </a:p>
        </p:txBody>
      </p:sp>
    </p:spTree>
    <p:extLst>
      <p:ext uri="{BB962C8B-B14F-4D97-AF65-F5344CB8AC3E}">
        <p14:creationId xmlns:p14="http://schemas.microsoft.com/office/powerpoint/2010/main" val="13190651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0"/>
              </a:schemeClr>
            </a:gs>
            <a:gs pos="53000">
              <a:schemeClr val="accent1">
                <a:lumMod val="35000"/>
              </a:schemeClr>
            </a:gs>
            <a:gs pos="100000">
              <a:schemeClr val="accent1">
                <a:lumMod val="47000"/>
              </a:schemeClr>
            </a:gs>
          </a:gsLst>
          <a:path path="circle">
            <a:fillToRect r="100000" b="100000"/>
          </a:path>
          <a:tileRect l="-100000" t="-100000"/>
        </a:gradFill>
        <a:effectLst/>
      </p:bgPr>
    </p:bg>
    <p:spTree>
      <p:nvGrpSpPr>
        <p:cNvPr id="1" name="">
          <a:extLst>
            <a:ext uri="{FF2B5EF4-FFF2-40B4-BE49-F238E27FC236}">
              <a16:creationId xmlns:a16="http://schemas.microsoft.com/office/drawing/2014/main" id="{C86C9742-6F90-1B36-45EA-6631A8FBC740}"/>
            </a:ext>
          </a:extLst>
        </p:cNvPr>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2FBB4328-97A0-2AA8-9C67-3BA5F6C7E176}"/>
              </a:ext>
            </a:extLst>
          </p:cNvPr>
          <p:cNvGraphicFramePr/>
          <p:nvPr>
            <p:extLst>
              <p:ext uri="{D42A27DB-BD31-4B8C-83A1-F6EECF244321}">
                <p14:modId xmlns:p14="http://schemas.microsoft.com/office/powerpoint/2010/main" val="3942065706"/>
              </p:ext>
            </p:extLst>
          </p:nvPr>
        </p:nvGraphicFramePr>
        <p:xfrm>
          <a:off x="1295452" y="2447771"/>
          <a:ext cx="10633536" cy="36104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itle 2">
            <a:extLst>
              <a:ext uri="{FF2B5EF4-FFF2-40B4-BE49-F238E27FC236}">
                <a16:creationId xmlns:a16="http://schemas.microsoft.com/office/drawing/2014/main" id="{B6FDFAEF-435E-58D7-AF6D-F1AD90EFB820}"/>
              </a:ext>
            </a:extLst>
          </p:cNvPr>
          <p:cNvSpPr>
            <a:spLocks noGrp="1"/>
          </p:cNvSpPr>
          <p:nvPr>
            <p:ph type="title"/>
          </p:nvPr>
        </p:nvSpPr>
        <p:spPr>
          <a:xfrm>
            <a:off x="251860" y="157309"/>
            <a:ext cx="8449652" cy="595423"/>
          </a:xfrm>
        </p:spPr>
        <p:txBody>
          <a:bodyPr/>
          <a:lstStyle/>
          <a:p>
            <a:r>
              <a:rPr lang="en-US">
                <a:solidFill>
                  <a:schemeClr val="accent1">
                    <a:lumMod val="40000"/>
                    <a:lumOff val="60000"/>
                  </a:schemeClr>
                </a:solidFill>
              </a:rPr>
              <a:t>iSSLDC</a:t>
            </a:r>
            <a:r>
              <a:rPr lang="en-US" dirty="0">
                <a:solidFill>
                  <a:schemeClr val="accent1">
                    <a:lumMod val="40000"/>
                    <a:lumOff val="60000"/>
                  </a:schemeClr>
                </a:solidFill>
              </a:rPr>
              <a:t> Target State</a:t>
            </a:r>
          </a:p>
        </p:txBody>
      </p:sp>
      <p:grpSp>
        <p:nvGrpSpPr>
          <p:cNvPr id="16" name="Group 15">
            <a:extLst>
              <a:ext uri="{FF2B5EF4-FFF2-40B4-BE49-F238E27FC236}">
                <a16:creationId xmlns:a16="http://schemas.microsoft.com/office/drawing/2014/main" id="{0234B7F6-EF83-0056-4574-32D127161395}"/>
              </a:ext>
            </a:extLst>
          </p:cNvPr>
          <p:cNvGrpSpPr/>
          <p:nvPr/>
        </p:nvGrpSpPr>
        <p:grpSpPr>
          <a:xfrm>
            <a:off x="1443552" y="4762032"/>
            <a:ext cx="1234891" cy="947142"/>
            <a:chOff x="1751895" y="1261747"/>
            <a:chExt cx="1234891" cy="947142"/>
          </a:xfrm>
        </p:grpSpPr>
        <p:pic>
          <p:nvPicPr>
            <p:cNvPr id="7" name="Picture 6" descr="A white outline of a shield with a magnifying glass&#10;&#10;AI-generated content may be incorrect.">
              <a:extLst>
                <a:ext uri="{FF2B5EF4-FFF2-40B4-BE49-F238E27FC236}">
                  <a16:creationId xmlns:a16="http://schemas.microsoft.com/office/drawing/2014/main" id="{B463E36B-D3D1-6E4D-DD07-933D865C927B}"/>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1971685" y="1261747"/>
              <a:ext cx="731520" cy="731520"/>
            </a:xfrm>
            <a:prstGeom prst="rect">
              <a:avLst/>
            </a:prstGeom>
          </p:spPr>
        </p:pic>
        <p:sp>
          <p:nvSpPr>
            <p:cNvPr id="8" name="TextBox 7">
              <a:extLst>
                <a:ext uri="{FF2B5EF4-FFF2-40B4-BE49-F238E27FC236}">
                  <a16:creationId xmlns:a16="http://schemas.microsoft.com/office/drawing/2014/main" id="{3E24F587-D4A0-32E7-7477-53E3812003AC}"/>
                </a:ext>
              </a:extLst>
            </p:cNvPr>
            <p:cNvSpPr txBox="1"/>
            <p:nvPr/>
          </p:nvSpPr>
          <p:spPr>
            <a:xfrm>
              <a:off x="1751895" y="1900544"/>
              <a:ext cx="1234891" cy="308345"/>
            </a:xfrm>
            <a:prstGeom prst="rect">
              <a:avLst/>
            </a:prstGeom>
          </p:spPr>
          <p:txBody>
            <a:bodyPr wrap="square" lIns="0" tIns="0" rIns="0" bIns="0" numCol="1" spcCol="360000" rtlCol="0">
              <a:noAutofit/>
            </a:bodyPr>
            <a:lstStyle/>
            <a:p>
              <a:pPr algn="l">
                <a:lnSpc>
                  <a:spcPct val="110000"/>
                </a:lnSpc>
                <a:tabLst/>
              </a:pPr>
              <a:r>
                <a:rPr lang="en-US" sz="1200" dirty="0">
                  <a:solidFill>
                    <a:schemeClr val="bg1"/>
                  </a:solidFill>
                  <a:latin typeface="Roboto Condensed Light" panose="02000000000000000000" pitchFamily="2" charset="0"/>
                  <a:ea typeface="Roboto Condensed Light" panose="02000000000000000000" pitchFamily="2" charset="0"/>
                </a:rPr>
                <a:t>Threat modeling</a:t>
              </a:r>
            </a:p>
          </p:txBody>
        </p:sp>
      </p:grpSp>
      <p:sp>
        <p:nvSpPr>
          <p:cNvPr id="9" name="TextBox 8">
            <a:extLst>
              <a:ext uri="{FF2B5EF4-FFF2-40B4-BE49-F238E27FC236}">
                <a16:creationId xmlns:a16="http://schemas.microsoft.com/office/drawing/2014/main" id="{B478C914-6C4C-AB33-D6E3-E3BB32696605}"/>
              </a:ext>
            </a:extLst>
          </p:cNvPr>
          <p:cNvSpPr txBox="1"/>
          <p:nvPr/>
        </p:nvSpPr>
        <p:spPr>
          <a:xfrm>
            <a:off x="221564" y="1304116"/>
            <a:ext cx="2147777" cy="563526"/>
          </a:xfrm>
          <a:prstGeom prst="rect">
            <a:avLst/>
          </a:prstGeom>
        </p:spPr>
        <p:txBody>
          <a:bodyPr wrap="square" lIns="0" tIns="0" rIns="0" bIns="0" numCol="1" spcCol="360000" rtlCol="0">
            <a:noAutofit/>
          </a:bodyPr>
          <a:lstStyle/>
          <a:p>
            <a:pPr algn="l">
              <a:lnSpc>
                <a:spcPct val="110000"/>
              </a:lnSpc>
              <a:tabLst/>
            </a:pPr>
            <a:r>
              <a:rPr lang="en-US" sz="1600" b="1" dirty="0">
                <a:solidFill>
                  <a:schemeClr val="accent1">
                    <a:lumMod val="60000"/>
                    <a:lumOff val="40000"/>
                  </a:schemeClr>
                </a:solidFill>
                <a:latin typeface="Exo" pitchFamily="2" charset="0"/>
                <a:ea typeface="Roboto Condensed Light" panose="02000000000000000000" pitchFamily="2" charset="0"/>
              </a:rPr>
              <a:t>Autonomous</a:t>
            </a:r>
          </a:p>
        </p:txBody>
      </p:sp>
      <p:sp>
        <p:nvSpPr>
          <p:cNvPr id="11" name="TextBox 10">
            <a:extLst>
              <a:ext uri="{FF2B5EF4-FFF2-40B4-BE49-F238E27FC236}">
                <a16:creationId xmlns:a16="http://schemas.microsoft.com/office/drawing/2014/main" id="{4730044F-DD64-92C9-B215-4B240020B593}"/>
              </a:ext>
            </a:extLst>
          </p:cNvPr>
          <p:cNvSpPr txBox="1"/>
          <p:nvPr/>
        </p:nvSpPr>
        <p:spPr>
          <a:xfrm>
            <a:off x="221564" y="2256274"/>
            <a:ext cx="2147777" cy="563526"/>
          </a:xfrm>
          <a:prstGeom prst="rect">
            <a:avLst/>
          </a:prstGeom>
        </p:spPr>
        <p:txBody>
          <a:bodyPr wrap="square" lIns="0" tIns="0" rIns="0" bIns="0" numCol="1" spcCol="360000" rtlCol="0">
            <a:noAutofit/>
          </a:bodyPr>
          <a:lstStyle/>
          <a:p>
            <a:pPr algn="l">
              <a:lnSpc>
                <a:spcPct val="110000"/>
              </a:lnSpc>
              <a:tabLst/>
            </a:pPr>
            <a:r>
              <a:rPr lang="en-US" sz="1600" b="1" dirty="0">
                <a:solidFill>
                  <a:schemeClr val="accent1">
                    <a:lumMod val="60000"/>
                    <a:lumOff val="40000"/>
                  </a:schemeClr>
                </a:solidFill>
                <a:latin typeface="Exo" pitchFamily="2" charset="0"/>
                <a:ea typeface="Roboto Condensed Light" panose="02000000000000000000" pitchFamily="2" charset="0"/>
              </a:rPr>
              <a:t>Automated</a:t>
            </a:r>
          </a:p>
        </p:txBody>
      </p:sp>
      <p:sp>
        <p:nvSpPr>
          <p:cNvPr id="13" name="TextBox 12">
            <a:extLst>
              <a:ext uri="{FF2B5EF4-FFF2-40B4-BE49-F238E27FC236}">
                <a16:creationId xmlns:a16="http://schemas.microsoft.com/office/drawing/2014/main" id="{ABD1A09C-C55A-1BE2-4972-A4144A85BF2D}"/>
              </a:ext>
            </a:extLst>
          </p:cNvPr>
          <p:cNvSpPr txBox="1"/>
          <p:nvPr/>
        </p:nvSpPr>
        <p:spPr>
          <a:xfrm>
            <a:off x="221564" y="3208432"/>
            <a:ext cx="2147777" cy="563526"/>
          </a:xfrm>
          <a:prstGeom prst="rect">
            <a:avLst/>
          </a:prstGeom>
        </p:spPr>
        <p:txBody>
          <a:bodyPr wrap="square" lIns="0" tIns="0" rIns="0" bIns="0" numCol="1" spcCol="360000" rtlCol="0">
            <a:noAutofit/>
          </a:bodyPr>
          <a:lstStyle/>
          <a:p>
            <a:pPr algn="l">
              <a:lnSpc>
                <a:spcPct val="110000"/>
              </a:lnSpc>
              <a:tabLst/>
            </a:pPr>
            <a:r>
              <a:rPr lang="en-US" sz="1600" b="1" dirty="0">
                <a:solidFill>
                  <a:schemeClr val="accent1">
                    <a:lumMod val="60000"/>
                    <a:lumOff val="40000"/>
                  </a:schemeClr>
                </a:solidFill>
                <a:latin typeface="Exo" pitchFamily="2" charset="0"/>
                <a:ea typeface="Roboto Condensed Light" panose="02000000000000000000" pitchFamily="2" charset="0"/>
              </a:rPr>
              <a:t>Orchestrated</a:t>
            </a:r>
          </a:p>
        </p:txBody>
      </p:sp>
      <p:sp>
        <p:nvSpPr>
          <p:cNvPr id="14" name="TextBox 13">
            <a:extLst>
              <a:ext uri="{FF2B5EF4-FFF2-40B4-BE49-F238E27FC236}">
                <a16:creationId xmlns:a16="http://schemas.microsoft.com/office/drawing/2014/main" id="{7F90F922-D93A-F97B-035A-084C4092D12E}"/>
              </a:ext>
            </a:extLst>
          </p:cNvPr>
          <p:cNvSpPr txBox="1"/>
          <p:nvPr/>
        </p:nvSpPr>
        <p:spPr>
          <a:xfrm>
            <a:off x="221564" y="4953840"/>
            <a:ext cx="2147777" cy="563526"/>
          </a:xfrm>
          <a:prstGeom prst="rect">
            <a:avLst/>
          </a:prstGeom>
        </p:spPr>
        <p:txBody>
          <a:bodyPr wrap="square" lIns="0" tIns="0" rIns="0" bIns="0" numCol="1" spcCol="360000" rtlCol="0">
            <a:noAutofit/>
          </a:bodyPr>
          <a:lstStyle/>
          <a:p>
            <a:pPr algn="l">
              <a:lnSpc>
                <a:spcPct val="110000"/>
              </a:lnSpc>
              <a:tabLst/>
            </a:pPr>
            <a:r>
              <a:rPr lang="en-US" sz="1600" b="1" dirty="0">
                <a:solidFill>
                  <a:schemeClr val="accent1">
                    <a:lumMod val="60000"/>
                    <a:lumOff val="40000"/>
                  </a:schemeClr>
                </a:solidFill>
                <a:latin typeface="Exo" pitchFamily="2" charset="0"/>
                <a:ea typeface="Roboto Condensed Light" panose="02000000000000000000" pitchFamily="2" charset="0"/>
              </a:rPr>
              <a:t>Assisted</a:t>
            </a:r>
          </a:p>
        </p:txBody>
      </p:sp>
      <p:sp>
        <p:nvSpPr>
          <p:cNvPr id="15" name="TextBox 14">
            <a:extLst>
              <a:ext uri="{FF2B5EF4-FFF2-40B4-BE49-F238E27FC236}">
                <a16:creationId xmlns:a16="http://schemas.microsoft.com/office/drawing/2014/main" id="{FDA9F8A3-29ED-ABE9-A9F4-18F283B775CD}"/>
              </a:ext>
            </a:extLst>
          </p:cNvPr>
          <p:cNvSpPr txBox="1"/>
          <p:nvPr/>
        </p:nvSpPr>
        <p:spPr>
          <a:xfrm>
            <a:off x="221564" y="6058250"/>
            <a:ext cx="2147777" cy="563526"/>
          </a:xfrm>
          <a:prstGeom prst="rect">
            <a:avLst/>
          </a:prstGeom>
        </p:spPr>
        <p:txBody>
          <a:bodyPr wrap="square" lIns="0" tIns="0" rIns="0" bIns="0" numCol="1" spcCol="360000" rtlCol="0">
            <a:noAutofit/>
          </a:bodyPr>
          <a:lstStyle/>
          <a:p>
            <a:pPr algn="l">
              <a:lnSpc>
                <a:spcPct val="110000"/>
              </a:lnSpc>
              <a:tabLst/>
            </a:pPr>
            <a:r>
              <a:rPr lang="en-US" sz="1600" b="1" dirty="0">
                <a:solidFill>
                  <a:schemeClr val="accent1">
                    <a:lumMod val="60000"/>
                    <a:lumOff val="40000"/>
                  </a:schemeClr>
                </a:solidFill>
                <a:latin typeface="Exo" pitchFamily="2" charset="0"/>
                <a:ea typeface="Roboto Condensed Light" panose="02000000000000000000" pitchFamily="2" charset="0"/>
              </a:rPr>
              <a:t>Manual</a:t>
            </a:r>
          </a:p>
        </p:txBody>
      </p:sp>
      <p:cxnSp>
        <p:nvCxnSpPr>
          <p:cNvPr id="20" name="Straight Connector 19">
            <a:extLst>
              <a:ext uri="{FF2B5EF4-FFF2-40B4-BE49-F238E27FC236}">
                <a16:creationId xmlns:a16="http://schemas.microsoft.com/office/drawing/2014/main" id="{A0D5045E-DFF2-0437-2859-174FD845EC9B}"/>
              </a:ext>
            </a:extLst>
          </p:cNvPr>
          <p:cNvCxnSpPr>
            <a:cxnSpLocks/>
          </p:cNvCxnSpPr>
          <p:nvPr/>
        </p:nvCxnSpPr>
        <p:spPr>
          <a:xfrm flipV="1">
            <a:off x="2029102" y="4593265"/>
            <a:ext cx="0" cy="288084"/>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pic>
        <p:nvPicPr>
          <p:cNvPr id="23" name="Picture 22" descr="A white line drawing of a stack of bricks and a lock&#10;&#10;AI-generated content may be incorrect.">
            <a:extLst>
              <a:ext uri="{FF2B5EF4-FFF2-40B4-BE49-F238E27FC236}">
                <a16:creationId xmlns:a16="http://schemas.microsoft.com/office/drawing/2014/main" id="{45889E6D-AEFA-2D90-BD95-2AB02ED60C51}"/>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2492017" y="5746102"/>
            <a:ext cx="731520" cy="731520"/>
          </a:xfrm>
          <a:prstGeom prst="rect">
            <a:avLst/>
          </a:prstGeom>
        </p:spPr>
      </p:pic>
      <p:sp>
        <p:nvSpPr>
          <p:cNvPr id="24" name="TextBox 23">
            <a:extLst>
              <a:ext uri="{FF2B5EF4-FFF2-40B4-BE49-F238E27FC236}">
                <a16:creationId xmlns:a16="http://schemas.microsoft.com/office/drawing/2014/main" id="{4DF8BCDD-007F-BD98-A6FF-7D8677A6AA8E}"/>
              </a:ext>
            </a:extLst>
          </p:cNvPr>
          <p:cNvSpPr txBox="1"/>
          <p:nvPr/>
        </p:nvSpPr>
        <p:spPr>
          <a:xfrm>
            <a:off x="1841598" y="6379709"/>
            <a:ext cx="2032358" cy="308345"/>
          </a:xfrm>
          <a:prstGeom prst="rect">
            <a:avLst/>
          </a:prstGeom>
        </p:spPr>
        <p:txBody>
          <a:bodyPr wrap="square" lIns="0" tIns="0" rIns="0" bIns="0" numCol="1" spcCol="360000" rtlCol="0">
            <a:noAutofit/>
          </a:bodyPr>
          <a:lstStyle/>
          <a:p>
            <a:pPr algn="ctr">
              <a:lnSpc>
                <a:spcPct val="110000"/>
              </a:lnSpc>
              <a:tabLst/>
            </a:pPr>
            <a:r>
              <a:rPr lang="en-US" sz="1200" dirty="0">
                <a:solidFill>
                  <a:schemeClr val="bg1"/>
                </a:solidFill>
                <a:latin typeface="Roboto Condensed Light" panose="02000000000000000000" pitchFamily="2" charset="0"/>
                <a:ea typeface="Roboto Condensed Light" panose="02000000000000000000" pitchFamily="2" charset="0"/>
              </a:rPr>
              <a:t>Secure architecture design</a:t>
            </a:r>
          </a:p>
        </p:txBody>
      </p:sp>
      <p:cxnSp>
        <p:nvCxnSpPr>
          <p:cNvPr id="25" name="Straight Connector 24">
            <a:extLst>
              <a:ext uri="{FF2B5EF4-FFF2-40B4-BE49-F238E27FC236}">
                <a16:creationId xmlns:a16="http://schemas.microsoft.com/office/drawing/2014/main" id="{16BB0862-0954-555E-7457-EBD4841DEF2A}"/>
              </a:ext>
            </a:extLst>
          </p:cNvPr>
          <p:cNvCxnSpPr>
            <a:cxnSpLocks/>
          </p:cNvCxnSpPr>
          <p:nvPr/>
        </p:nvCxnSpPr>
        <p:spPr>
          <a:xfrm flipV="1">
            <a:off x="2857777" y="4593265"/>
            <a:ext cx="0" cy="124556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pic>
        <p:nvPicPr>
          <p:cNvPr id="27" name="Picture 26" descr="A white line drawing of a lock and network&#10;&#10;AI-generated content may be incorrect.">
            <a:extLst>
              <a:ext uri="{FF2B5EF4-FFF2-40B4-BE49-F238E27FC236}">
                <a16:creationId xmlns:a16="http://schemas.microsoft.com/office/drawing/2014/main" id="{BAD93545-8A54-7502-BD33-43336958C310}"/>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6246460" y="2819800"/>
            <a:ext cx="731520" cy="731520"/>
          </a:xfrm>
          <a:prstGeom prst="rect">
            <a:avLst/>
          </a:prstGeom>
        </p:spPr>
      </p:pic>
      <p:sp>
        <p:nvSpPr>
          <p:cNvPr id="28" name="TextBox 27">
            <a:extLst>
              <a:ext uri="{FF2B5EF4-FFF2-40B4-BE49-F238E27FC236}">
                <a16:creationId xmlns:a16="http://schemas.microsoft.com/office/drawing/2014/main" id="{76E3F31C-3296-4870-4832-5E27EBA6ECB3}"/>
              </a:ext>
            </a:extLst>
          </p:cNvPr>
          <p:cNvSpPr txBox="1"/>
          <p:nvPr/>
        </p:nvSpPr>
        <p:spPr>
          <a:xfrm>
            <a:off x="5596041" y="2665627"/>
            <a:ext cx="2032358" cy="308345"/>
          </a:xfrm>
          <a:prstGeom prst="rect">
            <a:avLst/>
          </a:prstGeom>
        </p:spPr>
        <p:txBody>
          <a:bodyPr wrap="square" lIns="0" tIns="0" rIns="0" bIns="0" numCol="1" spcCol="360000" rtlCol="0">
            <a:noAutofit/>
          </a:bodyPr>
          <a:lstStyle/>
          <a:p>
            <a:pPr algn="ctr">
              <a:lnSpc>
                <a:spcPct val="110000"/>
              </a:lnSpc>
              <a:tabLst/>
            </a:pPr>
            <a:r>
              <a:rPr lang="en-US" sz="1200" dirty="0">
                <a:solidFill>
                  <a:schemeClr val="bg1"/>
                </a:solidFill>
                <a:latin typeface="Roboto Condensed Light" panose="02000000000000000000" pitchFamily="2" charset="0"/>
                <a:ea typeface="Roboto Condensed Light" panose="02000000000000000000" pitchFamily="2" charset="0"/>
              </a:rPr>
              <a:t>Fuzz Testing</a:t>
            </a:r>
          </a:p>
        </p:txBody>
      </p:sp>
      <p:cxnSp>
        <p:nvCxnSpPr>
          <p:cNvPr id="29" name="Straight Connector 28">
            <a:extLst>
              <a:ext uri="{FF2B5EF4-FFF2-40B4-BE49-F238E27FC236}">
                <a16:creationId xmlns:a16="http://schemas.microsoft.com/office/drawing/2014/main" id="{7CF32F5F-C15B-19D6-27D8-876260F2B42F}"/>
              </a:ext>
            </a:extLst>
          </p:cNvPr>
          <p:cNvCxnSpPr>
            <a:cxnSpLocks/>
          </p:cNvCxnSpPr>
          <p:nvPr/>
        </p:nvCxnSpPr>
        <p:spPr>
          <a:xfrm flipV="1">
            <a:off x="6612220" y="3429000"/>
            <a:ext cx="0" cy="482187"/>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pic>
        <p:nvPicPr>
          <p:cNvPr id="32" name="Picture 31">
            <a:extLst>
              <a:ext uri="{FF2B5EF4-FFF2-40B4-BE49-F238E27FC236}">
                <a16:creationId xmlns:a16="http://schemas.microsoft.com/office/drawing/2014/main" id="{24AA8769-0854-5BBB-3810-E2C2EE3CFF19}"/>
              </a:ext>
            </a:extLst>
          </p:cNvPr>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3571834" y="1988623"/>
            <a:ext cx="640080" cy="640080"/>
          </a:xfrm>
          <a:prstGeom prst="rect">
            <a:avLst/>
          </a:prstGeom>
        </p:spPr>
      </p:pic>
      <p:sp>
        <p:nvSpPr>
          <p:cNvPr id="33" name="TextBox 32">
            <a:extLst>
              <a:ext uri="{FF2B5EF4-FFF2-40B4-BE49-F238E27FC236}">
                <a16:creationId xmlns:a16="http://schemas.microsoft.com/office/drawing/2014/main" id="{2E194288-4616-A5A3-8FAB-80BF13C3711D}"/>
              </a:ext>
            </a:extLst>
          </p:cNvPr>
          <p:cNvSpPr txBox="1"/>
          <p:nvPr/>
        </p:nvSpPr>
        <p:spPr>
          <a:xfrm>
            <a:off x="2779202" y="1497332"/>
            <a:ext cx="2032358" cy="308345"/>
          </a:xfrm>
          <a:prstGeom prst="rect">
            <a:avLst/>
          </a:prstGeom>
        </p:spPr>
        <p:txBody>
          <a:bodyPr wrap="square" lIns="0" tIns="0" rIns="0" bIns="0" numCol="1" spcCol="360000" rtlCol="0">
            <a:noAutofit/>
          </a:bodyPr>
          <a:lstStyle/>
          <a:p>
            <a:pPr algn="ctr">
              <a:lnSpc>
                <a:spcPct val="110000"/>
              </a:lnSpc>
              <a:tabLst/>
            </a:pPr>
            <a:r>
              <a:rPr lang="en-US" sz="1200">
                <a:solidFill>
                  <a:schemeClr val="bg1"/>
                </a:solidFill>
                <a:latin typeface="Roboto Condensed Light" panose="02000000000000000000" pitchFamily="2" charset="0"/>
                <a:ea typeface="Roboto Condensed Light" panose="02000000000000000000" pitchFamily="2" charset="0"/>
              </a:rPr>
              <a:t>Software Supply Chain Security</a:t>
            </a:r>
            <a:endParaRPr lang="en-US" sz="1200" dirty="0">
              <a:solidFill>
                <a:schemeClr val="bg1"/>
              </a:solidFill>
              <a:latin typeface="Roboto Condensed Light" panose="02000000000000000000" pitchFamily="2" charset="0"/>
              <a:ea typeface="Roboto Condensed Light" panose="02000000000000000000" pitchFamily="2" charset="0"/>
            </a:endParaRPr>
          </a:p>
        </p:txBody>
      </p:sp>
      <p:cxnSp>
        <p:nvCxnSpPr>
          <p:cNvPr id="34" name="Straight Connector 33">
            <a:extLst>
              <a:ext uri="{FF2B5EF4-FFF2-40B4-BE49-F238E27FC236}">
                <a16:creationId xmlns:a16="http://schemas.microsoft.com/office/drawing/2014/main" id="{9B49460B-72C1-FBA0-E245-6FB3A9BC07A0}"/>
              </a:ext>
            </a:extLst>
          </p:cNvPr>
          <p:cNvCxnSpPr>
            <a:cxnSpLocks/>
          </p:cNvCxnSpPr>
          <p:nvPr/>
        </p:nvCxnSpPr>
        <p:spPr>
          <a:xfrm flipV="1">
            <a:off x="3891874" y="2553300"/>
            <a:ext cx="0" cy="1357887"/>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pic>
        <p:nvPicPr>
          <p:cNvPr id="36" name="Picture 35">
            <a:extLst>
              <a:ext uri="{FF2B5EF4-FFF2-40B4-BE49-F238E27FC236}">
                <a16:creationId xmlns:a16="http://schemas.microsoft.com/office/drawing/2014/main" id="{DFA2E739-FF7F-1EB6-B83B-AD68E5684376}"/>
              </a:ext>
            </a:extLst>
          </p:cNvPr>
          <p:cNvPicPr>
            <a:picLocks noChangeAspect="1"/>
          </p:cNvPicPr>
          <p:nvPr/>
        </p:nvPicPr>
        <p:blipFill>
          <a:blip r:embed="rId12" cstate="print">
            <a:extLst>
              <a:ext uri="{28A0092B-C50C-407E-A947-70E740481C1C}">
                <a14:useLocalDpi xmlns:a14="http://schemas.microsoft.com/office/drawing/2010/main"/>
              </a:ext>
            </a:extLst>
          </a:blip>
          <a:stretch>
            <a:fillRect/>
          </a:stretch>
        </p:blipFill>
        <p:spPr>
          <a:xfrm>
            <a:off x="4610830" y="1094647"/>
            <a:ext cx="640080" cy="640080"/>
          </a:xfrm>
          <a:prstGeom prst="rect">
            <a:avLst/>
          </a:prstGeom>
        </p:spPr>
      </p:pic>
      <p:sp>
        <p:nvSpPr>
          <p:cNvPr id="37" name="TextBox 36">
            <a:extLst>
              <a:ext uri="{FF2B5EF4-FFF2-40B4-BE49-F238E27FC236}">
                <a16:creationId xmlns:a16="http://schemas.microsoft.com/office/drawing/2014/main" id="{FCA9593D-6943-26DA-363F-5F016CA48A3B}"/>
              </a:ext>
            </a:extLst>
          </p:cNvPr>
          <p:cNvSpPr txBox="1"/>
          <p:nvPr/>
        </p:nvSpPr>
        <p:spPr>
          <a:xfrm>
            <a:off x="3950745" y="890614"/>
            <a:ext cx="2032358" cy="308345"/>
          </a:xfrm>
          <a:prstGeom prst="rect">
            <a:avLst/>
          </a:prstGeom>
        </p:spPr>
        <p:txBody>
          <a:bodyPr wrap="square" lIns="0" tIns="0" rIns="0" bIns="0" numCol="1" spcCol="360000" rtlCol="0">
            <a:noAutofit/>
          </a:bodyPr>
          <a:lstStyle/>
          <a:p>
            <a:pPr algn="ctr">
              <a:lnSpc>
                <a:spcPct val="110000"/>
              </a:lnSpc>
              <a:tabLst/>
            </a:pPr>
            <a:r>
              <a:rPr lang="en-US" sz="1200" dirty="0">
                <a:solidFill>
                  <a:schemeClr val="bg1"/>
                </a:solidFill>
                <a:latin typeface="Roboto Condensed Light" panose="02000000000000000000" pitchFamily="2" charset="0"/>
                <a:ea typeface="Roboto Condensed Light" panose="02000000000000000000" pitchFamily="2" charset="0"/>
              </a:rPr>
              <a:t>Secure Version Control</a:t>
            </a:r>
          </a:p>
        </p:txBody>
      </p:sp>
      <p:cxnSp>
        <p:nvCxnSpPr>
          <p:cNvPr id="38" name="Straight Connector 37">
            <a:extLst>
              <a:ext uri="{FF2B5EF4-FFF2-40B4-BE49-F238E27FC236}">
                <a16:creationId xmlns:a16="http://schemas.microsoft.com/office/drawing/2014/main" id="{0BFEAFC9-B18E-565D-048D-9FE777DB10DC}"/>
              </a:ext>
            </a:extLst>
          </p:cNvPr>
          <p:cNvCxnSpPr>
            <a:cxnSpLocks/>
          </p:cNvCxnSpPr>
          <p:nvPr/>
        </p:nvCxnSpPr>
        <p:spPr>
          <a:xfrm flipV="1">
            <a:off x="4917494" y="1734727"/>
            <a:ext cx="0" cy="217646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pic>
        <p:nvPicPr>
          <p:cNvPr id="40" name="Picture 39">
            <a:extLst>
              <a:ext uri="{FF2B5EF4-FFF2-40B4-BE49-F238E27FC236}">
                <a16:creationId xmlns:a16="http://schemas.microsoft.com/office/drawing/2014/main" id="{2793FDF5-0E08-B07A-AA14-5145E78FE24E}"/>
              </a:ext>
            </a:extLst>
          </p:cNvPr>
          <p:cNvPicPr>
            <a:picLocks noChangeAspect="1"/>
          </p:cNvPicPr>
          <p:nvPr/>
        </p:nvPicPr>
        <p:blipFill>
          <a:blip r:embed="rId13" cstate="print">
            <a:extLst>
              <a:ext uri="{28A0092B-C50C-407E-A947-70E740481C1C}">
                <a14:useLocalDpi xmlns:a14="http://schemas.microsoft.com/office/drawing/2010/main"/>
              </a:ext>
            </a:extLst>
          </a:blip>
          <a:stretch>
            <a:fillRect/>
          </a:stretch>
        </p:blipFill>
        <p:spPr>
          <a:xfrm>
            <a:off x="8278818" y="2888392"/>
            <a:ext cx="640080" cy="640080"/>
          </a:xfrm>
          <a:prstGeom prst="rect">
            <a:avLst/>
          </a:prstGeom>
        </p:spPr>
      </p:pic>
      <p:sp>
        <p:nvSpPr>
          <p:cNvPr id="41" name="TextBox 40">
            <a:extLst>
              <a:ext uri="{FF2B5EF4-FFF2-40B4-BE49-F238E27FC236}">
                <a16:creationId xmlns:a16="http://schemas.microsoft.com/office/drawing/2014/main" id="{5293EB4C-8F40-5734-392D-A396B2257911}"/>
              </a:ext>
            </a:extLst>
          </p:cNvPr>
          <p:cNvSpPr txBox="1"/>
          <p:nvPr/>
        </p:nvSpPr>
        <p:spPr>
          <a:xfrm>
            <a:off x="7582679" y="2672184"/>
            <a:ext cx="2032358" cy="308345"/>
          </a:xfrm>
          <a:prstGeom prst="rect">
            <a:avLst/>
          </a:prstGeom>
        </p:spPr>
        <p:txBody>
          <a:bodyPr wrap="square" lIns="0" tIns="0" rIns="0" bIns="0" numCol="1" spcCol="360000" rtlCol="0">
            <a:noAutofit/>
          </a:bodyPr>
          <a:lstStyle/>
          <a:p>
            <a:pPr algn="ctr">
              <a:lnSpc>
                <a:spcPct val="110000"/>
              </a:lnSpc>
              <a:tabLst/>
            </a:pPr>
            <a:r>
              <a:rPr lang="en-US" sz="1200" dirty="0">
                <a:solidFill>
                  <a:schemeClr val="bg1"/>
                </a:solidFill>
                <a:latin typeface="Roboto Condensed Light" panose="02000000000000000000" pitchFamily="2" charset="0"/>
                <a:ea typeface="Roboto Condensed Light" panose="02000000000000000000" pitchFamily="2" charset="0"/>
              </a:rPr>
              <a:t>Threat Detection</a:t>
            </a:r>
          </a:p>
        </p:txBody>
      </p:sp>
      <p:cxnSp>
        <p:nvCxnSpPr>
          <p:cNvPr id="42" name="Straight Connector 41">
            <a:extLst>
              <a:ext uri="{FF2B5EF4-FFF2-40B4-BE49-F238E27FC236}">
                <a16:creationId xmlns:a16="http://schemas.microsoft.com/office/drawing/2014/main" id="{170F7988-7082-26C4-219F-F515D328E7F0}"/>
              </a:ext>
            </a:extLst>
          </p:cNvPr>
          <p:cNvCxnSpPr>
            <a:cxnSpLocks/>
          </p:cNvCxnSpPr>
          <p:nvPr/>
        </p:nvCxnSpPr>
        <p:spPr>
          <a:xfrm flipV="1">
            <a:off x="8600728" y="3429000"/>
            <a:ext cx="0" cy="482187"/>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pic>
        <p:nvPicPr>
          <p:cNvPr id="43" name="Picture 42">
            <a:extLst>
              <a:ext uri="{FF2B5EF4-FFF2-40B4-BE49-F238E27FC236}">
                <a16:creationId xmlns:a16="http://schemas.microsoft.com/office/drawing/2014/main" id="{FE805D7B-CB88-3FFC-D62A-15D5397854F4}"/>
              </a:ext>
            </a:extLst>
          </p:cNvPr>
          <p:cNvPicPr>
            <a:picLocks noChangeAspect="1"/>
          </p:cNvPicPr>
          <p:nvPr/>
        </p:nvPicPr>
        <p:blipFill>
          <a:blip r:embed="rId14" cstate="print">
            <a:extLst>
              <a:ext uri="{28A0092B-C50C-407E-A947-70E740481C1C}">
                <a14:useLocalDpi xmlns:a14="http://schemas.microsoft.com/office/drawing/2010/main"/>
              </a:ext>
            </a:extLst>
          </a:blip>
          <a:stretch>
            <a:fillRect/>
          </a:stretch>
        </p:blipFill>
        <p:spPr>
          <a:xfrm>
            <a:off x="6337900" y="4808002"/>
            <a:ext cx="640080" cy="640080"/>
          </a:xfrm>
          <a:prstGeom prst="rect">
            <a:avLst/>
          </a:prstGeom>
        </p:spPr>
      </p:pic>
      <p:sp>
        <p:nvSpPr>
          <p:cNvPr id="44" name="TextBox 43">
            <a:extLst>
              <a:ext uri="{FF2B5EF4-FFF2-40B4-BE49-F238E27FC236}">
                <a16:creationId xmlns:a16="http://schemas.microsoft.com/office/drawing/2014/main" id="{42EFBBC4-1233-E2D6-3769-5F01B84D3FBB}"/>
              </a:ext>
            </a:extLst>
          </p:cNvPr>
          <p:cNvSpPr txBox="1"/>
          <p:nvPr/>
        </p:nvSpPr>
        <p:spPr>
          <a:xfrm>
            <a:off x="5596041" y="5444820"/>
            <a:ext cx="2032358" cy="308345"/>
          </a:xfrm>
          <a:prstGeom prst="rect">
            <a:avLst/>
          </a:prstGeom>
        </p:spPr>
        <p:txBody>
          <a:bodyPr wrap="square" lIns="0" tIns="0" rIns="0" bIns="0" numCol="1" spcCol="360000" rtlCol="0">
            <a:noAutofit/>
          </a:bodyPr>
          <a:lstStyle/>
          <a:p>
            <a:pPr algn="ctr">
              <a:lnSpc>
                <a:spcPct val="110000"/>
              </a:lnSpc>
              <a:tabLst/>
            </a:pPr>
            <a:r>
              <a:rPr lang="en-US" sz="1200" dirty="0">
                <a:solidFill>
                  <a:schemeClr val="bg1"/>
                </a:solidFill>
                <a:latin typeface="Roboto Condensed Light" panose="02000000000000000000" pitchFamily="2" charset="0"/>
                <a:ea typeface="Roboto Condensed Light" panose="02000000000000000000" pitchFamily="2" charset="0"/>
              </a:rPr>
              <a:t>Penetration Testing</a:t>
            </a:r>
          </a:p>
        </p:txBody>
      </p:sp>
      <p:cxnSp>
        <p:nvCxnSpPr>
          <p:cNvPr id="45" name="Straight Connector 44">
            <a:extLst>
              <a:ext uri="{FF2B5EF4-FFF2-40B4-BE49-F238E27FC236}">
                <a16:creationId xmlns:a16="http://schemas.microsoft.com/office/drawing/2014/main" id="{AE429750-B31A-7CA7-851C-658F648B2041}"/>
              </a:ext>
            </a:extLst>
          </p:cNvPr>
          <p:cNvCxnSpPr>
            <a:cxnSpLocks/>
          </p:cNvCxnSpPr>
          <p:nvPr/>
        </p:nvCxnSpPr>
        <p:spPr>
          <a:xfrm flipV="1">
            <a:off x="6612220" y="4593265"/>
            <a:ext cx="0" cy="288084"/>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pic>
        <p:nvPicPr>
          <p:cNvPr id="46" name="Picture 45" descr="A white line drawing of a server and a shield&#10;&#10;AI-generated content may be incorrect.">
            <a:extLst>
              <a:ext uri="{FF2B5EF4-FFF2-40B4-BE49-F238E27FC236}">
                <a16:creationId xmlns:a16="http://schemas.microsoft.com/office/drawing/2014/main" id="{526D8A65-FE41-F48E-ABCA-8C5B555A268B}"/>
              </a:ext>
            </a:extLst>
          </p:cNvPr>
          <p:cNvPicPr>
            <a:picLocks noChangeAspect="1"/>
          </p:cNvPicPr>
          <p:nvPr/>
        </p:nvPicPr>
        <p:blipFill>
          <a:blip r:embed="rId15" cstate="print">
            <a:extLst>
              <a:ext uri="{28A0092B-C50C-407E-A947-70E740481C1C}">
                <a14:useLocalDpi xmlns:a14="http://schemas.microsoft.com/office/drawing/2010/main"/>
              </a:ext>
            </a:extLst>
          </a:blip>
          <a:stretch>
            <a:fillRect/>
          </a:stretch>
        </p:blipFill>
        <p:spPr>
          <a:xfrm>
            <a:off x="1944485" y="2015733"/>
            <a:ext cx="731520" cy="731520"/>
          </a:xfrm>
          <a:prstGeom prst="rect">
            <a:avLst/>
          </a:prstGeom>
        </p:spPr>
      </p:pic>
      <p:cxnSp>
        <p:nvCxnSpPr>
          <p:cNvPr id="47" name="Straight Connector 46">
            <a:extLst>
              <a:ext uri="{FF2B5EF4-FFF2-40B4-BE49-F238E27FC236}">
                <a16:creationId xmlns:a16="http://schemas.microsoft.com/office/drawing/2014/main" id="{A0E9F204-333F-2A85-2783-1AA8EEF05C27}"/>
              </a:ext>
            </a:extLst>
          </p:cNvPr>
          <p:cNvCxnSpPr>
            <a:cxnSpLocks/>
          </p:cNvCxnSpPr>
          <p:nvPr/>
        </p:nvCxnSpPr>
        <p:spPr>
          <a:xfrm flipV="1">
            <a:off x="2310245" y="2553300"/>
            <a:ext cx="0" cy="1357887"/>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C7A9BA06-971F-3362-B863-B980EBCCCEB6}"/>
              </a:ext>
            </a:extLst>
          </p:cNvPr>
          <p:cNvSpPr txBox="1"/>
          <p:nvPr/>
        </p:nvSpPr>
        <p:spPr>
          <a:xfrm>
            <a:off x="1329565" y="1962872"/>
            <a:ext cx="2032358" cy="308345"/>
          </a:xfrm>
          <a:prstGeom prst="rect">
            <a:avLst/>
          </a:prstGeom>
        </p:spPr>
        <p:txBody>
          <a:bodyPr wrap="square" lIns="0" tIns="0" rIns="0" bIns="0" numCol="1" spcCol="360000" rtlCol="0">
            <a:noAutofit/>
          </a:bodyPr>
          <a:lstStyle/>
          <a:p>
            <a:pPr algn="ctr">
              <a:lnSpc>
                <a:spcPct val="110000"/>
              </a:lnSpc>
              <a:tabLst/>
            </a:pPr>
            <a:r>
              <a:rPr lang="en-US" sz="1200" dirty="0">
                <a:solidFill>
                  <a:schemeClr val="bg1"/>
                </a:solidFill>
                <a:latin typeface="Roboto Condensed Light" panose="02000000000000000000" pitchFamily="2" charset="0"/>
                <a:ea typeface="Roboto Condensed Light" panose="02000000000000000000" pitchFamily="2" charset="0"/>
              </a:rPr>
              <a:t>Training Data Security</a:t>
            </a:r>
          </a:p>
        </p:txBody>
      </p:sp>
      <p:pic>
        <p:nvPicPr>
          <p:cNvPr id="49" name="Picture 48" descr="A white logo with a lock and circles&#10;&#10;AI-generated content may be incorrect.">
            <a:extLst>
              <a:ext uri="{FF2B5EF4-FFF2-40B4-BE49-F238E27FC236}">
                <a16:creationId xmlns:a16="http://schemas.microsoft.com/office/drawing/2014/main" id="{035DC82A-3AE4-DD54-FC73-0171CDE53EA3}"/>
              </a:ext>
            </a:extLst>
          </p:cNvPr>
          <p:cNvPicPr>
            <a:picLocks noChangeAspect="1"/>
          </p:cNvPicPr>
          <p:nvPr/>
        </p:nvPicPr>
        <p:blipFill>
          <a:blip r:embed="rId16" cstate="print">
            <a:extLst>
              <a:ext uri="{28A0092B-C50C-407E-A947-70E740481C1C}">
                <a14:useLocalDpi xmlns:a14="http://schemas.microsoft.com/office/drawing/2010/main"/>
              </a:ext>
            </a:extLst>
          </a:blip>
          <a:stretch>
            <a:fillRect/>
          </a:stretch>
        </p:blipFill>
        <p:spPr>
          <a:xfrm>
            <a:off x="3556081" y="4808002"/>
            <a:ext cx="731520" cy="731520"/>
          </a:xfrm>
          <a:prstGeom prst="rect">
            <a:avLst/>
          </a:prstGeom>
        </p:spPr>
      </p:pic>
      <p:cxnSp>
        <p:nvCxnSpPr>
          <p:cNvPr id="51" name="Connector: Elbow 50">
            <a:extLst>
              <a:ext uri="{FF2B5EF4-FFF2-40B4-BE49-F238E27FC236}">
                <a16:creationId xmlns:a16="http://schemas.microsoft.com/office/drawing/2014/main" id="{DE83B086-431F-9C70-49E6-3BD985C411CB}"/>
              </a:ext>
            </a:extLst>
          </p:cNvPr>
          <p:cNvCxnSpPr>
            <a:endCxn id="49" idx="1"/>
          </p:cNvCxnSpPr>
          <p:nvPr/>
        </p:nvCxnSpPr>
        <p:spPr>
          <a:xfrm rot="16200000" flipH="1">
            <a:off x="3040367" y="4658047"/>
            <a:ext cx="580497" cy="450931"/>
          </a:xfrm>
          <a:prstGeom prst="bentConnector2">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3427AC0D-3825-95BE-8D5D-3C89912B4543}"/>
              </a:ext>
            </a:extLst>
          </p:cNvPr>
          <p:cNvSpPr txBox="1"/>
          <p:nvPr/>
        </p:nvSpPr>
        <p:spPr>
          <a:xfrm>
            <a:off x="3320693" y="5490540"/>
            <a:ext cx="2032358" cy="308345"/>
          </a:xfrm>
          <a:prstGeom prst="rect">
            <a:avLst/>
          </a:prstGeom>
        </p:spPr>
        <p:txBody>
          <a:bodyPr wrap="square" lIns="0" tIns="0" rIns="0" bIns="0" numCol="1" spcCol="360000" rtlCol="0">
            <a:noAutofit/>
          </a:bodyPr>
          <a:lstStyle/>
          <a:p>
            <a:pPr algn="l">
              <a:lnSpc>
                <a:spcPct val="110000"/>
              </a:lnSpc>
              <a:tabLst/>
            </a:pPr>
            <a:r>
              <a:rPr lang="en-US" sz="1200" dirty="0">
                <a:solidFill>
                  <a:schemeClr val="bg1"/>
                </a:solidFill>
                <a:latin typeface="Roboto Condensed Light" panose="02000000000000000000" pitchFamily="2" charset="0"/>
                <a:ea typeface="Roboto Condensed Light" panose="02000000000000000000" pitchFamily="2" charset="0"/>
              </a:rPr>
              <a:t>AI Security Design</a:t>
            </a:r>
          </a:p>
        </p:txBody>
      </p:sp>
      <p:sp>
        <p:nvSpPr>
          <p:cNvPr id="53" name="Star: 4 Points 52">
            <a:extLst>
              <a:ext uri="{FF2B5EF4-FFF2-40B4-BE49-F238E27FC236}">
                <a16:creationId xmlns:a16="http://schemas.microsoft.com/office/drawing/2014/main" id="{949627BF-62DA-10C0-E9A2-84746CF57F61}"/>
              </a:ext>
            </a:extLst>
          </p:cNvPr>
          <p:cNvSpPr/>
          <p:nvPr/>
        </p:nvSpPr>
        <p:spPr>
          <a:xfrm>
            <a:off x="9124950" y="653291"/>
            <a:ext cx="381000" cy="452987"/>
          </a:xfrm>
          <a:prstGeom prst="star4">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54" name="Star: 4 Points 53">
            <a:extLst>
              <a:ext uri="{FF2B5EF4-FFF2-40B4-BE49-F238E27FC236}">
                <a16:creationId xmlns:a16="http://schemas.microsoft.com/office/drawing/2014/main" id="{ED2E6FB5-42A6-0F07-B53D-67CFC51AF107}"/>
              </a:ext>
            </a:extLst>
          </p:cNvPr>
          <p:cNvSpPr/>
          <p:nvPr/>
        </p:nvSpPr>
        <p:spPr>
          <a:xfrm>
            <a:off x="9124950" y="1146916"/>
            <a:ext cx="381000" cy="452987"/>
          </a:xfrm>
          <a:prstGeom prst="star4">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55" name="Star: 4 Points 54">
            <a:extLst>
              <a:ext uri="{FF2B5EF4-FFF2-40B4-BE49-F238E27FC236}">
                <a16:creationId xmlns:a16="http://schemas.microsoft.com/office/drawing/2014/main" id="{B82C701C-6F35-8F5A-BA55-48A95B491A97}"/>
              </a:ext>
            </a:extLst>
          </p:cNvPr>
          <p:cNvSpPr/>
          <p:nvPr/>
        </p:nvSpPr>
        <p:spPr>
          <a:xfrm>
            <a:off x="9124950" y="156613"/>
            <a:ext cx="381000" cy="452987"/>
          </a:xfrm>
          <a:prstGeom prst="star4">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56" name="TextBox 55">
            <a:extLst>
              <a:ext uri="{FF2B5EF4-FFF2-40B4-BE49-F238E27FC236}">
                <a16:creationId xmlns:a16="http://schemas.microsoft.com/office/drawing/2014/main" id="{42BBFA18-E437-466C-37D8-A827B1CCBAFF}"/>
              </a:ext>
            </a:extLst>
          </p:cNvPr>
          <p:cNvSpPr txBox="1"/>
          <p:nvPr/>
        </p:nvSpPr>
        <p:spPr>
          <a:xfrm>
            <a:off x="9615036" y="225943"/>
            <a:ext cx="2192547" cy="314325"/>
          </a:xfrm>
          <a:prstGeom prst="rect">
            <a:avLst/>
          </a:prstGeom>
        </p:spPr>
        <p:txBody>
          <a:bodyPr wrap="square" lIns="0" tIns="0" rIns="0" bIns="0" numCol="1" spcCol="360000" rtlCol="0">
            <a:noAutofit/>
          </a:bodyPr>
          <a:lstStyle/>
          <a:p>
            <a:pPr algn="l">
              <a:lnSpc>
                <a:spcPct val="110000"/>
              </a:lnSpc>
              <a:tabLst/>
            </a:pPr>
            <a:r>
              <a:rPr lang="en-US" sz="1400" dirty="0">
                <a:solidFill>
                  <a:schemeClr val="bg1"/>
                </a:solidFill>
                <a:latin typeface="Roboto Condensed Light" panose="02000000000000000000" pitchFamily="2" charset="0"/>
                <a:ea typeface="Roboto Condensed Light" panose="02000000000000000000" pitchFamily="2" charset="0"/>
              </a:rPr>
              <a:t>New capability</a:t>
            </a:r>
          </a:p>
        </p:txBody>
      </p:sp>
      <p:sp>
        <p:nvSpPr>
          <p:cNvPr id="57" name="TextBox 56">
            <a:extLst>
              <a:ext uri="{FF2B5EF4-FFF2-40B4-BE49-F238E27FC236}">
                <a16:creationId xmlns:a16="http://schemas.microsoft.com/office/drawing/2014/main" id="{AFB4F77C-4FB2-B286-A032-ACCFC863B4A4}"/>
              </a:ext>
            </a:extLst>
          </p:cNvPr>
          <p:cNvSpPr txBox="1"/>
          <p:nvPr/>
        </p:nvSpPr>
        <p:spPr>
          <a:xfrm>
            <a:off x="9615036" y="746622"/>
            <a:ext cx="2192547" cy="314325"/>
          </a:xfrm>
          <a:prstGeom prst="rect">
            <a:avLst/>
          </a:prstGeom>
        </p:spPr>
        <p:txBody>
          <a:bodyPr wrap="square" lIns="0" tIns="0" rIns="0" bIns="0" numCol="1" spcCol="360000" rtlCol="0">
            <a:noAutofit/>
          </a:bodyPr>
          <a:lstStyle/>
          <a:p>
            <a:pPr algn="l">
              <a:lnSpc>
                <a:spcPct val="110000"/>
              </a:lnSpc>
              <a:tabLst/>
            </a:pPr>
            <a:r>
              <a:rPr lang="en-US" sz="1400" dirty="0">
                <a:solidFill>
                  <a:schemeClr val="bg1"/>
                </a:solidFill>
                <a:latin typeface="Roboto Condensed Light" panose="02000000000000000000" pitchFamily="2" charset="0"/>
                <a:ea typeface="Roboto Condensed Light" panose="02000000000000000000" pitchFamily="2" charset="0"/>
              </a:rPr>
              <a:t>Improved capability</a:t>
            </a:r>
          </a:p>
        </p:txBody>
      </p:sp>
      <p:sp>
        <p:nvSpPr>
          <p:cNvPr id="58" name="TextBox 57">
            <a:extLst>
              <a:ext uri="{FF2B5EF4-FFF2-40B4-BE49-F238E27FC236}">
                <a16:creationId xmlns:a16="http://schemas.microsoft.com/office/drawing/2014/main" id="{370B53A5-E6A3-ECAF-B58A-434A8F244124}"/>
              </a:ext>
            </a:extLst>
          </p:cNvPr>
          <p:cNvSpPr txBox="1"/>
          <p:nvPr/>
        </p:nvSpPr>
        <p:spPr>
          <a:xfrm>
            <a:off x="9615036" y="1253312"/>
            <a:ext cx="2192547" cy="314325"/>
          </a:xfrm>
          <a:prstGeom prst="rect">
            <a:avLst/>
          </a:prstGeom>
        </p:spPr>
        <p:txBody>
          <a:bodyPr wrap="square" lIns="0" tIns="0" rIns="0" bIns="0" numCol="1" spcCol="360000" rtlCol="0">
            <a:noAutofit/>
          </a:bodyPr>
          <a:lstStyle/>
          <a:p>
            <a:pPr algn="l">
              <a:lnSpc>
                <a:spcPct val="110000"/>
              </a:lnSpc>
              <a:tabLst/>
            </a:pPr>
            <a:r>
              <a:rPr lang="en-US" sz="1400" dirty="0">
                <a:solidFill>
                  <a:schemeClr val="bg1"/>
                </a:solidFill>
                <a:latin typeface="Roboto Condensed Light" panose="02000000000000000000" pitchFamily="2" charset="0"/>
                <a:ea typeface="Roboto Condensed Light" panose="02000000000000000000" pitchFamily="2" charset="0"/>
              </a:rPr>
              <a:t>Unchanged capability</a:t>
            </a:r>
          </a:p>
        </p:txBody>
      </p:sp>
      <p:sp>
        <p:nvSpPr>
          <p:cNvPr id="59" name="Star: 4 Points 58">
            <a:extLst>
              <a:ext uri="{FF2B5EF4-FFF2-40B4-BE49-F238E27FC236}">
                <a16:creationId xmlns:a16="http://schemas.microsoft.com/office/drawing/2014/main" id="{F903026F-AE7D-2327-A275-A932CF58B0D4}"/>
              </a:ext>
            </a:extLst>
          </p:cNvPr>
          <p:cNvSpPr/>
          <p:nvPr/>
        </p:nvSpPr>
        <p:spPr>
          <a:xfrm>
            <a:off x="6855235" y="2888392"/>
            <a:ext cx="381000" cy="452987"/>
          </a:xfrm>
          <a:prstGeom prst="star4">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60" name="Star: 4 Points 59">
            <a:extLst>
              <a:ext uri="{FF2B5EF4-FFF2-40B4-BE49-F238E27FC236}">
                <a16:creationId xmlns:a16="http://schemas.microsoft.com/office/drawing/2014/main" id="{AB3A522B-CD52-5E29-6CBC-A3FEDBB1A387}"/>
              </a:ext>
            </a:extLst>
          </p:cNvPr>
          <p:cNvSpPr/>
          <p:nvPr/>
        </p:nvSpPr>
        <p:spPr>
          <a:xfrm>
            <a:off x="4248826" y="5020771"/>
            <a:ext cx="381000" cy="452987"/>
          </a:xfrm>
          <a:prstGeom prst="star4">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61" name="Star: 4 Points 60">
            <a:extLst>
              <a:ext uri="{FF2B5EF4-FFF2-40B4-BE49-F238E27FC236}">
                <a16:creationId xmlns:a16="http://schemas.microsoft.com/office/drawing/2014/main" id="{C6A64206-1979-E6EC-CBC2-F569F121C315}"/>
              </a:ext>
            </a:extLst>
          </p:cNvPr>
          <p:cNvSpPr/>
          <p:nvPr/>
        </p:nvSpPr>
        <p:spPr>
          <a:xfrm>
            <a:off x="1561351" y="2128535"/>
            <a:ext cx="381000" cy="452987"/>
          </a:xfrm>
          <a:prstGeom prst="star4">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62" name="Star: 4 Points 61">
            <a:extLst>
              <a:ext uri="{FF2B5EF4-FFF2-40B4-BE49-F238E27FC236}">
                <a16:creationId xmlns:a16="http://schemas.microsoft.com/office/drawing/2014/main" id="{838469B1-7274-430A-FD2D-1B0A7CCCDCD9}"/>
              </a:ext>
            </a:extLst>
          </p:cNvPr>
          <p:cNvSpPr/>
          <p:nvPr/>
        </p:nvSpPr>
        <p:spPr>
          <a:xfrm>
            <a:off x="5221421" y="1089951"/>
            <a:ext cx="381000" cy="452987"/>
          </a:xfrm>
          <a:prstGeom prst="star4">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63" name="Star: 4 Points 62">
            <a:extLst>
              <a:ext uri="{FF2B5EF4-FFF2-40B4-BE49-F238E27FC236}">
                <a16:creationId xmlns:a16="http://schemas.microsoft.com/office/drawing/2014/main" id="{D4AD5C8C-E172-B00E-D773-7DA3362AC62C}"/>
              </a:ext>
            </a:extLst>
          </p:cNvPr>
          <p:cNvSpPr/>
          <p:nvPr/>
        </p:nvSpPr>
        <p:spPr>
          <a:xfrm>
            <a:off x="6944191" y="4991833"/>
            <a:ext cx="381000" cy="452987"/>
          </a:xfrm>
          <a:prstGeom prst="star4">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64" name="Star: 4 Points 63">
            <a:extLst>
              <a:ext uri="{FF2B5EF4-FFF2-40B4-BE49-F238E27FC236}">
                <a16:creationId xmlns:a16="http://schemas.microsoft.com/office/drawing/2014/main" id="{71F375E2-DFAA-4124-0B36-F7B172B52C9B}"/>
              </a:ext>
            </a:extLst>
          </p:cNvPr>
          <p:cNvSpPr/>
          <p:nvPr/>
        </p:nvSpPr>
        <p:spPr>
          <a:xfrm>
            <a:off x="4035844" y="1745347"/>
            <a:ext cx="381000" cy="452987"/>
          </a:xfrm>
          <a:prstGeom prst="star4">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65" name="Star: 4 Points 64">
            <a:extLst>
              <a:ext uri="{FF2B5EF4-FFF2-40B4-BE49-F238E27FC236}">
                <a16:creationId xmlns:a16="http://schemas.microsoft.com/office/drawing/2014/main" id="{0A807DE6-0DCA-F6AC-D110-255946A766B1}"/>
              </a:ext>
            </a:extLst>
          </p:cNvPr>
          <p:cNvSpPr/>
          <p:nvPr/>
        </p:nvSpPr>
        <p:spPr>
          <a:xfrm>
            <a:off x="8841873" y="2888391"/>
            <a:ext cx="381000" cy="452987"/>
          </a:xfrm>
          <a:prstGeom prst="star4">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66" name="Star: 4 Points 65">
            <a:extLst>
              <a:ext uri="{FF2B5EF4-FFF2-40B4-BE49-F238E27FC236}">
                <a16:creationId xmlns:a16="http://schemas.microsoft.com/office/drawing/2014/main" id="{4F1ED1DD-BF96-B48F-011F-7FDAEA431D62}"/>
              </a:ext>
            </a:extLst>
          </p:cNvPr>
          <p:cNvSpPr/>
          <p:nvPr/>
        </p:nvSpPr>
        <p:spPr>
          <a:xfrm>
            <a:off x="3197635" y="5918239"/>
            <a:ext cx="381000" cy="452987"/>
          </a:xfrm>
          <a:prstGeom prst="star4">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67" name="Star: 4 Points 66">
            <a:extLst>
              <a:ext uri="{FF2B5EF4-FFF2-40B4-BE49-F238E27FC236}">
                <a16:creationId xmlns:a16="http://schemas.microsoft.com/office/drawing/2014/main" id="{2E1AF69A-570E-CB1F-1175-40871A512561}"/>
              </a:ext>
            </a:extLst>
          </p:cNvPr>
          <p:cNvSpPr/>
          <p:nvPr/>
        </p:nvSpPr>
        <p:spPr>
          <a:xfrm>
            <a:off x="1451628" y="4929181"/>
            <a:ext cx="381000" cy="452987"/>
          </a:xfrm>
          <a:prstGeom prst="star4">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70" name="Arrow: Left-Right 69">
            <a:extLst>
              <a:ext uri="{FF2B5EF4-FFF2-40B4-BE49-F238E27FC236}">
                <a16:creationId xmlns:a16="http://schemas.microsoft.com/office/drawing/2014/main" id="{6A6FC45E-7AE1-B9BD-E16E-49ACE5E991DE}"/>
              </a:ext>
            </a:extLst>
          </p:cNvPr>
          <p:cNvSpPr/>
          <p:nvPr/>
        </p:nvSpPr>
        <p:spPr>
          <a:xfrm>
            <a:off x="2952753" y="4295916"/>
            <a:ext cx="7019920" cy="497442"/>
          </a:xfrm>
          <a:prstGeom prst="leftRightArrow">
            <a:avLst/>
          </a:prstGeom>
          <a:solidFill>
            <a:schemeClr val="accent1">
              <a:lumMod val="40000"/>
              <a:lumOff val="60000"/>
              <a:alpha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1">
                    <a:lumMod val="75000"/>
                  </a:schemeClr>
                </a:solidFill>
                <a:latin typeface="Exo" pitchFamily="2" charset="0"/>
              </a:rPr>
              <a:t>CI/CD Pipeline</a:t>
            </a:r>
          </a:p>
        </p:txBody>
      </p:sp>
      <p:sp>
        <p:nvSpPr>
          <p:cNvPr id="2" name="TextBox 1">
            <a:extLst>
              <a:ext uri="{FF2B5EF4-FFF2-40B4-BE49-F238E27FC236}">
                <a16:creationId xmlns:a16="http://schemas.microsoft.com/office/drawing/2014/main" id="{DF0D437B-C9A9-8554-36D8-41C8E344A145}"/>
              </a:ext>
            </a:extLst>
          </p:cNvPr>
          <p:cNvSpPr txBox="1"/>
          <p:nvPr/>
        </p:nvSpPr>
        <p:spPr>
          <a:xfrm>
            <a:off x="4082117" y="2217383"/>
            <a:ext cx="4149213" cy="2438400"/>
          </a:xfrm>
          <a:prstGeom prst="rect">
            <a:avLst/>
          </a:prstGeom>
          <a:gradFill>
            <a:gsLst>
              <a:gs pos="0">
                <a:schemeClr val="accent5">
                  <a:lumMod val="110000"/>
                  <a:satMod val="105000"/>
                  <a:tint val="67000"/>
                  <a:alpha val="75000"/>
                </a:schemeClr>
              </a:gs>
              <a:gs pos="50000">
                <a:schemeClr val="accent5">
                  <a:lumMod val="105000"/>
                  <a:satMod val="103000"/>
                  <a:tint val="73000"/>
                </a:schemeClr>
              </a:gs>
              <a:gs pos="100000">
                <a:schemeClr val="accent5">
                  <a:lumMod val="105000"/>
                  <a:satMod val="109000"/>
                  <a:tint val="81000"/>
                </a:schemeClr>
              </a:gs>
            </a:gsLst>
          </a:gradFill>
        </p:spPr>
        <p:style>
          <a:lnRef idx="1">
            <a:schemeClr val="accent5"/>
          </a:lnRef>
          <a:fillRef idx="2">
            <a:schemeClr val="accent5"/>
          </a:fillRef>
          <a:effectRef idx="1">
            <a:schemeClr val="accent5"/>
          </a:effectRef>
          <a:fontRef idx="minor">
            <a:schemeClr val="dk1"/>
          </a:fontRef>
        </p:style>
        <p:txBody>
          <a:bodyPr wrap="square" rtlCol="0">
            <a:noAutofit/>
          </a:bodyPr>
          <a:lstStyle/>
          <a:p>
            <a:pPr algn="ctr"/>
            <a:endParaRPr lang="en-US" sz="2800" dirty="0"/>
          </a:p>
          <a:p>
            <a:pPr algn="ctr"/>
            <a:r>
              <a:rPr lang="en-US" sz="2800" dirty="0"/>
              <a:t>Illustrate target state with prioritized capabilities. Appendix B contains additional icons.</a:t>
            </a:r>
          </a:p>
        </p:txBody>
      </p:sp>
    </p:spTree>
    <p:extLst>
      <p:ext uri="{BB962C8B-B14F-4D97-AF65-F5344CB8AC3E}">
        <p14:creationId xmlns:p14="http://schemas.microsoft.com/office/powerpoint/2010/main" val="9843099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E68EA-852A-7E98-9FE3-B98BD47F9D7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12E41A-85BE-65A0-B0D8-B58CB4ED13FB}"/>
              </a:ext>
            </a:extLst>
          </p:cNvPr>
          <p:cNvSpPr>
            <a:spLocks noGrp="1"/>
          </p:cNvSpPr>
          <p:nvPr>
            <p:ph type="title"/>
          </p:nvPr>
        </p:nvSpPr>
        <p:spPr>
          <a:xfrm>
            <a:off x="354106" y="544769"/>
            <a:ext cx="10675782" cy="592053"/>
          </a:xfrm>
        </p:spPr>
        <p:txBody>
          <a:bodyPr/>
          <a:lstStyle/>
          <a:p>
            <a:r>
              <a:rPr lang="en-US" dirty="0"/>
              <a:t>Governance and accountabilities </a:t>
            </a:r>
          </a:p>
        </p:txBody>
      </p:sp>
      <p:graphicFrame>
        <p:nvGraphicFramePr>
          <p:cNvPr id="24" name="Table 23">
            <a:extLst>
              <a:ext uri="{FF2B5EF4-FFF2-40B4-BE49-F238E27FC236}">
                <a16:creationId xmlns:a16="http://schemas.microsoft.com/office/drawing/2014/main" id="{8A5F0DD3-B166-1C20-30EC-50810DB9B6E1}"/>
              </a:ext>
            </a:extLst>
          </p:cNvPr>
          <p:cNvGraphicFramePr>
            <a:graphicFrameLocks noGrp="1"/>
          </p:cNvGraphicFramePr>
          <p:nvPr>
            <p:extLst>
              <p:ext uri="{D42A27DB-BD31-4B8C-83A1-F6EECF244321}">
                <p14:modId xmlns:p14="http://schemas.microsoft.com/office/powerpoint/2010/main" val="2428100776"/>
              </p:ext>
            </p:extLst>
          </p:nvPr>
        </p:nvGraphicFramePr>
        <p:xfrm>
          <a:off x="438731" y="1247895"/>
          <a:ext cx="11316124" cy="5133708"/>
        </p:xfrm>
        <a:graphic>
          <a:graphicData uri="http://schemas.openxmlformats.org/drawingml/2006/table">
            <a:tbl>
              <a:tblPr firstRow="1" bandRow="1">
                <a:tableStyleId>{5C22544A-7EE6-4342-B048-85BDC9FD1C3A}</a:tableStyleId>
              </a:tblPr>
              <a:tblGrid>
                <a:gridCol w="2737088">
                  <a:extLst>
                    <a:ext uri="{9D8B030D-6E8A-4147-A177-3AD203B41FA5}">
                      <a16:colId xmlns:a16="http://schemas.microsoft.com/office/drawing/2014/main" val="737015984"/>
                    </a:ext>
                  </a:extLst>
                </a:gridCol>
                <a:gridCol w="1484671">
                  <a:extLst>
                    <a:ext uri="{9D8B030D-6E8A-4147-A177-3AD203B41FA5}">
                      <a16:colId xmlns:a16="http://schemas.microsoft.com/office/drawing/2014/main" val="3250655556"/>
                    </a:ext>
                  </a:extLst>
                </a:gridCol>
                <a:gridCol w="1504336">
                  <a:extLst>
                    <a:ext uri="{9D8B030D-6E8A-4147-A177-3AD203B41FA5}">
                      <a16:colId xmlns:a16="http://schemas.microsoft.com/office/drawing/2014/main" val="3912235641"/>
                    </a:ext>
                  </a:extLst>
                </a:gridCol>
                <a:gridCol w="1425677">
                  <a:extLst>
                    <a:ext uri="{9D8B030D-6E8A-4147-A177-3AD203B41FA5}">
                      <a16:colId xmlns:a16="http://schemas.microsoft.com/office/drawing/2014/main" val="1636159509"/>
                    </a:ext>
                  </a:extLst>
                </a:gridCol>
                <a:gridCol w="1396181">
                  <a:extLst>
                    <a:ext uri="{9D8B030D-6E8A-4147-A177-3AD203B41FA5}">
                      <a16:colId xmlns:a16="http://schemas.microsoft.com/office/drawing/2014/main" val="3146809978"/>
                    </a:ext>
                  </a:extLst>
                </a:gridCol>
                <a:gridCol w="1425677">
                  <a:extLst>
                    <a:ext uri="{9D8B030D-6E8A-4147-A177-3AD203B41FA5}">
                      <a16:colId xmlns:a16="http://schemas.microsoft.com/office/drawing/2014/main" val="3480001902"/>
                    </a:ext>
                  </a:extLst>
                </a:gridCol>
                <a:gridCol w="1342494">
                  <a:extLst>
                    <a:ext uri="{9D8B030D-6E8A-4147-A177-3AD203B41FA5}">
                      <a16:colId xmlns:a16="http://schemas.microsoft.com/office/drawing/2014/main" val="382400552"/>
                    </a:ext>
                  </a:extLst>
                </a:gridCol>
              </a:tblGrid>
              <a:tr h="686236">
                <a:tc>
                  <a:txBody>
                    <a:bodyPr/>
                    <a:lstStyle/>
                    <a:p>
                      <a:r>
                        <a:rPr lang="en-US" sz="1100" b="0" dirty="0">
                          <a:latin typeface="+mj-lt"/>
                        </a:rPr>
                        <a:t>iSSDLC governance functions</a:t>
                      </a:r>
                    </a:p>
                  </a:txBody>
                  <a:tcPr/>
                </a:tc>
                <a:tc>
                  <a:txBody>
                    <a:bodyPr/>
                    <a:lstStyle/>
                    <a:p>
                      <a:r>
                        <a:rPr lang="en-US" sz="1100" b="0" dirty="0">
                          <a:latin typeface="+mj-lt"/>
                        </a:rPr>
                        <a:t>Executive sponsor</a:t>
                      </a:r>
                    </a:p>
                  </a:txBody>
                  <a:tcPr/>
                </a:tc>
                <a:tc>
                  <a:txBody>
                    <a:bodyPr/>
                    <a:lstStyle/>
                    <a:p>
                      <a:r>
                        <a:rPr lang="en-US" sz="1100" b="0" dirty="0">
                          <a:latin typeface="+mj-lt"/>
                        </a:rPr>
                        <a:t>Security management</a:t>
                      </a:r>
                    </a:p>
                  </a:txBody>
                  <a:tcPr/>
                </a:tc>
                <a:tc>
                  <a:txBody>
                    <a:bodyPr/>
                    <a:lstStyle/>
                    <a:p>
                      <a:r>
                        <a:rPr lang="en-US" sz="1100" b="0" dirty="0">
                          <a:latin typeface="+mj-lt"/>
                        </a:rPr>
                        <a:t>Application development</a:t>
                      </a:r>
                    </a:p>
                  </a:txBody>
                  <a:tcPr/>
                </a:tc>
                <a:tc>
                  <a:txBody>
                    <a:bodyPr/>
                    <a:lstStyle/>
                    <a:p>
                      <a:r>
                        <a:rPr lang="en-US" sz="1100" b="0" dirty="0">
                          <a:latin typeface="+mj-lt"/>
                        </a:rPr>
                        <a:t>Application owners</a:t>
                      </a:r>
                    </a:p>
                  </a:txBody>
                  <a:tcPr/>
                </a:tc>
                <a:tc>
                  <a:txBody>
                    <a:bodyPr/>
                    <a:lstStyle/>
                    <a:p>
                      <a:r>
                        <a:rPr lang="en-US" sz="1100" b="0" dirty="0">
                          <a:latin typeface="+mj-lt"/>
                        </a:rPr>
                        <a:t>Product management</a:t>
                      </a:r>
                    </a:p>
                  </a:txBody>
                  <a:tcPr/>
                </a:tc>
                <a:tc>
                  <a:txBody>
                    <a:bodyPr/>
                    <a:lstStyle/>
                    <a:p>
                      <a:r>
                        <a:rPr lang="en-US" sz="1100" b="0" dirty="0">
                          <a:latin typeface="+mj-lt"/>
                        </a:rPr>
                        <a:t>Risk management / compliance</a:t>
                      </a:r>
                    </a:p>
                  </a:txBody>
                  <a:tcPr/>
                </a:tc>
                <a:extLst>
                  <a:ext uri="{0D108BD9-81ED-4DB2-BD59-A6C34878D82A}">
                    <a16:rowId xmlns:a16="http://schemas.microsoft.com/office/drawing/2014/main" val="1830140803"/>
                  </a:ext>
                </a:extLst>
              </a:tr>
              <a:tr h="412098">
                <a:tc>
                  <a:txBody>
                    <a:bodyPr/>
                    <a:lstStyle/>
                    <a:p>
                      <a:r>
                        <a:rPr lang="en-US" sz="1400" b="1" kern="1200" dirty="0">
                          <a:solidFill>
                            <a:schemeClr val="dk1"/>
                          </a:solidFill>
                          <a:latin typeface="+mn-lt"/>
                          <a:ea typeface="+mn-ea"/>
                          <a:cs typeface="+mn-cs"/>
                        </a:rPr>
                        <a:t>Define AppSec strategy and vision</a:t>
                      </a:r>
                    </a:p>
                  </a:txBody>
                  <a:tcPr/>
                </a:tc>
                <a:tc>
                  <a:txBody>
                    <a:bodyPr/>
                    <a:lstStyle/>
                    <a:p>
                      <a:pPr algn="ctr"/>
                      <a:r>
                        <a:rPr lang="en-US" sz="1400" kern="1200" dirty="0">
                          <a:solidFill>
                            <a:schemeClr val="dk1"/>
                          </a:solidFill>
                          <a:latin typeface="+mn-lt"/>
                          <a:ea typeface="+mn-ea"/>
                          <a:cs typeface="+mn-cs"/>
                        </a:rPr>
                        <a:t>A</a:t>
                      </a:r>
                    </a:p>
                  </a:txBody>
                  <a:tcPr/>
                </a:tc>
                <a:tc>
                  <a:txBody>
                    <a:bodyPr/>
                    <a:lstStyle/>
                    <a:p>
                      <a:pPr algn="ctr"/>
                      <a:r>
                        <a:rPr lang="en-US" sz="1400" kern="1200" dirty="0">
                          <a:solidFill>
                            <a:schemeClr val="dk1"/>
                          </a:solidFill>
                          <a:latin typeface="+mn-lt"/>
                          <a:ea typeface="+mn-ea"/>
                          <a:cs typeface="+mn-cs"/>
                        </a:rPr>
                        <a:t>R</a:t>
                      </a:r>
                    </a:p>
                  </a:txBody>
                  <a:tcPr/>
                </a:tc>
                <a:tc>
                  <a:txBody>
                    <a:bodyPr/>
                    <a:lstStyle/>
                    <a:p>
                      <a:pPr algn="ctr"/>
                      <a:r>
                        <a:rPr lang="en-US" sz="1400" kern="1200" dirty="0">
                          <a:solidFill>
                            <a:schemeClr val="dk1"/>
                          </a:solidFill>
                          <a:latin typeface="+mn-lt"/>
                          <a:ea typeface="+mn-ea"/>
                          <a:cs typeface="+mn-cs"/>
                        </a:rPr>
                        <a:t>R</a:t>
                      </a:r>
                    </a:p>
                  </a:txBody>
                  <a:tcPr/>
                </a:tc>
                <a:tc>
                  <a:txBody>
                    <a:bodyPr/>
                    <a:lstStyle/>
                    <a:p>
                      <a:pPr algn="ctr"/>
                      <a:r>
                        <a:rPr lang="en-US" sz="1400" kern="1200" dirty="0">
                          <a:solidFill>
                            <a:schemeClr val="dk1"/>
                          </a:solidFill>
                          <a:latin typeface="+mn-lt"/>
                          <a:ea typeface="+mn-ea"/>
                          <a:cs typeface="+mn-cs"/>
                        </a:rPr>
                        <a:t>C</a:t>
                      </a:r>
                    </a:p>
                  </a:txBody>
                  <a:tcPr/>
                </a:tc>
                <a:tc>
                  <a:txBody>
                    <a:bodyPr/>
                    <a:lstStyle/>
                    <a:p>
                      <a:pPr algn="ctr"/>
                      <a:r>
                        <a:rPr lang="en-US" sz="1400" kern="1200" dirty="0">
                          <a:solidFill>
                            <a:schemeClr val="dk1"/>
                          </a:solidFill>
                          <a:latin typeface="+mn-lt"/>
                          <a:ea typeface="+mn-ea"/>
                          <a:cs typeface="+mn-cs"/>
                        </a:rPr>
                        <a:t>C</a:t>
                      </a:r>
                    </a:p>
                  </a:txBody>
                  <a:tcPr/>
                </a:tc>
                <a:tc>
                  <a:txBody>
                    <a:bodyPr/>
                    <a:lstStyle/>
                    <a:p>
                      <a:pPr algn="ctr"/>
                      <a:r>
                        <a:rPr lang="en-US" sz="1400" kern="1200">
                          <a:solidFill>
                            <a:schemeClr val="dk1"/>
                          </a:solidFill>
                          <a:latin typeface="+mn-lt"/>
                          <a:ea typeface="+mn-ea"/>
                          <a:cs typeface="+mn-cs"/>
                        </a:rPr>
                        <a:t>I</a:t>
                      </a:r>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705413635"/>
                  </a:ext>
                </a:extLst>
              </a:tr>
              <a:tr h="413988">
                <a:tc>
                  <a:txBody>
                    <a:bodyPr/>
                    <a:lstStyle/>
                    <a:p>
                      <a:r>
                        <a:rPr lang="en-US" sz="1400" b="1" kern="1200" dirty="0">
                          <a:solidFill>
                            <a:schemeClr val="dk1"/>
                          </a:solidFill>
                          <a:latin typeface="+mn-lt"/>
                          <a:ea typeface="+mn-ea"/>
                          <a:cs typeface="+mn-cs"/>
                        </a:rPr>
                        <a:t>Define AppSec policy and standards</a:t>
                      </a:r>
                    </a:p>
                  </a:txBody>
                  <a:tcPr anchor="ctr"/>
                </a:tc>
                <a:tc>
                  <a:txBody>
                    <a:bodyPr/>
                    <a:lstStyle/>
                    <a:p>
                      <a:pPr algn="ctr"/>
                      <a:r>
                        <a:rPr lang="en-US" sz="1400" kern="1200" dirty="0">
                          <a:solidFill>
                            <a:schemeClr val="dk1"/>
                          </a:solidFill>
                          <a:latin typeface="+mn-lt"/>
                          <a:ea typeface="+mn-ea"/>
                          <a:cs typeface="+mn-cs"/>
                        </a:rPr>
                        <a:t>C</a:t>
                      </a:r>
                    </a:p>
                  </a:txBody>
                  <a:tcPr/>
                </a:tc>
                <a:tc>
                  <a:txBody>
                    <a:bodyPr/>
                    <a:lstStyle/>
                    <a:p>
                      <a:pPr algn="ctr"/>
                      <a:r>
                        <a:rPr lang="en-US" sz="1400" kern="1200" dirty="0">
                          <a:solidFill>
                            <a:schemeClr val="dk1"/>
                          </a:solidFill>
                          <a:latin typeface="+mn-lt"/>
                          <a:ea typeface="+mn-ea"/>
                          <a:cs typeface="+mn-cs"/>
                        </a:rPr>
                        <a:t>R</a:t>
                      </a:r>
                    </a:p>
                  </a:txBody>
                  <a:tcPr/>
                </a:tc>
                <a:tc>
                  <a:txBody>
                    <a:bodyPr/>
                    <a:lstStyle/>
                    <a:p>
                      <a:pPr algn="ctr"/>
                      <a:r>
                        <a:rPr lang="en-US" sz="1400" kern="1200" dirty="0">
                          <a:solidFill>
                            <a:schemeClr val="dk1"/>
                          </a:solidFill>
                          <a:latin typeface="+mn-lt"/>
                          <a:ea typeface="+mn-ea"/>
                          <a:cs typeface="+mn-cs"/>
                        </a:rPr>
                        <a:t>C</a:t>
                      </a:r>
                    </a:p>
                  </a:txBody>
                  <a:tcPr/>
                </a:tc>
                <a:tc>
                  <a:txBody>
                    <a:bodyPr/>
                    <a:lstStyle/>
                    <a:p>
                      <a:pPr algn="ctr"/>
                      <a:r>
                        <a:rPr lang="en-US" sz="1400" kern="1200" dirty="0">
                          <a:solidFill>
                            <a:schemeClr val="dk1"/>
                          </a:solidFill>
                          <a:latin typeface="+mn-lt"/>
                          <a:ea typeface="+mn-ea"/>
                          <a:cs typeface="+mn-cs"/>
                        </a:rPr>
                        <a:t>A</a:t>
                      </a:r>
                    </a:p>
                  </a:txBody>
                  <a:tcPr/>
                </a:tc>
                <a:tc>
                  <a:txBody>
                    <a:bodyPr/>
                    <a:lstStyle/>
                    <a:p>
                      <a:pPr algn="ctr"/>
                      <a:r>
                        <a:rPr lang="en-US" sz="1400" kern="1200" dirty="0">
                          <a:solidFill>
                            <a:schemeClr val="dk1"/>
                          </a:solidFill>
                          <a:latin typeface="+mn-lt"/>
                          <a:ea typeface="+mn-ea"/>
                          <a:cs typeface="+mn-cs"/>
                        </a:rPr>
                        <a:t>R</a:t>
                      </a:r>
                    </a:p>
                  </a:txBody>
                  <a:tcPr/>
                </a:tc>
                <a:tc>
                  <a:txBody>
                    <a:bodyPr/>
                    <a:lstStyle/>
                    <a:p>
                      <a:pPr algn="ctr"/>
                      <a:r>
                        <a:rPr lang="en-US" sz="1400" kern="1200">
                          <a:solidFill>
                            <a:schemeClr val="dk1"/>
                          </a:solidFill>
                          <a:latin typeface="+mn-lt"/>
                          <a:ea typeface="+mn-ea"/>
                          <a:cs typeface="+mn-cs"/>
                        </a:rPr>
                        <a:t>I</a:t>
                      </a:r>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687608371"/>
                  </a:ext>
                </a:extLst>
              </a:tr>
              <a:tr h="507376">
                <a:tc>
                  <a:txBody>
                    <a:bodyPr/>
                    <a:lstStyle/>
                    <a:p>
                      <a:r>
                        <a:rPr lang="en-US" sz="1400" b="1" kern="1200" dirty="0">
                          <a:solidFill>
                            <a:schemeClr val="dk1"/>
                          </a:solidFill>
                          <a:latin typeface="+mn-lt"/>
                          <a:ea typeface="+mn-ea"/>
                          <a:cs typeface="+mn-cs"/>
                        </a:rPr>
                        <a:t>Prioritize capabilities and investments</a:t>
                      </a:r>
                    </a:p>
                  </a:txBody>
                  <a:tcPr/>
                </a:tc>
                <a:tc>
                  <a:txBody>
                    <a:bodyPr/>
                    <a:lstStyle/>
                    <a:p>
                      <a:pPr algn="ctr"/>
                      <a:r>
                        <a:rPr lang="en-US" sz="1400" kern="1200" dirty="0">
                          <a:solidFill>
                            <a:schemeClr val="dk1"/>
                          </a:solidFill>
                          <a:latin typeface="+mn-lt"/>
                          <a:ea typeface="+mn-ea"/>
                          <a:cs typeface="+mn-cs"/>
                        </a:rPr>
                        <a:t>A</a:t>
                      </a:r>
                    </a:p>
                  </a:txBody>
                  <a:tcPr/>
                </a:tc>
                <a:tc>
                  <a:txBody>
                    <a:bodyPr/>
                    <a:lstStyle/>
                    <a:p>
                      <a:pPr algn="ctr"/>
                      <a:r>
                        <a:rPr lang="en-US" sz="1400" kern="1200" dirty="0">
                          <a:solidFill>
                            <a:schemeClr val="dk1"/>
                          </a:solidFill>
                          <a:latin typeface="+mn-lt"/>
                          <a:ea typeface="+mn-ea"/>
                          <a:cs typeface="+mn-cs"/>
                        </a:rPr>
                        <a:t>R</a:t>
                      </a:r>
                    </a:p>
                  </a:txBody>
                  <a:tcPr/>
                </a:tc>
                <a:tc>
                  <a:txBody>
                    <a:bodyPr/>
                    <a:lstStyle/>
                    <a:p>
                      <a:pPr algn="ctr"/>
                      <a:r>
                        <a:rPr lang="en-US" sz="1400" kern="1200" dirty="0">
                          <a:solidFill>
                            <a:schemeClr val="dk1"/>
                          </a:solidFill>
                          <a:latin typeface="+mn-lt"/>
                          <a:ea typeface="+mn-ea"/>
                          <a:cs typeface="+mn-cs"/>
                        </a:rPr>
                        <a:t>C</a:t>
                      </a:r>
                    </a:p>
                  </a:txBody>
                  <a:tcPr/>
                </a:tc>
                <a:tc>
                  <a:txBody>
                    <a:bodyPr/>
                    <a:lstStyle/>
                    <a:p>
                      <a:pPr algn="ctr"/>
                      <a:r>
                        <a:rPr lang="en-US" sz="1400" kern="1200" dirty="0">
                          <a:solidFill>
                            <a:schemeClr val="dk1"/>
                          </a:solidFill>
                          <a:latin typeface="+mn-lt"/>
                          <a:ea typeface="+mn-ea"/>
                          <a:cs typeface="+mn-cs"/>
                        </a:rPr>
                        <a:t>C</a:t>
                      </a:r>
                    </a:p>
                  </a:txBody>
                  <a:tcPr/>
                </a:tc>
                <a:tc>
                  <a:txBody>
                    <a:bodyPr/>
                    <a:lstStyle/>
                    <a:p>
                      <a:pPr algn="ctr"/>
                      <a:r>
                        <a:rPr lang="en-US" sz="1400" kern="1200" dirty="0">
                          <a:solidFill>
                            <a:schemeClr val="dk1"/>
                          </a:solidFill>
                          <a:latin typeface="+mn-lt"/>
                          <a:ea typeface="+mn-ea"/>
                          <a:cs typeface="+mn-cs"/>
                        </a:rPr>
                        <a:t>C</a:t>
                      </a:r>
                    </a:p>
                  </a:txBody>
                  <a:tcPr/>
                </a:tc>
                <a:tc>
                  <a:txBody>
                    <a:bodyPr/>
                    <a:lstStyle/>
                    <a:p>
                      <a:pPr algn="ctr"/>
                      <a:r>
                        <a:rPr lang="en-US" sz="1400" kern="1200" dirty="0">
                          <a:solidFill>
                            <a:schemeClr val="dk1"/>
                          </a:solidFill>
                          <a:latin typeface="+mn-lt"/>
                          <a:ea typeface="+mn-ea"/>
                          <a:cs typeface="+mn-cs"/>
                        </a:rPr>
                        <a:t>C</a:t>
                      </a:r>
                    </a:p>
                  </a:txBody>
                  <a:tcPr/>
                </a:tc>
                <a:extLst>
                  <a:ext uri="{0D108BD9-81ED-4DB2-BD59-A6C34878D82A}">
                    <a16:rowId xmlns:a16="http://schemas.microsoft.com/office/drawing/2014/main" val="476152304"/>
                  </a:ext>
                </a:extLst>
              </a:tr>
              <a:tr h="378366">
                <a:tc>
                  <a:txBody>
                    <a:bodyPr/>
                    <a:lstStyle/>
                    <a:p>
                      <a:r>
                        <a:rPr lang="en-US" sz="1400" b="1" kern="1200" dirty="0">
                          <a:solidFill>
                            <a:schemeClr val="dk1"/>
                          </a:solidFill>
                          <a:latin typeface="+mn-lt"/>
                          <a:ea typeface="+mn-ea"/>
                          <a:cs typeface="+mn-cs"/>
                        </a:rPr>
                        <a:t>iSSDLC budget steering</a:t>
                      </a:r>
                    </a:p>
                  </a:txBody>
                  <a:tcPr/>
                </a:tc>
                <a:tc>
                  <a:txBody>
                    <a:bodyPr/>
                    <a:lstStyle/>
                    <a:p>
                      <a:pPr algn="ctr"/>
                      <a:r>
                        <a:rPr lang="en-US" sz="1400" kern="1200" dirty="0">
                          <a:solidFill>
                            <a:schemeClr val="dk1"/>
                          </a:solidFill>
                          <a:latin typeface="+mn-lt"/>
                          <a:ea typeface="+mn-ea"/>
                          <a:cs typeface="+mn-cs"/>
                        </a:rPr>
                        <a:t>A</a:t>
                      </a:r>
                    </a:p>
                  </a:txBody>
                  <a:tcPr/>
                </a:tc>
                <a:tc>
                  <a:txBody>
                    <a:bodyPr/>
                    <a:lstStyle/>
                    <a:p>
                      <a:pPr algn="ctr"/>
                      <a:r>
                        <a:rPr lang="en-US" sz="1400" kern="1200" dirty="0">
                          <a:solidFill>
                            <a:schemeClr val="dk1"/>
                          </a:solidFill>
                          <a:latin typeface="+mn-lt"/>
                          <a:ea typeface="+mn-ea"/>
                          <a:cs typeface="+mn-cs"/>
                        </a:rPr>
                        <a:t>C</a:t>
                      </a:r>
                    </a:p>
                  </a:txBody>
                  <a:tcPr/>
                </a:tc>
                <a:tc>
                  <a:txBody>
                    <a:bodyPr/>
                    <a:lstStyle/>
                    <a:p>
                      <a:pPr algn="ctr"/>
                      <a:r>
                        <a:rPr lang="en-US" sz="1400" kern="1200" dirty="0">
                          <a:solidFill>
                            <a:schemeClr val="dk1"/>
                          </a:solidFill>
                          <a:latin typeface="+mn-lt"/>
                          <a:ea typeface="+mn-ea"/>
                          <a:cs typeface="+mn-cs"/>
                        </a:rPr>
                        <a:t>R</a:t>
                      </a:r>
                    </a:p>
                  </a:txBody>
                  <a:tcPr/>
                </a:tc>
                <a:tc>
                  <a:txBody>
                    <a:bodyPr/>
                    <a:lstStyle/>
                    <a:p>
                      <a:pPr algn="ctr"/>
                      <a:r>
                        <a:rPr lang="en-US" sz="1400" kern="1200" dirty="0">
                          <a:solidFill>
                            <a:schemeClr val="dk1"/>
                          </a:solidFill>
                          <a:latin typeface="+mn-lt"/>
                          <a:ea typeface="+mn-ea"/>
                          <a:cs typeface="+mn-cs"/>
                        </a:rPr>
                        <a:t>C</a:t>
                      </a:r>
                    </a:p>
                  </a:txBody>
                  <a:tcPr/>
                </a:tc>
                <a:tc>
                  <a:txBody>
                    <a:bodyPr/>
                    <a:lstStyle/>
                    <a:p>
                      <a:pPr algn="ctr"/>
                      <a:r>
                        <a:rPr lang="en-US" sz="1400" kern="1200" dirty="0">
                          <a:solidFill>
                            <a:schemeClr val="dk1"/>
                          </a:solidFill>
                          <a:latin typeface="+mn-lt"/>
                          <a:ea typeface="+mn-ea"/>
                          <a:cs typeface="+mn-cs"/>
                        </a:rPr>
                        <a:t>C</a:t>
                      </a:r>
                    </a:p>
                  </a:txBody>
                  <a:tcPr/>
                </a:tc>
                <a:tc>
                  <a:txBody>
                    <a:bodyPr/>
                    <a:lstStyle/>
                    <a:p>
                      <a:pPr algn="ctr"/>
                      <a:r>
                        <a:rPr lang="en-US" sz="1400" kern="1200" dirty="0">
                          <a:solidFill>
                            <a:schemeClr val="dk1"/>
                          </a:solidFill>
                          <a:latin typeface="+mn-lt"/>
                          <a:ea typeface="+mn-ea"/>
                          <a:cs typeface="+mn-cs"/>
                        </a:rPr>
                        <a:t>C</a:t>
                      </a:r>
                    </a:p>
                  </a:txBody>
                  <a:tcPr/>
                </a:tc>
                <a:extLst>
                  <a:ext uri="{0D108BD9-81ED-4DB2-BD59-A6C34878D82A}">
                    <a16:rowId xmlns:a16="http://schemas.microsoft.com/office/drawing/2014/main" val="1172817085"/>
                  </a:ext>
                </a:extLst>
              </a:tr>
              <a:tr h="433244">
                <a:tc>
                  <a:txBody>
                    <a:bodyPr/>
                    <a:lstStyle/>
                    <a:p>
                      <a:r>
                        <a:rPr lang="en-US" sz="1400" b="1" kern="1200" dirty="0">
                          <a:solidFill>
                            <a:schemeClr val="dk1"/>
                          </a:solidFill>
                          <a:latin typeface="+mn-lt"/>
                          <a:ea typeface="+mn-ea"/>
                          <a:cs typeface="+mn-cs"/>
                        </a:rPr>
                        <a:t>Continuous improvement</a:t>
                      </a:r>
                    </a:p>
                  </a:txBody>
                  <a:tcPr/>
                </a:tc>
                <a:tc>
                  <a:txBody>
                    <a:bodyPr/>
                    <a:lstStyle/>
                    <a:p>
                      <a:pPr algn="ctr"/>
                      <a:r>
                        <a:rPr lang="en-US" sz="1400" kern="1200">
                          <a:solidFill>
                            <a:schemeClr val="dk1"/>
                          </a:solidFill>
                          <a:latin typeface="+mn-lt"/>
                          <a:ea typeface="+mn-ea"/>
                          <a:cs typeface="+mn-cs"/>
                        </a:rPr>
                        <a:t>I</a:t>
                      </a:r>
                      <a:endParaRPr lang="en-US" sz="1400" kern="1200" dirty="0">
                        <a:solidFill>
                          <a:schemeClr val="dk1"/>
                        </a:solidFill>
                        <a:latin typeface="+mn-lt"/>
                        <a:ea typeface="+mn-ea"/>
                        <a:cs typeface="+mn-cs"/>
                      </a:endParaRPr>
                    </a:p>
                  </a:txBody>
                  <a:tcPr/>
                </a:tc>
                <a:tc>
                  <a:txBody>
                    <a:bodyPr/>
                    <a:lstStyle/>
                    <a:p>
                      <a:pPr algn="ctr"/>
                      <a:r>
                        <a:rPr lang="en-US" sz="1400" kern="1200" dirty="0">
                          <a:solidFill>
                            <a:schemeClr val="dk1"/>
                          </a:solidFill>
                          <a:latin typeface="+mn-lt"/>
                          <a:ea typeface="+mn-ea"/>
                          <a:cs typeface="+mn-cs"/>
                        </a:rPr>
                        <a:t>A</a:t>
                      </a:r>
                    </a:p>
                  </a:txBody>
                  <a:tcPr/>
                </a:tc>
                <a:tc>
                  <a:txBody>
                    <a:bodyPr/>
                    <a:lstStyle/>
                    <a:p>
                      <a:pPr algn="ctr"/>
                      <a:r>
                        <a:rPr lang="en-US" sz="1400" kern="1200" dirty="0">
                          <a:solidFill>
                            <a:schemeClr val="dk1"/>
                          </a:solidFill>
                          <a:latin typeface="+mn-lt"/>
                          <a:ea typeface="+mn-ea"/>
                          <a:cs typeface="+mn-cs"/>
                        </a:rPr>
                        <a:t>C</a:t>
                      </a:r>
                    </a:p>
                  </a:txBody>
                  <a:tcPr/>
                </a:tc>
                <a:tc>
                  <a:txBody>
                    <a:bodyPr/>
                    <a:lstStyle/>
                    <a:p>
                      <a:pPr algn="ctr"/>
                      <a:r>
                        <a:rPr lang="en-US" sz="1400" kern="1200" dirty="0">
                          <a:solidFill>
                            <a:schemeClr val="dk1"/>
                          </a:solidFill>
                          <a:latin typeface="+mn-lt"/>
                          <a:ea typeface="+mn-ea"/>
                          <a:cs typeface="+mn-cs"/>
                        </a:rPr>
                        <a:t>R</a:t>
                      </a:r>
                    </a:p>
                  </a:txBody>
                  <a:tcPr/>
                </a:tc>
                <a:tc>
                  <a:txBody>
                    <a:bodyPr/>
                    <a:lstStyle/>
                    <a:p>
                      <a:pPr algn="ctr"/>
                      <a:r>
                        <a:rPr lang="en-US" sz="1400" kern="1200" dirty="0">
                          <a:solidFill>
                            <a:schemeClr val="dk1"/>
                          </a:solidFill>
                          <a:latin typeface="+mn-lt"/>
                          <a:ea typeface="+mn-ea"/>
                          <a:cs typeface="+mn-cs"/>
                        </a:rPr>
                        <a:t>R</a:t>
                      </a:r>
                    </a:p>
                  </a:txBody>
                  <a:tcPr/>
                </a:tc>
                <a:tc>
                  <a:txBody>
                    <a:bodyPr/>
                    <a:lstStyle/>
                    <a:p>
                      <a:pPr algn="ctr"/>
                      <a:r>
                        <a:rPr lang="en-US" sz="1400" kern="1200" dirty="0">
                          <a:solidFill>
                            <a:schemeClr val="dk1"/>
                          </a:solidFill>
                          <a:latin typeface="+mn-lt"/>
                          <a:ea typeface="+mn-ea"/>
                          <a:cs typeface="+mn-cs"/>
                        </a:rPr>
                        <a:t>C</a:t>
                      </a:r>
                    </a:p>
                  </a:txBody>
                  <a:tcPr/>
                </a:tc>
                <a:extLst>
                  <a:ext uri="{0D108BD9-81ED-4DB2-BD59-A6C34878D82A}">
                    <a16:rowId xmlns:a16="http://schemas.microsoft.com/office/drawing/2014/main" val="2691011214"/>
                  </a:ext>
                </a:extLst>
              </a:tr>
              <a:tr h="507376">
                <a:tc>
                  <a:txBody>
                    <a:bodyPr/>
                    <a:lstStyle/>
                    <a:p>
                      <a:r>
                        <a:rPr lang="it-IT" sz="1400" b="1" kern="1200" dirty="0">
                          <a:solidFill>
                            <a:schemeClr val="dk1"/>
                          </a:solidFill>
                          <a:latin typeface="+mn-lt"/>
                          <a:ea typeface="+mn-ea"/>
                          <a:cs typeface="+mn-cs"/>
                        </a:rPr>
                        <a:t>Enterprise risk and threat alignment	</a:t>
                      </a:r>
                      <a:endParaRPr lang="en-US" sz="1400" b="1" kern="1200" dirty="0">
                        <a:solidFill>
                          <a:schemeClr val="dk1"/>
                        </a:solidFill>
                        <a:latin typeface="+mn-lt"/>
                        <a:ea typeface="+mn-ea"/>
                        <a:cs typeface="+mn-cs"/>
                      </a:endParaRPr>
                    </a:p>
                  </a:txBody>
                  <a:tcPr/>
                </a:tc>
                <a:tc>
                  <a:txBody>
                    <a:bodyPr/>
                    <a:lstStyle/>
                    <a:p>
                      <a:pPr algn="ctr"/>
                      <a:r>
                        <a:rPr lang="en-US" sz="1400" kern="1200" dirty="0">
                          <a:solidFill>
                            <a:schemeClr val="dk1"/>
                          </a:solidFill>
                          <a:latin typeface="+mn-lt"/>
                          <a:ea typeface="+mn-ea"/>
                          <a:cs typeface="+mn-cs"/>
                        </a:rPr>
                        <a:t>R</a:t>
                      </a:r>
                    </a:p>
                  </a:txBody>
                  <a:tcPr/>
                </a:tc>
                <a:tc>
                  <a:txBody>
                    <a:bodyPr/>
                    <a:lstStyle/>
                    <a:p>
                      <a:pPr algn="ctr"/>
                      <a:r>
                        <a:rPr lang="en-US" sz="1400" kern="1200" dirty="0">
                          <a:solidFill>
                            <a:schemeClr val="dk1"/>
                          </a:solidFill>
                          <a:latin typeface="+mn-lt"/>
                          <a:ea typeface="+mn-ea"/>
                          <a:cs typeface="+mn-cs"/>
                        </a:rPr>
                        <a:t>A</a:t>
                      </a:r>
                    </a:p>
                  </a:txBody>
                  <a:tcPr/>
                </a:tc>
                <a:tc>
                  <a:txBody>
                    <a:bodyPr/>
                    <a:lstStyle/>
                    <a:p>
                      <a:pPr algn="ctr"/>
                      <a:r>
                        <a:rPr lang="en-US" sz="1400" kern="1200" dirty="0">
                          <a:solidFill>
                            <a:schemeClr val="dk1"/>
                          </a:solidFill>
                          <a:latin typeface="+mn-lt"/>
                          <a:ea typeface="+mn-ea"/>
                          <a:cs typeface="+mn-cs"/>
                        </a:rPr>
                        <a:t>C</a:t>
                      </a:r>
                    </a:p>
                  </a:txBody>
                  <a:tcPr/>
                </a:tc>
                <a:tc>
                  <a:txBody>
                    <a:bodyPr/>
                    <a:lstStyle/>
                    <a:p>
                      <a:pPr algn="ctr"/>
                      <a:r>
                        <a:rPr lang="en-US" sz="1400" kern="1200" dirty="0">
                          <a:solidFill>
                            <a:schemeClr val="dk1"/>
                          </a:solidFill>
                          <a:latin typeface="+mn-lt"/>
                          <a:ea typeface="+mn-ea"/>
                          <a:cs typeface="+mn-cs"/>
                        </a:rPr>
                        <a:t>C</a:t>
                      </a:r>
                    </a:p>
                  </a:txBody>
                  <a:tcPr/>
                </a:tc>
                <a:tc>
                  <a:txBody>
                    <a:bodyPr/>
                    <a:lstStyle/>
                    <a:p>
                      <a:pPr algn="ctr"/>
                      <a:r>
                        <a:rPr lang="en-US" sz="1400" kern="1200">
                          <a:solidFill>
                            <a:schemeClr val="dk1"/>
                          </a:solidFill>
                          <a:latin typeface="+mn-lt"/>
                          <a:ea typeface="+mn-ea"/>
                          <a:cs typeface="+mn-cs"/>
                        </a:rPr>
                        <a:t>I</a:t>
                      </a:r>
                      <a:endParaRPr lang="en-US" sz="1400" kern="1200" dirty="0">
                        <a:solidFill>
                          <a:schemeClr val="dk1"/>
                        </a:solidFill>
                        <a:latin typeface="+mn-lt"/>
                        <a:ea typeface="+mn-ea"/>
                        <a:cs typeface="+mn-cs"/>
                      </a:endParaRPr>
                    </a:p>
                  </a:txBody>
                  <a:tcPr/>
                </a:tc>
                <a:tc>
                  <a:txBody>
                    <a:bodyPr/>
                    <a:lstStyle/>
                    <a:p>
                      <a:pPr algn="ctr"/>
                      <a:r>
                        <a:rPr lang="en-US" sz="1400" kern="1200" dirty="0">
                          <a:solidFill>
                            <a:schemeClr val="dk1"/>
                          </a:solidFill>
                          <a:latin typeface="+mn-lt"/>
                          <a:ea typeface="+mn-ea"/>
                          <a:cs typeface="+mn-cs"/>
                        </a:rPr>
                        <a:t>C</a:t>
                      </a:r>
                    </a:p>
                  </a:txBody>
                  <a:tcPr/>
                </a:tc>
                <a:extLst>
                  <a:ext uri="{0D108BD9-81ED-4DB2-BD59-A6C34878D82A}">
                    <a16:rowId xmlns:a16="http://schemas.microsoft.com/office/drawing/2014/main" val="608421202"/>
                  </a:ext>
                </a:extLst>
              </a:tr>
              <a:tr h="397621">
                <a:tc>
                  <a:txBody>
                    <a:bodyPr/>
                    <a:lstStyle/>
                    <a:p>
                      <a:r>
                        <a:rPr lang="en-US" sz="1400" b="1" kern="1200" dirty="0">
                          <a:solidFill>
                            <a:schemeClr val="dk1"/>
                          </a:solidFill>
                          <a:latin typeface="+mn-lt"/>
                          <a:ea typeface="+mn-ea"/>
                          <a:cs typeface="+mn-cs"/>
                        </a:rPr>
                        <a:t>Tool and process governance</a:t>
                      </a:r>
                    </a:p>
                  </a:txBody>
                  <a:tcPr/>
                </a:tc>
                <a:tc>
                  <a:txBody>
                    <a:bodyPr/>
                    <a:lstStyle/>
                    <a:p>
                      <a:pPr algn="ctr"/>
                      <a:r>
                        <a:rPr lang="en-US" sz="1400" kern="1200">
                          <a:solidFill>
                            <a:schemeClr val="dk1"/>
                          </a:solidFill>
                          <a:latin typeface="+mn-lt"/>
                          <a:ea typeface="+mn-ea"/>
                          <a:cs typeface="+mn-cs"/>
                        </a:rPr>
                        <a:t>I</a:t>
                      </a:r>
                      <a:endParaRPr lang="en-US" sz="1400" kern="1200" dirty="0">
                        <a:solidFill>
                          <a:schemeClr val="dk1"/>
                        </a:solidFill>
                        <a:latin typeface="+mn-lt"/>
                        <a:ea typeface="+mn-ea"/>
                        <a:cs typeface="+mn-cs"/>
                      </a:endParaRPr>
                    </a:p>
                  </a:txBody>
                  <a:tcPr/>
                </a:tc>
                <a:tc>
                  <a:txBody>
                    <a:bodyPr/>
                    <a:lstStyle/>
                    <a:p>
                      <a:pPr algn="ctr"/>
                      <a:r>
                        <a:rPr lang="en-US" sz="1400" kern="1200" dirty="0">
                          <a:solidFill>
                            <a:schemeClr val="dk1"/>
                          </a:solidFill>
                          <a:latin typeface="+mn-lt"/>
                          <a:ea typeface="+mn-ea"/>
                          <a:cs typeface="+mn-cs"/>
                        </a:rPr>
                        <a:t>R</a:t>
                      </a:r>
                    </a:p>
                  </a:txBody>
                  <a:tcPr/>
                </a:tc>
                <a:tc>
                  <a:txBody>
                    <a:bodyPr/>
                    <a:lstStyle/>
                    <a:p>
                      <a:pPr algn="ctr"/>
                      <a:r>
                        <a:rPr lang="en-US" sz="1400" kern="1200" dirty="0">
                          <a:solidFill>
                            <a:schemeClr val="dk1"/>
                          </a:solidFill>
                          <a:latin typeface="+mn-lt"/>
                          <a:ea typeface="+mn-ea"/>
                          <a:cs typeface="+mn-cs"/>
                        </a:rPr>
                        <a:t>R</a:t>
                      </a:r>
                    </a:p>
                  </a:txBody>
                  <a:tcPr/>
                </a:tc>
                <a:tc>
                  <a:txBody>
                    <a:bodyPr/>
                    <a:lstStyle/>
                    <a:p>
                      <a:pPr algn="ctr"/>
                      <a:r>
                        <a:rPr lang="en-US" sz="1400" kern="1200" dirty="0">
                          <a:solidFill>
                            <a:schemeClr val="dk1"/>
                          </a:solidFill>
                          <a:latin typeface="+mn-lt"/>
                          <a:ea typeface="+mn-ea"/>
                          <a:cs typeface="+mn-cs"/>
                        </a:rPr>
                        <a:t>C</a:t>
                      </a:r>
                    </a:p>
                  </a:txBody>
                  <a:tcPr/>
                </a:tc>
                <a:tc>
                  <a:txBody>
                    <a:bodyPr/>
                    <a:lstStyle/>
                    <a:p>
                      <a:pPr algn="ctr"/>
                      <a:r>
                        <a:rPr lang="en-US" sz="1400" kern="1200" dirty="0">
                          <a:solidFill>
                            <a:schemeClr val="dk1"/>
                          </a:solidFill>
                          <a:latin typeface="+mn-lt"/>
                          <a:ea typeface="+mn-ea"/>
                          <a:cs typeface="+mn-cs"/>
                        </a:rPr>
                        <a:t>A</a:t>
                      </a:r>
                    </a:p>
                  </a:txBody>
                  <a:tcPr/>
                </a:tc>
                <a:tc>
                  <a:txBody>
                    <a:bodyPr/>
                    <a:lstStyle/>
                    <a:p>
                      <a:pPr algn="ctr"/>
                      <a:r>
                        <a:rPr lang="en-US" sz="1400" kern="1200" dirty="0">
                          <a:solidFill>
                            <a:schemeClr val="dk1"/>
                          </a:solidFill>
                          <a:latin typeface="+mn-lt"/>
                          <a:ea typeface="+mn-ea"/>
                          <a:cs typeface="+mn-cs"/>
                        </a:rPr>
                        <a:t>C</a:t>
                      </a:r>
                    </a:p>
                  </a:txBody>
                  <a:tcPr/>
                </a:tc>
                <a:extLst>
                  <a:ext uri="{0D108BD9-81ED-4DB2-BD59-A6C34878D82A}">
                    <a16:rowId xmlns:a16="http://schemas.microsoft.com/office/drawing/2014/main" val="2036057382"/>
                  </a:ext>
                </a:extLst>
              </a:tr>
              <a:tr h="404361">
                <a:tc>
                  <a:txBody>
                    <a:bodyPr/>
                    <a:lstStyle/>
                    <a:p>
                      <a:r>
                        <a:rPr lang="en-US" sz="1400" b="1" kern="1200" dirty="0">
                          <a:solidFill>
                            <a:schemeClr val="dk1"/>
                          </a:solidFill>
                          <a:latin typeface="+mn-lt"/>
                          <a:ea typeface="+mn-ea"/>
                          <a:cs typeface="+mn-cs"/>
                        </a:rPr>
                        <a:t>Metrics and reporting oversight</a:t>
                      </a:r>
                    </a:p>
                  </a:txBody>
                  <a:tcPr/>
                </a:tc>
                <a:tc>
                  <a:txBody>
                    <a:bodyPr/>
                    <a:lstStyle/>
                    <a:p>
                      <a:pPr algn="ctr"/>
                      <a:r>
                        <a:rPr lang="en-US" sz="1400" kern="1200" dirty="0">
                          <a:solidFill>
                            <a:schemeClr val="dk1"/>
                          </a:solidFill>
                          <a:latin typeface="+mn-lt"/>
                          <a:ea typeface="+mn-ea"/>
                          <a:cs typeface="+mn-cs"/>
                        </a:rPr>
                        <a:t>R</a:t>
                      </a:r>
                    </a:p>
                  </a:txBody>
                  <a:tcPr/>
                </a:tc>
                <a:tc>
                  <a:txBody>
                    <a:bodyPr/>
                    <a:lstStyle/>
                    <a:p>
                      <a:pPr algn="ctr"/>
                      <a:r>
                        <a:rPr lang="en-US" sz="1400" kern="1200" dirty="0">
                          <a:solidFill>
                            <a:schemeClr val="dk1"/>
                          </a:solidFill>
                          <a:latin typeface="+mn-lt"/>
                          <a:ea typeface="+mn-ea"/>
                          <a:cs typeface="+mn-cs"/>
                        </a:rPr>
                        <a:t>A</a:t>
                      </a:r>
                    </a:p>
                  </a:txBody>
                  <a:tcPr/>
                </a:tc>
                <a:tc>
                  <a:txBody>
                    <a:bodyPr/>
                    <a:lstStyle/>
                    <a:p>
                      <a:pPr algn="ctr"/>
                      <a:r>
                        <a:rPr lang="en-US" sz="1400" kern="1200" dirty="0">
                          <a:solidFill>
                            <a:schemeClr val="dk1"/>
                          </a:solidFill>
                          <a:latin typeface="+mn-lt"/>
                          <a:ea typeface="+mn-ea"/>
                          <a:cs typeface="+mn-cs"/>
                        </a:rPr>
                        <a:t>C</a:t>
                      </a:r>
                    </a:p>
                  </a:txBody>
                  <a:tcPr/>
                </a:tc>
                <a:tc>
                  <a:txBody>
                    <a:bodyPr/>
                    <a:lstStyle/>
                    <a:p>
                      <a:pPr algn="ctr"/>
                      <a:r>
                        <a:rPr lang="en-US" sz="1400" kern="1200">
                          <a:solidFill>
                            <a:schemeClr val="dk1"/>
                          </a:solidFill>
                          <a:latin typeface="+mn-lt"/>
                          <a:ea typeface="+mn-ea"/>
                          <a:cs typeface="+mn-cs"/>
                        </a:rPr>
                        <a:t>I</a:t>
                      </a:r>
                      <a:endParaRPr lang="en-US" sz="1400" kern="1200" dirty="0">
                        <a:solidFill>
                          <a:schemeClr val="dk1"/>
                        </a:solidFill>
                        <a:latin typeface="+mn-lt"/>
                        <a:ea typeface="+mn-ea"/>
                        <a:cs typeface="+mn-cs"/>
                      </a:endParaRPr>
                    </a:p>
                  </a:txBody>
                  <a:tcPr/>
                </a:tc>
                <a:tc>
                  <a:txBody>
                    <a:bodyPr/>
                    <a:lstStyle/>
                    <a:p>
                      <a:pPr algn="ctr"/>
                      <a:r>
                        <a:rPr lang="en-US" sz="1400" kern="1200" dirty="0">
                          <a:solidFill>
                            <a:schemeClr val="dk1"/>
                          </a:solidFill>
                          <a:latin typeface="+mn-lt"/>
                          <a:ea typeface="+mn-ea"/>
                          <a:cs typeface="+mn-cs"/>
                        </a:rPr>
                        <a:t>R</a:t>
                      </a:r>
                    </a:p>
                  </a:txBody>
                  <a:tcPr/>
                </a:tc>
                <a:tc>
                  <a:txBody>
                    <a:bodyPr/>
                    <a:lstStyle/>
                    <a:p>
                      <a:pPr algn="ctr"/>
                      <a:r>
                        <a:rPr lang="en-US" sz="1400" kern="1200" dirty="0">
                          <a:solidFill>
                            <a:schemeClr val="dk1"/>
                          </a:solidFill>
                          <a:latin typeface="+mn-lt"/>
                          <a:ea typeface="+mn-ea"/>
                          <a:cs typeface="+mn-cs"/>
                        </a:rPr>
                        <a:t>C</a:t>
                      </a:r>
                    </a:p>
                  </a:txBody>
                  <a:tcPr/>
                </a:tc>
                <a:extLst>
                  <a:ext uri="{0D108BD9-81ED-4DB2-BD59-A6C34878D82A}">
                    <a16:rowId xmlns:a16="http://schemas.microsoft.com/office/drawing/2014/main" val="1570993331"/>
                  </a:ext>
                </a:extLst>
              </a:tr>
              <a:tr h="491129">
                <a:tc>
                  <a:txBody>
                    <a:bodyPr/>
                    <a:lstStyle/>
                    <a:p>
                      <a:r>
                        <a:rPr lang="en-US" sz="1400" b="1" kern="1200" dirty="0">
                          <a:solidFill>
                            <a:schemeClr val="dk1"/>
                          </a:solidFill>
                          <a:latin typeface="+mn-lt"/>
                          <a:ea typeface="+mn-ea"/>
                          <a:cs typeface="+mn-cs"/>
                        </a:rPr>
                        <a:t>Exception management</a:t>
                      </a:r>
                    </a:p>
                  </a:txBody>
                  <a:tcPr/>
                </a:tc>
                <a:tc>
                  <a:txBody>
                    <a:bodyPr/>
                    <a:lstStyle/>
                    <a:p>
                      <a:pPr algn="ctr"/>
                      <a:r>
                        <a:rPr lang="en-US" sz="1400" kern="1200" dirty="0">
                          <a:solidFill>
                            <a:schemeClr val="dk1"/>
                          </a:solidFill>
                          <a:latin typeface="+mn-lt"/>
                          <a:ea typeface="+mn-ea"/>
                          <a:cs typeface="+mn-cs"/>
                        </a:rPr>
                        <a:t>A</a:t>
                      </a:r>
                    </a:p>
                  </a:txBody>
                  <a:tcPr/>
                </a:tc>
                <a:tc>
                  <a:txBody>
                    <a:bodyPr/>
                    <a:lstStyle/>
                    <a:p>
                      <a:pPr algn="ctr"/>
                      <a:r>
                        <a:rPr lang="en-US" sz="1400" kern="1200" dirty="0">
                          <a:solidFill>
                            <a:schemeClr val="dk1"/>
                          </a:solidFill>
                          <a:latin typeface="+mn-lt"/>
                          <a:ea typeface="+mn-ea"/>
                          <a:cs typeface="+mn-cs"/>
                        </a:rPr>
                        <a:t>C</a:t>
                      </a:r>
                    </a:p>
                  </a:txBody>
                  <a:tcPr/>
                </a:tc>
                <a:tc>
                  <a:txBody>
                    <a:bodyPr/>
                    <a:lstStyle/>
                    <a:p>
                      <a:pPr algn="ctr"/>
                      <a:r>
                        <a:rPr lang="en-US" sz="1400" kern="1200" dirty="0">
                          <a:solidFill>
                            <a:schemeClr val="dk1"/>
                          </a:solidFill>
                          <a:latin typeface="+mn-lt"/>
                          <a:ea typeface="+mn-ea"/>
                          <a:cs typeface="+mn-cs"/>
                        </a:rPr>
                        <a:t>C</a:t>
                      </a:r>
                    </a:p>
                  </a:txBody>
                  <a:tcPr/>
                </a:tc>
                <a:tc>
                  <a:txBody>
                    <a:bodyPr/>
                    <a:lstStyle/>
                    <a:p>
                      <a:pPr algn="ctr"/>
                      <a:r>
                        <a:rPr lang="en-US" sz="1400" kern="1200">
                          <a:solidFill>
                            <a:schemeClr val="dk1"/>
                          </a:solidFill>
                          <a:latin typeface="+mn-lt"/>
                          <a:ea typeface="+mn-ea"/>
                          <a:cs typeface="+mn-cs"/>
                        </a:rPr>
                        <a:t>I</a:t>
                      </a:r>
                      <a:endParaRPr lang="en-US" sz="1400" kern="1200" dirty="0">
                        <a:solidFill>
                          <a:schemeClr val="dk1"/>
                        </a:solidFill>
                        <a:latin typeface="+mn-lt"/>
                        <a:ea typeface="+mn-ea"/>
                        <a:cs typeface="+mn-cs"/>
                      </a:endParaRPr>
                    </a:p>
                  </a:txBody>
                  <a:tcPr/>
                </a:tc>
                <a:tc>
                  <a:txBody>
                    <a:bodyPr/>
                    <a:lstStyle/>
                    <a:p>
                      <a:pPr algn="ctr"/>
                      <a:r>
                        <a:rPr lang="en-US" sz="1400" kern="1200" dirty="0">
                          <a:solidFill>
                            <a:schemeClr val="dk1"/>
                          </a:solidFill>
                          <a:latin typeface="+mn-lt"/>
                          <a:ea typeface="+mn-ea"/>
                          <a:cs typeface="+mn-cs"/>
                        </a:rPr>
                        <a:t>R</a:t>
                      </a:r>
                    </a:p>
                  </a:txBody>
                  <a:tcPr/>
                </a:tc>
                <a:tc>
                  <a:txBody>
                    <a:bodyPr/>
                    <a:lstStyle/>
                    <a:p>
                      <a:pPr algn="ctr"/>
                      <a:r>
                        <a:rPr lang="en-US" sz="1400" kern="1200" dirty="0">
                          <a:solidFill>
                            <a:schemeClr val="dk1"/>
                          </a:solidFill>
                          <a:latin typeface="+mn-lt"/>
                          <a:ea typeface="+mn-ea"/>
                          <a:cs typeface="+mn-cs"/>
                        </a:rPr>
                        <a:t>R</a:t>
                      </a:r>
                    </a:p>
                  </a:txBody>
                  <a:tcPr/>
                </a:tc>
                <a:extLst>
                  <a:ext uri="{0D108BD9-81ED-4DB2-BD59-A6C34878D82A}">
                    <a16:rowId xmlns:a16="http://schemas.microsoft.com/office/drawing/2014/main" val="3278045094"/>
                  </a:ext>
                </a:extLst>
              </a:tr>
              <a:tr h="491129">
                <a:tc>
                  <a:txBody>
                    <a:bodyPr/>
                    <a:lstStyle/>
                    <a:p>
                      <a:r>
                        <a:rPr lang="en-US" sz="1400" b="1" kern="1200" dirty="0">
                          <a:solidFill>
                            <a:schemeClr val="dk1"/>
                          </a:solidFill>
                          <a:latin typeface="+mn-lt"/>
                          <a:ea typeface="+mn-ea"/>
                          <a:cs typeface="+mn-cs"/>
                        </a:rPr>
                        <a:t>Release gate management</a:t>
                      </a:r>
                    </a:p>
                  </a:txBody>
                  <a:tcPr/>
                </a:tc>
                <a:tc>
                  <a:txBody>
                    <a:bodyPr/>
                    <a:lstStyle/>
                    <a:p>
                      <a:pPr algn="ctr"/>
                      <a:r>
                        <a:rPr lang="en-US" sz="1400" kern="1200" dirty="0">
                          <a:solidFill>
                            <a:schemeClr val="dk1"/>
                          </a:solidFill>
                          <a:latin typeface="+mn-lt"/>
                          <a:ea typeface="+mn-ea"/>
                          <a:cs typeface="+mn-cs"/>
                        </a:rPr>
                        <a:t>A</a:t>
                      </a:r>
                    </a:p>
                  </a:txBody>
                  <a:tcPr/>
                </a:tc>
                <a:tc>
                  <a:txBody>
                    <a:bodyPr/>
                    <a:lstStyle/>
                    <a:p>
                      <a:pPr algn="ctr"/>
                      <a:r>
                        <a:rPr lang="en-US" sz="1400" kern="1200" dirty="0">
                          <a:solidFill>
                            <a:schemeClr val="dk1"/>
                          </a:solidFill>
                          <a:latin typeface="+mn-lt"/>
                          <a:ea typeface="+mn-ea"/>
                          <a:cs typeface="+mn-cs"/>
                        </a:rPr>
                        <a:t>R</a:t>
                      </a:r>
                    </a:p>
                  </a:txBody>
                  <a:tcPr/>
                </a:tc>
                <a:tc>
                  <a:txBody>
                    <a:bodyPr/>
                    <a:lstStyle/>
                    <a:p>
                      <a:pPr algn="ctr"/>
                      <a:r>
                        <a:rPr lang="en-US" sz="1400" kern="1200" dirty="0">
                          <a:solidFill>
                            <a:schemeClr val="dk1"/>
                          </a:solidFill>
                          <a:latin typeface="+mn-lt"/>
                          <a:ea typeface="+mn-ea"/>
                          <a:cs typeface="+mn-cs"/>
                        </a:rPr>
                        <a:t>C</a:t>
                      </a:r>
                    </a:p>
                  </a:txBody>
                  <a:tcPr/>
                </a:tc>
                <a:tc>
                  <a:txBody>
                    <a:bodyPr/>
                    <a:lstStyle/>
                    <a:p>
                      <a:pPr algn="ctr"/>
                      <a:r>
                        <a:rPr lang="en-US" sz="1400" kern="1200">
                          <a:solidFill>
                            <a:schemeClr val="dk1"/>
                          </a:solidFill>
                          <a:latin typeface="+mn-lt"/>
                          <a:ea typeface="+mn-ea"/>
                          <a:cs typeface="+mn-cs"/>
                        </a:rPr>
                        <a:t>I</a:t>
                      </a:r>
                      <a:endParaRPr lang="en-US" sz="1400" kern="1200" dirty="0">
                        <a:solidFill>
                          <a:schemeClr val="dk1"/>
                        </a:solidFill>
                        <a:latin typeface="+mn-lt"/>
                        <a:ea typeface="+mn-ea"/>
                        <a:cs typeface="+mn-cs"/>
                      </a:endParaRPr>
                    </a:p>
                  </a:txBody>
                  <a:tcPr/>
                </a:tc>
                <a:tc>
                  <a:txBody>
                    <a:bodyPr/>
                    <a:lstStyle/>
                    <a:p>
                      <a:pPr algn="ctr"/>
                      <a:r>
                        <a:rPr lang="en-US" sz="1400" kern="1200" dirty="0">
                          <a:solidFill>
                            <a:schemeClr val="dk1"/>
                          </a:solidFill>
                          <a:latin typeface="+mn-lt"/>
                          <a:ea typeface="+mn-ea"/>
                          <a:cs typeface="+mn-cs"/>
                        </a:rPr>
                        <a:t>C</a:t>
                      </a:r>
                    </a:p>
                  </a:txBody>
                  <a:tcPr/>
                </a:tc>
                <a:tc>
                  <a:txBody>
                    <a:bodyPr/>
                    <a:lstStyle/>
                    <a:p>
                      <a:pPr algn="ctr"/>
                      <a:r>
                        <a:rPr lang="en-US" sz="1400" kern="1200" dirty="0">
                          <a:solidFill>
                            <a:schemeClr val="dk1"/>
                          </a:solidFill>
                          <a:latin typeface="+mn-lt"/>
                          <a:ea typeface="+mn-ea"/>
                          <a:cs typeface="+mn-cs"/>
                        </a:rPr>
                        <a:t>C</a:t>
                      </a:r>
                    </a:p>
                  </a:txBody>
                  <a:tcPr/>
                </a:tc>
                <a:extLst>
                  <a:ext uri="{0D108BD9-81ED-4DB2-BD59-A6C34878D82A}">
                    <a16:rowId xmlns:a16="http://schemas.microsoft.com/office/drawing/2014/main" val="2951756449"/>
                  </a:ext>
                </a:extLst>
              </a:tr>
            </a:tbl>
          </a:graphicData>
        </a:graphic>
      </p:graphicFrame>
      <p:sp>
        <p:nvSpPr>
          <p:cNvPr id="2" name="TextBox 1">
            <a:extLst>
              <a:ext uri="{FF2B5EF4-FFF2-40B4-BE49-F238E27FC236}">
                <a16:creationId xmlns:a16="http://schemas.microsoft.com/office/drawing/2014/main" id="{CE0ADF27-D576-D31A-2C56-58E6735892A4}"/>
              </a:ext>
            </a:extLst>
          </p:cNvPr>
          <p:cNvSpPr txBox="1"/>
          <p:nvPr/>
        </p:nvSpPr>
        <p:spPr>
          <a:xfrm>
            <a:off x="4022186" y="2600941"/>
            <a:ext cx="4149213" cy="2438400"/>
          </a:xfrm>
          <a:prstGeom prst="rect">
            <a:avLst/>
          </a:prstGeom>
          <a:gradFill>
            <a:gsLst>
              <a:gs pos="0">
                <a:schemeClr val="accent5">
                  <a:lumMod val="110000"/>
                  <a:satMod val="105000"/>
                  <a:tint val="67000"/>
                  <a:alpha val="75000"/>
                </a:schemeClr>
              </a:gs>
              <a:gs pos="50000">
                <a:schemeClr val="accent5">
                  <a:lumMod val="105000"/>
                  <a:satMod val="103000"/>
                  <a:tint val="73000"/>
                </a:schemeClr>
              </a:gs>
              <a:gs pos="100000">
                <a:schemeClr val="accent5">
                  <a:lumMod val="105000"/>
                  <a:satMod val="109000"/>
                  <a:tint val="81000"/>
                </a:schemeClr>
              </a:gs>
            </a:gsLst>
          </a:gradFill>
        </p:spPr>
        <p:style>
          <a:lnRef idx="1">
            <a:schemeClr val="accent5"/>
          </a:lnRef>
          <a:fillRef idx="2">
            <a:schemeClr val="accent5"/>
          </a:fillRef>
          <a:effectRef idx="1">
            <a:schemeClr val="accent5"/>
          </a:effectRef>
          <a:fontRef idx="minor">
            <a:schemeClr val="dk1"/>
          </a:fontRef>
        </p:style>
        <p:txBody>
          <a:bodyPr wrap="square" rtlCol="0">
            <a:noAutofit/>
          </a:bodyPr>
          <a:lstStyle/>
          <a:p>
            <a:pPr algn="ctr"/>
            <a:endParaRPr lang="en-US" sz="2800" dirty="0"/>
          </a:p>
          <a:p>
            <a:pPr algn="ctr"/>
            <a:r>
              <a:rPr lang="en-US" sz="2800" dirty="0"/>
              <a:t>RACI matrix to define the application security governance.</a:t>
            </a:r>
          </a:p>
        </p:txBody>
      </p:sp>
    </p:spTree>
    <p:extLst>
      <p:ext uri="{BB962C8B-B14F-4D97-AF65-F5344CB8AC3E}">
        <p14:creationId xmlns:p14="http://schemas.microsoft.com/office/powerpoint/2010/main" val="1563840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4409A-7ED1-F984-FBAE-6C7EE9871DF7}"/>
            </a:ext>
          </a:extLst>
        </p:cNvPr>
        <p:cNvGrpSpPr/>
        <p:nvPr/>
      </p:nvGrpSpPr>
      <p:grpSpPr>
        <a:xfrm>
          <a:off x="0" y="0"/>
          <a:ext cx="0" cy="0"/>
          <a:chOff x="0" y="0"/>
          <a:chExt cx="0" cy="0"/>
        </a:xfrm>
      </p:grpSpPr>
      <p:sp>
        <p:nvSpPr>
          <p:cNvPr id="26" name="Title 1">
            <a:extLst>
              <a:ext uri="{FF2B5EF4-FFF2-40B4-BE49-F238E27FC236}">
                <a16:creationId xmlns:a16="http://schemas.microsoft.com/office/drawing/2014/main" id="{855D203E-0A53-8E30-0129-117D01E0C10F}"/>
              </a:ext>
            </a:extLst>
          </p:cNvPr>
          <p:cNvSpPr>
            <a:spLocks noGrp="1"/>
          </p:cNvSpPr>
          <p:nvPr>
            <p:ph type="title"/>
          </p:nvPr>
        </p:nvSpPr>
        <p:spPr>
          <a:xfrm>
            <a:off x="299884" y="320677"/>
            <a:ext cx="10706753" cy="662550"/>
          </a:xfrm>
        </p:spPr>
        <p:txBody>
          <a:bodyPr>
            <a:normAutofit/>
          </a:bodyPr>
          <a:lstStyle/>
          <a:p>
            <a:r>
              <a:rPr lang="en-US" dirty="0"/>
              <a:t>iSSDLC improvement initiatives</a:t>
            </a:r>
          </a:p>
        </p:txBody>
      </p:sp>
      <p:sp>
        <p:nvSpPr>
          <p:cNvPr id="28" name="Text Placeholder 3">
            <a:extLst>
              <a:ext uri="{FF2B5EF4-FFF2-40B4-BE49-F238E27FC236}">
                <a16:creationId xmlns:a16="http://schemas.microsoft.com/office/drawing/2014/main" id="{B3B19585-65E8-9812-33B6-DCBEC3AEAEAD}"/>
              </a:ext>
            </a:extLst>
          </p:cNvPr>
          <p:cNvSpPr txBox="1">
            <a:spLocks/>
          </p:cNvSpPr>
          <p:nvPr/>
        </p:nvSpPr>
        <p:spPr>
          <a:xfrm>
            <a:off x="299884" y="871556"/>
            <a:ext cx="8476667" cy="456696"/>
          </a:xfrm>
          <a:prstGeom prst="rect">
            <a:avLst/>
          </a:prstGeom>
        </p:spPr>
        <p:txBody>
          <a:bodyPr vert="horz" lIns="91440" tIns="45720" rIns="91440" bIns="45720" rtlCol="0" anchor="ctr"/>
          <a:lstStyle>
            <a:defPPr>
              <a:defRPr lang="en-US"/>
            </a:defPPr>
            <a:lvl1pPr marL="0" algn="ctr" defTabSz="554492" rtl="0" eaLnBrk="1" latinLnBrk="0" hangingPunct="1">
              <a:defRPr sz="1200" kern="1200">
                <a:solidFill>
                  <a:schemeClr val="tx1">
                    <a:tint val="82000"/>
                  </a:schemeClr>
                </a:solidFill>
                <a:latin typeface="+mn-lt"/>
                <a:ea typeface="+mn-ea"/>
                <a:cs typeface="+mn-cs"/>
              </a:defRPr>
            </a:lvl1pPr>
            <a:lvl2pPr marL="277246" algn="l" defTabSz="554492" rtl="0" eaLnBrk="1" latinLnBrk="0" hangingPunct="1">
              <a:defRPr sz="1092" kern="1200">
                <a:solidFill>
                  <a:schemeClr val="tx1"/>
                </a:solidFill>
                <a:latin typeface="+mn-lt"/>
                <a:ea typeface="+mn-ea"/>
                <a:cs typeface="+mn-cs"/>
              </a:defRPr>
            </a:lvl2pPr>
            <a:lvl3pPr marL="554492" algn="l" defTabSz="554492" rtl="0" eaLnBrk="1" latinLnBrk="0" hangingPunct="1">
              <a:defRPr sz="1092" kern="1200">
                <a:solidFill>
                  <a:schemeClr val="tx1"/>
                </a:solidFill>
                <a:latin typeface="+mn-lt"/>
                <a:ea typeface="+mn-ea"/>
                <a:cs typeface="+mn-cs"/>
              </a:defRPr>
            </a:lvl3pPr>
            <a:lvl4pPr marL="831738" algn="l" defTabSz="554492" rtl="0" eaLnBrk="1" latinLnBrk="0" hangingPunct="1">
              <a:defRPr sz="1092" kern="1200">
                <a:solidFill>
                  <a:schemeClr val="tx1"/>
                </a:solidFill>
                <a:latin typeface="+mn-lt"/>
                <a:ea typeface="+mn-ea"/>
                <a:cs typeface="+mn-cs"/>
              </a:defRPr>
            </a:lvl4pPr>
            <a:lvl5pPr marL="1108984" algn="l" defTabSz="554492" rtl="0" eaLnBrk="1" latinLnBrk="0" hangingPunct="1">
              <a:defRPr sz="1092" kern="1200">
                <a:solidFill>
                  <a:schemeClr val="tx1"/>
                </a:solidFill>
                <a:latin typeface="+mn-lt"/>
                <a:ea typeface="+mn-ea"/>
                <a:cs typeface="+mn-cs"/>
              </a:defRPr>
            </a:lvl5pPr>
            <a:lvl6pPr marL="1386230" algn="l" defTabSz="554492" rtl="0" eaLnBrk="1" latinLnBrk="0" hangingPunct="1">
              <a:defRPr sz="1092" kern="1200">
                <a:solidFill>
                  <a:schemeClr val="tx1"/>
                </a:solidFill>
                <a:latin typeface="+mn-lt"/>
                <a:ea typeface="+mn-ea"/>
                <a:cs typeface="+mn-cs"/>
              </a:defRPr>
            </a:lvl6pPr>
            <a:lvl7pPr marL="1663476" algn="l" defTabSz="554492" rtl="0" eaLnBrk="1" latinLnBrk="0" hangingPunct="1">
              <a:defRPr sz="1092" kern="1200">
                <a:solidFill>
                  <a:schemeClr val="tx1"/>
                </a:solidFill>
                <a:latin typeface="+mn-lt"/>
                <a:ea typeface="+mn-ea"/>
                <a:cs typeface="+mn-cs"/>
              </a:defRPr>
            </a:lvl7pPr>
            <a:lvl8pPr marL="1940723" algn="l" defTabSz="554492" rtl="0" eaLnBrk="1" latinLnBrk="0" hangingPunct="1">
              <a:defRPr sz="1092" kern="1200">
                <a:solidFill>
                  <a:schemeClr val="tx1"/>
                </a:solidFill>
                <a:latin typeface="+mn-lt"/>
                <a:ea typeface="+mn-ea"/>
                <a:cs typeface="+mn-cs"/>
              </a:defRPr>
            </a:lvl8pPr>
            <a:lvl9pPr marL="2217969" algn="l" defTabSz="554492" rtl="0" eaLnBrk="1" latinLnBrk="0" hangingPunct="1">
              <a:defRPr sz="1092" kern="1200">
                <a:solidFill>
                  <a:schemeClr val="tx1"/>
                </a:solidFill>
                <a:latin typeface="+mn-lt"/>
                <a:ea typeface="+mn-ea"/>
                <a:cs typeface="+mn-cs"/>
              </a:defRPr>
            </a:lvl9pPr>
          </a:lstStyle>
          <a:p>
            <a:pPr algn="l" defTabSz="914400">
              <a:lnSpc>
                <a:spcPct val="110000"/>
              </a:lnSpc>
              <a:spcBef>
                <a:spcPts val="1000"/>
              </a:spcBef>
            </a:pPr>
            <a:r>
              <a:rPr lang="en-US" sz="2000" dirty="0">
                <a:solidFill>
                  <a:srgbClr val="4A4A4A"/>
                </a:solidFill>
                <a:latin typeface="Montserrat SemiBold" pitchFamily="2" charset="77"/>
                <a:cs typeface="Arial" panose="020B0604020202020204" pitchFamily="34" charset="0"/>
              </a:rPr>
              <a:t>List of all initiatives mapped to opportunities and threats.</a:t>
            </a:r>
          </a:p>
        </p:txBody>
      </p:sp>
      <p:pic>
        <p:nvPicPr>
          <p:cNvPr id="29" name="Picture 28">
            <a:extLst>
              <a:ext uri="{FF2B5EF4-FFF2-40B4-BE49-F238E27FC236}">
                <a16:creationId xmlns:a16="http://schemas.microsoft.com/office/drawing/2014/main" id="{4BB16222-3077-4780-7159-AFB8717C6AD9}"/>
              </a:ext>
            </a:extLst>
          </p:cNvPr>
          <p:cNvPicPr>
            <a:picLocks noChangeAspect="1"/>
          </p:cNvPicPr>
          <p:nvPr/>
        </p:nvPicPr>
        <p:blipFill>
          <a:blip r:embed="rId3"/>
          <a:stretch>
            <a:fillRect/>
          </a:stretch>
        </p:blipFill>
        <p:spPr>
          <a:xfrm>
            <a:off x="299884" y="1646239"/>
            <a:ext cx="11593820" cy="4373408"/>
          </a:xfrm>
          <a:prstGeom prst="rect">
            <a:avLst/>
          </a:prstGeom>
        </p:spPr>
      </p:pic>
      <p:sp>
        <p:nvSpPr>
          <p:cNvPr id="30" name="TextBox 29">
            <a:extLst>
              <a:ext uri="{FF2B5EF4-FFF2-40B4-BE49-F238E27FC236}">
                <a16:creationId xmlns:a16="http://schemas.microsoft.com/office/drawing/2014/main" id="{52678EEB-C65C-1028-25A0-BCFC343AD7CC}"/>
              </a:ext>
            </a:extLst>
          </p:cNvPr>
          <p:cNvSpPr txBox="1"/>
          <p:nvPr/>
        </p:nvSpPr>
        <p:spPr>
          <a:xfrm>
            <a:off x="3578653" y="2352721"/>
            <a:ext cx="4149213" cy="2438400"/>
          </a:xfrm>
          <a:prstGeom prst="rect">
            <a:avLst/>
          </a:prstGeom>
          <a:gradFill>
            <a:gsLst>
              <a:gs pos="0">
                <a:schemeClr val="accent5">
                  <a:lumMod val="110000"/>
                  <a:satMod val="105000"/>
                  <a:tint val="67000"/>
                  <a:alpha val="75000"/>
                </a:schemeClr>
              </a:gs>
              <a:gs pos="50000">
                <a:schemeClr val="accent5">
                  <a:lumMod val="105000"/>
                  <a:satMod val="103000"/>
                  <a:tint val="73000"/>
                </a:schemeClr>
              </a:gs>
              <a:gs pos="100000">
                <a:schemeClr val="accent5">
                  <a:lumMod val="105000"/>
                  <a:satMod val="109000"/>
                  <a:tint val="81000"/>
                </a:schemeClr>
              </a:gs>
            </a:gsLst>
          </a:gradFill>
        </p:spPr>
        <p:style>
          <a:lnRef idx="1">
            <a:schemeClr val="accent5"/>
          </a:lnRef>
          <a:fillRef idx="2">
            <a:schemeClr val="accent5"/>
          </a:fillRef>
          <a:effectRef idx="1">
            <a:schemeClr val="accent5"/>
          </a:effectRef>
          <a:fontRef idx="minor">
            <a:schemeClr val="dk1"/>
          </a:fontRef>
        </p:style>
        <p:txBody>
          <a:bodyPr wrap="square" rtlCol="0">
            <a:noAutofit/>
          </a:bodyPr>
          <a:lstStyle>
            <a:defPPr>
              <a:defRPr lang="en-US"/>
            </a:defPPr>
            <a:lvl1pPr algn="ctr">
              <a:defRPr sz="2800"/>
            </a:lvl1pPr>
          </a:lstStyle>
          <a:p>
            <a:endParaRPr lang="en-US" dirty="0"/>
          </a:p>
          <a:p>
            <a:r>
              <a:rPr lang="en-US" dirty="0"/>
              <a:t>List of potential initiatives mapped to drivers and risks from the Results tab.</a:t>
            </a:r>
          </a:p>
        </p:txBody>
      </p:sp>
    </p:spTree>
    <p:extLst>
      <p:ext uri="{BB962C8B-B14F-4D97-AF65-F5344CB8AC3E}">
        <p14:creationId xmlns:p14="http://schemas.microsoft.com/office/powerpoint/2010/main" val="14176880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4CA82B1-EF6B-6442-AFD4-99B7AC11CD83}"/>
              </a:ext>
            </a:extLst>
          </p:cNvPr>
          <p:cNvSpPr>
            <a:spLocks noGrp="1"/>
          </p:cNvSpPr>
          <p:nvPr>
            <p:ph type="title"/>
          </p:nvPr>
        </p:nvSpPr>
        <p:spPr>
          <a:xfrm>
            <a:off x="354106" y="530021"/>
            <a:ext cx="8327557" cy="774798"/>
          </a:xfrm>
        </p:spPr>
        <p:txBody>
          <a:bodyPr/>
          <a:lstStyle/>
          <a:p>
            <a:r>
              <a:rPr lang="en-US" dirty="0"/>
              <a:t>Priority initiatives</a:t>
            </a:r>
          </a:p>
        </p:txBody>
      </p:sp>
      <p:sp>
        <p:nvSpPr>
          <p:cNvPr id="28" name="TextBox 27">
            <a:extLst>
              <a:ext uri="{FF2B5EF4-FFF2-40B4-BE49-F238E27FC236}">
                <a16:creationId xmlns:a16="http://schemas.microsoft.com/office/drawing/2014/main" id="{4C9E228B-B30F-394E-A599-344FD077C107}"/>
              </a:ext>
            </a:extLst>
          </p:cNvPr>
          <p:cNvSpPr txBox="1"/>
          <p:nvPr/>
        </p:nvSpPr>
        <p:spPr>
          <a:xfrm>
            <a:off x="4473090" y="2690336"/>
            <a:ext cx="3247408" cy="738664"/>
          </a:xfrm>
          <a:prstGeom prst="rect">
            <a:avLst/>
          </a:prstGeom>
        </p:spPr>
        <p:txBody>
          <a:bodyPr vert="horz" wrap="square" lIns="0" tIns="0" rIns="0" bIns="0" rtlCol="0">
            <a:spAutoFit/>
          </a:bodyPr>
          <a:lstStyle/>
          <a:p>
            <a:pPr marL="289946" marR="242975" lvl="1" algn="ctr">
              <a:spcBef>
                <a:spcPts val="55"/>
              </a:spcBef>
            </a:pPr>
            <a:r>
              <a:rPr lang="en-US" sz="1600" spc="-30" dirty="0">
                <a:solidFill>
                  <a:srgbClr val="2576B7"/>
                </a:solidFill>
                <a:latin typeface="Montserrat" pitchFamily="2" charset="77"/>
                <a:cs typeface="Arial Narrow"/>
              </a:rPr>
              <a:t>Automate software composition analysis and supply chain scanning.</a:t>
            </a:r>
          </a:p>
        </p:txBody>
      </p:sp>
      <p:sp>
        <p:nvSpPr>
          <p:cNvPr id="29" name="Text Placeholder 7">
            <a:extLst>
              <a:ext uri="{FF2B5EF4-FFF2-40B4-BE49-F238E27FC236}">
                <a16:creationId xmlns:a16="http://schemas.microsoft.com/office/drawing/2014/main" id="{3E33ED69-74AC-9D42-BB28-5EF7327539DB}"/>
              </a:ext>
            </a:extLst>
          </p:cNvPr>
          <p:cNvSpPr txBox="1">
            <a:spLocks/>
          </p:cNvSpPr>
          <p:nvPr/>
        </p:nvSpPr>
        <p:spPr>
          <a:xfrm>
            <a:off x="4564035" y="3678587"/>
            <a:ext cx="3113070" cy="2243241"/>
          </a:xfrm>
          <a:prstGeom prst="rect">
            <a:avLst/>
          </a:prstGeom>
        </p:spPr>
        <p:txBody>
          <a:bodyPr lIns="0" tIns="0" rIns="0" bIns="0" numCol="1" spcCol="360000">
            <a:noAutofit/>
          </a:bodyPr>
          <a:lstStyle>
            <a:lvl1pPr marL="0" indent="0" algn="l" defTabSz="914400" rtl="0" eaLnBrk="1" latinLnBrk="0" hangingPunct="1">
              <a:lnSpc>
                <a:spcPts val="1800"/>
              </a:lnSpc>
              <a:spcBef>
                <a:spcPts val="1000"/>
              </a:spcBef>
              <a:buFont typeface="Arial" panose="020B0604020202020204" pitchFamily="34" charset="0"/>
              <a:buNone/>
              <a:defRPr sz="1400" b="0" i="0" kern="1200">
                <a:solidFill>
                  <a:srgbClr val="4A4A4A"/>
                </a:solidFill>
                <a:latin typeface="Roboto Condensed Light" panose="02000000000000000000" pitchFamily="2" charset="0"/>
                <a:ea typeface="+mn-ea"/>
                <a:cs typeface="Arial Narrow" panose="020B0604020202020204" pitchFamily="34" charset="0"/>
              </a:defRPr>
            </a:lvl1pPr>
            <a:lvl2pPr marL="457200" indent="0" algn="l" defTabSz="914400" rtl="0" eaLnBrk="1" latinLnBrk="0" hangingPunct="1">
              <a:lnSpc>
                <a:spcPts val="1700"/>
              </a:lnSpc>
              <a:spcBef>
                <a:spcPts val="500"/>
              </a:spcBef>
              <a:buFont typeface="Arial" panose="020B0604020202020204" pitchFamily="34" charset="0"/>
              <a:buNone/>
              <a:defRPr sz="1400" kern="1200">
                <a:solidFill>
                  <a:srgbClr val="4B4B4B"/>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ts val="1700"/>
              </a:lnSpc>
              <a:spcBef>
                <a:spcPts val="500"/>
              </a:spcBef>
              <a:buFont typeface="Arial" panose="020B0604020202020204" pitchFamily="34" charset="0"/>
              <a:buNone/>
              <a:defRPr sz="1400" kern="1200">
                <a:solidFill>
                  <a:srgbClr val="4B4B4B"/>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ts val="1700"/>
              </a:lnSpc>
              <a:spcBef>
                <a:spcPts val="500"/>
              </a:spcBef>
              <a:buFont typeface="Arial" panose="020B0604020202020204" pitchFamily="34" charset="0"/>
              <a:buNone/>
              <a:defRPr sz="1400" kern="1200">
                <a:solidFill>
                  <a:srgbClr val="4B4B4B"/>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ts val="1700"/>
              </a:lnSpc>
              <a:spcBef>
                <a:spcPts val="500"/>
              </a:spcBef>
              <a:buFont typeface="Arial" panose="020B0604020202020204" pitchFamily="34" charset="0"/>
              <a:buNone/>
              <a:defRPr sz="1400" kern="1200">
                <a:solidFill>
                  <a:srgbClr val="4B4B4B"/>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000000"/>
                </a:solidFill>
              </a:rPr>
              <a:t>Weave continuous vulnerability and license risk detection into every build pipeline, from source to production container registry. The effort will benchmark commercial SCA/SBOM vendors against emerging open-source scanners, select a unified platform, and embed it via Git hooks, CI/CD jobs, and Kubernetes admission controllers so that any third-party package or container layer is checked in under 60 seconds.</a:t>
            </a:r>
          </a:p>
        </p:txBody>
      </p:sp>
      <p:sp>
        <p:nvSpPr>
          <p:cNvPr id="31" name="TextBox 30">
            <a:extLst>
              <a:ext uri="{FF2B5EF4-FFF2-40B4-BE49-F238E27FC236}">
                <a16:creationId xmlns:a16="http://schemas.microsoft.com/office/drawing/2014/main" id="{BB5BD109-0B09-1D4A-B636-C8EDB7A33DA8}"/>
              </a:ext>
            </a:extLst>
          </p:cNvPr>
          <p:cNvSpPr txBox="1"/>
          <p:nvPr/>
        </p:nvSpPr>
        <p:spPr>
          <a:xfrm>
            <a:off x="8330424" y="2690336"/>
            <a:ext cx="3378388" cy="738664"/>
          </a:xfrm>
          <a:prstGeom prst="rect">
            <a:avLst/>
          </a:prstGeom>
        </p:spPr>
        <p:txBody>
          <a:bodyPr vert="horz" wrap="square" lIns="0" tIns="0" rIns="0" bIns="0" rtlCol="0">
            <a:spAutoFit/>
          </a:bodyPr>
          <a:lstStyle/>
          <a:p>
            <a:pPr marL="289946" marR="242975" lvl="1" algn="ctr">
              <a:spcBef>
                <a:spcPts val="55"/>
              </a:spcBef>
            </a:pPr>
            <a:r>
              <a:rPr lang="en-US" sz="1600" spc="-30" dirty="0">
                <a:solidFill>
                  <a:srgbClr val="2576B7"/>
                </a:solidFill>
                <a:latin typeface="Montserrat" pitchFamily="2" charset="77"/>
                <a:cs typeface="Arial Narrow"/>
              </a:rPr>
              <a:t>Establish fuzzing and red team engagement programs.</a:t>
            </a:r>
          </a:p>
        </p:txBody>
      </p:sp>
      <p:sp>
        <p:nvSpPr>
          <p:cNvPr id="32" name="Text Placeholder 7">
            <a:extLst>
              <a:ext uri="{FF2B5EF4-FFF2-40B4-BE49-F238E27FC236}">
                <a16:creationId xmlns:a16="http://schemas.microsoft.com/office/drawing/2014/main" id="{78FE4641-CF67-E74A-8893-5C7CCA20166C}"/>
              </a:ext>
            </a:extLst>
          </p:cNvPr>
          <p:cNvSpPr txBox="1">
            <a:spLocks/>
          </p:cNvSpPr>
          <p:nvPr/>
        </p:nvSpPr>
        <p:spPr>
          <a:xfrm>
            <a:off x="8487509" y="3678588"/>
            <a:ext cx="3090462" cy="1547356"/>
          </a:xfrm>
          <a:prstGeom prst="rect">
            <a:avLst/>
          </a:prstGeom>
        </p:spPr>
        <p:txBody>
          <a:bodyPr lIns="0" tIns="0" rIns="0" bIns="0" numCol="1" spcCol="360000">
            <a:noAutofit/>
          </a:bodyPr>
          <a:lstStyle>
            <a:lvl1pPr marL="0" indent="0" algn="l" defTabSz="914400" rtl="0" eaLnBrk="1" latinLnBrk="0" hangingPunct="1">
              <a:lnSpc>
                <a:spcPts val="1800"/>
              </a:lnSpc>
              <a:spcBef>
                <a:spcPts val="1000"/>
              </a:spcBef>
              <a:buFont typeface="Arial" panose="020B0604020202020204" pitchFamily="34" charset="0"/>
              <a:buNone/>
              <a:defRPr sz="1400" b="0" i="0" kern="1200">
                <a:solidFill>
                  <a:srgbClr val="4A4A4A"/>
                </a:solidFill>
                <a:latin typeface="Roboto Condensed Light" panose="02000000000000000000" pitchFamily="2" charset="0"/>
                <a:ea typeface="+mn-ea"/>
                <a:cs typeface="Arial Narrow" panose="020B0604020202020204" pitchFamily="34" charset="0"/>
              </a:defRPr>
            </a:lvl1pPr>
            <a:lvl2pPr marL="457200" indent="0" algn="l" defTabSz="914400" rtl="0" eaLnBrk="1" latinLnBrk="0" hangingPunct="1">
              <a:lnSpc>
                <a:spcPts val="1700"/>
              </a:lnSpc>
              <a:spcBef>
                <a:spcPts val="500"/>
              </a:spcBef>
              <a:buFont typeface="Arial" panose="020B0604020202020204" pitchFamily="34" charset="0"/>
              <a:buNone/>
              <a:defRPr sz="1400" kern="1200">
                <a:solidFill>
                  <a:srgbClr val="4B4B4B"/>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ts val="1700"/>
              </a:lnSpc>
              <a:spcBef>
                <a:spcPts val="500"/>
              </a:spcBef>
              <a:buFont typeface="Arial" panose="020B0604020202020204" pitchFamily="34" charset="0"/>
              <a:buNone/>
              <a:defRPr sz="1400" kern="1200">
                <a:solidFill>
                  <a:srgbClr val="4B4B4B"/>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ts val="1700"/>
              </a:lnSpc>
              <a:spcBef>
                <a:spcPts val="500"/>
              </a:spcBef>
              <a:buFont typeface="Arial" panose="020B0604020202020204" pitchFamily="34" charset="0"/>
              <a:buNone/>
              <a:defRPr sz="1400" kern="1200">
                <a:solidFill>
                  <a:srgbClr val="4B4B4B"/>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ts val="1700"/>
              </a:lnSpc>
              <a:spcBef>
                <a:spcPts val="500"/>
              </a:spcBef>
              <a:buFont typeface="Arial" panose="020B0604020202020204" pitchFamily="34" charset="0"/>
              <a:buNone/>
              <a:defRPr sz="1400" kern="1200">
                <a:solidFill>
                  <a:srgbClr val="4B4B4B"/>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000000"/>
                </a:solidFill>
              </a:rPr>
              <a:t>This project is designed to deploy tools and processes to uncover deep-logic flaws and adversarial attack paths before they reach production. The initiative will stand up coverage-guided and grammar-based fuzzing pipelines for critical APIs, parsers, and IoT firmware, with nightly jobs feeding crashes and stack traces directly into the defect tracking system.</a:t>
            </a:r>
          </a:p>
        </p:txBody>
      </p:sp>
      <p:sp>
        <p:nvSpPr>
          <p:cNvPr id="33" name="TextBox 32">
            <a:extLst>
              <a:ext uri="{FF2B5EF4-FFF2-40B4-BE49-F238E27FC236}">
                <a16:creationId xmlns:a16="http://schemas.microsoft.com/office/drawing/2014/main" id="{C1602895-CD87-C74B-BAF0-75F88911013A}"/>
              </a:ext>
            </a:extLst>
          </p:cNvPr>
          <p:cNvSpPr txBox="1"/>
          <p:nvPr/>
        </p:nvSpPr>
        <p:spPr>
          <a:xfrm>
            <a:off x="577027" y="2690336"/>
            <a:ext cx="3341748" cy="492443"/>
          </a:xfrm>
          <a:prstGeom prst="rect">
            <a:avLst/>
          </a:prstGeom>
        </p:spPr>
        <p:txBody>
          <a:bodyPr vert="horz" wrap="square" lIns="0" tIns="0" rIns="0" bIns="0" rtlCol="0">
            <a:spAutoFit/>
          </a:bodyPr>
          <a:lstStyle/>
          <a:p>
            <a:pPr marL="289946" marR="242975" lvl="1" algn="ctr">
              <a:spcBef>
                <a:spcPts val="55"/>
              </a:spcBef>
            </a:pPr>
            <a:r>
              <a:rPr lang="en-US" sz="1600" spc="-30" dirty="0">
                <a:solidFill>
                  <a:srgbClr val="2576B7"/>
                </a:solidFill>
                <a:latin typeface="Montserrat" pitchFamily="2" charset="77"/>
                <a:cs typeface="Arial Narrow"/>
              </a:rPr>
              <a:t>Deploy threat modeling automation tools. </a:t>
            </a:r>
          </a:p>
        </p:txBody>
      </p:sp>
      <p:sp>
        <p:nvSpPr>
          <p:cNvPr id="34" name="Text Placeholder 7">
            <a:extLst>
              <a:ext uri="{FF2B5EF4-FFF2-40B4-BE49-F238E27FC236}">
                <a16:creationId xmlns:a16="http://schemas.microsoft.com/office/drawing/2014/main" id="{C6465DA9-CEED-B346-AD04-05BD0D6D5F06}"/>
              </a:ext>
            </a:extLst>
          </p:cNvPr>
          <p:cNvSpPr txBox="1">
            <a:spLocks/>
          </p:cNvSpPr>
          <p:nvPr/>
        </p:nvSpPr>
        <p:spPr>
          <a:xfrm>
            <a:off x="785554" y="3681715"/>
            <a:ext cx="2920527" cy="2646264"/>
          </a:xfrm>
          <a:prstGeom prst="rect">
            <a:avLst/>
          </a:prstGeom>
        </p:spPr>
        <p:txBody>
          <a:bodyPr lIns="0" tIns="0" rIns="0" bIns="0" numCol="1" spcCol="360000">
            <a:noAutofit/>
          </a:bodyPr>
          <a:lstStyle>
            <a:lvl1pPr marL="0" indent="0" algn="l" defTabSz="914400" rtl="0" eaLnBrk="1" latinLnBrk="0" hangingPunct="1">
              <a:lnSpc>
                <a:spcPts val="1800"/>
              </a:lnSpc>
              <a:spcBef>
                <a:spcPts val="1000"/>
              </a:spcBef>
              <a:buFont typeface="Arial" panose="020B0604020202020204" pitchFamily="34" charset="0"/>
              <a:buNone/>
              <a:defRPr sz="1400" b="0" i="0" kern="1200">
                <a:solidFill>
                  <a:srgbClr val="4A4A4A"/>
                </a:solidFill>
                <a:latin typeface="Roboto Condensed Light" panose="02000000000000000000" pitchFamily="2" charset="0"/>
                <a:ea typeface="+mn-ea"/>
                <a:cs typeface="Arial Narrow" panose="020B0604020202020204" pitchFamily="34" charset="0"/>
              </a:defRPr>
            </a:lvl1pPr>
            <a:lvl2pPr marL="457200" indent="0" algn="l" defTabSz="914400" rtl="0" eaLnBrk="1" latinLnBrk="0" hangingPunct="1">
              <a:lnSpc>
                <a:spcPts val="1700"/>
              </a:lnSpc>
              <a:spcBef>
                <a:spcPts val="500"/>
              </a:spcBef>
              <a:buFont typeface="Arial" panose="020B0604020202020204" pitchFamily="34" charset="0"/>
              <a:buNone/>
              <a:defRPr sz="1400" kern="1200">
                <a:solidFill>
                  <a:srgbClr val="4B4B4B"/>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ts val="1700"/>
              </a:lnSpc>
              <a:spcBef>
                <a:spcPts val="500"/>
              </a:spcBef>
              <a:buFont typeface="Arial" panose="020B0604020202020204" pitchFamily="34" charset="0"/>
              <a:buNone/>
              <a:defRPr sz="1400" kern="1200">
                <a:solidFill>
                  <a:srgbClr val="4B4B4B"/>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ts val="1700"/>
              </a:lnSpc>
              <a:spcBef>
                <a:spcPts val="500"/>
              </a:spcBef>
              <a:buFont typeface="Arial" panose="020B0604020202020204" pitchFamily="34" charset="0"/>
              <a:buNone/>
              <a:defRPr sz="1400" kern="1200">
                <a:solidFill>
                  <a:srgbClr val="4B4B4B"/>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ts val="1700"/>
              </a:lnSpc>
              <a:spcBef>
                <a:spcPts val="500"/>
              </a:spcBef>
              <a:buFont typeface="Arial" panose="020B0604020202020204" pitchFamily="34" charset="0"/>
              <a:buNone/>
              <a:defRPr sz="1400" kern="1200">
                <a:solidFill>
                  <a:srgbClr val="4B4B4B"/>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000000"/>
                </a:solidFill>
              </a:rPr>
              <a:t>Integrate, configure, and operationalize an automated threat modeling platform across the iSSDLC, giving on-demand security design feedback without slowing delivery. The project will evaluate leading commercial and open-source engines, pilot the preferred tool in one flagship product line, and then roll it out company-wide through reusable CI/CD integrations, secure infrastructure as code templates, and developer enablement workshops.</a:t>
            </a:r>
          </a:p>
        </p:txBody>
      </p:sp>
      <p:grpSp>
        <p:nvGrpSpPr>
          <p:cNvPr id="4" name="Group 3">
            <a:extLst>
              <a:ext uri="{FF2B5EF4-FFF2-40B4-BE49-F238E27FC236}">
                <a16:creationId xmlns:a16="http://schemas.microsoft.com/office/drawing/2014/main" id="{3723BBF0-085B-8E47-8335-7FE95C060BE6}"/>
              </a:ext>
            </a:extLst>
          </p:cNvPr>
          <p:cNvGrpSpPr/>
          <p:nvPr/>
        </p:nvGrpSpPr>
        <p:grpSpPr>
          <a:xfrm>
            <a:off x="1751548" y="1720317"/>
            <a:ext cx="1013254" cy="798319"/>
            <a:chOff x="1876919" y="2642575"/>
            <a:chExt cx="1013254" cy="798319"/>
          </a:xfrm>
        </p:grpSpPr>
        <p:sp>
          <p:nvSpPr>
            <p:cNvPr id="3" name="Oval 2">
              <a:extLst>
                <a:ext uri="{FF2B5EF4-FFF2-40B4-BE49-F238E27FC236}">
                  <a16:creationId xmlns:a16="http://schemas.microsoft.com/office/drawing/2014/main" id="{4B24599B-65E4-FD44-8584-4A89C4E047EF}"/>
                </a:ext>
              </a:extLst>
            </p:cNvPr>
            <p:cNvSpPr/>
            <p:nvPr/>
          </p:nvSpPr>
          <p:spPr>
            <a:xfrm>
              <a:off x="1972030" y="2642575"/>
              <a:ext cx="798319" cy="798319"/>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E757AC60-F123-C747-A92D-FDA909AA30E8}"/>
                </a:ext>
              </a:extLst>
            </p:cNvPr>
            <p:cNvSpPr txBox="1"/>
            <p:nvPr/>
          </p:nvSpPr>
          <p:spPr>
            <a:xfrm>
              <a:off x="1876919" y="2718487"/>
              <a:ext cx="1013254" cy="710976"/>
            </a:xfrm>
            <a:prstGeom prst="rect">
              <a:avLst/>
            </a:prstGeom>
          </p:spPr>
          <p:txBody>
            <a:bodyPr wrap="square" lIns="0" tIns="0" rIns="0" bIns="0" numCol="1" spcCol="360000" rtlCol="0">
              <a:noAutofit/>
            </a:bodyPr>
            <a:lstStyle/>
            <a:p>
              <a:pPr algn="ctr">
                <a:lnSpc>
                  <a:spcPct val="110000"/>
                </a:lnSpc>
              </a:pPr>
              <a:r>
                <a:rPr lang="en-US" sz="4000" dirty="0">
                  <a:solidFill>
                    <a:srgbClr val="2576B7"/>
                  </a:solidFill>
                  <a:latin typeface="Montserrat" pitchFamily="2" charset="77"/>
                  <a:ea typeface="Roboto Condensed Light" panose="02000000000000000000" pitchFamily="2" charset="0"/>
                </a:rPr>
                <a:t>1</a:t>
              </a:r>
            </a:p>
          </p:txBody>
        </p:sp>
      </p:grpSp>
      <p:grpSp>
        <p:nvGrpSpPr>
          <p:cNvPr id="36" name="Group 35">
            <a:extLst>
              <a:ext uri="{FF2B5EF4-FFF2-40B4-BE49-F238E27FC236}">
                <a16:creationId xmlns:a16="http://schemas.microsoft.com/office/drawing/2014/main" id="{2B2FF0A2-927D-F042-8D5B-6C7C196F1EE7}"/>
              </a:ext>
            </a:extLst>
          </p:cNvPr>
          <p:cNvGrpSpPr/>
          <p:nvPr/>
        </p:nvGrpSpPr>
        <p:grpSpPr>
          <a:xfrm>
            <a:off x="5590167" y="1720317"/>
            <a:ext cx="1013254" cy="798319"/>
            <a:chOff x="1876919" y="2642575"/>
            <a:chExt cx="1013254" cy="798319"/>
          </a:xfrm>
        </p:grpSpPr>
        <p:sp>
          <p:nvSpPr>
            <p:cNvPr id="37" name="Oval 36">
              <a:extLst>
                <a:ext uri="{FF2B5EF4-FFF2-40B4-BE49-F238E27FC236}">
                  <a16:creationId xmlns:a16="http://schemas.microsoft.com/office/drawing/2014/main" id="{648D023C-E869-5849-823C-4EE7AA3F5E8F}"/>
                </a:ext>
              </a:extLst>
            </p:cNvPr>
            <p:cNvSpPr/>
            <p:nvPr/>
          </p:nvSpPr>
          <p:spPr>
            <a:xfrm>
              <a:off x="1972030" y="2642575"/>
              <a:ext cx="798319" cy="798319"/>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Box 37">
              <a:extLst>
                <a:ext uri="{FF2B5EF4-FFF2-40B4-BE49-F238E27FC236}">
                  <a16:creationId xmlns:a16="http://schemas.microsoft.com/office/drawing/2014/main" id="{CECB6F29-882D-1548-90B2-4AE6F5D6F77F}"/>
                </a:ext>
              </a:extLst>
            </p:cNvPr>
            <p:cNvSpPr txBox="1"/>
            <p:nvPr/>
          </p:nvSpPr>
          <p:spPr>
            <a:xfrm>
              <a:off x="1876919" y="2718487"/>
              <a:ext cx="1013254" cy="710976"/>
            </a:xfrm>
            <a:prstGeom prst="rect">
              <a:avLst/>
            </a:prstGeom>
          </p:spPr>
          <p:txBody>
            <a:bodyPr wrap="square" lIns="0" tIns="0" rIns="0" bIns="0" numCol="1" spcCol="360000" rtlCol="0">
              <a:noAutofit/>
            </a:bodyPr>
            <a:lstStyle/>
            <a:p>
              <a:pPr algn="ctr">
                <a:lnSpc>
                  <a:spcPct val="110000"/>
                </a:lnSpc>
              </a:pPr>
              <a:r>
                <a:rPr lang="en-US" sz="4000" dirty="0">
                  <a:solidFill>
                    <a:srgbClr val="2576B7"/>
                  </a:solidFill>
                  <a:latin typeface="Montserrat" pitchFamily="2" charset="77"/>
                  <a:ea typeface="Roboto Condensed Light" panose="02000000000000000000" pitchFamily="2" charset="0"/>
                </a:rPr>
                <a:t>2</a:t>
              </a:r>
            </a:p>
          </p:txBody>
        </p:sp>
      </p:grpSp>
      <p:grpSp>
        <p:nvGrpSpPr>
          <p:cNvPr id="39" name="Group 38">
            <a:extLst>
              <a:ext uri="{FF2B5EF4-FFF2-40B4-BE49-F238E27FC236}">
                <a16:creationId xmlns:a16="http://schemas.microsoft.com/office/drawing/2014/main" id="{4780C8A4-9512-0F45-B030-01C3FFFA3657}"/>
              </a:ext>
            </a:extLst>
          </p:cNvPr>
          <p:cNvGrpSpPr/>
          <p:nvPr/>
        </p:nvGrpSpPr>
        <p:grpSpPr>
          <a:xfrm>
            <a:off x="9523266" y="1720317"/>
            <a:ext cx="1013254" cy="798319"/>
            <a:chOff x="1876919" y="2642575"/>
            <a:chExt cx="1013254" cy="798319"/>
          </a:xfrm>
        </p:grpSpPr>
        <p:sp>
          <p:nvSpPr>
            <p:cNvPr id="40" name="Oval 39">
              <a:extLst>
                <a:ext uri="{FF2B5EF4-FFF2-40B4-BE49-F238E27FC236}">
                  <a16:creationId xmlns:a16="http://schemas.microsoft.com/office/drawing/2014/main" id="{66388BAB-77F5-4040-A141-91B0553E0C92}"/>
                </a:ext>
              </a:extLst>
            </p:cNvPr>
            <p:cNvSpPr/>
            <p:nvPr/>
          </p:nvSpPr>
          <p:spPr>
            <a:xfrm>
              <a:off x="1972030" y="2642575"/>
              <a:ext cx="798319" cy="798319"/>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0">
              <a:extLst>
                <a:ext uri="{FF2B5EF4-FFF2-40B4-BE49-F238E27FC236}">
                  <a16:creationId xmlns:a16="http://schemas.microsoft.com/office/drawing/2014/main" id="{2198B637-CDF7-2D47-BF50-DCCAB5DE7419}"/>
                </a:ext>
              </a:extLst>
            </p:cNvPr>
            <p:cNvSpPr txBox="1"/>
            <p:nvPr/>
          </p:nvSpPr>
          <p:spPr>
            <a:xfrm>
              <a:off x="1876919" y="2718487"/>
              <a:ext cx="1013254" cy="710976"/>
            </a:xfrm>
            <a:prstGeom prst="rect">
              <a:avLst/>
            </a:prstGeom>
          </p:spPr>
          <p:txBody>
            <a:bodyPr wrap="square" lIns="0" tIns="0" rIns="0" bIns="0" numCol="1" spcCol="360000" rtlCol="0">
              <a:noAutofit/>
            </a:bodyPr>
            <a:lstStyle/>
            <a:p>
              <a:pPr algn="ctr">
                <a:lnSpc>
                  <a:spcPct val="110000"/>
                </a:lnSpc>
              </a:pPr>
              <a:r>
                <a:rPr lang="en-US" sz="4000" dirty="0">
                  <a:solidFill>
                    <a:srgbClr val="2576B7"/>
                  </a:solidFill>
                  <a:latin typeface="Montserrat" pitchFamily="2" charset="77"/>
                  <a:ea typeface="Roboto Condensed Light" panose="02000000000000000000" pitchFamily="2" charset="0"/>
                </a:rPr>
                <a:t>3</a:t>
              </a:r>
            </a:p>
          </p:txBody>
        </p:sp>
      </p:grpSp>
      <p:sp>
        <p:nvSpPr>
          <p:cNvPr id="5" name="TextBox 4">
            <a:extLst>
              <a:ext uri="{FF2B5EF4-FFF2-40B4-BE49-F238E27FC236}">
                <a16:creationId xmlns:a16="http://schemas.microsoft.com/office/drawing/2014/main" id="{0562089F-21D5-9C3D-D18A-6692A1505A61}"/>
              </a:ext>
            </a:extLst>
          </p:cNvPr>
          <p:cNvSpPr txBox="1"/>
          <p:nvPr/>
        </p:nvSpPr>
        <p:spPr>
          <a:xfrm>
            <a:off x="4009830" y="2209800"/>
            <a:ext cx="4149213" cy="2438400"/>
          </a:xfrm>
          <a:prstGeom prst="rect">
            <a:avLst/>
          </a:prstGeom>
          <a:gradFill>
            <a:gsLst>
              <a:gs pos="0">
                <a:schemeClr val="accent5">
                  <a:lumMod val="110000"/>
                  <a:satMod val="105000"/>
                  <a:tint val="67000"/>
                  <a:alpha val="75000"/>
                </a:schemeClr>
              </a:gs>
              <a:gs pos="50000">
                <a:schemeClr val="accent5">
                  <a:lumMod val="105000"/>
                  <a:satMod val="103000"/>
                  <a:tint val="73000"/>
                </a:schemeClr>
              </a:gs>
              <a:gs pos="100000">
                <a:schemeClr val="accent5">
                  <a:lumMod val="105000"/>
                  <a:satMod val="109000"/>
                  <a:tint val="81000"/>
                </a:schemeClr>
              </a:gs>
            </a:gsLst>
          </a:gradFill>
        </p:spPr>
        <p:style>
          <a:lnRef idx="1">
            <a:schemeClr val="accent5"/>
          </a:lnRef>
          <a:fillRef idx="2">
            <a:schemeClr val="accent5"/>
          </a:fillRef>
          <a:effectRef idx="1">
            <a:schemeClr val="accent5"/>
          </a:effectRef>
          <a:fontRef idx="minor">
            <a:schemeClr val="dk1"/>
          </a:fontRef>
        </p:style>
        <p:txBody>
          <a:bodyPr wrap="square" rtlCol="0" anchor="ctr" anchorCtr="0">
            <a:noAutofit/>
          </a:bodyPr>
          <a:lstStyle/>
          <a:p>
            <a:pPr algn="ctr"/>
            <a:r>
              <a:rPr lang="en-US" sz="2800" dirty="0"/>
              <a:t>Describe the top three initiatives on the roadmap.</a:t>
            </a:r>
          </a:p>
        </p:txBody>
      </p:sp>
    </p:spTree>
    <p:extLst>
      <p:ext uri="{BB962C8B-B14F-4D97-AF65-F5344CB8AC3E}">
        <p14:creationId xmlns:p14="http://schemas.microsoft.com/office/powerpoint/2010/main" val="479412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8BDF6D-59D8-6049-B61C-26B3A300E432}"/>
              </a:ext>
            </a:extLst>
          </p:cNvPr>
          <p:cNvSpPr>
            <a:spLocks noGrp="1"/>
          </p:cNvSpPr>
          <p:nvPr>
            <p:ph type="title"/>
          </p:nvPr>
        </p:nvSpPr>
        <p:spPr>
          <a:xfrm>
            <a:off x="354106" y="544769"/>
            <a:ext cx="7554218" cy="987469"/>
          </a:xfrm>
        </p:spPr>
        <p:txBody>
          <a:bodyPr/>
          <a:lstStyle/>
          <a:p>
            <a:r>
              <a:rPr lang="en-US" dirty="0"/>
              <a:t>Roadmap</a:t>
            </a:r>
          </a:p>
        </p:txBody>
      </p:sp>
      <p:pic>
        <p:nvPicPr>
          <p:cNvPr id="11" name="Picture 10">
            <a:extLst>
              <a:ext uri="{FF2B5EF4-FFF2-40B4-BE49-F238E27FC236}">
                <a16:creationId xmlns:a16="http://schemas.microsoft.com/office/drawing/2014/main" id="{D5A02A46-2BDD-8B3F-A689-0F3D985BFE67}"/>
              </a:ext>
            </a:extLst>
          </p:cNvPr>
          <p:cNvPicPr>
            <a:picLocks noChangeAspect="1"/>
          </p:cNvPicPr>
          <p:nvPr/>
        </p:nvPicPr>
        <p:blipFill>
          <a:blip r:embed="rId3"/>
          <a:stretch>
            <a:fillRect/>
          </a:stretch>
        </p:blipFill>
        <p:spPr>
          <a:xfrm>
            <a:off x="1751284" y="963454"/>
            <a:ext cx="7414474" cy="5668403"/>
          </a:xfrm>
          <a:prstGeom prst="rect">
            <a:avLst/>
          </a:prstGeom>
        </p:spPr>
      </p:pic>
      <p:sp>
        <p:nvSpPr>
          <p:cNvPr id="2" name="TextBox 1">
            <a:extLst>
              <a:ext uri="{FF2B5EF4-FFF2-40B4-BE49-F238E27FC236}">
                <a16:creationId xmlns:a16="http://schemas.microsoft.com/office/drawing/2014/main" id="{9E4C6C42-8182-F2FF-8809-4E0F31D97E13}"/>
              </a:ext>
            </a:extLst>
          </p:cNvPr>
          <p:cNvSpPr txBox="1"/>
          <p:nvPr/>
        </p:nvSpPr>
        <p:spPr>
          <a:xfrm>
            <a:off x="3927987" y="2063180"/>
            <a:ext cx="4149213" cy="2438400"/>
          </a:xfrm>
          <a:prstGeom prst="rect">
            <a:avLst/>
          </a:prstGeom>
          <a:gradFill>
            <a:gsLst>
              <a:gs pos="0">
                <a:schemeClr val="accent5">
                  <a:lumMod val="110000"/>
                  <a:satMod val="105000"/>
                  <a:tint val="67000"/>
                  <a:alpha val="75000"/>
                </a:schemeClr>
              </a:gs>
              <a:gs pos="50000">
                <a:schemeClr val="accent5">
                  <a:lumMod val="105000"/>
                  <a:satMod val="103000"/>
                  <a:tint val="73000"/>
                </a:schemeClr>
              </a:gs>
              <a:gs pos="100000">
                <a:schemeClr val="accent5">
                  <a:lumMod val="105000"/>
                  <a:satMod val="109000"/>
                  <a:tint val="81000"/>
                </a:schemeClr>
              </a:gs>
            </a:gsLst>
          </a:gradFill>
        </p:spPr>
        <p:style>
          <a:lnRef idx="1">
            <a:schemeClr val="accent5"/>
          </a:lnRef>
          <a:fillRef idx="2">
            <a:schemeClr val="accent5"/>
          </a:fillRef>
          <a:effectRef idx="1">
            <a:schemeClr val="accent5"/>
          </a:effectRef>
          <a:fontRef idx="minor">
            <a:schemeClr val="dk1"/>
          </a:fontRef>
        </p:style>
        <p:txBody>
          <a:bodyPr wrap="square" rtlCol="0">
            <a:noAutofit/>
          </a:bodyPr>
          <a:lstStyle/>
          <a:p>
            <a:pPr algn="ctr"/>
            <a:endParaRPr lang="en-US" sz="2800" dirty="0"/>
          </a:p>
          <a:p>
            <a:pPr algn="ctr"/>
            <a:r>
              <a:rPr lang="en-US" sz="2800" dirty="0"/>
              <a:t>Copy proposed implementation timeline from Gantt chart.</a:t>
            </a:r>
          </a:p>
        </p:txBody>
      </p:sp>
    </p:spTree>
    <p:extLst>
      <p:ext uri="{BB962C8B-B14F-4D97-AF65-F5344CB8AC3E}">
        <p14:creationId xmlns:p14="http://schemas.microsoft.com/office/powerpoint/2010/main" val="2714489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E6E8AF-AA02-8A45-8B51-0888B0C66904}"/>
              </a:ext>
            </a:extLst>
          </p:cNvPr>
          <p:cNvSpPr>
            <a:spLocks noGrp="1"/>
          </p:cNvSpPr>
          <p:nvPr>
            <p:ph type="title"/>
          </p:nvPr>
        </p:nvSpPr>
        <p:spPr>
          <a:xfrm>
            <a:off x="354106" y="530021"/>
            <a:ext cx="8449652" cy="1130188"/>
          </a:xfrm>
        </p:spPr>
        <p:txBody>
          <a:bodyPr/>
          <a:lstStyle/>
          <a:p>
            <a:r>
              <a:rPr lang="en-US" dirty="0"/>
              <a:t>Expected costs and resourcing</a:t>
            </a:r>
          </a:p>
        </p:txBody>
      </p:sp>
      <p:pic>
        <p:nvPicPr>
          <p:cNvPr id="11" name="Picture 10">
            <a:extLst>
              <a:ext uri="{FF2B5EF4-FFF2-40B4-BE49-F238E27FC236}">
                <a16:creationId xmlns:a16="http://schemas.microsoft.com/office/drawing/2014/main" id="{7697E4D9-3FFE-F906-7CDD-8B5E499ABEEC}"/>
              </a:ext>
            </a:extLst>
          </p:cNvPr>
          <p:cNvPicPr>
            <a:picLocks noChangeAspect="1"/>
          </p:cNvPicPr>
          <p:nvPr/>
        </p:nvPicPr>
        <p:blipFill>
          <a:blip r:embed="rId3"/>
          <a:stretch>
            <a:fillRect/>
          </a:stretch>
        </p:blipFill>
        <p:spPr>
          <a:xfrm>
            <a:off x="815950" y="1799991"/>
            <a:ext cx="10306050" cy="2695575"/>
          </a:xfrm>
          <a:prstGeom prst="rect">
            <a:avLst/>
          </a:prstGeom>
        </p:spPr>
      </p:pic>
      <p:pic>
        <p:nvPicPr>
          <p:cNvPr id="12" name="Picture 11">
            <a:extLst>
              <a:ext uri="{FF2B5EF4-FFF2-40B4-BE49-F238E27FC236}">
                <a16:creationId xmlns:a16="http://schemas.microsoft.com/office/drawing/2014/main" id="{D6CC4F0D-9401-218A-465B-39B5772038B1}"/>
              </a:ext>
            </a:extLst>
          </p:cNvPr>
          <p:cNvPicPr>
            <a:picLocks noChangeAspect="1"/>
          </p:cNvPicPr>
          <p:nvPr/>
        </p:nvPicPr>
        <p:blipFill>
          <a:blip r:embed="rId4"/>
          <a:stretch>
            <a:fillRect/>
          </a:stretch>
        </p:blipFill>
        <p:spPr>
          <a:xfrm>
            <a:off x="3084896" y="4952079"/>
            <a:ext cx="5591175" cy="1162050"/>
          </a:xfrm>
          <a:prstGeom prst="rect">
            <a:avLst/>
          </a:prstGeom>
        </p:spPr>
      </p:pic>
      <p:sp>
        <p:nvSpPr>
          <p:cNvPr id="2" name="TextBox 1">
            <a:extLst>
              <a:ext uri="{FF2B5EF4-FFF2-40B4-BE49-F238E27FC236}">
                <a16:creationId xmlns:a16="http://schemas.microsoft.com/office/drawing/2014/main" id="{F6DFBF4B-41CB-E3EB-11AC-44C1A2FD032F}"/>
              </a:ext>
            </a:extLst>
          </p:cNvPr>
          <p:cNvSpPr txBox="1"/>
          <p:nvPr/>
        </p:nvSpPr>
        <p:spPr>
          <a:xfrm>
            <a:off x="4225679" y="2354592"/>
            <a:ext cx="4149213" cy="2438400"/>
          </a:xfrm>
          <a:prstGeom prst="rect">
            <a:avLst/>
          </a:prstGeom>
          <a:gradFill>
            <a:gsLst>
              <a:gs pos="0">
                <a:schemeClr val="accent5">
                  <a:lumMod val="110000"/>
                  <a:satMod val="105000"/>
                  <a:tint val="67000"/>
                  <a:alpha val="75000"/>
                </a:schemeClr>
              </a:gs>
              <a:gs pos="50000">
                <a:schemeClr val="accent5">
                  <a:lumMod val="105000"/>
                  <a:satMod val="103000"/>
                  <a:tint val="73000"/>
                </a:schemeClr>
              </a:gs>
              <a:gs pos="100000">
                <a:schemeClr val="accent5">
                  <a:lumMod val="105000"/>
                  <a:satMod val="109000"/>
                  <a:tint val="81000"/>
                </a:schemeClr>
              </a:gs>
            </a:gsLst>
          </a:gradFill>
        </p:spPr>
        <p:style>
          <a:lnRef idx="1">
            <a:schemeClr val="accent5"/>
          </a:lnRef>
          <a:fillRef idx="2">
            <a:schemeClr val="accent5"/>
          </a:fillRef>
          <a:effectRef idx="1">
            <a:schemeClr val="accent5"/>
          </a:effectRef>
          <a:fontRef idx="minor">
            <a:schemeClr val="dk1"/>
          </a:fontRef>
        </p:style>
        <p:txBody>
          <a:bodyPr wrap="square" rtlCol="0">
            <a:noAutofit/>
          </a:bodyPr>
          <a:lstStyle/>
          <a:p>
            <a:pPr algn="ctr"/>
            <a:endParaRPr lang="en-US" sz="2800" dirty="0"/>
          </a:p>
          <a:p>
            <a:pPr algn="ctr"/>
            <a:endParaRPr lang="en-US" sz="2800" dirty="0"/>
          </a:p>
          <a:p>
            <a:pPr algn="ctr"/>
            <a:r>
              <a:rPr lang="en-US" sz="2800" dirty="0"/>
              <a:t>Table showing estimated costs and staffing.</a:t>
            </a:r>
          </a:p>
        </p:txBody>
      </p:sp>
    </p:spTree>
    <p:extLst>
      <p:ext uri="{BB962C8B-B14F-4D97-AF65-F5344CB8AC3E}">
        <p14:creationId xmlns:p14="http://schemas.microsoft.com/office/powerpoint/2010/main" val="13665014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EC539-C2BF-BDC8-2F7F-41A9851B179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227E9D9-ABEB-AEA7-E21C-4B869337BFF8}"/>
              </a:ext>
            </a:extLst>
          </p:cNvPr>
          <p:cNvSpPr>
            <a:spLocks noGrp="1"/>
          </p:cNvSpPr>
          <p:nvPr>
            <p:ph type="title"/>
          </p:nvPr>
        </p:nvSpPr>
        <p:spPr>
          <a:xfrm>
            <a:off x="354106" y="530021"/>
            <a:ext cx="8449652" cy="1130188"/>
          </a:xfrm>
        </p:spPr>
        <p:txBody>
          <a:bodyPr/>
          <a:lstStyle/>
          <a:p>
            <a:r>
              <a:rPr lang="en-US" dirty="0"/>
              <a:t>Expected benefits</a:t>
            </a:r>
          </a:p>
        </p:txBody>
      </p:sp>
      <p:graphicFrame>
        <p:nvGraphicFramePr>
          <p:cNvPr id="6" name="Chart 5">
            <a:extLst>
              <a:ext uri="{FF2B5EF4-FFF2-40B4-BE49-F238E27FC236}">
                <a16:creationId xmlns:a16="http://schemas.microsoft.com/office/drawing/2014/main" id="{34A13AD7-80CA-EFDC-A790-0C179D5E6C2B}"/>
              </a:ext>
            </a:extLst>
          </p:cNvPr>
          <p:cNvGraphicFramePr/>
          <p:nvPr>
            <p:extLst>
              <p:ext uri="{D42A27DB-BD31-4B8C-83A1-F6EECF244321}">
                <p14:modId xmlns:p14="http://schemas.microsoft.com/office/powerpoint/2010/main" val="2172793642"/>
              </p:ext>
            </p:extLst>
          </p:nvPr>
        </p:nvGraphicFramePr>
        <p:xfrm>
          <a:off x="354106" y="1095115"/>
          <a:ext cx="5395478" cy="28495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a:extLst>
              <a:ext uri="{FF2B5EF4-FFF2-40B4-BE49-F238E27FC236}">
                <a16:creationId xmlns:a16="http://schemas.microsoft.com/office/drawing/2014/main" id="{52D86B44-C227-8323-4893-5B7D18AE11F1}"/>
              </a:ext>
            </a:extLst>
          </p:cNvPr>
          <p:cNvGraphicFramePr/>
          <p:nvPr>
            <p:extLst>
              <p:ext uri="{D42A27DB-BD31-4B8C-83A1-F6EECF244321}">
                <p14:modId xmlns:p14="http://schemas.microsoft.com/office/powerpoint/2010/main" val="2597794151"/>
              </p:ext>
            </p:extLst>
          </p:nvPr>
        </p:nvGraphicFramePr>
        <p:xfrm>
          <a:off x="354106" y="3944640"/>
          <a:ext cx="5395478" cy="284952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Chart 13">
            <a:extLst>
              <a:ext uri="{FF2B5EF4-FFF2-40B4-BE49-F238E27FC236}">
                <a16:creationId xmlns:a16="http://schemas.microsoft.com/office/drawing/2014/main" id="{C1C44787-880B-D370-4AD7-73AEB0FC0E68}"/>
              </a:ext>
            </a:extLst>
          </p:cNvPr>
          <p:cNvGraphicFramePr/>
          <p:nvPr>
            <p:extLst>
              <p:ext uri="{D42A27DB-BD31-4B8C-83A1-F6EECF244321}">
                <p14:modId xmlns:p14="http://schemas.microsoft.com/office/powerpoint/2010/main" val="203754647"/>
              </p:ext>
            </p:extLst>
          </p:nvPr>
        </p:nvGraphicFramePr>
        <p:xfrm>
          <a:off x="6106019" y="453210"/>
          <a:ext cx="5395478" cy="284952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5" name="Chart 14">
            <a:extLst>
              <a:ext uri="{FF2B5EF4-FFF2-40B4-BE49-F238E27FC236}">
                <a16:creationId xmlns:a16="http://schemas.microsoft.com/office/drawing/2014/main" id="{AA5C23EE-8685-C1AD-3446-325AE5091DFB}"/>
              </a:ext>
            </a:extLst>
          </p:cNvPr>
          <p:cNvGraphicFramePr/>
          <p:nvPr>
            <p:extLst>
              <p:ext uri="{D42A27DB-BD31-4B8C-83A1-F6EECF244321}">
                <p14:modId xmlns:p14="http://schemas.microsoft.com/office/powerpoint/2010/main" val="1255251450"/>
              </p:ext>
            </p:extLst>
          </p:nvPr>
        </p:nvGraphicFramePr>
        <p:xfrm>
          <a:off x="6106019" y="3773028"/>
          <a:ext cx="5395478" cy="2849525"/>
        </p:xfrm>
        <a:graphic>
          <a:graphicData uri="http://schemas.openxmlformats.org/drawingml/2006/chart">
            <c:chart xmlns:c="http://schemas.openxmlformats.org/drawingml/2006/chart" xmlns:r="http://schemas.openxmlformats.org/officeDocument/2006/relationships" r:id="rId6"/>
          </a:graphicData>
        </a:graphic>
      </p:graphicFrame>
      <p:sp>
        <p:nvSpPr>
          <p:cNvPr id="4" name="TextBox 3">
            <a:extLst>
              <a:ext uri="{FF2B5EF4-FFF2-40B4-BE49-F238E27FC236}">
                <a16:creationId xmlns:a16="http://schemas.microsoft.com/office/drawing/2014/main" id="{E843D1D8-1C66-6F06-75CC-049EC4229BDA}"/>
              </a:ext>
            </a:extLst>
          </p:cNvPr>
          <p:cNvSpPr txBox="1"/>
          <p:nvPr/>
        </p:nvSpPr>
        <p:spPr>
          <a:xfrm>
            <a:off x="4264912" y="2209800"/>
            <a:ext cx="4149213" cy="243840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noAutofit/>
          </a:bodyPr>
          <a:lstStyle/>
          <a:p>
            <a:pPr algn="ctr"/>
            <a:endParaRPr lang="en-US" sz="2800" dirty="0"/>
          </a:p>
          <a:p>
            <a:pPr algn="ctr"/>
            <a:r>
              <a:rPr lang="en-US" sz="2800" dirty="0"/>
              <a:t>Table or charts showing expected improvements in metrics.</a:t>
            </a:r>
          </a:p>
        </p:txBody>
      </p:sp>
    </p:spTree>
    <p:extLst>
      <p:ext uri="{BB962C8B-B14F-4D97-AF65-F5344CB8AC3E}">
        <p14:creationId xmlns:p14="http://schemas.microsoft.com/office/powerpoint/2010/main" val="25260814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2A82DDAF-7E63-314D-A77A-10058488C653}"/>
              </a:ext>
            </a:extLst>
          </p:cNvPr>
          <p:cNvSpPr/>
          <p:nvPr/>
        </p:nvSpPr>
        <p:spPr>
          <a:xfrm>
            <a:off x="4828032" y="0"/>
            <a:ext cx="7365556" cy="6858000"/>
          </a:xfrm>
          <a:prstGeom prst="rect">
            <a:avLst/>
          </a:prstGeom>
          <a:gradFill>
            <a:gsLst>
              <a:gs pos="15000">
                <a:schemeClr val="bg1"/>
              </a:gs>
              <a:gs pos="85000">
                <a:schemeClr val="bg1">
                  <a:lumMod val="85000"/>
                  <a:alpha val="6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5">
            <a:extLst>
              <a:ext uri="{FF2B5EF4-FFF2-40B4-BE49-F238E27FC236}">
                <a16:creationId xmlns:a16="http://schemas.microsoft.com/office/drawing/2014/main" id="{A8BFC59A-C0D9-2848-AB8D-5B5C8E97041D}"/>
              </a:ext>
            </a:extLst>
          </p:cNvPr>
          <p:cNvSpPr>
            <a:spLocks noGrp="1"/>
          </p:cNvSpPr>
          <p:nvPr>
            <p:ph type="title"/>
          </p:nvPr>
        </p:nvSpPr>
        <p:spPr>
          <a:xfrm>
            <a:off x="354106" y="639748"/>
            <a:ext cx="3522950" cy="1835227"/>
          </a:xfrm>
        </p:spPr>
        <p:txBody>
          <a:bodyPr/>
          <a:lstStyle/>
          <a:p>
            <a:r>
              <a:rPr lang="en-CA" sz="4000" dirty="0"/>
              <a:t>Next steps</a:t>
            </a:r>
            <a:endParaRPr lang="en-US" sz="4000" dirty="0"/>
          </a:p>
        </p:txBody>
      </p:sp>
      <p:graphicFrame>
        <p:nvGraphicFramePr>
          <p:cNvPr id="14" name="Table 13">
            <a:extLst>
              <a:ext uri="{FF2B5EF4-FFF2-40B4-BE49-F238E27FC236}">
                <a16:creationId xmlns:a16="http://schemas.microsoft.com/office/drawing/2014/main" id="{92B7E2C3-051D-A846-8511-19C73F3EFFB5}"/>
              </a:ext>
            </a:extLst>
          </p:cNvPr>
          <p:cNvGraphicFramePr>
            <a:graphicFrameLocks noGrp="1"/>
          </p:cNvGraphicFramePr>
          <p:nvPr>
            <p:extLst>
              <p:ext uri="{D42A27DB-BD31-4B8C-83A1-F6EECF244321}">
                <p14:modId xmlns:p14="http://schemas.microsoft.com/office/powerpoint/2010/main" val="1821059660"/>
              </p:ext>
            </p:extLst>
          </p:nvPr>
        </p:nvGraphicFramePr>
        <p:xfrm>
          <a:off x="4954334" y="719328"/>
          <a:ext cx="6388608" cy="5388866"/>
        </p:xfrm>
        <a:graphic>
          <a:graphicData uri="http://schemas.openxmlformats.org/drawingml/2006/table">
            <a:tbl>
              <a:tblPr firstRow="1" bandRow="1">
                <a:tableStyleId>{5C22544A-7EE6-4342-B048-85BDC9FD1C3A}</a:tableStyleId>
              </a:tblPr>
              <a:tblGrid>
                <a:gridCol w="890016">
                  <a:extLst>
                    <a:ext uri="{9D8B030D-6E8A-4147-A177-3AD203B41FA5}">
                      <a16:colId xmlns:a16="http://schemas.microsoft.com/office/drawing/2014/main" val="969920913"/>
                    </a:ext>
                  </a:extLst>
                </a:gridCol>
                <a:gridCol w="5498592">
                  <a:extLst>
                    <a:ext uri="{9D8B030D-6E8A-4147-A177-3AD203B41FA5}">
                      <a16:colId xmlns:a16="http://schemas.microsoft.com/office/drawing/2014/main" val="319046751"/>
                    </a:ext>
                  </a:extLst>
                </a:gridCol>
              </a:tblGrid>
              <a:tr h="788615">
                <a:tc>
                  <a:txBody>
                    <a:bodyPr/>
                    <a:lstStyle/>
                    <a:p>
                      <a:pPr algn="ctr"/>
                      <a:r>
                        <a:rPr lang="en-US" sz="4000" b="0" i="0" dirty="0">
                          <a:solidFill>
                            <a:srgbClr val="2576B7"/>
                          </a:solidFill>
                          <a:latin typeface="Montserrat Medium" pitchFamily="2" charset="77"/>
                        </a:rPr>
                        <a:t>1</a:t>
                      </a:r>
                    </a:p>
                  </a:txBody>
                  <a:tcPr anchor="ctr">
                    <a:lnL w="3175"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sz="1400" b="0" i="0" dirty="0">
                          <a:solidFill>
                            <a:srgbClr val="000000"/>
                          </a:solidFill>
                          <a:latin typeface="Roboto Condensed Light" panose="02000000000000000000" pitchFamily="2" charset="0"/>
                          <a:ea typeface="Roboto Condensed Light" panose="02000000000000000000" pitchFamily="2" charset="0"/>
                        </a:rPr>
                        <a:t>Socialize strategy with executive management (Q1).</a:t>
                      </a:r>
                    </a:p>
                  </a:txBody>
                  <a:tcPr anchor="ctr">
                    <a:lnL w="12700" cmpd="sng">
                      <a:noFill/>
                    </a:lnL>
                    <a:lnR w="12700" cmpd="sng">
                      <a:noFill/>
                    </a:lnR>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02905411"/>
                  </a:ext>
                </a:extLst>
              </a:tr>
              <a:tr h="1117203">
                <a:tc>
                  <a:txBody>
                    <a:bodyPr/>
                    <a:lstStyle/>
                    <a:p>
                      <a:pPr algn="ctr"/>
                      <a:r>
                        <a:rPr lang="en-US" sz="4000" b="0" i="0" dirty="0">
                          <a:solidFill>
                            <a:srgbClr val="2576B7"/>
                          </a:solidFill>
                          <a:latin typeface="Montserrat Medium" pitchFamily="2" charset="77"/>
                        </a:rPr>
                        <a:t>2</a:t>
                      </a:r>
                    </a:p>
                  </a:txBody>
                  <a:tcPr anchor="ctr">
                    <a:lnL w="3175" cap="flat" cmpd="sng" algn="ctr">
                      <a:no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sz="1400" b="0" i="0" dirty="0">
                          <a:solidFill>
                            <a:srgbClr val="000000"/>
                          </a:solidFill>
                          <a:latin typeface="Roboto Condensed Light" panose="02000000000000000000" pitchFamily="2" charset="0"/>
                          <a:ea typeface="Roboto Condensed Light" panose="02000000000000000000" pitchFamily="2" charset="0"/>
                        </a:rPr>
                        <a:t>Submit budget proposals for next fiscal year (Q2).</a:t>
                      </a:r>
                    </a:p>
                  </a:txBody>
                  <a:tcPr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8314962"/>
                  </a:ext>
                </a:extLst>
              </a:tr>
              <a:tr h="788615">
                <a:tc>
                  <a:txBody>
                    <a:bodyPr/>
                    <a:lstStyle/>
                    <a:p>
                      <a:pPr algn="ctr"/>
                      <a:r>
                        <a:rPr lang="en-US" sz="4000" b="0" i="0" dirty="0">
                          <a:solidFill>
                            <a:srgbClr val="2576B7"/>
                          </a:solidFill>
                          <a:latin typeface="Montserrat Medium" pitchFamily="2" charset="77"/>
                        </a:rPr>
                        <a:t>3</a:t>
                      </a:r>
                    </a:p>
                  </a:txBody>
                  <a:tcPr anchor="ctr">
                    <a:lnL w="3175"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400" b="0" i="0" dirty="0">
                          <a:solidFill>
                            <a:srgbClr val="000000"/>
                          </a:solidFill>
                          <a:latin typeface="Roboto Condensed Light" panose="02000000000000000000" pitchFamily="2" charset="0"/>
                          <a:ea typeface="Roboto Condensed Light" panose="02000000000000000000" pitchFamily="2" charset="0"/>
                        </a:rPr>
                        <a:t>Form program steering committee (Q3).</a:t>
                      </a:r>
                    </a:p>
                  </a:txBody>
                  <a:tcPr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noFill/>
                  </a:tcPr>
                </a:tc>
                <a:extLst>
                  <a:ext uri="{0D108BD9-81ED-4DB2-BD59-A6C34878D82A}">
                    <a16:rowId xmlns:a16="http://schemas.microsoft.com/office/drawing/2014/main" val="2133729328"/>
                  </a:ext>
                </a:extLst>
              </a:tr>
              <a:tr h="788615">
                <a:tc>
                  <a:txBody>
                    <a:bodyPr/>
                    <a:lstStyle/>
                    <a:p>
                      <a:pPr algn="ctr"/>
                      <a:r>
                        <a:rPr lang="en-US" sz="4000" b="0" i="0" dirty="0">
                          <a:solidFill>
                            <a:srgbClr val="2576B7"/>
                          </a:solidFill>
                          <a:latin typeface="Montserrat Medium" pitchFamily="2" charset="77"/>
                        </a:rPr>
                        <a:t>4</a:t>
                      </a:r>
                    </a:p>
                  </a:txBody>
                  <a:tcPr anchor="ctr">
                    <a:lnL w="3175"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400" b="0" i="0" dirty="0">
                          <a:solidFill>
                            <a:srgbClr val="000000"/>
                          </a:solidFill>
                          <a:latin typeface="Roboto Condensed Light" panose="02000000000000000000" pitchFamily="2" charset="0"/>
                          <a:ea typeface="Roboto Condensed Light" panose="02000000000000000000" pitchFamily="2" charset="0"/>
                        </a:rPr>
                        <a:t>Assign program manager (Q3).</a:t>
                      </a:r>
                    </a:p>
                  </a:txBody>
                  <a:tcPr anchor="ctr">
                    <a:lnL w="12700" cmpd="sng">
                      <a:noFill/>
                    </a:lnL>
                    <a:lnR w="12700" cmpd="sng">
                      <a:noFill/>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28151919"/>
                  </a:ext>
                </a:extLst>
              </a:tr>
              <a:tr h="1117203">
                <a:tc>
                  <a:txBody>
                    <a:bodyPr/>
                    <a:lstStyle/>
                    <a:p>
                      <a:pPr algn="ctr"/>
                      <a:r>
                        <a:rPr lang="en-US" sz="4000" b="0" i="0" dirty="0">
                          <a:solidFill>
                            <a:srgbClr val="2576B7"/>
                          </a:solidFill>
                          <a:latin typeface="Montserrat Medium" pitchFamily="2" charset="77"/>
                        </a:rPr>
                        <a:t>5</a:t>
                      </a:r>
                    </a:p>
                  </a:txBody>
                  <a:tcPr anchor="ctr">
                    <a:lnL w="3175"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400" b="0" i="0" dirty="0">
                          <a:solidFill>
                            <a:srgbClr val="000000"/>
                          </a:solidFill>
                          <a:latin typeface="Roboto Condensed Light" panose="02000000000000000000" pitchFamily="2" charset="0"/>
                          <a:ea typeface="Roboto Condensed Light" panose="02000000000000000000" pitchFamily="2" charset="0"/>
                        </a:rPr>
                        <a:t>Develop detailed project plans for top three initiatives (Q3).</a:t>
                      </a:r>
                    </a:p>
                  </a:txBody>
                  <a:tcPr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50892230"/>
                  </a:ext>
                </a:extLst>
              </a:tr>
              <a:tr h="788615">
                <a:tc>
                  <a:txBody>
                    <a:bodyPr/>
                    <a:lstStyle/>
                    <a:p>
                      <a:pPr algn="ctr"/>
                      <a:r>
                        <a:rPr lang="en-US" sz="4000" b="0" i="0" dirty="0">
                          <a:solidFill>
                            <a:srgbClr val="2576B7"/>
                          </a:solidFill>
                          <a:latin typeface="Montserrat Medium" pitchFamily="2" charset="77"/>
                        </a:rPr>
                        <a:t>6</a:t>
                      </a:r>
                    </a:p>
                  </a:txBody>
                  <a:tcPr anchor="ctr">
                    <a:lnL w="3175"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400" b="0" i="0" dirty="0">
                          <a:solidFill>
                            <a:srgbClr val="000000"/>
                          </a:solidFill>
                          <a:latin typeface="Roboto Condensed Light" panose="02000000000000000000" pitchFamily="2" charset="0"/>
                          <a:ea typeface="Roboto Condensed Light" panose="02000000000000000000" pitchFamily="2" charset="0"/>
                        </a:rPr>
                        <a:t>Launch first project (Q4).</a:t>
                      </a:r>
                    </a:p>
                  </a:txBody>
                  <a:tcPr anchor="ctr">
                    <a:lnL w="12700" cmpd="sng">
                      <a:noFill/>
                    </a:lnL>
                    <a:lnR w="12700" cmpd="sng">
                      <a:noFill/>
                    </a:lnR>
                    <a:lnT w="3175" cap="flat" cmpd="sng" algn="ctr">
                      <a:solidFill>
                        <a:schemeClr val="bg1">
                          <a:lumMod val="75000"/>
                        </a:schemeClr>
                      </a:solidFill>
                      <a:prstDash val="solid"/>
                      <a:round/>
                      <a:headEnd type="none" w="med" len="med"/>
                      <a:tailEnd type="none" w="med" len="med"/>
                    </a:lnT>
                    <a:lnB w="12700" cmpd="sng">
                      <a:noFill/>
                    </a:lnB>
                    <a:lnTlToBr w="12700" cmpd="sng">
                      <a:noFill/>
                      <a:prstDash val="solid"/>
                    </a:lnTlToBr>
                    <a:noFill/>
                  </a:tcPr>
                </a:tc>
                <a:extLst>
                  <a:ext uri="{0D108BD9-81ED-4DB2-BD59-A6C34878D82A}">
                    <a16:rowId xmlns:a16="http://schemas.microsoft.com/office/drawing/2014/main" val="2783217523"/>
                  </a:ext>
                </a:extLst>
              </a:tr>
            </a:tbl>
          </a:graphicData>
        </a:graphic>
      </p:graphicFrame>
      <p:sp>
        <p:nvSpPr>
          <p:cNvPr id="2" name="TextBox 1">
            <a:extLst>
              <a:ext uri="{FF2B5EF4-FFF2-40B4-BE49-F238E27FC236}">
                <a16:creationId xmlns:a16="http://schemas.microsoft.com/office/drawing/2014/main" id="{25A270FE-4214-9418-B8A8-38E36D0CFA83}"/>
              </a:ext>
            </a:extLst>
          </p:cNvPr>
          <p:cNvSpPr txBox="1"/>
          <p:nvPr/>
        </p:nvSpPr>
        <p:spPr>
          <a:xfrm>
            <a:off x="4022187" y="2194561"/>
            <a:ext cx="4149213" cy="2438400"/>
          </a:xfrm>
          <a:prstGeom prst="rect">
            <a:avLst/>
          </a:prstGeom>
          <a:gradFill>
            <a:gsLst>
              <a:gs pos="0">
                <a:schemeClr val="accent5">
                  <a:lumMod val="110000"/>
                  <a:satMod val="105000"/>
                  <a:tint val="67000"/>
                  <a:alpha val="75000"/>
                </a:schemeClr>
              </a:gs>
              <a:gs pos="50000">
                <a:schemeClr val="accent5">
                  <a:lumMod val="105000"/>
                  <a:satMod val="103000"/>
                  <a:tint val="73000"/>
                </a:schemeClr>
              </a:gs>
              <a:gs pos="100000">
                <a:schemeClr val="accent5">
                  <a:lumMod val="105000"/>
                  <a:satMod val="109000"/>
                  <a:tint val="81000"/>
                </a:schemeClr>
              </a:gs>
            </a:gsLst>
          </a:gradFill>
        </p:spPr>
        <p:style>
          <a:lnRef idx="1">
            <a:schemeClr val="accent5"/>
          </a:lnRef>
          <a:fillRef idx="2">
            <a:schemeClr val="accent5"/>
          </a:fillRef>
          <a:effectRef idx="1">
            <a:schemeClr val="accent5"/>
          </a:effectRef>
          <a:fontRef idx="minor">
            <a:schemeClr val="dk1"/>
          </a:fontRef>
        </p:style>
        <p:txBody>
          <a:bodyPr wrap="square" rtlCol="0">
            <a:noAutofit/>
          </a:bodyPr>
          <a:lstStyle/>
          <a:p>
            <a:pPr algn="ctr"/>
            <a:endParaRPr lang="en-US" sz="2800" dirty="0"/>
          </a:p>
          <a:p>
            <a:pPr algn="ctr"/>
            <a:endParaRPr lang="en-US" sz="2800" dirty="0"/>
          </a:p>
          <a:p>
            <a:pPr algn="ctr"/>
            <a:r>
              <a:rPr lang="en-US" sz="2800" dirty="0"/>
              <a:t>Numbered list of next steps for plan.</a:t>
            </a:r>
          </a:p>
        </p:txBody>
      </p:sp>
    </p:spTree>
    <p:extLst>
      <p:ext uri="{BB962C8B-B14F-4D97-AF65-F5344CB8AC3E}">
        <p14:creationId xmlns:p14="http://schemas.microsoft.com/office/powerpoint/2010/main" val="1952971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7DC0C-EC87-4821-26FD-BA6CA7DF12C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2E09062-E02B-2A53-1804-7FF05E0141A6}"/>
              </a:ext>
            </a:extLst>
          </p:cNvPr>
          <p:cNvSpPr txBox="1"/>
          <p:nvPr/>
        </p:nvSpPr>
        <p:spPr>
          <a:xfrm>
            <a:off x="8589364" y="6250898"/>
            <a:ext cx="0" cy="0"/>
          </a:xfrm>
          <a:prstGeom prst="rect">
            <a:avLst/>
          </a:prstGeom>
        </p:spPr>
        <p:txBody>
          <a:bodyPr wrap="none" lIns="0" tIns="0" rIns="0" bIns="0" numCol="1" spcCol="360000" rtlCol="0">
            <a:noAutofit/>
          </a:bodyPr>
          <a:lstStyle/>
          <a:p>
            <a:pPr marL="179388" indent="-179388" algn="l">
              <a:lnSpc>
                <a:spcPct val="110000"/>
              </a:lnSpc>
              <a:buFont typeface="Arial" panose="020B0604020202020204" pitchFamily="34" charset="0"/>
              <a:buChar char="•"/>
              <a:tabLst/>
            </a:pPr>
            <a:endParaRPr lang="en-US" sz="1400" dirty="0">
              <a:solidFill>
                <a:schemeClr val="tx1">
                  <a:lumMod val="50000"/>
                </a:schemeClr>
              </a:solidFill>
              <a:latin typeface="Roboto Condensed Light" panose="02000000000000000000" pitchFamily="2" charset="0"/>
              <a:ea typeface="Roboto Condensed Light" panose="02000000000000000000" pitchFamily="2" charset="0"/>
            </a:endParaRPr>
          </a:p>
        </p:txBody>
      </p:sp>
      <p:pic>
        <p:nvPicPr>
          <p:cNvPr id="5" name="Picture 4" descr="A logo with a blue and white design&#10;&#10;AI-generated content may be incorrect.">
            <a:extLst>
              <a:ext uri="{FF2B5EF4-FFF2-40B4-BE49-F238E27FC236}">
                <a16:creationId xmlns:a16="http://schemas.microsoft.com/office/drawing/2014/main" id="{ED8DC252-0DF7-AEA5-7BA5-3AC9510FCD37}"/>
              </a:ext>
            </a:extLst>
          </p:cNvPr>
          <p:cNvPicPr>
            <a:picLocks noChangeAspect="1"/>
          </p:cNvPicPr>
          <p:nvPr/>
        </p:nvPicPr>
        <p:blipFill>
          <a:blip r:embed="rId3" cstate="print">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a:ext>
            </a:extLst>
          </a:blip>
          <a:stretch>
            <a:fillRect/>
          </a:stretch>
        </p:blipFill>
        <p:spPr>
          <a:xfrm>
            <a:off x="526500" y="2909732"/>
            <a:ext cx="1038536" cy="1038536"/>
          </a:xfrm>
          <a:prstGeom prst="rect">
            <a:avLst/>
          </a:prstGeom>
        </p:spPr>
      </p:pic>
      <p:sp>
        <p:nvSpPr>
          <p:cNvPr id="6" name="TextBox 5">
            <a:extLst>
              <a:ext uri="{FF2B5EF4-FFF2-40B4-BE49-F238E27FC236}">
                <a16:creationId xmlns:a16="http://schemas.microsoft.com/office/drawing/2014/main" id="{91530B15-74E8-797E-D2FA-4F4C627E1DBB}"/>
              </a:ext>
            </a:extLst>
          </p:cNvPr>
          <p:cNvSpPr txBox="1"/>
          <p:nvPr/>
        </p:nvSpPr>
        <p:spPr>
          <a:xfrm>
            <a:off x="1673191" y="3112119"/>
            <a:ext cx="3875304" cy="633762"/>
          </a:xfrm>
          <a:prstGeom prst="rect">
            <a:avLst/>
          </a:prstGeom>
        </p:spPr>
        <p:txBody>
          <a:bodyPr wrap="square" lIns="0" tIns="0" rIns="0" bIns="0" numCol="1" spcCol="360000" rtlCol="0">
            <a:no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Montserrat" panose="00000500000000000000" pitchFamily="2" charset="0"/>
                <a:ea typeface="Roboto Condensed Light" panose="02000000000000000000" pitchFamily="2" charset="0"/>
                <a:cs typeface="+mn-cs"/>
              </a:rPr>
              <a:t>ACME Corporation</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Roboto Condensed Light" panose="02000000000000000000" pitchFamily="2" charset="0"/>
                <a:cs typeface="+mn-cs"/>
              </a:rPr>
              <a:t>May 2025</a:t>
            </a:r>
          </a:p>
        </p:txBody>
      </p:sp>
    </p:spTree>
    <p:extLst>
      <p:ext uri="{BB962C8B-B14F-4D97-AF65-F5344CB8AC3E}">
        <p14:creationId xmlns:p14="http://schemas.microsoft.com/office/powerpoint/2010/main" val="24723678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7721D-2E47-DC35-21AA-B99CDCF2C82B}"/>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A4102BAF-3A5F-C429-E184-B87E58F7C7E1}"/>
              </a:ext>
            </a:extLst>
          </p:cNvPr>
          <p:cNvSpPr/>
          <p:nvPr/>
        </p:nvSpPr>
        <p:spPr>
          <a:xfrm>
            <a:off x="0" y="4785448"/>
            <a:ext cx="12193588" cy="902525"/>
          </a:xfrm>
          <a:prstGeom prst="rect">
            <a:avLst/>
          </a:prstGeom>
          <a:gradFill>
            <a:gsLst>
              <a:gs pos="74000">
                <a:srgbClr val="2576B7">
                  <a:alpha val="9000"/>
                </a:srgbClr>
              </a:gs>
              <a:gs pos="0">
                <a:srgbClr val="2576B7">
                  <a:alpha val="47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1F419A8-377D-9969-BA23-34696EBBC4E3}"/>
              </a:ext>
            </a:extLst>
          </p:cNvPr>
          <p:cNvSpPr txBox="1"/>
          <p:nvPr/>
        </p:nvSpPr>
        <p:spPr>
          <a:xfrm>
            <a:off x="658368" y="5182558"/>
            <a:ext cx="9085400" cy="553998"/>
          </a:xfrm>
          <a:prstGeom prst="rect">
            <a:avLst/>
          </a:prstGeom>
          <a:noFill/>
        </p:spPr>
        <p:txBody>
          <a:bodyPr wrap="square" lIns="0" tIns="0" rIns="0" bIns="0" rtlCol="0">
            <a:spAutoFit/>
          </a:bodyPr>
          <a:lstStyle/>
          <a:p>
            <a:pPr>
              <a:lnSpc>
                <a:spcPts val="1600"/>
              </a:lnSpc>
            </a:pPr>
            <a:r>
              <a:rPr lang="en-US" sz="2800" spc="500" dirty="0">
                <a:solidFill>
                  <a:schemeClr val="bg1"/>
                </a:solidFill>
                <a:latin typeface="Montserrat Medium" pitchFamily="2" charset="77"/>
                <a:ea typeface="Roboto Condensed Light" panose="02000000000000000000" pitchFamily="2" charset="0"/>
              </a:rPr>
              <a:t>APPENDIX A: INITIATIVE ONE-PAGERS</a:t>
            </a:r>
          </a:p>
          <a:p>
            <a:pPr>
              <a:lnSpc>
                <a:spcPts val="1400"/>
              </a:lnSpc>
            </a:pPr>
            <a:br>
              <a:rPr lang="en-US" spc="500" dirty="0">
                <a:solidFill>
                  <a:schemeClr val="bg1"/>
                </a:solidFill>
                <a:latin typeface="Montserrat" pitchFamily="2" charset="77"/>
              </a:rPr>
            </a:br>
            <a:endParaRPr lang="en-US" spc="500" dirty="0">
              <a:solidFill>
                <a:schemeClr val="bg1"/>
              </a:solidFill>
              <a:latin typeface="Montserrat" pitchFamily="2" charset="77"/>
            </a:endParaRPr>
          </a:p>
        </p:txBody>
      </p:sp>
    </p:spTree>
    <p:extLst>
      <p:ext uri="{BB962C8B-B14F-4D97-AF65-F5344CB8AC3E}">
        <p14:creationId xmlns:p14="http://schemas.microsoft.com/office/powerpoint/2010/main" val="13706299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F8D4C-CB11-67EE-B221-B4F1B438684C}"/>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4BDE389A-540A-4A90-09A5-05FD7C6CEA93}"/>
              </a:ext>
            </a:extLst>
          </p:cNvPr>
          <p:cNvSpPr txBox="1">
            <a:spLocks/>
          </p:cNvSpPr>
          <p:nvPr/>
        </p:nvSpPr>
        <p:spPr>
          <a:xfrm>
            <a:off x="322988" y="220597"/>
            <a:ext cx="11318662" cy="568510"/>
          </a:xfrm>
          <a:prstGeom prst="rect">
            <a:avLst/>
          </a:prstGeom>
          <a:noFill/>
        </p:spPr>
        <p:txBody>
          <a:bodyPr vert="horz" lIns="91428" tIns="45714" rIns="91428" bIns="45714" rtlCol="0" anchor="ctr">
            <a:normAutofit/>
          </a:bodyPr>
          <a:lstStyle>
            <a:lvl1pPr algn="l" defTabSz="914400" rtl="0" eaLnBrk="1" latinLnBrk="0" hangingPunct="1">
              <a:lnSpc>
                <a:spcPts val="2600"/>
              </a:lnSpc>
              <a:spcBef>
                <a:spcPct val="0"/>
              </a:spcBef>
              <a:buNone/>
              <a:defRPr sz="2400" kern="1200" baseline="0">
                <a:solidFill>
                  <a:schemeClr val="tx1"/>
                </a:solidFill>
                <a:latin typeface="+mj-lt"/>
                <a:ea typeface="+mj-ea"/>
                <a:cs typeface="+mj-cs"/>
              </a:defRPr>
            </a:lvl1pPr>
          </a:lstStyle>
          <a:p>
            <a:pPr>
              <a:defRPr/>
            </a:pPr>
            <a:r>
              <a:rPr lang="en-US" sz="2800" b="1" dirty="0">
                <a:solidFill>
                  <a:srgbClr val="322350"/>
                </a:solidFill>
                <a:latin typeface="Montserrat SemiBold" panose="00000700000000000000" pitchFamily="2" charset="0"/>
              </a:rPr>
              <a:t>iSSDLC Initiative Description</a:t>
            </a:r>
          </a:p>
        </p:txBody>
      </p:sp>
      <p:sp>
        <p:nvSpPr>
          <p:cNvPr id="9" name="Title 1">
            <a:extLst>
              <a:ext uri="{FF2B5EF4-FFF2-40B4-BE49-F238E27FC236}">
                <a16:creationId xmlns:a16="http://schemas.microsoft.com/office/drawing/2014/main" id="{A86891B8-B830-D388-1E63-6195896D99F4}"/>
              </a:ext>
            </a:extLst>
          </p:cNvPr>
          <p:cNvSpPr txBox="1">
            <a:spLocks/>
          </p:cNvSpPr>
          <p:nvPr/>
        </p:nvSpPr>
        <p:spPr>
          <a:xfrm>
            <a:off x="322988" y="684777"/>
            <a:ext cx="7871778" cy="568510"/>
          </a:xfrm>
          <a:prstGeom prst="rect">
            <a:avLst/>
          </a:prstGeom>
          <a:noFill/>
        </p:spPr>
        <p:txBody>
          <a:bodyPr vert="horz" lIns="91428" tIns="45714" rIns="91428" bIns="45714" rtlCol="0" anchor="ctr">
            <a:normAutofit/>
          </a:bodyPr>
          <a:lstStyle>
            <a:lvl1pPr algn="l" defTabSz="914400" rtl="0" eaLnBrk="1" latinLnBrk="0" hangingPunct="1">
              <a:lnSpc>
                <a:spcPts val="2600"/>
              </a:lnSpc>
              <a:spcBef>
                <a:spcPct val="0"/>
              </a:spcBef>
              <a:buNone/>
              <a:defRPr sz="2400" kern="1200" baseline="0">
                <a:solidFill>
                  <a:schemeClr val="tx1"/>
                </a:solidFill>
                <a:latin typeface="+mj-lt"/>
                <a:ea typeface="+mj-ea"/>
                <a:cs typeface="+mj-cs"/>
              </a:defRPr>
            </a:lvl1pPr>
          </a:lstStyle>
          <a:p>
            <a:pPr>
              <a:defRPr/>
            </a:pPr>
            <a:r>
              <a:rPr lang="en-US" sz="2000" b="1" dirty="0">
                <a:solidFill>
                  <a:srgbClr val="322350"/>
                </a:solidFill>
                <a:latin typeface="Montserrat SemiBold" panose="00000700000000000000" pitchFamily="2" charset="0"/>
              </a:rPr>
              <a:t>Initiative: </a:t>
            </a:r>
            <a:r>
              <a:rPr lang="en-US" sz="2000" b="1" dirty="0">
                <a:solidFill>
                  <a:schemeClr val="tx2">
                    <a:lumMod val="75000"/>
                    <a:lumOff val="25000"/>
                  </a:schemeClr>
                </a:solidFill>
                <a:latin typeface="Montserrat SemiBold" panose="00000700000000000000" pitchFamily="2" charset="0"/>
              </a:rPr>
              <a:t>Integrate SAST tools into CI pipeline.</a:t>
            </a:r>
          </a:p>
        </p:txBody>
      </p:sp>
      <p:pic>
        <p:nvPicPr>
          <p:cNvPr id="10" name="Picture 9" descr="A blue shield with lines and dots&#10;&#10;AI-generated content may be incorrect.">
            <a:extLst>
              <a:ext uri="{FF2B5EF4-FFF2-40B4-BE49-F238E27FC236}">
                <a16:creationId xmlns:a16="http://schemas.microsoft.com/office/drawing/2014/main" id="{186C4142-6A98-5B57-F407-58672D1B918C}"/>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8442490" y="0"/>
            <a:ext cx="3751098" cy="1887936"/>
          </a:xfrm>
          <a:custGeom>
            <a:avLst/>
            <a:gdLst>
              <a:gd name="connsiteX0" fmla="*/ 0 w 3751098"/>
              <a:gd name="connsiteY0" fmla="*/ 0 h 2108533"/>
              <a:gd name="connsiteX1" fmla="*/ 3751098 w 3751098"/>
              <a:gd name="connsiteY1" fmla="*/ 0 h 2108533"/>
              <a:gd name="connsiteX2" fmla="*/ 3751098 w 3751098"/>
              <a:gd name="connsiteY2" fmla="*/ 2108533 h 2108533"/>
              <a:gd name="connsiteX3" fmla="*/ 3732934 w 3751098"/>
              <a:gd name="connsiteY3" fmla="*/ 2108533 h 2108533"/>
              <a:gd name="connsiteX4" fmla="*/ 678426 w 3751098"/>
              <a:gd name="connsiteY4" fmla="*/ 2108533 h 2108533"/>
              <a:gd name="connsiteX5" fmla="*/ 657679 w 3751098"/>
              <a:gd name="connsiteY5" fmla="*/ 2108533 h 2108533"/>
              <a:gd name="connsiteX6" fmla="*/ 0 w 3751098"/>
              <a:gd name="connsiteY6" fmla="*/ 1450854 h 2108533"/>
              <a:gd name="connsiteX7" fmla="*/ 0 w 3751098"/>
              <a:gd name="connsiteY7" fmla="*/ 1381625 h 2108533"/>
              <a:gd name="connsiteX8" fmla="*/ 0 w 3751098"/>
              <a:gd name="connsiteY8" fmla="*/ 654272 h 2108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51098" h="2108533">
                <a:moveTo>
                  <a:pt x="0" y="0"/>
                </a:moveTo>
                <a:lnTo>
                  <a:pt x="3751098" y="0"/>
                </a:lnTo>
                <a:lnTo>
                  <a:pt x="3751098" y="2108533"/>
                </a:lnTo>
                <a:lnTo>
                  <a:pt x="3732934" y="2108533"/>
                </a:lnTo>
                <a:lnTo>
                  <a:pt x="678426" y="2108533"/>
                </a:lnTo>
                <a:lnTo>
                  <a:pt x="657679" y="2108533"/>
                </a:lnTo>
                <a:cubicBezTo>
                  <a:pt x="294453" y="2108533"/>
                  <a:pt x="0" y="1814080"/>
                  <a:pt x="0" y="1450854"/>
                </a:cubicBezTo>
                <a:lnTo>
                  <a:pt x="0" y="1381625"/>
                </a:lnTo>
                <a:lnTo>
                  <a:pt x="0" y="654272"/>
                </a:lnTo>
                <a:close/>
              </a:path>
            </a:pathLst>
          </a:custGeom>
        </p:spPr>
      </p:pic>
      <p:sp>
        <p:nvSpPr>
          <p:cNvPr id="11" name="Rectangle: Top Corners Rounded 10">
            <a:extLst>
              <a:ext uri="{FF2B5EF4-FFF2-40B4-BE49-F238E27FC236}">
                <a16:creationId xmlns:a16="http://schemas.microsoft.com/office/drawing/2014/main" id="{3525F631-A273-4D03-F725-8D4E68B0C370}"/>
              </a:ext>
            </a:extLst>
          </p:cNvPr>
          <p:cNvSpPr/>
          <p:nvPr/>
        </p:nvSpPr>
        <p:spPr>
          <a:xfrm>
            <a:off x="410496" y="1338521"/>
            <a:ext cx="2448232" cy="334154"/>
          </a:xfrm>
          <a:prstGeom prst="round2SameRect">
            <a:avLst>
              <a:gd name="adj1" fmla="val 50000"/>
              <a:gd name="adj2" fmla="val 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latin typeface="Montserrat SemiBold" panose="00000700000000000000" pitchFamily="2" charset="0"/>
              </a:rPr>
              <a:t>          Project overview</a:t>
            </a:r>
          </a:p>
        </p:txBody>
      </p:sp>
      <p:sp>
        <p:nvSpPr>
          <p:cNvPr id="12" name="TextBox 11">
            <a:extLst>
              <a:ext uri="{FF2B5EF4-FFF2-40B4-BE49-F238E27FC236}">
                <a16:creationId xmlns:a16="http://schemas.microsoft.com/office/drawing/2014/main" id="{CC88E475-E74B-1418-C788-31D5161D647E}"/>
              </a:ext>
            </a:extLst>
          </p:cNvPr>
          <p:cNvSpPr txBox="1"/>
          <p:nvPr/>
        </p:nvSpPr>
        <p:spPr>
          <a:xfrm>
            <a:off x="410495" y="1672674"/>
            <a:ext cx="7657179" cy="927651"/>
          </a:xfrm>
          <a:prstGeom prst="rect">
            <a:avLst/>
          </a:prstGeom>
        </p:spPr>
        <p:style>
          <a:lnRef idx="2">
            <a:schemeClr val="accent1"/>
          </a:lnRef>
          <a:fillRef idx="1">
            <a:schemeClr val="lt1"/>
          </a:fillRef>
          <a:effectRef idx="0">
            <a:schemeClr val="accent1"/>
          </a:effectRef>
          <a:fontRef idx="minor">
            <a:schemeClr val="dk1"/>
          </a:fontRef>
        </p:style>
        <p:txBody>
          <a:bodyPr wrap="square" rtlCol="0">
            <a:noAutofit/>
          </a:bodyPr>
          <a:lstStyle/>
          <a:p>
            <a:pPr marL="171450" indent="-171450">
              <a:buFont typeface="Wingdings" panose="05000000000000000000" pitchFamily="2" charset="2"/>
              <a:buChar char="Ø"/>
            </a:pPr>
            <a:r>
              <a:rPr lang="en-US" sz="1200" dirty="0">
                <a:latin typeface="Roboto Condensed Light" panose="02000000000000000000" pitchFamily="2" charset="0"/>
                <a:ea typeface="Roboto Condensed Light" panose="02000000000000000000" pitchFamily="2" charset="0"/>
              </a:rPr>
              <a:t>Integrate, configure, and operationalize an automated SAST capability across the iSSDLC.</a:t>
            </a:r>
          </a:p>
          <a:p>
            <a:pPr marL="171450" indent="-171450">
              <a:buFont typeface="Wingdings" panose="05000000000000000000" pitchFamily="2" charset="2"/>
              <a:buChar char="Ø"/>
            </a:pPr>
            <a:r>
              <a:rPr lang="en-US" sz="1200" dirty="0">
                <a:latin typeface="Roboto Condensed Light" panose="02000000000000000000" pitchFamily="2" charset="0"/>
                <a:ea typeface="Roboto Condensed Light" panose="02000000000000000000" pitchFamily="2" charset="0"/>
              </a:rPr>
              <a:t>Evaluate leading commercial and open-source engines.</a:t>
            </a:r>
          </a:p>
          <a:p>
            <a:pPr marL="171450" indent="-171450">
              <a:buFont typeface="Wingdings" panose="05000000000000000000" pitchFamily="2" charset="2"/>
              <a:buChar char="Ø"/>
            </a:pPr>
            <a:r>
              <a:rPr lang="en-US" sz="1200" dirty="0">
                <a:latin typeface="Roboto Condensed Light" panose="02000000000000000000" pitchFamily="2" charset="0"/>
                <a:ea typeface="Roboto Condensed Light" panose="02000000000000000000" pitchFamily="2" charset="0"/>
              </a:rPr>
              <a:t>Pilot the preferred tool in one flagship product line and then roll it out through reusable CI/CD integrations.</a:t>
            </a:r>
          </a:p>
          <a:p>
            <a:pPr marL="171450" indent="-171450">
              <a:buFont typeface="Wingdings" panose="05000000000000000000" pitchFamily="2" charset="2"/>
              <a:buChar char="Ø"/>
            </a:pPr>
            <a:r>
              <a:rPr lang="en-US" sz="1200" dirty="0">
                <a:latin typeface="Roboto Condensed Light" panose="02000000000000000000" pitchFamily="2" charset="0"/>
                <a:ea typeface="Roboto Condensed Light" panose="02000000000000000000" pitchFamily="2" charset="0"/>
              </a:rPr>
              <a:t>Establish false-positive optimization process.</a:t>
            </a:r>
          </a:p>
        </p:txBody>
      </p:sp>
      <p:pic>
        <p:nvPicPr>
          <p:cNvPr id="13" name="Picture 12">
            <a:extLst>
              <a:ext uri="{FF2B5EF4-FFF2-40B4-BE49-F238E27FC236}">
                <a16:creationId xmlns:a16="http://schemas.microsoft.com/office/drawing/2014/main" id="{B72114AC-F26E-926D-AD23-236EAEAD8E0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51938" y="1264554"/>
            <a:ext cx="482088" cy="482088"/>
          </a:xfrm>
          <a:prstGeom prst="rect">
            <a:avLst/>
          </a:prstGeom>
        </p:spPr>
      </p:pic>
      <p:sp>
        <p:nvSpPr>
          <p:cNvPr id="16" name="Rectangle: Top Corners Rounded 15">
            <a:extLst>
              <a:ext uri="{FF2B5EF4-FFF2-40B4-BE49-F238E27FC236}">
                <a16:creationId xmlns:a16="http://schemas.microsoft.com/office/drawing/2014/main" id="{D332C18A-9328-1C54-AD20-630585C1DBFB}"/>
              </a:ext>
            </a:extLst>
          </p:cNvPr>
          <p:cNvSpPr/>
          <p:nvPr/>
        </p:nvSpPr>
        <p:spPr>
          <a:xfrm>
            <a:off x="392811" y="2705147"/>
            <a:ext cx="2673271" cy="334154"/>
          </a:xfrm>
          <a:prstGeom prst="round2SameRect">
            <a:avLst>
              <a:gd name="adj1" fmla="val 50000"/>
              <a:gd name="adj2" fmla="val 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latin typeface="Montserrat SemiBold" panose="00000700000000000000" pitchFamily="2" charset="0"/>
              </a:rPr>
              <a:t>           Project team</a:t>
            </a:r>
          </a:p>
        </p:txBody>
      </p:sp>
      <p:sp>
        <p:nvSpPr>
          <p:cNvPr id="17" name="TextBox 16">
            <a:extLst>
              <a:ext uri="{FF2B5EF4-FFF2-40B4-BE49-F238E27FC236}">
                <a16:creationId xmlns:a16="http://schemas.microsoft.com/office/drawing/2014/main" id="{6C90F3F3-3A52-2FE1-EEB4-F6C63891D2EE}"/>
              </a:ext>
            </a:extLst>
          </p:cNvPr>
          <p:cNvSpPr txBox="1"/>
          <p:nvPr/>
        </p:nvSpPr>
        <p:spPr>
          <a:xfrm>
            <a:off x="392811" y="3040126"/>
            <a:ext cx="2673271" cy="1241150"/>
          </a:xfrm>
          <a:prstGeom prst="rect">
            <a:avLst/>
          </a:prstGeom>
        </p:spPr>
        <p:style>
          <a:lnRef idx="2">
            <a:schemeClr val="accent1"/>
          </a:lnRef>
          <a:fillRef idx="1">
            <a:schemeClr val="lt1"/>
          </a:fillRef>
          <a:effectRef idx="0">
            <a:schemeClr val="accent1"/>
          </a:effectRef>
          <a:fontRef idx="minor">
            <a:schemeClr val="dk1"/>
          </a:fontRef>
        </p:style>
        <p:txBody>
          <a:bodyPr wrap="square" rtlCol="0">
            <a:noAutofit/>
          </a:bodyPr>
          <a:lstStyle/>
          <a:p>
            <a:pPr marL="171450" indent="-171450">
              <a:buFont typeface="Wingdings" panose="05000000000000000000" pitchFamily="2" charset="2"/>
              <a:buChar char="Ø"/>
            </a:pPr>
            <a:r>
              <a:rPr lang="en-US" sz="1200" dirty="0">
                <a:latin typeface="Roboto Condensed Light" panose="02000000000000000000" pitchFamily="2" charset="0"/>
                <a:ea typeface="Roboto Condensed Light" panose="02000000000000000000" pitchFamily="2" charset="0"/>
              </a:rPr>
              <a:t>CISO (business sponsor)</a:t>
            </a:r>
          </a:p>
          <a:p>
            <a:pPr marL="171450" indent="-171450">
              <a:buFont typeface="Wingdings" panose="05000000000000000000" pitchFamily="2" charset="2"/>
              <a:buChar char="Ø"/>
            </a:pPr>
            <a:r>
              <a:rPr lang="en-US" sz="1200" dirty="0">
                <a:latin typeface="Roboto Condensed Light" panose="02000000000000000000" pitchFamily="2" charset="0"/>
                <a:ea typeface="Roboto Condensed Light" panose="02000000000000000000" pitchFamily="2" charset="0"/>
              </a:rPr>
              <a:t>Director of application development</a:t>
            </a:r>
          </a:p>
          <a:p>
            <a:pPr marL="171450" indent="-171450">
              <a:buFont typeface="Wingdings" panose="05000000000000000000" pitchFamily="2" charset="2"/>
              <a:buChar char="Ø"/>
            </a:pPr>
            <a:r>
              <a:rPr lang="en-US" sz="1200" dirty="0">
                <a:latin typeface="Roboto Condensed Light" panose="02000000000000000000" pitchFamily="2" charset="0"/>
                <a:ea typeface="Roboto Condensed Light" panose="02000000000000000000" pitchFamily="2" charset="0"/>
              </a:rPr>
              <a:t>Project manager</a:t>
            </a:r>
          </a:p>
          <a:p>
            <a:pPr marL="171450" indent="-171450">
              <a:buFont typeface="Wingdings" panose="05000000000000000000" pitchFamily="2" charset="2"/>
              <a:buChar char="Ø"/>
            </a:pPr>
            <a:r>
              <a:rPr lang="en-US" sz="1200" dirty="0">
                <a:latin typeface="Roboto Condensed Light" panose="02000000000000000000" pitchFamily="2" charset="0"/>
                <a:ea typeface="Roboto Condensed Light" panose="02000000000000000000" pitchFamily="2" charset="0"/>
              </a:rPr>
              <a:t>DevOps engineer</a:t>
            </a:r>
          </a:p>
          <a:p>
            <a:pPr marL="171450" indent="-171450">
              <a:buFont typeface="Wingdings" panose="05000000000000000000" pitchFamily="2" charset="2"/>
              <a:buChar char="Ø"/>
            </a:pPr>
            <a:r>
              <a:rPr lang="en-US" sz="1200" dirty="0">
                <a:latin typeface="Roboto Condensed Light" panose="02000000000000000000" pitchFamily="2" charset="0"/>
                <a:ea typeface="Roboto Condensed Light" panose="02000000000000000000" pitchFamily="2" charset="0"/>
              </a:rPr>
              <a:t>Security analyst</a:t>
            </a:r>
          </a:p>
          <a:p>
            <a:pPr marL="171450" indent="-171450">
              <a:buFont typeface="Wingdings" panose="05000000000000000000" pitchFamily="2" charset="2"/>
              <a:buChar char="Ø"/>
            </a:pPr>
            <a:endParaRPr lang="en-US" sz="1200" dirty="0">
              <a:latin typeface="Roboto Condensed Light" panose="02000000000000000000" pitchFamily="2" charset="0"/>
              <a:ea typeface="Roboto Condensed Light" panose="02000000000000000000" pitchFamily="2" charset="0"/>
            </a:endParaRPr>
          </a:p>
          <a:p>
            <a:pPr marL="171450" indent="-171450">
              <a:buFont typeface="Wingdings" panose="05000000000000000000" pitchFamily="2" charset="2"/>
              <a:buChar char="Ø"/>
            </a:pPr>
            <a:endParaRPr lang="en-US" sz="1200" dirty="0">
              <a:latin typeface="Roboto Condensed Light" panose="02000000000000000000" pitchFamily="2" charset="0"/>
              <a:ea typeface="Roboto Condensed Light" panose="02000000000000000000" pitchFamily="2" charset="0"/>
            </a:endParaRPr>
          </a:p>
        </p:txBody>
      </p:sp>
      <p:pic>
        <p:nvPicPr>
          <p:cNvPr id="18" name="Picture 17">
            <a:extLst>
              <a:ext uri="{FF2B5EF4-FFF2-40B4-BE49-F238E27FC236}">
                <a16:creationId xmlns:a16="http://schemas.microsoft.com/office/drawing/2014/main" id="{3BCEDE5B-46A0-2213-3C48-3AC9A8353616}"/>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31765" y="2629935"/>
            <a:ext cx="484577" cy="484577"/>
          </a:xfrm>
          <a:prstGeom prst="rect">
            <a:avLst/>
          </a:prstGeom>
        </p:spPr>
      </p:pic>
      <p:sp>
        <p:nvSpPr>
          <p:cNvPr id="19" name="Rectangle: Top Corners Rounded 18">
            <a:extLst>
              <a:ext uri="{FF2B5EF4-FFF2-40B4-BE49-F238E27FC236}">
                <a16:creationId xmlns:a16="http://schemas.microsoft.com/office/drawing/2014/main" id="{4F76558B-E42C-72E4-FCC4-F136A4F4E755}"/>
              </a:ext>
            </a:extLst>
          </p:cNvPr>
          <p:cNvSpPr/>
          <p:nvPr/>
        </p:nvSpPr>
        <p:spPr>
          <a:xfrm>
            <a:off x="3280116" y="2703497"/>
            <a:ext cx="2673271" cy="334154"/>
          </a:xfrm>
          <a:prstGeom prst="round2SameRect">
            <a:avLst>
              <a:gd name="adj1" fmla="val 50000"/>
              <a:gd name="adj2" fmla="val 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latin typeface="Montserrat SemiBold" panose="00000700000000000000" pitchFamily="2" charset="0"/>
              </a:rPr>
              <a:t>          Business benefits</a:t>
            </a:r>
          </a:p>
        </p:txBody>
      </p:sp>
      <p:sp>
        <p:nvSpPr>
          <p:cNvPr id="20" name="TextBox 19">
            <a:extLst>
              <a:ext uri="{FF2B5EF4-FFF2-40B4-BE49-F238E27FC236}">
                <a16:creationId xmlns:a16="http://schemas.microsoft.com/office/drawing/2014/main" id="{4C0AE83C-7324-7D0D-A815-65ADC127C2DF}"/>
              </a:ext>
            </a:extLst>
          </p:cNvPr>
          <p:cNvSpPr txBox="1"/>
          <p:nvPr/>
        </p:nvSpPr>
        <p:spPr>
          <a:xfrm>
            <a:off x="3280116" y="3038476"/>
            <a:ext cx="2673271" cy="1241150"/>
          </a:xfrm>
          <a:prstGeom prst="rect">
            <a:avLst/>
          </a:prstGeom>
        </p:spPr>
        <p:style>
          <a:lnRef idx="2">
            <a:schemeClr val="accent1"/>
          </a:lnRef>
          <a:fillRef idx="1">
            <a:schemeClr val="lt1"/>
          </a:fillRef>
          <a:effectRef idx="0">
            <a:schemeClr val="accent1"/>
          </a:effectRef>
          <a:fontRef idx="minor">
            <a:schemeClr val="dk1"/>
          </a:fontRef>
        </p:style>
        <p:txBody>
          <a:bodyPr wrap="square" rtlCol="0">
            <a:noAutofit/>
          </a:bodyPr>
          <a:lstStyle/>
          <a:p>
            <a:endParaRPr lang="en-US" sz="1200" dirty="0">
              <a:latin typeface="Roboto Condensed Light" panose="02000000000000000000" pitchFamily="2" charset="0"/>
              <a:ea typeface="Roboto Condensed Light" panose="02000000000000000000" pitchFamily="2" charset="0"/>
            </a:endParaRPr>
          </a:p>
          <a:p>
            <a:pPr marL="171450" indent="-171450">
              <a:buFont typeface="Wingdings" panose="05000000000000000000" pitchFamily="2" charset="2"/>
              <a:buChar char="Ø"/>
            </a:pPr>
            <a:endParaRPr lang="en-US" sz="1200" dirty="0">
              <a:latin typeface="Roboto Condensed Light" panose="02000000000000000000" pitchFamily="2" charset="0"/>
              <a:ea typeface="Roboto Condensed Light" panose="02000000000000000000" pitchFamily="2" charset="0"/>
            </a:endParaRPr>
          </a:p>
        </p:txBody>
      </p:sp>
      <p:pic>
        <p:nvPicPr>
          <p:cNvPr id="21" name="Picture 20">
            <a:extLst>
              <a:ext uri="{FF2B5EF4-FFF2-40B4-BE49-F238E27FC236}">
                <a16:creationId xmlns:a16="http://schemas.microsoft.com/office/drawing/2014/main" id="{0E796751-3D8A-30D2-7995-996DCA1C4BB8}"/>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371752" y="2629935"/>
            <a:ext cx="529120" cy="484578"/>
          </a:xfrm>
          <a:prstGeom prst="rect">
            <a:avLst/>
          </a:prstGeom>
        </p:spPr>
      </p:pic>
      <p:sp>
        <p:nvSpPr>
          <p:cNvPr id="22" name="Arrow: Up 21">
            <a:extLst>
              <a:ext uri="{FF2B5EF4-FFF2-40B4-BE49-F238E27FC236}">
                <a16:creationId xmlns:a16="http://schemas.microsoft.com/office/drawing/2014/main" id="{17EBB63D-2052-33A2-F18F-433F71D85567}"/>
              </a:ext>
            </a:extLst>
          </p:cNvPr>
          <p:cNvSpPr/>
          <p:nvPr/>
        </p:nvSpPr>
        <p:spPr>
          <a:xfrm>
            <a:off x="3457678" y="3299022"/>
            <a:ext cx="357268" cy="590904"/>
          </a:xfrm>
          <a:prstGeom prst="up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23" name="TextBox 22">
            <a:extLst>
              <a:ext uri="{FF2B5EF4-FFF2-40B4-BE49-F238E27FC236}">
                <a16:creationId xmlns:a16="http://schemas.microsoft.com/office/drawing/2014/main" id="{54696F35-0FB5-73FC-ECA9-3012F10075CA}"/>
              </a:ext>
            </a:extLst>
          </p:cNvPr>
          <p:cNvSpPr txBox="1"/>
          <p:nvPr/>
        </p:nvSpPr>
        <p:spPr>
          <a:xfrm>
            <a:off x="3863564" y="3188075"/>
            <a:ext cx="1899646" cy="907941"/>
          </a:xfrm>
          <a:prstGeom prst="rect">
            <a:avLst/>
          </a:prstGeom>
          <a:noFill/>
        </p:spPr>
        <p:txBody>
          <a:bodyPr wrap="square" rtlCol="0">
            <a:spAutoFit/>
          </a:bodyPr>
          <a:lstStyle/>
          <a:p>
            <a:pPr marL="171450" indent="-171450">
              <a:spcAft>
                <a:spcPts val="600"/>
              </a:spcAft>
              <a:buFont typeface="Wingdings" panose="05000000000000000000" pitchFamily="2" charset="2"/>
              <a:buChar char="ü"/>
            </a:pPr>
            <a:r>
              <a:rPr lang="en-US" sz="1200" dirty="0">
                <a:latin typeface="Roboto Condensed Light" panose="02000000000000000000" pitchFamily="2" charset="0"/>
                <a:ea typeface="Roboto Condensed Light" panose="02000000000000000000" pitchFamily="2" charset="0"/>
              </a:rPr>
              <a:t>Faster time to value for new products</a:t>
            </a:r>
          </a:p>
          <a:p>
            <a:pPr marL="171450" indent="-171450">
              <a:spcAft>
                <a:spcPts val="600"/>
              </a:spcAft>
              <a:buFont typeface="Wingdings" panose="05000000000000000000" pitchFamily="2" charset="2"/>
              <a:buChar char="ü"/>
            </a:pPr>
            <a:r>
              <a:rPr lang="en-US" sz="1200" dirty="0">
                <a:latin typeface="Roboto Condensed Light" panose="02000000000000000000" pitchFamily="2" charset="0"/>
                <a:ea typeface="Roboto Condensed Light" panose="02000000000000000000" pitchFamily="2" charset="0"/>
              </a:rPr>
              <a:t>Increased ability to monetize API access</a:t>
            </a:r>
          </a:p>
        </p:txBody>
      </p:sp>
      <p:sp>
        <p:nvSpPr>
          <p:cNvPr id="24" name="Rectangle: Top Corners Rounded 23">
            <a:extLst>
              <a:ext uri="{FF2B5EF4-FFF2-40B4-BE49-F238E27FC236}">
                <a16:creationId xmlns:a16="http://schemas.microsoft.com/office/drawing/2014/main" id="{A9DF7D46-9141-2C51-2A5B-4A1601F440AD}"/>
              </a:ext>
            </a:extLst>
          </p:cNvPr>
          <p:cNvSpPr/>
          <p:nvPr/>
        </p:nvSpPr>
        <p:spPr>
          <a:xfrm>
            <a:off x="6171252" y="2703497"/>
            <a:ext cx="2673271" cy="334154"/>
          </a:xfrm>
          <a:prstGeom prst="round2SameRect">
            <a:avLst>
              <a:gd name="adj1" fmla="val 50000"/>
              <a:gd name="adj2" fmla="val 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latin typeface="Montserrat SemiBold" panose="00000700000000000000" pitchFamily="2" charset="0"/>
              </a:rPr>
              <a:t>          Security benefits</a:t>
            </a:r>
          </a:p>
        </p:txBody>
      </p:sp>
      <p:sp>
        <p:nvSpPr>
          <p:cNvPr id="25" name="TextBox 24">
            <a:extLst>
              <a:ext uri="{FF2B5EF4-FFF2-40B4-BE49-F238E27FC236}">
                <a16:creationId xmlns:a16="http://schemas.microsoft.com/office/drawing/2014/main" id="{7FEDA3D6-4CB4-C5AE-26F8-62F7D5304605}"/>
              </a:ext>
            </a:extLst>
          </p:cNvPr>
          <p:cNvSpPr txBox="1"/>
          <p:nvPr/>
        </p:nvSpPr>
        <p:spPr>
          <a:xfrm>
            <a:off x="6171252" y="3038476"/>
            <a:ext cx="2673271" cy="1241150"/>
          </a:xfrm>
          <a:prstGeom prst="rect">
            <a:avLst/>
          </a:prstGeom>
        </p:spPr>
        <p:style>
          <a:lnRef idx="2">
            <a:schemeClr val="accent1"/>
          </a:lnRef>
          <a:fillRef idx="1">
            <a:schemeClr val="lt1"/>
          </a:fillRef>
          <a:effectRef idx="0">
            <a:schemeClr val="accent1"/>
          </a:effectRef>
          <a:fontRef idx="minor">
            <a:schemeClr val="dk1"/>
          </a:fontRef>
        </p:style>
        <p:txBody>
          <a:bodyPr wrap="square" rtlCol="0">
            <a:noAutofit/>
          </a:bodyPr>
          <a:lstStyle/>
          <a:p>
            <a:endParaRPr lang="en-US" sz="1200" dirty="0">
              <a:latin typeface="Roboto Condensed Light" panose="02000000000000000000" pitchFamily="2" charset="0"/>
              <a:ea typeface="Roboto Condensed Light" panose="02000000000000000000" pitchFamily="2" charset="0"/>
            </a:endParaRPr>
          </a:p>
          <a:p>
            <a:pPr marL="171450" indent="-171450">
              <a:buFont typeface="Wingdings" panose="05000000000000000000" pitchFamily="2" charset="2"/>
              <a:buChar char="Ø"/>
            </a:pPr>
            <a:endParaRPr lang="en-US" sz="1200" dirty="0">
              <a:latin typeface="Roboto Condensed Light" panose="02000000000000000000" pitchFamily="2" charset="0"/>
              <a:ea typeface="Roboto Condensed Light" panose="02000000000000000000" pitchFamily="2" charset="0"/>
            </a:endParaRPr>
          </a:p>
        </p:txBody>
      </p:sp>
      <p:sp>
        <p:nvSpPr>
          <p:cNvPr id="26" name="TextBox 25">
            <a:extLst>
              <a:ext uri="{FF2B5EF4-FFF2-40B4-BE49-F238E27FC236}">
                <a16:creationId xmlns:a16="http://schemas.microsoft.com/office/drawing/2014/main" id="{2E36B2A7-E0E8-ECC3-F285-E4F970F56D91}"/>
              </a:ext>
            </a:extLst>
          </p:cNvPr>
          <p:cNvSpPr txBox="1"/>
          <p:nvPr/>
        </p:nvSpPr>
        <p:spPr>
          <a:xfrm>
            <a:off x="6819824" y="3188075"/>
            <a:ext cx="1899646" cy="1169551"/>
          </a:xfrm>
          <a:prstGeom prst="rect">
            <a:avLst/>
          </a:prstGeom>
          <a:noFill/>
        </p:spPr>
        <p:txBody>
          <a:bodyPr wrap="square" rtlCol="0">
            <a:spAutoFit/>
          </a:bodyPr>
          <a:lstStyle/>
          <a:p>
            <a:pPr marL="171450" indent="-171450">
              <a:spcAft>
                <a:spcPts val="600"/>
              </a:spcAft>
              <a:buFont typeface="Wingdings" panose="05000000000000000000" pitchFamily="2" charset="2"/>
              <a:buChar char="ü"/>
            </a:pPr>
            <a:r>
              <a:rPr lang="en-US" sz="1200" dirty="0">
                <a:latin typeface="Roboto Condensed Light" panose="02000000000000000000" pitchFamily="2" charset="0"/>
                <a:ea typeface="Roboto Condensed Light" panose="02000000000000000000" pitchFamily="2" charset="0"/>
              </a:rPr>
              <a:t>Reduced risk of ransomware</a:t>
            </a:r>
          </a:p>
          <a:p>
            <a:pPr marL="171450" indent="-171450">
              <a:spcAft>
                <a:spcPts val="600"/>
              </a:spcAft>
              <a:buFont typeface="Wingdings" panose="05000000000000000000" pitchFamily="2" charset="2"/>
              <a:buChar char="ü"/>
            </a:pPr>
            <a:r>
              <a:rPr lang="en-US" sz="1200" dirty="0">
                <a:latin typeface="Roboto Condensed Light" panose="02000000000000000000" pitchFamily="2" charset="0"/>
                <a:ea typeface="Roboto Condensed Light" panose="02000000000000000000" pitchFamily="2" charset="0"/>
              </a:rPr>
              <a:t>Improved application security KPIs </a:t>
            </a:r>
          </a:p>
          <a:p>
            <a:pPr marL="171450" indent="-171450">
              <a:spcAft>
                <a:spcPts val="600"/>
              </a:spcAft>
              <a:buFont typeface="Wingdings" panose="05000000000000000000" pitchFamily="2" charset="2"/>
              <a:buChar char="ü"/>
            </a:pPr>
            <a:endParaRPr lang="en-US" sz="1200" dirty="0">
              <a:latin typeface="Roboto Condensed Light" panose="02000000000000000000" pitchFamily="2" charset="0"/>
              <a:ea typeface="Roboto Condensed Light" panose="02000000000000000000" pitchFamily="2" charset="0"/>
            </a:endParaRPr>
          </a:p>
        </p:txBody>
      </p:sp>
      <p:pic>
        <p:nvPicPr>
          <p:cNvPr id="27" name="Picture 26">
            <a:extLst>
              <a:ext uri="{FF2B5EF4-FFF2-40B4-BE49-F238E27FC236}">
                <a16:creationId xmlns:a16="http://schemas.microsoft.com/office/drawing/2014/main" id="{7026B0F3-242B-DF74-00AF-CF5CEBDEA736}"/>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6216798" y="2639484"/>
            <a:ext cx="484579" cy="484579"/>
          </a:xfrm>
          <a:prstGeom prst="rect">
            <a:avLst/>
          </a:prstGeom>
        </p:spPr>
      </p:pic>
      <p:sp>
        <p:nvSpPr>
          <p:cNvPr id="28" name="Arrow: Up-Down 27">
            <a:extLst>
              <a:ext uri="{FF2B5EF4-FFF2-40B4-BE49-F238E27FC236}">
                <a16:creationId xmlns:a16="http://schemas.microsoft.com/office/drawing/2014/main" id="{58982481-6F1C-DA26-8364-B12B153AB66C}"/>
              </a:ext>
            </a:extLst>
          </p:cNvPr>
          <p:cNvSpPr/>
          <p:nvPr/>
        </p:nvSpPr>
        <p:spPr>
          <a:xfrm>
            <a:off x="6431853" y="3193481"/>
            <a:ext cx="397717" cy="825215"/>
          </a:xfrm>
          <a:prstGeom prst="upDown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29" name="Rectangle: Top Corners Rounded 28">
            <a:extLst>
              <a:ext uri="{FF2B5EF4-FFF2-40B4-BE49-F238E27FC236}">
                <a16:creationId xmlns:a16="http://schemas.microsoft.com/office/drawing/2014/main" id="{DEAD29D8-8875-A8B7-043F-B8B56C674052}"/>
              </a:ext>
            </a:extLst>
          </p:cNvPr>
          <p:cNvSpPr/>
          <p:nvPr/>
        </p:nvSpPr>
        <p:spPr>
          <a:xfrm>
            <a:off x="9083040" y="2102371"/>
            <a:ext cx="2763222" cy="334154"/>
          </a:xfrm>
          <a:prstGeom prst="round2SameRect">
            <a:avLst>
              <a:gd name="adj1" fmla="val 50000"/>
              <a:gd name="adj2" fmla="val 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latin typeface="Montserrat SemiBold" panose="00000700000000000000" pitchFamily="2" charset="0"/>
              </a:rPr>
              <a:t>          Costs</a:t>
            </a:r>
          </a:p>
        </p:txBody>
      </p:sp>
      <p:sp>
        <p:nvSpPr>
          <p:cNvPr id="30" name="TextBox 29">
            <a:extLst>
              <a:ext uri="{FF2B5EF4-FFF2-40B4-BE49-F238E27FC236}">
                <a16:creationId xmlns:a16="http://schemas.microsoft.com/office/drawing/2014/main" id="{383F80D8-9268-0CD9-A49E-D8221D66E8EE}"/>
              </a:ext>
            </a:extLst>
          </p:cNvPr>
          <p:cNvSpPr txBox="1"/>
          <p:nvPr/>
        </p:nvSpPr>
        <p:spPr>
          <a:xfrm>
            <a:off x="9083041" y="2437349"/>
            <a:ext cx="2763222" cy="3868201"/>
          </a:xfrm>
          <a:prstGeom prst="rect">
            <a:avLst/>
          </a:prstGeom>
        </p:spPr>
        <p:style>
          <a:lnRef idx="2">
            <a:schemeClr val="accent1"/>
          </a:lnRef>
          <a:fillRef idx="1">
            <a:schemeClr val="lt1"/>
          </a:fillRef>
          <a:effectRef idx="0">
            <a:schemeClr val="accent1"/>
          </a:effectRef>
          <a:fontRef idx="minor">
            <a:schemeClr val="dk1"/>
          </a:fontRef>
        </p:style>
        <p:txBody>
          <a:bodyPr wrap="square" rtlCol="0">
            <a:noAutofit/>
          </a:bodyPr>
          <a:lstStyle/>
          <a:p>
            <a:endParaRPr lang="en-US" sz="1200" dirty="0">
              <a:latin typeface="Roboto Condensed Light" panose="02000000000000000000" pitchFamily="2" charset="0"/>
              <a:ea typeface="Roboto Condensed Light" panose="02000000000000000000" pitchFamily="2" charset="0"/>
            </a:endParaRPr>
          </a:p>
          <a:p>
            <a:r>
              <a:rPr lang="en-US" sz="1600" b="1" dirty="0">
                <a:latin typeface="Montserrat SemiBold" panose="00000700000000000000" pitchFamily="2" charset="0"/>
                <a:ea typeface="Roboto Condensed Light" panose="02000000000000000000" pitchFamily="2" charset="0"/>
              </a:rPr>
              <a:t>Initial: $130,000</a:t>
            </a:r>
          </a:p>
          <a:p>
            <a:pPr marL="171450" indent="-171450">
              <a:buFont typeface="Arial" panose="020B0604020202020204" pitchFamily="34" charset="0"/>
              <a:buChar char="•"/>
            </a:pPr>
            <a:endParaRPr lang="en-US" sz="1200" dirty="0">
              <a:latin typeface="Roboto Condensed Light" panose="02000000000000000000" pitchFamily="2" charset="0"/>
              <a:ea typeface="Roboto Condensed Light" panose="02000000000000000000" pitchFamily="2" charset="0"/>
            </a:endParaRPr>
          </a:p>
          <a:p>
            <a:pPr marL="171450" indent="-171450">
              <a:buFont typeface="Arial" panose="020B0604020202020204" pitchFamily="34" charset="0"/>
              <a:buChar char="•"/>
            </a:pPr>
            <a:r>
              <a:rPr lang="en-US" sz="1200" dirty="0">
                <a:latin typeface="Roboto Condensed Light" panose="02000000000000000000" pitchFamily="2" charset="0"/>
                <a:ea typeface="Roboto Condensed Light" panose="02000000000000000000" pitchFamily="2" charset="0"/>
              </a:rPr>
              <a:t>Software licensing $80K</a:t>
            </a:r>
          </a:p>
          <a:p>
            <a:pPr marL="171450" indent="-171450">
              <a:buFont typeface="Arial" panose="020B0604020202020204" pitchFamily="34" charset="0"/>
              <a:buChar char="•"/>
            </a:pPr>
            <a:r>
              <a:rPr lang="en-US" sz="1200" dirty="0">
                <a:latin typeface="Roboto Condensed Light" panose="02000000000000000000" pitchFamily="2" charset="0"/>
                <a:ea typeface="Roboto Condensed Light" panose="02000000000000000000" pitchFamily="2" charset="0"/>
              </a:rPr>
              <a:t>Training $20K</a:t>
            </a:r>
          </a:p>
          <a:p>
            <a:pPr marL="171450" indent="-171450">
              <a:buFont typeface="Arial" panose="020B0604020202020204" pitchFamily="34" charset="0"/>
              <a:buChar char="•"/>
            </a:pPr>
            <a:r>
              <a:rPr lang="en-US" sz="1200" dirty="0">
                <a:latin typeface="Roboto Condensed Light" panose="02000000000000000000" pitchFamily="2" charset="0"/>
                <a:ea typeface="Roboto Condensed Light" panose="02000000000000000000" pitchFamily="2" charset="0"/>
              </a:rPr>
              <a:t>Integration services $30K</a:t>
            </a:r>
          </a:p>
          <a:p>
            <a:pPr marL="171450" indent="-171450">
              <a:buFont typeface="Arial" panose="020B0604020202020204" pitchFamily="34" charset="0"/>
              <a:buChar char="•"/>
            </a:pPr>
            <a:endParaRPr lang="en-US" sz="1200" dirty="0">
              <a:latin typeface="Roboto Condensed Light" panose="02000000000000000000" pitchFamily="2" charset="0"/>
              <a:ea typeface="Roboto Condensed Light" panose="02000000000000000000" pitchFamily="2" charset="0"/>
            </a:endParaRPr>
          </a:p>
          <a:p>
            <a:pPr marL="171450" indent="-171450">
              <a:buFont typeface="Arial" panose="020B0604020202020204" pitchFamily="34" charset="0"/>
              <a:buChar char="•"/>
            </a:pPr>
            <a:endParaRPr lang="en-US" sz="1200" dirty="0">
              <a:latin typeface="Roboto Condensed Light" panose="02000000000000000000" pitchFamily="2" charset="0"/>
              <a:ea typeface="Roboto Condensed Light" panose="02000000000000000000" pitchFamily="2" charset="0"/>
            </a:endParaRPr>
          </a:p>
          <a:p>
            <a:r>
              <a:rPr lang="en-US" sz="1400" b="1" dirty="0">
                <a:latin typeface="Montserrat SemiBold" panose="00000700000000000000" pitchFamily="2" charset="0"/>
                <a:ea typeface="Roboto Condensed Light" panose="02000000000000000000" pitchFamily="2" charset="0"/>
              </a:rPr>
              <a:t>Ongoing: $80,000 </a:t>
            </a:r>
            <a:r>
              <a:rPr lang="en-US" sz="1400" b="1">
                <a:latin typeface="Montserrat SemiBold" panose="00000700000000000000" pitchFamily="2" charset="0"/>
                <a:ea typeface="Roboto Condensed Light" panose="02000000000000000000" pitchFamily="2" charset="0"/>
              </a:rPr>
              <a:t>OpEx</a:t>
            </a:r>
            <a:endParaRPr lang="en-US" sz="1400" b="1" dirty="0">
              <a:latin typeface="Montserrat SemiBold" panose="00000700000000000000" pitchFamily="2" charset="0"/>
              <a:ea typeface="Roboto Condensed Light" panose="02000000000000000000" pitchFamily="2" charset="0"/>
            </a:endParaRPr>
          </a:p>
          <a:p>
            <a:endParaRPr lang="en-US" sz="1400" b="1" dirty="0">
              <a:latin typeface="Montserrat SemiBold" panose="00000700000000000000" pitchFamily="2" charset="0"/>
              <a:ea typeface="Roboto Condensed Light" panose="02000000000000000000" pitchFamily="2" charset="0"/>
            </a:endParaRPr>
          </a:p>
          <a:p>
            <a:pPr marL="171450" indent="-171450">
              <a:buFont typeface="Arial" panose="020B0604020202020204" pitchFamily="34" charset="0"/>
              <a:buChar char="•"/>
            </a:pPr>
            <a:r>
              <a:rPr lang="en-US" sz="1200" dirty="0">
                <a:latin typeface="Roboto Condensed Light" panose="02000000000000000000" pitchFamily="2" charset="0"/>
                <a:ea typeface="Roboto Condensed Light" panose="02000000000000000000" pitchFamily="2" charset="0"/>
              </a:rPr>
              <a:t>Maintenance fees</a:t>
            </a:r>
          </a:p>
          <a:p>
            <a:pPr marL="171450" indent="-171450">
              <a:buFont typeface="Arial" panose="020B0604020202020204" pitchFamily="34" charset="0"/>
              <a:buChar char="•"/>
            </a:pPr>
            <a:endParaRPr lang="en-US" sz="1200" dirty="0">
              <a:latin typeface="Roboto Condensed Light" panose="02000000000000000000" pitchFamily="2" charset="0"/>
              <a:ea typeface="Roboto Condensed Light" panose="02000000000000000000" pitchFamily="2" charset="0"/>
            </a:endParaRPr>
          </a:p>
          <a:p>
            <a:pPr marL="171450" indent="-171450">
              <a:buFont typeface="Arial" panose="020B0604020202020204" pitchFamily="34" charset="0"/>
              <a:buChar char="•"/>
            </a:pPr>
            <a:endParaRPr lang="en-US" sz="1200" dirty="0">
              <a:latin typeface="Roboto Condensed Light" panose="02000000000000000000" pitchFamily="2" charset="0"/>
              <a:ea typeface="Roboto Condensed Light" panose="02000000000000000000" pitchFamily="2" charset="0"/>
            </a:endParaRPr>
          </a:p>
          <a:p>
            <a:r>
              <a:rPr lang="en-US" sz="1400" b="1" dirty="0">
                <a:latin typeface="Montserrat SemiBold" panose="00000700000000000000" pitchFamily="2" charset="0"/>
                <a:ea typeface="Roboto Condensed Light" panose="02000000000000000000" pitchFamily="2" charset="0"/>
              </a:rPr>
              <a:t>Initial estimated effort</a:t>
            </a:r>
          </a:p>
          <a:p>
            <a:endParaRPr lang="en-US" sz="1200" b="1" dirty="0">
              <a:latin typeface="Montserrat SemiBold" panose="00000700000000000000" pitchFamily="2" charset="0"/>
              <a:ea typeface="Roboto Condensed Light" panose="02000000000000000000" pitchFamily="2" charset="0"/>
            </a:endParaRPr>
          </a:p>
          <a:p>
            <a:pPr marL="171450" indent="-171450">
              <a:buFont typeface="Arial" panose="020B0604020202020204" pitchFamily="34" charset="0"/>
              <a:buChar char="•"/>
            </a:pPr>
            <a:r>
              <a:rPr lang="en-US" sz="1200" dirty="0">
                <a:latin typeface="Roboto Condensed Light" panose="02000000000000000000" pitchFamily="2" charset="0"/>
                <a:ea typeface="Roboto Condensed Light" panose="02000000000000000000" pitchFamily="2" charset="0"/>
              </a:rPr>
              <a:t>120 hours, primarily DevOps engineer and security analyst</a:t>
            </a:r>
          </a:p>
          <a:p>
            <a:pPr marL="171450" indent="-171450">
              <a:buFont typeface="Arial" panose="020B0604020202020204" pitchFamily="34" charset="0"/>
              <a:buChar char="•"/>
            </a:pPr>
            <a:endParaRPr lang="en-US" sz="1400" dirty="0">
              <a:latin typeface="Roboto Condensed Light" panose="02000000000000000000" pitchFamily="2" charset="0"/>
              <a:ea typeface="Roboto Condensed Light" panose="02000000000000000000" pitchFamily="2" charset="0"/>
            </a:endParaRPr>
          </a:p>
          <a:p>
            <a:pPr marL="171450" indent="-171450">
              <a:buFont typeface="Arial" panose="020B0604020202020204" pitchFamily="34" charset="0"/>
              <a:buChar char="•"/>
            </a:pPr>
            <a:endParaRPr lang="en-US" sz="1200" dirty="0">
              <a:latin typeface="Roboto Condensed Light" panose="02000000000000000000" pitchFamily="2" charset="0"/>
              <a:ea typeface="Roboto Condensed Light" panose="02000000000000000000" pitchFamily="2" charset="0"/>
            </a:endParaRPr>
          </a:p>
          <a:p>
            <a:pPr marL="171450" indent="-171450">
              <a:buFont typeface="Arial" panose="020B0604020202020204" pitchFamily="34" charset="0"/>
              <a:buChar char="•"/>
            </a:pPr>
            <a:endParaRPr lang="en-US" sz="1200" dirty="0">
              <a:latin typeface="Roboto Condensed Light" panose="02000000000000000000" pitchFamily="2" charset="0"/>
              <a:ea typeface="Roboto Condensed Light" panose="02000000000000000000" pitchFamily="2" charset="0"/>
            </a:endParaRPr>
          </a:p>
          <a:p>
            <a:endParaRPr lang="en-US" sz="1400" b="1" dirty="0">
              <a:latin typeface="Montserrat SemiBold" panose="00000700000000000000" pitchFamily="2" charset="0"/>
              <a:ea typeface="Roboto Condensed Light" panose="02000000000000000000" pitchFamily="2" charset="0"/>
            </a:endParaRPr>
          </a:p>
          <a:p>
            <a:pPr marL="171450" indent="-171450">
              <a:buFont typeface="Arial" panose="020B0604020202020204" pitchFamily="34" charset="0"/>
              <a:buChar char="•"/>
            </a:pPr>
            <a:endParaRPr lang="en-US" sz="1200" dirty="0">
              <a:latin typeface="Roboto Condensed Light" panose="02000000000000000000" pitchFamily="2" charset="0"/>
              <a:ea typeface="Roboto Condensed Light" panose="02000000000000000000" pitchFamily="2" charset="0"/>
            </a:endParaRPr>
          </a:p>
          <a:p>
            <a:pPr marL="171450" indent="-171450">
              <a:buFont typeface="Arial" panose="020B0604020202020204" pitchFamily="34" charset="0"/>
              <a:buChar char="•"/>
            </a:pPr>
            <a:endParaRPr lang="en-US" sz="1200" dirty="0">
              <a:latin typeface="Roboto Condensed Light" panose="02000000000000000000" pitchFamily="2" charset="0"/>
              <a:ea typeface="Roboto Condensed Light" panose="02000000000000000000" pitchFamily="2" charset="0"/>
            </a:endParaRPr>
          </a:p>
        </p:txBody>
      </p:sp>
      <p:pic>
        <p:nvPicPr>
          <p:cNvPr id="31" name="Picture 30">
            <a:extLst>
              <a:ext uri="{FF2B5EF4-FFF2-40B4-BE49-F238E27FC236}">
                <a16:creationId xmlns:a16="http://schemas.microsoft.com/office/drawing/2014/main" id="{091870F5-DFCE-D899-B5B7-6DBBABC6F9D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9083039" y="2034047"/>
            <a:ext cx="470802" cy="470802"/>
          </a:xfrm>
          <a:prstGeom prst="rect">
            <a:avLst/>
          </a:prstGeom>
        </p:spPr>
      </p:pic>
      <p:sp>
        <p:nvSpPr>
          <p:cNvPr id="32" name="Rectangle: Top Corners Rounded 31">
            <a:extLst>
              <a:ext uri="{FF2B5EF4-FFF2-40B4-BE49-F238E27FC236}">
                <a16:creationId xmlns:a16="http://schemas.microsoft.com/office/drawing/2014/main" id="{53F2FA3D-5C8A-E996-CDFC-7D590C211542}"/>
              </a:ext>
            </a:extLst>
          </p:cNvPr>
          <p:cNvSpPr/>
          <p:nvPr/>
        </p:nvSpPr>
        <p:spPr>
          <a:xfrm>
            <a:off x="375501" y="4435537"/>
            <a:ext cx="2448232" cy="334154"/>
          </a:xfrm>
          <a:prstGeom prst="round2SameRect">
            <a:avLst>
              <a:gd name="adj1" fmla="val 50000"/>
              <a:gd name="adj2" fmla="val 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latin typeface="Montserrat SemiBold" panose="00000700000000000000" pitchFamily="2" charset="0"/>
              </a:rPr>
              <a:t>          Risks</a:t>
            </a:r>
          </a:p>
        </p:txBody>
      </p:sp>
      <p:sp>
        <p:nvSpPr>
          <p:cNvPr id="33" name="TextBox 32">
            <a:extLst>
              <a:ext uri="{FF2B5EF4-FFF2-40B4-BE49-F238E27FC236}">
                <a16:creationId xmlns:a16="http://schemas.microsoft.com/office/drawing/2014/main" id="{65C266F5-E400-0A5D-A3F7-977532A66C42}"/>
              </a:ext>
            </a:extLst>
          </p:cNvPr>
          <p:cNvSpPr txBox="1"/>
          <p:nvPr/>
        </p:nvSpPr>
        <p:spPr>
          <a:xfrm>
            <a:off x="375501" y="4770515"/>
            <a:ext cx="2448232" cy="1534209"/>
          </a:xfrm>
          <a:prstGeom prst="rect">
            <a:avLst/>
          </a:prstGeom>
        </p:spPr>
        <p:style>
          <a:lnRef idx="2">
            <a:schemeClr val="accent1"/>
          </a:lnRef>
          <a:fillRef idx="1">
            <a:schemeClr val="lt1"/>
          </a:fillRef>
          <a:effectRef idx="0">
            <a:schemeClr val="accent1"/>
          </a:effectRef>
          <a:fontRef idx="minor">
            <a:schemeClr val="dk1"/>
          </a:fontRef>
        </p:style>
        <p:txBody>
          <a:bodyPr wrap="square" rtlCol="0">
            <a:noAutofit/>
          </a:bodyPr>
          <a:lstStyle/>
          <a:p>
            <a:pPr marL="171450" indent="-171450">
              <a:buFont typeface="Wingdings" panose="05000000000000000000" pitchFamily="2" charset="2"/>
              <a:buChar char="Ø"/>
            </a:pPr>
            <a:r>
              <a:rPr lang="en-US" sz="1200" dirty="0">
                <a:latin typeface="Roboto Condensed Light" panose="02000000000000000000" pitchFamily="2" charset="0"/>
                <a:ea typeface="Roboto Condensed Light" panose="02000000000000000000" pitchFamily="2" charset="0"/>
              </a:rPr>
              <a:t>Budget overrun</a:t>
            </a:r>
          </a:p>
          <a:p>
            <a:pPr marL="171450" indent="-171450">
              <a:buFont typeface="Wingdings" panose="05000000000000000000" pitchFamily="2" charset="2"/>
              <a:buChar char="Ø"/>
            </a:pPr>
            <a:r>
              <a:rPr lang="en-US" sz="1200" dirty="0">
                <a:latin typeface="Roboto Condensed Light" panose="02000000000000000000" pitchFamily="2" charset="0"/>
                <a:ea typeface="Roboto Condensed Light" panose="02000000000000000000" pitchFamily="2" charset="0"/>
              </a:rPr>
              <a:t>Change resistance</a:t>
            </a:r>
          </a:p>
          <a:p>
            <a:pPr marL="171450" indent="-171450">
              <a:buFont typeface="Wingdings" panose="05000000000000000000" pitchFamily="2" charset="2"/>
              <a:buChar char="Ø"/>
            </a:pPr>
            <a:r>
              <a:rPr lang="en-US" sz="1200" dirty="0">
                <a:latin typeface="Roboto Condensed Light" panose="02000000000000000000" pitchFamily="2" charset="0"/>
                <a:ea typeface="Roboto Condensed Light" panose="02000000000000000000" pitchFamily="2" charset="0"/>
              </a:rPr>
              <a:t>Skills mismatch leading to delays</a:t>
            </a:r>
          </a:p>
          <a:p>
            <a:pPr marL="171450" indent="-171450">
              <a:buFont typeface="Wingdings" panose="05000000000000000000" pitchFamily="2" charset="2"/>
              <a:buChar char="Ø"/>
            </a:pPr>
            <a:endParaRPr lang="en-US" sz="1200" dirty="0">
              <a:latin typeface="Roboto Condensed Light" panose="02000000000000000000" pitchFamily="2" charset="0"/>
              <a:ea typeface="Roboto Condensed Light" panose="02000000000000000000" pitchFamily="2" charset="0"/>
            </a:endParaRPr>
          </a:p>
          <a:p>
            <a:pPr marL="171450" indent="-171450">
              <a:buFont typeface="Wingdings" panose="05000000000000000000" pitchFamily="2" charset="2"/>
              <a:buChar char="Ø"/>
            </a:pPr>
            <a:endParaRPr lang="en-US" sz="1200" dirty="0">
              <a:latin typeface="Roboto Condensed Light" panose="02000000000000000000" pitchFamily="2" charset="0"/>
              <a:ea typeface="Roboto Condensed Light" panose="02000000000000000000" pitchFamily="2" charset="0"/>
            </a:endParaRPr>
          </a:p>
        </p:txBody>
      </p:sp>
      <p:pic>
        <p:nvPicPr>
          <p:cNvPr id="34" name="Picture 33">
            <a:extLst>
              <a:ext uri="{FF2B5EF4-FFF2-40B4-BE49-F238E27FC236}">
                <a16:creationId xmlns:a16="http://schemas.microsoft.com/office/drawing/2014/main" id="{1399F6E7-19FF-A4BD-4F4B-A4C1A78E8E8B}"/>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514455" y="4405927"/>
            <a:ext cx="393374" cy="393374"/>
          </a:xfrm>
          <a:prstGeom prst="rect">
            <a:avLst/>
          </a:prstGeom>
        </p:spPr>
      </p:pic>
      <p:sp>
        <p:nvSpPr>
          <p:cNvPr id="35" name="Rectangle: Top Corners Rounded 34">
            <a:extLst>
              <a:ext uri="{FF2B5EF4-FFF2-40B4-BE49-F238E27FC236}">
                <a16:creationId xmlns:a16="http://schemas.microsoft.com/office/drawing/2014/main" id="{91989642-3F7C-F232-5DF0-C0CA374F8089}"/>
              </a:ext>
            </a:extLst>
          </p:cNvPr>
          <p:cNvSpPr/>
          <p:nvPr/>
        </p:nvSpPr>
        <p:spPr>
          <a:xfrm>
            <a:off x="2998678" y="4424271"/>
            <a:ext cx="2603661" cy="334152"/>
          </a:xfrm>
          <a:prstGeom prst="round2SameRect">
            <a:avLst>
              <a:gd name="adj1" fmla="val 50000"/>
              <a:gd name="adj2" fmla="val 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latin typeface="Montserrat SemiBold" panose="00000700000000000000" pitchFamily="2" charset="0"/>
              </a:rPr>
              <a:t>          Timeline</a:t>
            </a:r>
          </a:p>
        </p:txBody>
      </p:sp>
      <p:sp>
        <p:nvSpPr>
          <p:cNvPr id="36" name="TextBox 35">
            <a:extLst>
              <a:ext uri="{FF2B5EF4-FFF2-40B4-BE49-F238E27FC236}">
                <a16:creationId xmlns:a16="http://schemas.microsoft.com/office/drawing/2014/main" id="{7C4AE9C5-CEDE-F84D-8D77-392F94F17B25}"/>
              </a:ext>
            </a:extLst>
          </p:cNvPr>
          <p:cNvSpPr txBox="1"/>
          <p:nvPr/>
        </p:nvSpPr>
        <p:spPr>
          <a:xfrm>
            <a:off x="3015843" y="4769690"/>
            <a:ext cx="5814780" cy="1534209"/>
          </a:xfrm>
          <a:prstGeom prst="rect">
            <a:avLst/>
          </a:prstGeom>
        </p:spPr>
        <p:style>
          <a:lnRef idx="2">
            <a:schemeClr val="accent1"/>
          </a:lnRef>
          <a:fillRef idx="1">
            <a:schemeClr val="lt1"/>
          </a:fillRef>
          <a:effectRef idx="0">
            <a:schemeClr val="accent1"/>
          </a:effectRef>
          <a:fontRef idx="minor">
            <a:schemeClr val="dk1"/>
          </a:fontRef>
        </p:style>
        <p:txBody>
          <a:bodyPr wrap="square" rtlCol="0">
            <a:noAutofit/>
          </a:bodyPr>
          <a:lstStyle/>
          <a:p>
            <a:endParaRPr lang="en-US" sz="1200" dirty="0">
              <a:latin typeface="Roboto Condensed Light" panose="02000000000000000000" pitchFamily="2" charset="0"/>
              <a:ea typeface="Roboto Condensed Light" panose="02000000000000000000" pitchFamily="2" charset="0"/>
            </a:endParaRPr>
          </a:p>
        </p:txBody>
      </p:sp>
      <p:pic>
        <p:nvPicPr>
          <p:cNvPr id="37" name="Picture 36">
            <a:extLst>
              <a:ext uri="{FF2B5EF4-FFF2-40B4-BE49-F238E27FC236}">
                <a16:creationId xmlns:a16="http://schemas.microsoft.com/office/drawing/2014/main" id="{6DDEC5E3-CFE6-371E-3906-F262119E4ABB}"/>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3134909" y="4340758"/>
            <a:ext cx="431184" cy="501177"/>
          </a:xfrm>
          <a:prstGeom prst="rect">
            <a:avLst/>
          </a:prstGeom>
        </p:spPr>
      </p:pic>
      <p:graphicFrame>
        <p:nvGraphicFramePr>
          <p:cNvPr id="38" name="Table 37">
            <a:extLst>
              <a:ext uri="{FF2B5EF4-FFF2-40B4-BE49-F238E27FC236}">
                <a16:creationId xmlns:a16="http://schemas.microsoft.com/office/drawing/2014/main" id="{3BFC01D9-1547-2A55-8497-914D724089AB}"/>
              </a:ext>
            </a:extLst>
          </p:cNvPr>
          <p:cNvGraphicFramePr>
            <a:graphicFrameLocks noGrp="1"/>
          </p:cNvGraphicFramePr>
          <p:nvPr>
            <p:extLst>
              <p:ext uri="{D42A27DB-BD31-4B8C-83A1-F6EECF244321}">
                <p14:modId xmlns:p14="http://schemas.microsoft.com/office/powerpoint/2010/main" val="2285587593"/>
              </p:ext>
            </p:extLst>
          </p:nvPr>
        </p:nvGraphicFramePr>
        <p:xfrm>
          <a:off x="3074097" y="4805272"/>
          <a:ext cx="5714300" cy="1463044"/>
        </p:xfrm>
        <a:graphic>
          <a:graphicData uri="http://schemas.openxmlformats.org/drawingml/2006/table">
            <a:tbl>
              <a:tblPr firstRow="1" bandRow="1">
                <a:tableStyleId>{5C22544A-7EE6-4342-B048-85BDC9FD1C3A}</a:tableStyleId>
              </a:tblPr>
              <a:tblGrid>
                <a:gridCol w="1428575">
                  <a:extLst>
                    <a:ext uri="{9D8B030D-6E8A-4147-A177-3AD203B41FA5}">
                      <a16:colId xmlns:a16="http://schemas.microsoft.com/office/drawing/2014/main" val="3571782161"/>
                    </a:ext>
                  </a:extLst>
                </a:gridCol>
                <a:gridCol w="1428575">
                  <a:extLst>
                    <a:ext uri="{9D8B030D-6E8A-4147-A177-3AD203B41FA5}">
                      <a16:colId xmlns:a16="http://schemas.microsoft.com/office/drawing/2014/main" val="1551675408"/>
                    </a:ext>
                  </a:extLst>
                </a:gridCol>
                <a:gridCol w="1428575">
                  <a:extLst>
                    <a:ext uri="{9D8B030D-6E8A-4147-A177-3AD203B41FA5}">
                      <a16:colId xmlns:a16="http://schemas.microsoft.com/office/drawing/2014/main" val="1034883776"/>
                    </a:ext>
                  </a:extLst>
                </a:gridCol>
                <a:gridCol w="1428575">
                  <a:extLst>
                    <a:ext uri="{9D8B030D-6E8A-4147-A177-3AD203B41FA5}">
                      <a16:colId xmlns:a16="http://schemas.microsoft.com/office/drawing/2014/main" val="389405048"/>
                    </a:ext>
                  </a:extLst>
                </a:gridCol>
              </a:tblGrid>
              <a:tr h="365761">
                <a:tc>
                  <a:txBody>
                    <a:bodyPr/>
                    <a:lstStyle/>
                    <a:p>
                      <a:pPr algn="ctr"/>
                      <a:r>
                        <a:rPr lang="en-US" sz="1200" dirty="0"/>
                        <a:t>Q1 2026</a:t>
                      </a:r>
                      <a:endParaRPr lang="en-US" sz="1200" dirty="0">
                        <a:latin typeface="Montserrat SemiBold" panose="00000700000000000000" pitchFamily="2" charset="0"/>
                      </a:endParaRPr>
                    </a:p>
                  </a:txBody>
                  <a:tcPr/>
                </a:tc>
                <a:tc>
                  <a:txBody>
                    <a:bodyPr/>
                    <a:lstStyle/>
                    <a:p>
                      <a:pPr algn="ctr"/>
                      <a:r>
                        <a:rPr lang="en-US" sz="1200" dirty="0"/>
                        <a:t>Q2 2026</a:t>
                      </a:r>
                      <a:endParaRPr lang="en-US" sz="1200" dirty="0">
                        <a:latin typeface="Montserrat SemiBold" panose="00000700000000000000" pitchFamily="2" charset="0"/>
                      </a:endParaRPr>
                    </a:p>
                  </a:txBody>
                  <a:tcPr/>
                </a:tc>
                <a:tc>
                  <a:txBody>
                    <a:bodyPr/>
                    <a:lstStyle/>
                    <a:p>
                      <a:pPr algn="ctr"/>
                      <a:r>
                        <a:rPr lang="en-US" sz="1200" dirty="0"/>
                        <a:t>Q3 2026</a:t>
                      </a:r>
                      <a:endParaRPr lang="en-US" sz="1200" dirty="0">
                        <a:latin typeface="Montserrat SemiBold" panose="00000700000000000000" pitchFamily="2" charset="0"/>
                      </a:endParaRPr>
                    </a:p>
                  </a:txBody>
                  <a:tcPr/>
                </a:tc>
                <a:tc>
                  <a:txBody>
                    <a:bodyPr/>
                    <a:lstStyle/>
                    <a:p>
                      <a:pPr algn="ctr"/>
                      <a:r>
                        <a:rPr lang="en-US" sz="1200" dirty="0"/>
                        <a:t>Q4 2026</a:t>
                      </a:r>
                      <a:endParaRPr lang="en-US" sz="1200" dirty="0">
                        <a:latin typeface="Montserrat SemiBold" panose="00000700000000000000" pitchFamily="2" charset="0"/>
                      </a:endParaRPr>
                    </a:p>
                  </a:txBody>
                  <a:tcPr/>
                </a:tc>
                <a:extLst>
                  <a:ext uri="{0D108BD9-81ED-4DB2-BD59-A6C34878D82A}">
                    <a16:rowId xmlns:a16="http://schemas.microsoft.com/office/drawing/2014/main" val="2042216142"/>
                  </a:ext>
                </a:extLst>
              </a:tr>
              <a:tr h="365761">
                <a:tc>
                  <a:txBody>
                    <a:bodyPr/>
                    <a:lstStyle/>
                    <a:p>
                      <a:pPr algn="ctr"/>
                      <a:endParaRPr lang="en-US" sz="1200" dirty="0">
                        <a:latin typeface="Montserrat SemiBold" panose="00000700000000000000" pitchFamily="2" charset="0"/>
                      </a:endParaRPr>
                    </a:p>
                  </a:txBody>
                  <a:tcPr/>
                </a:tc>
                <a:tc>
                  <a:txBody>
                    <a:bodyPr/>
                    <a:lstStyle/>
                    <a:p>
                      <a:pPr algn="ctr"/>
                      <a:endParaRPr lang="en-US" sz="1200" dirty="0">
                        <a:latin typeface="Montserrat SemiBold" panose="00000700000000000000" pitchFamily="2" charset="0"/>
                      </a:endParaRPr>
                    </a:p>
                  </a:txBody>
                  <a:tcPr/>
                </a:tc>
                <a:tc>
                  <a:txBody>
                    <a:bodyPr/>
                    <a:lstStyle/>
                    <a:p>
                      <a:pPr algn="ctr"/>
                      <a:endParaRPr lang="en-US" sz="1200" dirty="0">
                        <a:latin typeface="Montserrat SemiBold" panose="00000700000000000000" pitchFamily="2" charset="0"/>
                      </a:endParaRPr>
                    </a:p>
                  </a:txBody>
                  <a:tcPr/>
                </a:tc>
                <a:tc>
                  <a:txBody>
                    <a:bodyPr/>
                    <a:lstStyle/>
                    <a:p>
                      <a:pPr algn="ctr"/>
                      <a:endParaRPr lang="en-US" sz="1200" dirty="0">
                        <a:latin typeface="Montserrat SemiBold" panose="00000700000000000000" pitchFamily="2" charset="0"/>
                      </a:endParaRPr>
                    </a:p>
                  </a:txBody>
                  <a:tcPr/>
                </a:tc>
                <a:extLst>
                  <a:ext uri="{0D108BD9-81ED-4DB2-BD59-A6C34878D82A}">
                    <a16:rowId xmlns:a16="http://schemas.microsoft.com/office/drawing/2014/main" val="2714096493"/>
                  </a:ext>
                </a:extLst>
              </a:tr>
              <a:tr h="365761">
                <a:tc>
                  <a:txBody>
                    <a:bodyPr/>
                    <a:lstStyle/>
                    <a:p>
                      <a:pPr algn="ctr"/>
                      <a:endParaRPr lang="en-US" sz="1200" dirty="0">
                        <a:latin typeface="Montserrat SemiBold" panose="00000700000000000000" pitchFamily="2" charset="0"/>
                      </a:endParaRPr>
                    </a:p>
                  </a:txBody>
                  <a:tcPr/>
                </a:tc>
                <a:tc>
                  <a:txBody>
                    <a:bodyPr/>
                    <a:lstStyle/>
                    <a:p>
                      <a:pPr algn="ctr"/>
                      <a:endParaRPr lang="en-US" sz="1200" dirty="0">
                        <a:latin typeface="Montserrat SemiBold" panose="00000700000000000000" pitchFamily="2" charset="0"/>
                      </a:endParaRPr>
                    </a:p>
                  </a:txBody>
                  <a:tcPr/>
                </a:tc>
                <a:tc>
                  <a:txBody>
                    <a:bodyPr/>
                    <a:lstStyle/>
                    <a:p>
                      <a:pPr algn="ctr"/>
                      <a:endParaRPr lang="en-US" sz="1200" dirty="0">
                        <a:latin typeface="Montserrat SemiBold" panose="00000700000000000000" pitchFamily="2" charset="0"/>
                      </a:endParaRPr>
                    </a:p>
                  </a:txBody>
                  <a:tcPr/>
                </a:tc>
                <a:tc>
                  <a:txBody>
                    <a:bodyPr/>
                    <a:lstStyle/>
                    <a:p>
                      <a:pPr algn="ctr"/>
                      <a:endParaRPr lang="en-US" sz="1200" dirty="0">
                        <a:latin typeface="Montserrat SemiBold" panose="00000700000000000000" pitchFamily="2" charset="0"/>
                      </a:endParaRPr>
                    </a:p>
                  </a:txBody>
                  <a:tcPr/>
                </a:tc>
                <a:extLst>
                  <a:ext uri="{0D108BD9-81ED-4DB2-BD59-A6C34878D82A}">
                    <a16:rowId xmlns:a16="http://schemas.microsoft.com/office/drawing/2014/main" val="3726739764"/>
                  </a:ext>
                </a:extLst>
              </a:tr>
              <a:tr h="365761">
                <a:tc>
                  <a:txBody>
                    <a:bodyPr/>
                    <a:lstStyle/>
                    <a:p>
                      <a:pPr algn="ctr"/>
                      <a:endParaRPr lang="en-US" sz="1200" dirty="0">
                        <a:latin typeface="Montserrat SemiBold" panose="00000700000000000000" pitchFamily="2" charset="0"/>
                      </a:endParaRPr>
                    </a:p>
                  </a:txBody>
                  <a:tcPr/>
                </a:tc>
                <a:tc>
                  <a:txBody>
                    <a:bodyPr/>
                    <a:lstStyle/>
                    <a:p>
                      <a:pPr algn="ctr"/>
                      <a:endParaRPr lang="en-US" sz="1200" dirty="0">
                        <a:latin typeface="Montserrat SemiBold" panose="00000700000000000000" pitchFamily="2" charset="0"/>
                      </a:endParaRPr>
                    </a:p>
                  </a:txBody>
                  <a:tcPr/>
                </a:tc>
                <a:tc>
                  <a:txBody>
                    <a:bodyPr/>
                    <a:lstStyle/>
                    <a:p>
                      <a:pPr algn="ctr"/>
                      <a:endParaRPr lang="en-US" sz="1200" dirty="0">
                        <a:latin typeface="Montserrat SemiBold" panose="00000700000000000000" pitchFamily="2" charset="0"/>
                      </a:endParaRPr>
                    </a:p>
                  </a:txBody>
                  <a:tcPr/>
                </a:tc>
                <a:tc>
                  <a:txBody>
                    <a:bodyPr/>
                    <a:lstStyle/>
                    <a:p>
                      <a:pPr algn="ctr"/>
                      <a:endParaRPr lang="en-US" sz="1200" dirty="0">
                        <a:latin typeface="Montserrat SemiBold" panose="00000700000000000000" pitchFamily="2" charset="0"/>
                      </a:endParaRPr>
                    </a:p>
                  </a:txBody>
                  <a:tcPr/>
                </a:tc>
                <a:extLst>
                  <a:ext uri="{0D108BD9-81ED-4DB2-BD59-A6C34878D82A}">
                    <a16:rowId xmlns:a16="http://schemas.microsoft.com/office/drawing/2014/main" val="2119212110"/>
                  </a:ext>
                </a:extLst>
              </a:tr>
            </a:tbl>
          </a:graphicData>
        </a:graphic>
      </p:graphicFrame>
      <p:sp>
        <p:nvSpPr>
          <p:cNvPr id="39" name="Rounded Rectangle 438">
            <a:extLst>
              <a:ext uri="{FF2B5EF4-FFF2-40B4-BE49-F238E27FC236}">
                <a16:creationId xmlns:a16="http://schemas.microsoft.com/office/drawing/2014/main" id="{0D460CCD-8A28-6804-E3FC-A08D8CEE4DA5}"/>
              </a:ext>
            </a:extLst>
          </p:cNvPr>
          <p:cNvSpPr/>
          <p:nvPr/>
        </p:nvSpPr>
        <p:spPr>
          <a:xfrm>
            <a:off x="3596179" y="5240571"/>
            <a:ext cx="1210952" cy="215944"/>
          </a:xfrm>
          <a:prstGeom prst="roundRect">
            <a:avLst>
              <a:gd name="adj" fmla="val 50000"/>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00" dirty="0">
                <a:latin typeface="Exo" pitchFamily="2" charset="0"/>
              </a:rPr>
              <a:t>Requirements</a:t>
            </a:r>
            <a:endParaRPr lang="uk-UA" sz="1000">
              <a:latin typeface="Arial" panose="020B0604020202020204" pitchFamily="34" charset="0"/>
            </a:endParaRPr>
          </a:p>
        </p:txBody>
      </p:sp>
      <p:sp>
        <p:nvSpPr>
          <p:cNvPr id="40" name="Rounded Rectangle 438">
            <a:extLst>
              <a:ext uri="{FF2B5EF4-FFF2-40B4-BE49-F238E27FC236}">
                <a16:creationId xmlns:a16="http://schemas.microsoft.com/office/drawing/2014/main" id="{4516712C-5324-17FF-8C9D-303DF8691C59}"/>
              </a:ext>
            </a:extLst>
          </p:cNvPr>
          <p:cNvSpPr/>
          <p:nvPr/>
        </p:nvSpPr>
        <p:spPr>
          <a:xfrm>
            <a:off x="4557415" y="5569541"/>
            <a:ext cx="659020" cy="215944"/>
          </a:xfrm>
          <a:prstGeom prst="roundRect">
            <a:avLst>
              <a:gd name="adj" fmla="val 50000"/>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00" dirty="0">
                <a:latin typeface="Exo" pitchFamily="2" charset="0"/>
              </a:rPr>
              <a:t>RFP</a:t>
            </a:r>
            <a:endParaRPr lang="uk-UA" sz="1000">
              <a:latin typeface="Arial" panose="020B0604020202020204" pitchFamily="34" charset="0"/>
            </a:endParaRPr>
          </a:p>
        </p:txBody>
      </p:sp>
      <p:sp>
        <p:nvSpPr>
          <p:cNvPr id="41" name="Rounded Rectangle 438">
            <a:extLst>
              <a:ext uri="{FF2B5EF4-FFF2-40B4-BE49-F238E27FC236}">
                <a16:creationId xmlns:a16="http://schemas.microsoft.com/office/drawing/2014/main" id="{C9FA02DC-07FC-60A7-4C71-A2B2E40F7A59}"/>
              </a:ext>
            </a:extLst>
          </p:cNvPr>
          <p:cNvSpPr/>
          <p:nvPr/>
        </p:nvSpPr>
        <p:spPr>
          <a:xfrm>
            <a:off x="5109100" y="5917874"/>
            <a:ext cx="986478" cy="215944"/>
          </a:xfrm>
          <a:prstGeom prst="roundRect">
            <a:avLst>
              <a:gd name="adj" fmla="val 50000"/>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00" dirty="0">
                <a:latin typeface="Exo" pitchFamily="2" charset="0"/>
              </a:rPr>
              <a:t>Selection</a:t>
            </a:r>
            <a:endParaRPr lang="uk-UA" sz="1000">
              <a:latin typeface="Arial" panose="020B0604020202020204" pitchFamily="34" charset="0"/>
            </a:endParaRPr>
          </a:p>
        </p:txBody>
      </p:sp>
      <p:sp>
        <p:nvSpPr>
          <p:cNvPr id="42" name="Rounded Rectangle 438">
            <a:extLst>
              <a:ext uri="{FF2B5EF4-FFF2-40B4-BE49-F238E27FC236}">
                <a16:creationId xmlns:a16="http://schemas.microsoft.com/office/drawing/2014/main" id="{265DAFD8-C1F0-568A-2884-EB9DD14B17EC}"/>
              </a:ext>
            </a:extLst>
          </p:cNvPr>
          <p:cNvSpPr/>
          <p:nvPr/>
        </p:nvSpPr>
        <p:spPr>
          <a:xfrm>
            <a:off x="5857910" y="5603870"/>
            <a:ext cx="1056945" cy="215944"/>
          </a:xfrm>
          <a:prstGeom prst="roundRect">
            <a:avLst>
              <a:gd name="adj" fmla="val 50000"/>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00" dirty="0">
                <a:latin typeface="Exo" pitchFamily="2" charset="0"/>
              </a:rPr>
              <a:t>Pilot</a:t>
            </a:r>
            <a:endParaRPr lang="uk-UA" sz="1000">
              <a:latin typeface="Arial" panose="020B0604020202020204" pitchFamily="34" charset="0"/>
            </a:endParaRPr>
          </a:p>
        </p:txBody>
      </p:sp>
      <p:sp>
        <p:nvSpPr>
          <p:cNvPr id="43" name="Rounded Rectangle 438">
            <a:extLst>
              <a:ext uri="{FF2B5EF4-FFF2-40B4-BE49-F238E27FC236}">
                <a16:creationId xmlns:a16="http://schemas.microsoft.com/office/drawing/2014/main" id="{44BE1A75-9E85-C391-E67A-F499AE054BD2}"/>
              </a:ext>
            </a:extLst>
          </p:cNvPr>
          <p:cNvSpPr/>
          <p:nvPr/>
        </p:nvSpPr>
        <p:spPr>
          <a:xfrm>
            <a:off x="6639917" y="5240571"/>
            <a:ext cx="1554849" cy="215944"/>
          </a:xfrm>
          <a:prstGeom prst="roundRect">
            <a:avLst>
              <a:gd name="adj" fmla="val 50000"/>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00" dirty="0">
                <a:latin typeface="Exo" pitchFamily="2" charset="0"/>
              </a:rPr>
              <a:t>Deployment</a:t>
            </a:r>
            <a:endParaRPr lang="uk-UA" sz="1000">
              <a:latin typeface="Arial" panose="020B0604020202020204" pitchFamily="34" charset="0"/>
            </a:endParaRPr>
          </a:p>
        </p:txBody>
      </p:sp>
      <p:sp>
        <p:nvSpPr>
          <p:cNvPr id="44" name="TextBox 43">
            <a:extLst>
              <a:ext uri="{FF2B5EF4-FFF2-40B4-BE49-F238E27FC236}">
                <a16:creationId xmlns:a16="http://schemas.microsoft.com/office/drawing/2014/main" id="{277F67A6-C293-47BC-16BE-5B86449AD461}"/>
              </a:ext>
            </a:extLst>
          </p:cNvPr>
          <p:cNvSpPr txBox="1"/>
          <p:nvPr/>
        </p:nvSpPr>
        <p:spPr>
          <a:xfrm>
            <a:off x="8591107" y="504852"/>
            <a:ext cx="1903228" cy="523220"/>
          </a:xfrm>
          <a:prstGeom prst="rect">
            <a:avLst/>
          </a:prstGeom>
          <a:noFill/>
        </p:spPr>
        <p:txBody>
          <a:bodyPr wrap="square" rtlCol="0">
            <a:spAutoFit/>
          </a:bodyPr>
          <a:lstStyle/>
          <a:p>
            <a:r>
              <a:rPr lang="en-US" sz="1400" dirty="0">
                <a:solidFill>
                  <a:schemeClr val="tx2">
                    <a:lumMod val="25000"/>
                    <a:lumOff val="75000"/>
                  </a:schemeClr>
                </a:solidFill>
                <a:latin typeface="Montserrat SemiBold" panose="00000700000000000000" pitchFamily="2" charset="0"/>
              </a:rPr>
              <a:t>Securing Our </a:t>
            </a:r>
          </a:p>
          <a:p>
            <a:r>
              <a:rPr lang="en-US" sz="1400" dirty="0">
                <a:solidFill>
                  <a:schemeClr val="tx2">
                    <a:lumMod val="25000"/>
                    <a:lumOff val="75000"/>
                  </a:schemeClr>
                </a:solidFill>
                <a:latin typeface="Montserrat SemiBold" panose="00000700000000000000" pitchFamily="2" charset="0"/>
              </a:rPr>
              <a:t>Digital Future</a:t>
            </a:r>
          </a:p>
        </p:txBody>
      </p:sp>
      <p:sp>
        <p:nvSpPr>
          <p:cNvPr id="45" name="TextBox 44">
            <a:extLst>
              <a:ext uri="{FF2B5EF4-FFF2-40B4-BE49-F238E27FC236}">
                <a16:creationId xmlns:a16="http://schemas.microsoft.com/office/drawing/2014/main" id="{3E3D34E2-2619-5494-CF4F-366A8287C255}"/>
              </a:ext>
            </a:extLst>
          </p:cNvPr>
          <p:cNvSpPr txBox="1"/>
          <p:nvPr/>
        </p:nvSpPr>
        <p:spPr>
          <a:xfrm>
            <a:off x="3527732" y="1936841"/>
            <a:ext cx="4149213" cy="2438400"/>
          </a:xfrm>
          <a:prstGeom prst="rect">
            <a:avLst/>
          </a:prstGeom>
          <a:gradFill>
            <a:gsLst>
              <a:gs pos="0">
                <a:schemeClr val="accent5">
                  <a:lumMod val="110000"/>
                  <a:satMod val="105000"/>
                  <a:tint val="67000"/>
                  <a:alpha val="75000"/>
                </a:schemeClr>
              </a:gs>
              <a:gs pos="50000">
                <a:schemeClr val="accent5">
                  <a:lumMod val="105000"/>
                  <a:satMod val="103000"/>
                  <a:tint val="73000"/>
                </a:schemeClr>
              </a:gs>
              <a:gs pos="100000">
                <a:schemeClr val="accent5">
                  <a:lumMod val="105000"/>
                  <a:satMod val="109000"/>
                  <a:tint val="81000"/>
                </a:schemeClr>
              </a:gs>
            </a:gsLst>
          </a:gradFill>
        </p:spPr>
        <p:style>
          <a:lnRef idx="1">
            <a:schemeClr val="accent5"/>
          </a:lnRef>
          <a:fillRef idx="2">
            <a:schemeClr val="accent5"/>
          </a:fillRef>
          <a:effectRef idx="1">
            <a:schemeClr val="accent5"/>
          </a:effectRef>
          <a:fontRef idx="minor">
            <a:schemeClr val="dk1"/>
          </a:fontRef>
        </p:style>
        <p:txBody>
          <a:bodyPr wrap="square" rtlCol="0">
            <a:noAutofit/>
          </a:bodyPr>
          <a:lstStyle/>
          <a:p>
            <a:pPr algn="ctr"/>
            <a:endParaRPr lang="en-US" sz="2800" dirty="0"/>
          </a:p>
          <a:p>
            <a:pPr algn="ctr"/>
            <a:endParaRPr lang="en-US" sz="2800" dirty="0"/>
          </a:p>
          <a:p>
            <a:pPr algn="ctr"/>
            <a:r>
              <a:rPr lang="en-US" sz="2800" dirty="0"/>
              <a:t>Sample one-pager.</a:t>
            </a:r>
          </a:p>
        </p:txBody>
      </p:sp>
    </p:spTree>
    <p:extLst>
      <p:ext uri="{BB962C8B-B14F-4D97-AF65-F5344CB8AC3E}">
        <p14:creationId xmlns:p14="http://schemas.microsoft.com/office/powerpoint/2010/main" val="33121367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EA891-FCA3-88FC-E3B4-0E8D3D53E69F}"/>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1BC68267-F868-3D06-9E03-6EC48A1E4888}"/>
              </a:ext>
            </a:extLst>
          </p:cNvPr>
          <p:cNvSpPr/>
          <p:nvPr/>
        </p:nvSpPr>
        <p:spPr>
          <a:xfrm>
            <a:off x="0" y="4785448"/>
            <a:ext cx="12193588" cy="902525"/>
          </a:xfrm>
          <a:prstGeom prst="rect">
            <a:avLst/>
          </a:prstGeom>
          <a:gradFill>
            <a:gsLst>
              <a:gs pos="74000">
                <a:srgbClr val="2576B7">
                  <a:alpha val="9000"/>
                </a:srgbClr>
              </a:gs>
              <a:gs pos="0">
                <a:srgbClr val="2576B7">
                  <a:alpha val="47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FC5EE59-25CD-1D66-466B-838725842FCE}"/>
              </a:ext>
            </a:extLst>
          </p:cNvPr>
          <p:cNvSpPr txBox="1"/>
          <p:nvPr/>
        </p:nvSpPr>
        <p:spPr>
          <a:xfrm>
            <a:off x="658368" y="5182558"/>
            <a:ext cx="8554458" cy="553998"/>
          </a:xfrm>
          <a:prstGeom prst="rect">
            <a:avLst/>
          </a:prstGeom>
          <a:noFill/>
        </p:spPr>
        <p:txBody>
          <a:bodyPr wrap="square" lIns="0" tIns="0" rIns="0" bIns="0" rtlCol="0">
            <a:spAutoFit/>
          </a:bodyPr>
          <a:lstStyle/>
          <a:p>
            <a:pPr>
              <a:lnSpc>
                <a:spcPts val="1600"/>
              </a:lnSpc>
            </a:pPr>
            <a:r>
              <a:rPr lang="en-US" sz="2800" spc="500" dirty="0">
                <a:solidFill>
                  <a:schemeClr val="bg1"/>
                </a:solidFill>
                <a:latin typeface="Montserrat Medium" pitchFamily="2" charset="77"/>
                <a:ea typeface="Roboto Condensed Light" panose="02000000000000000000" pitchFamily="2" charset="0"/>
              </a:rPr>
              <a:t>APPENDIX B: ICONS</a:t>
            </a:r>
          </a:p>
          <a:p>
            <a:pPr>
              <a:lnSpc>
                <a:spcPts val="1400"/>
              </a:lnSpc>
            </a:pPr>
            <a:br>
              <a:rPr lang="en-US" spc="500" dirty="0">
                <a:solidFill>
                  <a:schemeClr val="bg1"/>
                </a:solidFill>
                <a:latin typeface="Montserrat" pitchFamily="2" charset="77"/>
              </a:rPr>
            </a:br>
            <a:endParaRPr lang="en-US" spc="500" dirty="0">
              <a:solidFill>
                <a:schemeClr val="bg1"/>
              </a:solidFill>
              <a:latin typeface="Montserrat" pitchFamily="2" charset="77"/>
            </a:endParaRPr>
          </a:p>
        </p:txBody>
      </p:sp>
    </p:spTree>
    <p:extLst>
      <p:ext uri="{BB962C8B-B14F-4D97-AF65-F5344CB8AC3E}">
        <p14:creationId xmlns:p14="http://schemas.microsoft.com/office/powerpoint/2010/main" val="31461890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0"/>
              </a:schemeClr>
            </a:gs>
            <a:gs pos="53000">
              <a:schemeClr val="accent1">
                <a:lumMod val="35000"/>
              </a:schemeClr>
            </a:gs>
            <a:gs pos="100000">
              <a:schemeClr val="accent1">
                <a:lumMod val="47000"/>
              </a:schemeClr>
            </a:gs>
          </a:gsLst>
          <a:path path="circle">
            <a:fillToRect r="100000" b="100000"/>
          </a:path>
          <a:tileRect l="-100000" t="-100000"/>
        </a:gradFill>
        <a:effectLst/>
      </p:bgPr>
    </p:bg>
    <p:spTree>
      <p:nvGrpSpPr>
        <p:cNvPr id="1" name="">
          <a:extLst>
            <a:ext uri="{FF2B5EF4-FFF2-40B4-BE49-F238E27FC236}">
              <a16:creationId xmlns:a16="http://schemas.microsoft.com/office/drawing/2014/main" id="{C86C9742-6F90-1B36-45EA-6631A8FBC740}"/>
            </a:ext>
          </a:extLst>
        </p:cNvPr>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2FBB4328-97A0-2AA8-9C67-3BA5F6C7E176}"/>
              </a:ext>
            </a:extLst>
          </p:cNvPr>
          <p:cNvGraphicFramePr/>
          <p:nvPr>
            <p:extLst>
              <p:ext uri="{D42A27DB-BD31-4B8C-83A1-F6EECF244321}">
                <p14:modId xmlns:p14="http://schemas.microsoft.com/office/powerpoint/2010/main" val="3896809639"/>
              </p:ext>
            </p:extLst>
          </p:nvPr>
        </p:nvGraphicFramePr>
        <p:xfrm>
          <a:off x="215214" y="-615238"/>
          <a:ext cx="11763159" cy="37367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itle 2">
            <a:extLst>
              <a:ext uri="{FF2B5EF4-FFF2-40B4-BE49-F238E27FC236}">
                <a16:creationId xmlns:a16="http://schemas.microsoft.com/office/drawing/2014/main" id="{B6FDFAEF-435E-58D7-AF6D-F1AD90EFB820}"/>
              </a:ext>
            </a:extLst>
          </p:cNvPr>
          <p:cNvSpPr>
            <a:spLocks noGrp="1"/>
          </p:cNvSpPr>
          <p:nvPr>
            <p:ph type="title"/>
          </p:nvPr>
        </p:nvSpPr>
        <p:spPr>
          <a:xfrm>
            <a:off x="251860" y="157309"/>
            <a:ext cx="8449652" cy="595423"/>
          </a:xfrm>
        </p:spPr>
        <p:txBody>
          <a:bodyPr/>
          <a:lstStyle/>
          <a:p>
            <a:r>
              <a:rPr lang="en-US" dirty="0">
                <a:solidFill>
                  <a:schemeClr val="accent1">
                    <a:lumMod val="40000"/>
                    <a:lumOff val="60000"/>
                  </a:schemeClr>
                </a:solidFill>
              </a:rPr>
              <a:t>iSSLDC Icons</a:t>
            </a:r>
          </a:p>
        </p:txBody>
      </p:sp>
      <p:pic>
        <p:nvPicPr>
          <p:cNvPr id="3" name="Picture 2" descr="A white logo with a lock and circles&#10;&#10;AI-generated content may be incorrect.">
            <a:extLst>
              <a:ext uri="{FF2B5EF4-FFF2-40B4-BE49-F238E27FC236}">
                <a16:creationId xmlns:a16="http://schemas.microsoft.com/office/drawing/2014/main" id="{9AC14058-F3D4-AADE-8D1F-95E021D9DCBD}"/>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251860" y="4689106"/>
            <a:ext cx="731520" cy="731520"/>
          </a:xfrm>
          <a:prstGeom prst="rect">
            <a:avLst/>
          </a:prstGeom>
        </p:spPr>
      </p:pic>
      <p:pic>
        <p:nvPicPr>
          <p:cNvPr id="4" name="Picture 3" descr="A white line drawing of a stack of bricks and a lock&#10;&#10;AI-generated content may be incorrect.">
            <a:extLst>
              <a:ext uri="{FF2B5EF4-FFF2-40B4-BE49-F238E27FC236}">
                <a16:creationId xmlns:a16="http://schemas.microsoft.com/office/drawing/2014/main" id="{DDB9D4B4-BA51-541B-F274-F9FF6C510B57}"/>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251860" y="3970418"/>
            <a:ext cx="731520" cy="731520"/>
          </a:xfrm>
          <a:prstGeom prst="rect">
            <a:avLst/>
          </a:prstGeom>
        </p:spPr>
      </p:pic>
      <p:pic>
        <p:nvPicPr>
          <p:cNvPr id="10" name="Picture 9" descr="A white outline of a shield and magnifying glass&#10;&#10;AI-generated content may be incorrect.">
            <a:extLst>
              <a:ext uri="{FF2B5EF4-FFF2-40B4-BE49-F238E27FC236}">
                <a16:creationId xmlns:a16="http://schemas.microsoft.com/office/drawing/2014/main" id="{3D88B40A-2794-70DE-F27F-6FBA706047DB}"/>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251860" y="3251730"/>
            <a:ext cx="731520" cy="731520"/>
          </a:xfrm>
          <a:prstGeom prst="rect">
            <a:avLst/>
          </a:prstGeom>
        </p:spPr>
      </p:pic>
      <p:pic>
        <p:nvPicPr>
          <p:cNvPr id="12" name="Picture 11" descr="A white line drawing of a checklist and a shield&#10;&#10;AI-generated content may be incorrect.">
            <a:extLst>
              <a:ext uri="{FF2B5EF4-FFF2-40B4-BE49-F238E27FC236}">
                <a16:creationId xmlns:a16="http://schemas.microsoft.com/office/drawing/2014/main" id="{5CEAEE07-F76E-7BD1-8EA6-FF5E72ABE769}"/>
              </a:ext>
            </a:extLst>
          </p:cNvPr>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251860" y="1814354"/>
            <a:ext cx="731520" cy="731520"/>
          </a:xfrm>
          <a:prstGeom prst="rect">
            <a:avLst/>
          </a:prstGeom>
        </p:spPr>
      </p:pic>
      <p:pic>
        <p:nvPicPr>
          <p:cNvPr id="17" name="Picture 16" descr="A white outline of a shield with a magnifying glass&#10;&#10;AI-generated content may be incorrect.">
            <a:extLst>
              <a:ext uri="{FF2B5EF4-FFF2-40B4-BE49-F238E27FC236}">
                <a16:creationId xmlns:a16="http://schemas.microsoft.com/office/drawing/2014/main" id="{86AE65BE-0E18-DE47-0841-2F29932186A2}"/>
              </a:ext>
            </a:extLst>
          </p:cNvPr>
          <p:cNvPicPr>
            <a:picLocks noChangeAspect="1"/>
          </p:cNvPicPr>
          <p:nvPr/>
        </p:nvPicPr>
        <p:blipFill>
          <a:blip r:embed="rId12" cstate="print">
            <a:extLst>
              <a:ext uri="{28A0092B-C50C-407E-A947-70E740481C1C}">
                <a14:useLocalDpi xmlns:a14="http://schemas.microsoft.com/office/drawing/2010/main"/>
              </a:ext>
            </a:extLst>
          </a:blip>
          <a:stretch>
            <a:fillRect/>
          </a:stretch>
        </p:blipFill>
        <p:spPr>
          <a:xfrm>
            <a:off x="251860" y="2533042"/>
            <a:ext cx="731520" cy="731520"/>
          </a:xfrm>
          <a:prstGeom prst="rect">
            <a:avLst/>
          </a:prstGeom>
        </p:spPr>
      </p:pic>
      <p:pic>
        <p:nvPicPr>
          <p:cNvPr id="18" name="Picture 17" descr="A white line drawing of a server and a shield&#10;&#10;AI-generated content may be incorrect.">
            <a:extLst>
              <a:ext uri="{FF2B5EF4-FFF2-40B4-BE49-F238E27FC236}">
                <a16:creationId xmlns:a16="http://schemas.microsoft.com/office/drawing/2014/main" id="{379651D4-E659-74A3-9A0B-4B50C7EB3D0E}"/>
              </a:ext>
            </a:extLst>
          </p:cNvPr>
          <p:cNvPicPr>
            <a:picLocks noChangeAspect="1"/>
          </p:cNvPicPr>
          <p:nvPr/>
        </p:nvPicPr>
        <p:blipFill>
          <a:blip r:embed="rId13" cstate="print">
            <a:extLst>
              <a:ext uri="{28A0092B-C50C-407E-A947-70E740481C1C}">
                <a14:useLocalDpi xmlns:a14="http://schemas.microsoft.com/office/drawing/2010/main"/>
              </a:ext>
            </a:extLst>
          </a:blip>
          <a:stretch>
            <a:fillRect/>
          </a:stretch>
        </p:blipFill>
        <p:spPr>
          <a:xfrm>
            <a:off x="251860" y="5407794"/>
            <a:ext cx="731520" cy="731520"/>
          </a:xfrm>
          <a:prstGeom prst="rect">
            <a:avLst/>
          </a:prstGeom>
        </p:spPr>
      </p:pic>
      <p:pic>
        <p:nvPicPr>
          <p:cNvPr id="19" name="Picture 18" descr="A white line drawing of a paper with a shield and a check mark&#10;&#10;AI-generated content may be incorrect.">
            <a:extLst>
              <a:ext uri="{FF2B5EF4-FFF2-40B4-BE49-F238E27FC236}">
                <a16:creationId xmlns:a16="http://schemas.microsoft.com/office/drawing/2014/main" id="{8381B901-6DBB-3292-97EC-FD1F85689F34}"/>
              </a:ext>
            </a:extLst>
          </p:cNvPr>
          <p:cNvPicPr>
            <a:picLocks noChangeAspect="1"/>
          </p:cNvPicPr>
          <p:nvPr/>
        </p:nvPicPr>
        <p:blipFill>
          <a:blip r:embed="rId14" cstate="print">
            <a:extLst>
              <a:ext uri="{28A0092B-C50C-407E-A947-70E740481C1C}">
                <a14:useLocalDpi xmlns:a14="http://schemas.microsoft.com/office/drawing/2010/main"/>
              </a:ext>
            </a:extLst>
          </a:blip>
          <a:stretch>
            <a:fillRect/>
          </a:stretch>
        </p:blipFill>
        <p:spPr>
          <a:xfrm>
            <a:off x="244865" y="6126480"/>
            <a:ext cx="731520" cy="731520"/>
          </a:xfrm>
          <a:prstGeom prst="rect">
            <a:avLst/>
          </a:prstGeom>
          <a:noFill/>
        </p:spPr>
      </p:pic>
      <p:sp>
        <p:nvSpPr>
          <p:cNvPr id="21" name="TextBox 20">
            <a:extLst>
              <a:ext uri="{FF2B5EF4-FFF2-40B4-BE49-F238E27FC236}">
                <a16:creationId xmlns:a16="http://schemas.microsoft.com/office/drawing/2014/main" id="{45B2605B-5F42-D2BA-34D5-C51785D38B13}"/>
              </a:ext>
            </a:extLst>
          </p:cNvPr>
          <p:cNvSpPr txBox="1"/>
          <p:nvPr/>
        </p:nvSpPr>
        <p:spPr>
          <a:xfrm>
            <a:off x="972206" y="1852737"/>
            <a:ext cx="1270890" cy="646331"/>
          </a:xfrm>
          <a:prstGeom prst="rect">
            <a:avLst/>
          </a:prstGeom>
          <a:noFill/>
        </p:spPr>
        <p:txBody>
          <a:bodyPr wrap="square">
            <a:sp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Security requirements </a:t>
            </a:r>
            <a:r>
              <a:rPr lang="en-US" sz="1200" dirty="0">
                <a:solidFill>
                  <a:srgbClr val="FFFFFF"/>
                </a:solidFill>
                <a:latin typeface="Roboto Condensed Light"/>
              </a:rPr>
              <a:t>d</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efinition</a:t>
            </a:r>
          </a:p>
        </p:txBody>
      </p:sp>
      <p:sp>
        <p:nvSpPr>
          <p:cNvPr id="26" name="TextBox 25">
            <a:extLst>
              <a:ext uri="{FF2B5EF4-FFF2-40B4-BE49-F238E27FC236}">
                <a16:creationId xmlns:a16="http://schemas.microsoft.com/office/drawing/2014/main" id="{E35B35A1-7D2F-C705-AD5F-8C23D5C1E3C5}"/>
              </a:ext>
            </a:extLst>
          </p:cNvPr>
          <p:cNvSpPr txBox="1"/>
          <p:nvPr/>
        </p:nvSpPr>
        <p:spPr>
          <a:xfrm>
            <a:off x="972206" y="3193821"/>
            <a:ext cx="1270890" cy="646331"/>
          </a:xfrm>
          <a:prstGeom prst="rect">
            <a:avLst/>
          </a:prstGeom>
          <a:noFill/>
        </p:spPr>
        <p:txBody>
          <a:bodyPr wrap="square">
            <a:sp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Secure architecture </a:t>
            </a:r>
            <a:r>
              <a:rPr lang="en-US" sz="1200" dirty="0">
                <a:solidFill>
                  <a:srgbClr val="FFFFFF"/>
                </a:solidFill>
                <a:latin typeface="Roboto Condensed Light"/>
              </a:rPr>
              <a:t>d</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esign</a:t>
            </a:r>
          </a:p>
        </p:txBody>
      </p:sp>
      <p:sp>
        <p:nvSpPr>
          <p:cNvPr id="30" name="TextBox 29">
            <a:extLst>
              <a:ext uri="{FF2B5EF4-FFF2-40B4-BE49-F238E27FC236}">
                <a16:creationId xmlns:a16="http://schemas.microsoft.com/office/drawing/2014/main" id="{CF9E76A9-5DD3-5831-C392-5BEE27963FD7}"/>
              </a:ext>
            </a:extLst>
          </p:cNvPr>
          <p:cNvSpPr txBox="1"/>
          <p:nvPr/>
        </p:nvSpPr>
        <p:spPr>
          <a:xfrm>
            <a:off x="972206" y="4032554"/>
            <a:ext cx="1270890" cy="461665"/>
          </a:xfrm>
          <a:prstGeom prst="rect">
            <a:avLst/>
          </a:prstGeom>
          <a:noFill/>
        </p:spPr>
        <p:txBody>
          <a:bodyPr wrap="square">
            <a:sp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Zero trust architecture</a:t>
            </a:r>
          </a:p>
        </p:txBody>
      </p:sp>
      <p:sp>
        <p:nvSpPr>
          <p:cNvPr id="31" name="TextBox 30">
            <a:extLst>
              <a:ext uri="{FF2B5EF4-FFF2-40B4-BE49-F238E27FC236}">
                <a16:creationId xmlns:a16="http://schemas.microsoft.com/office/drawing/2014/main" id="{283ED785-AC8C-5216-55F1-ACD5625A9B14}"/>
              </a:ext>
            </a:extLst>
          </p:cNvPr>
          <p:cNvSpPr txBox="1"/>
          <p:nvPr/>
        </p:nvSpPr>
        <p:spPr>
          <a:xfrm>
            <a:off x="983380" y="4748165"/>
            <a:ext cx="1270890" cy="461665"/>
          </a:xfrm>
          <a:prstGeom prst="rect">
            <a:avLst/>
          </a:prstGeom>
          <a:noFill/>
        </p:spPr>
        <p:txBody>
          <a:bodyPr wrap="square">
            <a:sp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Secure AI/ML </a:t>
            </a:r>
            <a:b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b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design</a:t>
            </a:r>
          </a:p>
        </p:txBody>
      </p:sp>
      <p:sp>
        <p:nvSpPr>
          <p:cNvPr id="35" name="TextBox 34">
            <a:extLst>
              <a:ext uri="{FF2B5EF4-FFF2-40B4-BE49-F238E27FC236}">
                <a16:creationId xmlns:a16="http://schemas.microsoft.com/office/drawing/2014/main" id="{D447DECE-82A3-7B52-3D4E-CEE970EC2564}"/>
              </a:ext>
            </a:extLst>
          </p:cNvPr>
          <p:cNvSpPr txBox="1"/>
          <p:nvPr/>
        </p:nvSpPr>
        <p:spPr>
          <a:xfrm>
            <a:off x="972206" y="5407792"/>
            <a:ext cx="1270890" cy="646331"/>
          </a:xfrm>
          <a:prstGeom prst="rect">
            <a:avLst/>
          </a:prstGeom>
          <a:noFill/>
        </p:spPr>
        <p:txBody>
          <a:bodyPr wrap="square">
            <a:sp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AI/ML </a:t>
            </a:r>
            <a:r>
              <a:rPr lang="en-US" sz="1200" dirty="0">
                <a:solidFill>
                  <a:srgbClr val="FFFFFF"/>
                </a:solidFill>
                <a:latin typeface="Roboto Condensed Light"/>
              </a:rPr>
              <a:t>t</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raining </a:t>
            </a:r>
            <a:r>
              <a:rPr lang="en-US" sz="1200" dirty="0">
                <a:solidFill>
                  <a:srgbClr val="FFFFFF"/>
                </a:solidFill>
                <a:latin typeface="Roboto Condensed Light"/>
              </a:rPr>
              <a:t>d</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ata collection </a:t>
            </a:r>
            <a:r>
              <a:rPr lang="en-US" sz="1200" dirty="0">
                <a:solidFill>
                  <a:srgbClr val="FFFFFF"/>
                </a:solidFill>
                <a:latin typeface="Roboto Condensed Light"/>
              </a:rPr>
              <a:t>s</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ecurity</a:t>
            </a:r>
          </a:p>
        </p:txBody>
      </p:sp>
      <p:sp>
        <p:nvSpPr>
          <p:cNvPr id="39" name="TextBox 38">
            <a:extLst>
              <a:ext uri="{FF2B5EF4-FFF2-40B4-BE49-F238E27FC236}">
                <a16:creationId xmlns:a16="http://schemas.microsoft.com/office/drawing/2014/main" id="{C92A8625-175E-758D-64FA-5D8BBD1D0A43}"/>
              </a:ext>
            </a:extLst>
          </p:cNvPr>
          <p:cNvSpPr txBox="1"/>
          <p:nvPr/>
        </p:nvSpPr>
        <p:spPr>
          <a:xfrm>
            <a:off x="972206" y="6113666"/>
            <a:ext cx="1270890" cy="646331"/>
          </a:xfrm>
          <a:prstGeom prst="rect">
            <a:avLst/>
          </a:prstGeom>
          <a:noFill/>
        </p:spPr>
        <p:txBody>
          <a:bodyPr wrap="square">
            <a:sp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Secure design </a:t>
            </a:r>
            <a:r>
              <a:rPr lang="en-US" sz="1200" dirty="0">
                <a:solidFill>
                  <a:srgbClr val="FFFFFF"/>
                </a:solidFill>
                <a:latin typeface="Roboto Condensed Light"/>
              </a:rPr>
              <a:t>r</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eview </a:t>
            </a:r>
            <a:r>
              <a:rPr lang="en-US" sz="1200" dirty="0">
                <a:solidFill>
                  <a:srgbClr val="FFFFFF"/>
                </a:solidFill>
                <a:latin typeface="Roboto Condensed Light"/>
              </a:rPr>
              <a:t>and</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 </a:t>
            </a:r>
            <a:r>
              <a:rPr lang="en-US" sz="1200" dirty="0">
                <a:solidFill>
                  <a:srgbClr val="FFFFFF"/>
                </a:solidFill>
                <a:latin typeface="Roboto Condensed Light"/>
              </a:rPr>
              <a:t>a</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ssurance</a:t>
            </a:r>
          </a:p>
        </p:txBody>
      </p:sp>
      <p:sp>
        <p:nvSpPr>
          <p:cNvPr id="50" name="TextBox 49">
            <a:extLst>
              <a:ext uri="{FF2B5EF4-FFF2-40B4-BE49-F238E27FC236}">
                <a16:creationId xmlns:a16="http://schemas.microsoft.com/office/drawing/2014/main" id="{0B8E26D3-DFB8-860E-F00D-C7F7A94C02F4}"/>
              </a:ext>
            </a:extLst>
          </p:cNvPr>
          <p:cNvSpPr txBox="1"/>
          <p:nvPr/>
        </p:nvSpPr>
        <p:spPr>
          <a:xfrm>
            <a:off x="972206" y="2690346"/>
            <a:ext cx="1270890" cy="276999"/>
          </a:xfrm>
          <a:prstGeom prst="rect">
            <a:avLst/>
          </a:prstGeom>
          <a:noFill/>
        </p:spPr>
        <p:txBody>
          <a:bodyPr wrap="square">
            <a:sp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Threat modeling</a:t>
            </a:r>
          </a:p>
        </p:txBody>
      </p:sp>
      <p:pic>
        <p:nvPicPr>
          <p:cNvPr id="68" name="Picture 67">
            <a:extLst>
              <a:ext uri="{FF2B5EF4-FFF2-40B4-BE49-F238E27FC236}">
                <a16:creationId xmlns:a16="http://schemas.microsoft.com/office/drawing/2014/main" id="{B7C81C08-7BA1-313A-4DDE-BCE996F97717}"/>
              </a:ext>
            </a:extLst>
          </p:cNvPr>
          <p:cNvPicPr>
            <a:picLocks noChangeAspect="1"/>
          </p:cNvPicPr>
          <p:nvPr/>
        </p:nvPicPr>
        <p:blipFill>
          <a:blip r:embed="rId15" cstate="print">
            <a:extLst>
              <a:ext uri="{28A0092B-C50C-407E-A947-70E740481C1C}">
                <a14:useLocalDpi xmlns:a14="http://schemas.microsoft.com/office/drawing/2010/main"/>
              </a:ext>
            </a:extLst>
          </a:blip>
          <a:stretch>
            <a:fillRect/>
          </a:stretch>
        </p:blipFill>
        <p:spPr>
          <a:xfrm>
            <a:off x="2509289" y="1778386"/>
            <a:ext cx="640080" cy="640080"/>
          </a:xfrm>
          <a:prstGeom prst="rect">
            <a:avLst/>
          </a:prstGeom>
        </p:spPr>
      </p:pic>
      <p:pic>
        <p:nvPicPr>
          <p:cNvPr id="69" name="Picture 68">
            <a:extLst>
              <a:ext uri="{FF2B5EF4-FFF2-40B4-BE49-F238E27FC236}">
                <a16:creationId xmlns:a16="http://schemas.microsoft.com/office/drawing/2014/main" id="{8EF52732-E353-E0AE-6A64-8C4E8AAD3B41}"/>
              </a:ext>
            </a:extLst>
          </p:cNvPr>
          <p:cNvPicPr>
            <a:picLocks noChangeAspect="1"/>
          </p:cNvPicPr>
          <p:nvPr/>
        </p:nvPicPr>
        <p:blipFill>
          <a:blip r:embed="rId16" cstate="print">
            <a:extLst>
              <a:ext uri="{28A0092B-C50C-407E-A947-70E740481C1C}">
                <a14:useLocalDpi xmlns:a14="http://schemas.microsoft.com/office/drawing/2010/main"/>
              </a:ext>
            </a:extLst>
          </a:blip>
          <a:stretch>
            <a:fillRect/>
          </a:stretch>
        </p:blipFill>
        <p:spPr>
          <a:xfrm>
            <a:off x="2509289" y="3264562"/>
            <a:ext cx="640080" cy="640080"/>
          </a:xfrm>
          <a:prstGeom prst="rect">
            <a:avLst/>
          </a:prstGeom>
        </p:spPr>
      </p:pic>
      <p:pic>
        <p:nvPicPr>
          <p:cNvPr id="71" name="Picture 70">
            <a:extLst>
              <a:ext uri="{FF2B5EF4-FFF2-40B4-BE49-F238E27FC236}">
                <a16:creationId xmlns:a16="http://schemas.microsoft.com/office/drawing/2014/main" id="{20B9B105-D83A-B717-367B-EAAD0A26DCD9}"/>
              </a:ext>
            </a:extLst>
          </p:cNvPr>
          <p:cNvPicPr>
            <a:picLocks noChangeAspect="1"/>
          </p:cNvPicPr>
          <p:nvPr/>
        </p:nvPicPr>
        <p:blipFill>
          <a:blip r:embed="rId17" cstate="print">
            <a:extLst>
              <a:ext uri="{28A0092B-C50C-407E-A947-70E740481C1C}">
                <a14:useLocalDpi xmlns:a14="http://schemas.microsoft.com/office/drawing/2010/main"/>
              </a:ext>
            </a:extLst>
          </a:blip>
          <a:stretch>
            <a:fillRect/>
          </a:stretch>
        </p:blipFill>
        <p:spPr>
          <a:xfrm>
            <a:off x="2509289" y="4670527"/>
            <a:ext cx="640080" cy="640080"/>
          </a:xfrm>
          <a:prstGeom prst="rect">
            <a:avLst/>
          </a:prstGeom>
        </p:spPr>
      </p:pic>
      <p:pic>
        <p:nvPicPr>
          <p:cNvPr id="72" name="Picture 71">
            <a:extLst>
              <a:ext uri="{FF2B5EF4-FFF2-40B4-BE49-F238E27FC236}">
                <a16:creationId xmlns:a16="http://schemas.microsoft.com/office/drawing/2014/main" id="{B4CC2C5B-47F7-2C63-FE57-9B0B48304EF6}"/>
              </a:ext>
            </a:extLst>
          </p:cNvPr>
          <p:cNvPicPr>
            <a:picLocks noChangeAspect="1"/>
          </p:cNvPicPr>
          <p:nvPr/>
        </p:nvPicPr>
        <p:blipFill>
          <a:blip r:embed="rId18" cstate="print">
            <a:extLst>
              <a:ext uri="{28A0092B-C50C-407E-A947-70E740481C1C}">
                <a14:useLocalDpi xmlns:a14="http://schemas.microsoft.com/office/drawing/2010/main"/>
              </a:ext>
            </a:extLst>
          </a:blip>
          <a:stretch>
            <a:fillRect/>
          </a:stretch>
        </p:blipFill>
        <p:spPr>
          <a:xfrm>
            <a:off x="2509289" y="2521474"/>
            <a:ext cx="640080" cy="640080"/>
          </a:xfrm>
          <a:prstGeom prst="rect">
            <a:avLst/>
          </a:prstGeom>
        </p:spPr>
      </p:pic>
      <p:pic>
        <p:nvPicPr>
          <p:cNvPr id="73" name="Picture 72" descr="A white line drawing of a gear and a box&#10;&#10;AI-generated content may be incorrect.">
            <a:extLst>
              <a:ext uri="{FF2B5EF4-FFF2-40B4-BE49-F238E27FC236}">
                <a16:creationId xmlns:a16="http://schemas.microsoft.com/office/drawing/2014/main" id="{590FECAC-1AE2-14C6-4A31-812493B61B6A}"/>
              </a:ext>
            </a:extLst>
          </p:cNvPr>
          <p:cNvPicPr>
            <a:picLocks noChangeAspect="1"/>
          </p:cNvPicPr>
          <p:nvPr/>
        </p:nvPicPr>
        <p:blipFill>
          <a:blip r:embed="rId19" cstate="print">
            <a:extLst>
              <a:ext uri="{28A0092B-C50C-407E-A947-70E740481C1C}">
                <a14:useLocalDpi xmlns:a14="http://schemas.microsoft.com/office/drawing/2010/main"/>
              </a:ext>
            </a:extLst>
          </a:blip>
          <a:stretch>
            <a:fillRect/>
          </a:stretch>
        </p:blipFill>
        <p:spPr>
          <a:xfrm>
            <a:off x="2417849" y="3889181"/>
            <a:ext cx="822960" cy="822960"/>
          </a:xfrm>
          <a:prstGeom prst="rect">
            <a:avLst/>
          </a:prstGeom>
        </p:spPr>
      </p:pic>
      <p:pic>
        <p:nvPicPr>
          <p:cNvPr id="74" name="Picture 73">
            <a:extLst>
              <a:ext uri="{FF2B5EF4-FFF2-40B4-BE49-F238E27FC236}">
                <a16:creationId xmlns:a16="http://schemas.microsoft.com/office/drawing/2014/main" id="{391E804B-C948-7081-A14F-7C534395A8C7}"/>
              </a:ext>
            </a:extLst>
          </p:cNvPr>
          <p:cNvPicPr>
            <a:picLocks noChangeAspect="1"/>
          </p:cNvPicPr>
          <p:nvPr/>
        </p:nvPicPr>
        <p:blipFill>
          <a:blip r:embed="rId20" cstate="print">
            <a:extLst>
              <a:ext uri="{28A0092B-C50C-407E-A947-70E740481C1C}">
                <a14:useLocalDpi xmlns:a14="http://schemas.microsoft.com/office/drawing/2010/main"/>
              </a:ext>
            </a:extLst>
          </a:blip>
          <a:stretch>
            <a:fillRect/>
          </a:stretch>
        </p:blipFill>
        <p:spPr>
          <a:xfrm>
            <a:off x="2509289" y="5473586"/>
            <a:ext cx="640080" cy="640080"/>
          </a:xfrm>
          <a:prstGeom prst="rect">
            <a:avLst/>
          </a:prstGeom>
        </p:spPr>
      </p:pic>
      <p:sp>
        <p:nvSpPr>
          <p:cNvPr id="75" name="TextBox 74">
            <a:extLst>
              <a:ext uri="{FF2B5EF4-FFF2-40B4-BE49-F238E27FC236}">
                <a16:creationId xmlns:a16="http://schemas.microsoft.com/office/drawing/2014/main" id="{AA574524-97E7-9E32-6B47-48BFEC247708}"/>
              </a:ext>
            </a:extLst>
          </p:cNvPr>
          <p:cNvSpPr txBox="1"/>
          <p:nvPr/>
        </p:nvSpPr>
        <p:spPr>
          <a:xfrm>
            <a:off x="3351027" y="1809557"/>
            <a:ext cx="1270890" cy="646331"/>
          </a:xfrm>
          <a:prstGeom prst="rect">
            <a:avLst/>
          </a:prstGeom>
          <a:noFill/>
        </p:spPr>
        <p:txBody>
          <a:bodyPr wrap="square">
            <a:sp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Secure coding </a:t>
            </a:r>
            <a:r>
              <a:rPr lang="en-US" sz="1200" dirty="0">
                <a:solidFill>
                  <a:srgbClr val="FFFFFF"/>
                </a:solidFill>
                <a:latin typeface="Roboto Condensed Light"/>
              </a:rPr>
              <a:t>p</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ractices and </a:t>
            </a:r>
            <a:r>
              <a:rPr lang="en-US" sz="1200" dirty="0">
                <a:solidFill>
                  <a:srgbClr val="FFFFFF"/>
                </a:solidFill>
                <a:latin typeface="Roboto Condensed Light"/>
              </a:rPr>
              <a:t>t</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raining</a:t>
            </a:r>
          </a:p>
        </p:txBody>
      </p:sp>
      <p:sp>
        <p:nvSpPr>
          <p:cNvPr id="76" name="TextBox 75">
            <a:extLst>
              <a:ext uri="{FF2B5EF4-FFF2-40B4-BE49-F238E27FC236}">
                <a16:creationId xmlns:a16="http://schemas.microsoft.com/office/drawing/2014/main" id="{368652CD-99C5-33D8-0E15-D0C105A0FA98}"/>
              </a:ext>
            </a:extLst>
          </p:cNvPr>
          <p:cNvSpPr txBox="1"/>
          <p:nvPr/>
        </p:nvSpPr>
        <p:spPr>
          <a:xfrm>
            <a:off x="3378452" y="3258577"/>
            <a:ext cx="1270890" cy="461665"/>
          </a:xfrm>
          <a:prstGeom prst="rect">
            <a:avLst/>
          </a:prstGeom>
          <a:noFill/>
        </p:spPr>
        <p:txBody>
          <a:bodyPr wrap="square">
            <a:sp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Software supply</a:t>
            </a:r>
            <a:r>
              <a:rPr lang="en-US" sz="1200" dirty="0">
                <a:solidFill>
                  <a:srgbClr val="FFFFFF"/>
                </a:solidFill>
                <a:latin typeface="Roboto Condensed Light"/>
              </a:rPr>
              <a:t> c</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hain </a:t>
            </a:r>
            <a:r>
              <a:rPr lang="en-US" sz="1200" dirty="0">
                <a:solidFill>
                  <a:srgbClr val="FFFFFF"/>
                </a:solidFill>
                <a:latin typeface="Roboto Condensed Light"/>
              </a:rPr>
              <a:t>s</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ecurity</a:t>
            </a:r>
          </a:p>
        </p:txBody>
      </p:sp>
      <p:sp>
        <p:nvSpPr>
          <p:cNvPr id="77" name="TextBox 76">
            <a:extLst>
              <a:ext uri="{FF2B5EF4-FFF2-40B4-BE49-F238E27FC236}">
                <a16:creationId xmlns:a16="http://schemas.microsoft.com/office/drawing/2014/main" id="{D787F2FE-E3E3-C4AE-A53E-2E63B03026F6}"/>
              </a:ext>
            </a:extLst>
          </p:cNvPr>
          <p:cNvSpPr txBox="1"/>
          <p:nvPr/>
        </p:nvSpPr>
        <p:spPr>
          <a:xfrm>
            <a:off x="3351027" y="4075024"/>
            <a:ext cx="1270890" cy="461665"/>
          </a:xfrm>
          <a:prstGeom prst="rect">
            <a:avLst/>
          </a:prstGeom>
          <a:noFill/>
        </p:spPr>
        <p:txBody>
          <a:bodyPr wrap="square">
            <a:sp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Secure build </a:t>
            </a:r>
            <a:r>
              <a:rPr lang="en-US" sz="1200" dirty="0">
                <a:solidFill>
                  <a:srgbClr val="FFFFFF"/>
                </a:solidFill>
                <a:latin typeface="Roboto Condensed Light"/>
              </a:rPr>
              <a:t>and</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 CI/CD pipeline</a:t>
            </a:r>
          </a:p>
        </p:txBody>
      </p:sp>
      <p:sp>
        <p:nvSpPr>
          <p:cNvPr id="78" name="TextBox 77">
            <a:extLst>
              <a:ext uri="{FF2B5EF4-FFF2-40B4-BE49-F238E27FC236}">
                <a16:creationId xmlns:a16="http://schemas.microsoft.com/office/drawing/2014/main" id="{172532D1-F724-92CC-D159-D6C13322C0DE}"/>
              </a:ext>
            </a:extLst>
          </p:cNvPr>
          <p:cNvSpPr txBox="1"/>
          <p:nvPr/>
        </p:nvSpPr>
        <p:spPr>
          <a:xfrm>
            <a:off x="3362201" y="4589629"/>
            <a:ext cx="1270890" cy="830997"/>
          </a:xfrm>
          <a:prstGeom prst="rect">
            <a:avLst/>
          </a:prstGeom>
          <a:noFill/>
        </p:spPr>
        <p:txBody>
          <a:bodyPr wrap="square">
            <a:sp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Secure version </a:t>
            </a:r>
            <a:r>
              <a:rPr lang="en-US" sz="1200" dirty="0">
                <a:solidFill>
                  <a:srgbClr val="FFFFFF"/>
                </a:solidFill>
                <a:latin typeface="Roboto Condensed Light"/>
              </a:rPr>
              <a:t>c</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ontrol and </a:t>
            </a:r>
            <a:r>
              <a:rPr lang="en-US" sz="1200" dirty="0">
                <a:solidFill>
                  <a:srgbClr val="FFFFFF"/>
                </a:solidFill>
                <a:latin typeface="Roboto Condensed Light"/>
              </a:rPr>
              <a:t>r</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epository </a:t>
            </a:r>
            <a:r>
              <a:rPr lang="en-US" sz="1200" dirty="0">
                <a:solidFill>
                  <a:srgbClr val="FFFFFF"/>
                </a:solidFill>
                <a:latin typeface="Roboto Condensed Light"/>
              </a:rPr>
              <a:t>m</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anagement</a:t>
            </a:r>
          </a:p>
        </p:txBody>
      </p:sp>
      <p:sp>
        <p:nvSpPr>
          <p:cNvPr id="79" name="TextBox 78">
            <a:extLst>
              <a:ext uri="{FF2B5EF4-FFF2-40B4-BE49-F238E27FC236}">
                <a16:creationId xmlns:a16="http://schemas.microsoft.com/office/drawing/2014/main" id="{E69791B2-BBDE-969D-1A1F-A55E80B13B22}"/>
              </a:ext>
            </a:extLst>
          </p:cNvPr>
          <p:cNvSpPr txBox="1"/>
          <p:nvPr/>
        </p:nvSpPr>
        <p:spPr>
          <a:xfrm>
            <a:off x="3351027" y="5447575"/>
            <a:ext cx="1270890" cy="646331"/>
          </a:xfrm>
          <a:prstGeom prst="rect">
            <a:avLst/>
          </a:prstGeom>
          <a:noFill/>
        </p:spPr>
        <p:txBody>
          <a:bodyPr wrap="square">
            <a:sp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Secrets management in development</a:t>
            </a:r>
          </a:p>
        </p:txBody>
      </p:sp>
      <p:sp>
        <p:nvSpPr>
          <p:cNvPr id="80" name="TextBox 79">
            <a:extLst>
              <a:ext uri="{FF2B5EF4-FFF2-40B4-BE49-F238E27FC236}">
                <a16:creationId xmlns:a16="http://schemas.microsoft.com/office/drawing/2014/main" id="{89124E7A-2A07-9593-C0FC-ED5A4099FBC2}"/>
              </a:ext>
            </a:extLst>
          </p:cNvPr>
          <p:cNvSpPr txBox="1"/>
          <p:nvPr/>
        </p:nvSpPr>
        <p:spPr>
          <a:xfrm>
            <a:off x="3351027" y="2549915"/>
            <a:ext cx="1270890" cy="646331"/>
          </a:xfrm>
          <a:prstGeom prst="rect">
            <a:avLst/>
          </a:prstGeom>
          <a:noFill/>
        </p:spPr>
        <p:txBody>
          <a:bodyPr wrap="square">
            <a:sp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Secure code </a:t>
            </a:r>
            <a:r>
              <a:rPr lang="en-US" sz="1200" dirty="0">
                <a:solidFill>
                  <a:srgbClr val="FFFFFF"/>
                </a:solidFill>
                <a:latin typeface="Roboto Condensed Light"/>
              </a:rPr>
              <a:t>r</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eview </a:t>
            </a:r>
            <a:r>
              <a:rPr lang="en-US" sz="1200" dirty="0">
                <a:solidFill>
                  <a:srgbClr val="FFFFFF"/>
                </a:solidFill>
                <a:latin typeface="Roboto Condensed Light"/>
              </a:rPr>
              <a:t>and s</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tatic </a:t>
            </a:r>
            <a:r>
              <a:rPr lang="en-US" sz="1200" dirty="0">
                <a:solidFill>
                  <a:srgbClr val="FFFFFF"/>
                </a:solidFill>
                <a:latin typeface="Roboto Condensed Light"/>
              </a:rPr>
              <a:t>a</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nalysis</a:t>
            </a:r>
          </a:p>
        </p:txBody>
      </p:sp>
      <p:pic>
        <p:nvPicPr>
          <p:cNvPr id="81" name="Picture 80" descr="A white line drawing of a lock and network&#10;&#10;AI-generated content may be incorrect.">
            <a:extLst>
              <a:ext uri="{FF2B5EF4-FFF2-40B4-BE49-F238E27FC236}">
                <a16:creationId xmlns:a16="http://schemas.microsoft.com/office/drawing/2014/main" id="{E112EA99-8AC6-7B22-3A78-CFDC556D2CDD}"/>
              </a:ext>
            </a:extLst>
          </p:cNvPr>
          <p:cNvPicPr>
            <a:picLocks noChangeAspect="1"/>
          </p:cNvPicPr>
          <p:nvPr/>
        </p:nvPicPr>
        <p:blipFill>
          <a:blip r:embed="rId21" cstate="print">
            <a:extLst>
              <a:ext uri="{28A0092B-C50C-407E-A947-70E740481C1C}">
                <a14:useLocalDpi xmlns:a14="http://schemas.microsoft.com/office/drawing/2010/main"/>
              </a:ext>
            </a:extLst>
          </a:blip>
          <a:stretch>
            <a:fillRect/>
          </a:stretch>
        </p:blipFill>
        <p:spPr>
          <a:xfrm>
            <a:off x="4883688" y="3274333"/>
            <a:ext cx="731520" cy="731520"/>
          </a:xfrm>
          <a:prstGeom prst="rect">
            <a:avLst/>
          </a:prstGeom>
        </p:spPr>
      </p:pic>
      <p:pic>
        <p:nvPicPr>
          <p:cNvPr id="82" name="Picture 81">
            <a:extLst>
              <a:ext uri="{FF2B5EF4-FFF2-40B4-BE49-F238E27FC236}">
                <a16:creationId xmlns:a16="http://schemas.microsoft.com/office/drawing/2014/main" id="{177E8D98-CBA2-A008-C910-529C45C1C5C5}"/>
              </a:ext>
            </a:extLst>
          </p:cNvPr>
          <p:cNvPicPr>
            <a:picLocks noChangeAspect="1"/>
          </p:cNvPicPr>
          <p:nvPr/>
        </p:nvPicPr>
        <p:blipFill>
          <a:blip r:embed="rId22" cstate="print">
            <a:extLst>
              <a:ext uri="{28A0092B-C50C-407E-A947-70E740481C1C}">
                <a14:useLocalDpi xmlns:a14="http://schemas.microsoft.com/office/drawing/2010/main"/>
              </a:ext>
            </a:extLst>
          </a:blip>
          <a:stretch>
            <a:fillRect/>
          </a:stretch>
        </p:blipFill>
        <p:spPr>
          <a:xfrm>
            <a:off x="4896962" y="4012507"/>
            <a:ext cx="640080" cy="640080"/>
          </a:xfrm>
          <a:prstGeom prst="rect">
            <a:avLst/>
          </a:prstGeom>
        </p:spPr>
      </p:pic>
      <p:pic>
        <p:nvPicPr>
          <p:cNvPr id="83" name="Picture 82">
            <a:extLst>
              <a:ext uri="{FF2B5EF4-FFF2-40B4-BE49-F238E27FC236}">
                <a16:creationId xmlns:a16="http://schemas.microsoft.com/office/drawing/2014/main" id="{60EEAF54-CD3A-4AAE-3267-6EA37591724D}"/>
              </a:ext>
            </a:extLst>
          </p:cNvPr>
          <p:cNvPicPr>
            <a:picLocks noChangeAspect="1"/>
          </p:cNvPicPr>
          <p:nvPr/>
        </p:nvPicPr>
        <p:blipFill>
          <a:blip r:embed="rId23" cstate="print">
            <a:extLst>
              <a:ext uri="{28A0092B-C50C-407E-A947-70E740481C1C}">
                <a14:useLocalDpi xmlns:a14="http://schemas.microsoft.com/office/drawing/2010/main"/>
              </a:ext>
            </a:extLst>
          </a:blip>
          <a:stretch>
            <a:fillRect/>
          </a:stretch>
        </p:blipFill>
        <p:spPr>
          <a:xfrm>
            <a:off x="4933830" y="1876785"/>
            <a:ext cx="640080" cy="640080"/>
          </a:xfrm>
          <a:prstGeom prst="rect">
            <a:avLst/>
          </a:prstGeom>
        </p:spPr>
      </p:pic>
      <p:pic>
        <p:nvPicPr>
          <p:cNvPr id="84" name="Picture 83">
            <a:extLst>
              <a:ext uri="{FF2B5EF4-FFF2-40B4-BE49-F238E27FC236}">
                <a16:creationId xmlns:a16="http://schemas.microsoft.com/office/drawing/2014/main" id="{15EA954B-D762-754A-2CB6-EDB5672FB9ED}"/>
              </a:ext>
            </a:extLst>
          </p:cNvPr>
          <p:cNvPicPr>
            <a:picLocks noChangeAspect="1"/>
          </p:cNvPicPr>
          <p:nvPr/>
        </p:nvPicPr>
        <p:blipFill>
          <a:blip r:embed="rId24" cstate="print">
            <a:extLst>
              <a:ext uri="{28A0092B-C50C-407E-A947-70E740481C1C}">
                <a14:useLocalDpi xmlns:a14="http://schemas.microsoft.com/office/drawing/2010/main"/>
              </a:ext>
            </a:extLst>
          </a:blip>
          <a:stretch>
            <a:fillRect/>
          </a:stretch>
        </p:blipFill>
        <p:spPr>
          <a:xfrm>
            <a:off x="4896962" y="4712141"/>
            <a:ext cx="640080" cy="640080"/>
          </a:xfrm>
          <a:prstGeom prst="rect">
            <a:avLst/>
          </a:prstGeom>
        </p:spPr>
      </p:pic>
      <p:pic>
        <p:nvPicPr>
          <p:cNvPr id="85" name="Picture 84">
            <a:extLst>
              <a:ext uri="{FF2B5EF4-FFF2-40B4-BE49-F238E27FC236}">
                <a16:creationId xmlns:a16="http://schemas.microsoft.com/office/drawing/2014/main" id="{F01D396D-F3FA-55D4-0110-EB2CDC553358}"/>
              </a:ext>
            </a:extLst>
          </p:cNvPr>
          <p:cNvPicPr>
            <a:picLocks noChangeAspect="1"/>
          </p:cNvPicPr>
          <p:nvPr/>
        </p:nvPicPr>
        <p:blipFill>
          <a:blip r:embed="rId25" cstate="print">
            <a:extLst>
              <a:ext uri="{28A0092B-C50C-407E-A947-70E740481C1C}">
                <a14:useLocalDpi xmlns:a14="http://schemas.microsoft.com/office/drawing/2010/main"/>
              </a:ext>
            </a:extLst>
          </a:blip>
          <a:stretch>
            <a:fillRect/>
          </a:stretch>
        </p:blipFill>
        <p:spPr>
          <a:xfrm>
            <a:off x="4933830" y="2647305"/>
            <a:ext cx="640080" cy="640080"/>
          </a:xfrm>
          <a:prstGeom prst="rect">
            <a:avLst/>
          </a:prstGeom>
        </p:spPr>
      </p:pic>
      <p:sp>
        <p:nvSpPr>
          <p:cNvPr id="86" name="TextBox 85">
            <a:extLst>
              <a:ext uri="{FF2B5EF4-FFF2-40B4-BE49-F238E27FC236}">
                <a16:creationId xmlns:a16="http://schemas.microsoft.com/office/drawing/2014/main" id="{2909DDCA-F295-F73B-D862-52202E9653D5}"/>
              </a:ext>
            </a:extLst>
          </p:cNvPr>
          <p:cNvSpPr txBox="1"/>
          <p:nvPr/>
        </p:nvSpPr>
        <p:spPr>
          <a:xfrm>
            <a:off x="5752495" y="1904943"/>
            <a:ext cx="1270890" cy="461665"/>
          </a:xfrm>
          <a:prstGeom prst="rect">
            <a:avLst/>
          </a:prstGeom>
          <a:noFill/>
        </p:spPr>
        <p:txBody>
          <a:bodyPr wrap="square">
            <a:sp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Automated security </a:t>
            </a:r>
            <a:r>
              <a:rPr lang="en-US" sz="1200" dirty="0">
                <a:solidFill>
                  <a:srgbClr val="FFFFFF"/>
                </a:solidFill>
                <a:latin typeface="Roboto Condensed Light"/>
              </a:rPr>
              <a:t>t</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esting</a:t>
            </a:r>
          </a:p>
        </p:txBody>
      </p:sp>
      <p:sp>
        <p:nvSpPr>
          <p:cNvPr id="87" name="TextBox 86">
            <a:extLst>
              <a:ext uri="{FF2B5EF4-FFF2-40B4-BE49-F238E27FC236}">
                <a16:creationId xmlns:a16="http://schemas.microsoft.com/office/drawing/2014/main" id="{132E7596-1E7A-D193-DE61-B8B264AD5C04}"/>
              </a:ext>
            </a:extLst>
          </p:cNvPr>
          <p:cNvSpPr txBox="1"/>
          <p:nvPr/>
        </p:nvSpPr>
        <p:spPr>
          <a:xfrm>
            <a:off x="5752495" y="3326475"/>
            <a:ext cx="1270890" cy="461665"/>
          </a:xfrm>
          <a:prstGeom prst="rect">
            <a:avLst/>
          </a:prstGeom>
          <a:noFill/>
        </p:spPr>
        <p:txBody>
          <a:bodyPr wrap="square">
            <a:sp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Fuzz </a:t>
            </a:r>
            <a:r>
              <a:rPr lang="en-US" sz="1200" dirty="0">
                <a:solidFill>
                  <a:srgbClr val="FFFFFF"/>
                </a:solidFill>
                <a:latin typeface="Roboto Condensed Light"/>
              </a:rPr>
              <a:t>and c</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haos Testing</a:t>
            </a:r>
          </a:p>
        </p:txBody>
      </p:sp>
      <p:sp>
        <p:nvSpPr>
          <p:cNvPr id="88" name="TextBox 87">
            <a:extLst>
              <a:ext uri="{FF2B5EF4-FFF2-40B4-BE49-F238E27FC236}">
                <a16:creationId xmlns:a16="http://schemas.microsoft.com/office/drawing/2014/main" id="{503A68DC-10E4-DF26-E1DE-EF85A67B9ACF}"/>
              </a:ext>
            </a:extLst>
          </p:cNvPr>
          <p:cNvSpPr txBox="1"/>
          <p:nvPr/>
        </p:nvSpPr>
        <p:spPr>
          <a:xfrm>
            <a:off x="5763669" y="3967156"/>
            <a:ext cx="1270890" cy="646331"/>
          </a:xfrm>
          <a:prstGeom prst="rect">
            <a:avLst/>
          </a:prstGeom>
          <a:noFill/>
        </p:spPr>
        <p:txBody>
          <a:bodyPr wrap="square">
            <a:sp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Security requirements </a:t>
            </a:r>
            <a:r>
              <a:rPr lang="en-US" sz="1200" dirty="0">
                <a:solidFill>
                  <a:srgbClr val="FFFFFF"/>
                </a:solidFill>
                <a:latin typeface="Roboto Condensed Light"/>
              </a:rPr>
              <a:t>v</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alidation</a:t>
            </a:r>
          </a:p>
        </p:txBody>
      </p:sp>
      <p:sp>
        <p:nvSpPr>
          <p:cNvPr id="89" name="TextBox 88">
            <a:extLst>
              <a:ext uri="{FF2B5EF4-FFF2-40B4-BE49-F238E27FC236}">
                <a16:creationId xmlns:a16="http://schemas.microsoft.com/office/drawing/2014/main" id="{187F973B-754F-3912-34C1-1BE43A5BA36A}"/>
              </a:ext>
            </a:extLst>
          </p:cNvPr>
          <p:cNvSpPr txBox="1"/>
          <p:nvPr/>
        </p:nvSpPr>
        <p:spPr>
          <a:xfrm>
            <a:off x="5763669" y="4701802"/>
            <a:ext cx="1270890" cy="646331"/>
          </a:xfrm>
          <a:prstGeom prst="rect">
            <a:avLst/>
          </a:prstGeom>
          <a:noFill/>
        </p:spPr>
        <p:txBody>
          <a:bodyPr wrap="square">
            <a:sp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Secure test </a:t>
            </a:r>
            <a:r>
              <a:rPr lang="en-US" sz="1200" dirty="0">
                <a:solidFill>
                  <a:srgbClr val="FFFFFF"/>
                </a:solidFill>
                <a:latin typeface="Roboto Condensed Light"/>
              </a:rPr>
              <a:t>e</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nvironments </a:t>
            </a:r>
            <a:r>
              <a:rPr lang="en-US" sz="1200" dirty="0">
                <a:solidFill>
                  <a:srgbClr val="FFFFFF"/>
                </a:solidFill>
                <a:latin typeface="Roboto Condensed Light"/>
              </a:rPr>
              <a:t>and</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 data </a:t>
            </a:r>
            <a:r>
              <a:rPr lang="en-US" sz="1200" dirty="0">
                <a:solidFill>
                  <a:srgbClr val="FFFFFF"/>
                </a:solidFill>
                <a:latin typeface="Roboto Condensed Light"/>
              </a:rPr>
              <a:t>m</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anagement</a:t>
            </a:r>
          </a:p>
        </p:txBody>
      </p:sp>
      <p:sp>
        <p:nvSpPr>
          <p:cNvPr id="90" name="TextBox 89">
            <a:extLst>
              <a:ext uri="{FF2B5EF4-FFF2-40B4-BE49-F238E27FC236}">
                <a16:creationId xmlns:a16="http://schemas.microsoft.com/office/drawing/2014/main" id="{82FBBF42-3BF2-D705-2069-48895879491D}"/>
              </a:ext>
            </a:extLst>
          </p:cNvPr>
          <p:cNvSpPr txBox="1"/>
          <p:nvPr/>
        </p:nvSpPr>
        <p:spPr>
          <a:xfrm>
            <a:off x="5752495" y="2533042"/>
            <a:ext cx="1270890" cy="646331"/>
          </a:xfrm>
          <a:prstGeom prst="rect">
            <a:avLst/>
          </a:prstGeom>
          <a:noFill/>
        </p:spPr>
        <p:txBody>
          <a:bodyPr wrap="square">
            <a:sp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Penetration testing and red Teaming</a:t>
            </a:r>
          </a:p>
        </p:txBody>
      </p:sp>
      <p:pic>
        <p:nvPicPr>
          <p:cNvPr id="91" name="Picture 90">
            <a:extLst>
              <a:ext uri="{FF2B5EF4-FFF2-40B4-BE49-F238E27FC236}">
                <a16:creationId xmlns:a16="http://schemas.microsoft.com/office/drawing/2014/main" id="{0429C2E5-0515-DFBE-51DD-3BD729538DBB}"/>
              </a:ext>
            </a:extLst>
          </p:cNvPr>
          <p:cNvPicPr>
            <a:picLocks noChangeAspect="1"/>
          </p:cNvPicPr>
          <p:nvPr/>
        </p:nvPicPr>
        <p:blipFill>
          <a:blip r:embed="rId26" cstate="print">
            <a:extLst>
              <a:ext uri="{28A0092B-C50C-407E-A947-70E740481C1C}">
                <a14:useLocalDpi xmlns:a14="http://schemas.microsoft.com/office/drawing/2010/main"/>
              </a:ext>
            </a:extLst>
          </a:blip>
          <a:stretch>
            <a:fillRect/>
          </a:stretch>
        </p:blipFill>
        <p:spPr>
          <a:xfrm>
            <a:off x="7279856" y="1788157"/>
            <a:ext cx="640080" cy="640080"/>
          </a:xfrm>
          <a:prstGeom prst="rect">
            <a:avLst/>
          </a:prstGeom>
        </p:spPr>
      </p:pic>
      <p:pic>
        <p:nvPicPr>
          <p:cNvPr id="92" name="Picture 91">
            <a:extLst>
              <a:ext uri="{FF2B5EF4-FFF2-40B4-BE49-F238E27FC236}">
                <a16:creationId xmlns:a16="http://schemas.microsoft.com/office/drawing/2014/main" id="{EB000884-983F-A181-7D2F-0EE5A5310267}"/>
              </a:ext>
            </a:extLst>
          </p:cNvPr>
          <p:cNvPicPr>
            <a:picLocks noChangeAspect="1"/>
          </p:cNvPicPr>
          <p:nvPr/>
        </p:nvPicPr>
        <p:blipFill>
          <a:blip r:embed="rId27" cstate="print">
            <a:extLst>
              <a:ext uri="{28A0092B-C50C-407E-A947-70E740481C1C}">
                <a14:useLocalDpi xmlns:a14="http://schemas.microsoft.com/office/drawing/2010/main"/>
              </a:ext>
            </a:extLst>
          </a:blip>
          <a:stretch>
            <a:fillRect/>
          </a:stretch>
        </p:blipFill>
        <p:spPr>
          <a:xfrm>
            <a:off x="7279856" y="4049026"/>
            <a:ext cx="640080" cy="640080"/>
          </a:xfrm>
          <a:prstGeom prst="rect">
            <a:avLst/>
          </a:prstGeom>
        </p:spPr>
      </p:pic>
      <p:pic>
        <p:nvPicPr>
          <p:cNvPr id="93" name="Picture 92">
            <a:extLst>
              <a:ext uri="{FF2B5EF4-FFF2-40B4-BE49-F238E27FC236}">
                <a16:creationId xmlns:a16="http://schemas.microsoft.com/office/drawing/2014/main" id="{378FEE33-9F72-AAB7-C0AB-0A05C1C6B633}"/>
              </a:ext>
            </a:extLst>
          </p:cNvPr>
          <p:cNvPicPr>
            <a:picLocks noChangeAspect="1"/>
          </p:cNvPicPr>
          <p:nvPr/>
        </p:nvPicPr>
        <p:blipFill>
          <a:blip r:embed="rId28" cstate="print">
            <a:extLst>
              <a:ext uri="{28A0092B-C50C-407E-A947-70E740481C1C}">
                <a14:useLocalDpi xmlns:a14="http://schemas.microsoft.com/office/drawing/2010/main"/>
              </a:ext>
            </a:extLst>
          </a:blip>
          <a:stretch>
            <a:fillRect/>
          </a:stretch>
        </p:blipFill>
        <p:spPr>
          <a:xfrm>
            <a:off x="7279856" y="2576965"/>
            <a:ext cx="640080" cy="640080"/>
          </a:xfrm>
          <a:prstGeom prst="rect">
            <a:avLst/>
          </a:prstGeom>
        </p:spPr>
      </p:pic>
      <p:pic>
        <p:nvPicPr>
          <p:cNvPr id="94" name="Picture 93">
            <a:extLst>
              <a:ext uri="{FF2B5EF4-FFF2-40B4-BE49-F238E27FC236}">
                <a16:creationId xmlns:a16="http://schemas.microsoft.com/office/drawing/2014/main" id="{7C3FE4C3-17CE-0037-86D2-DD07C29FB23D}"/>
              </a:ext>
            </a:extLst>
          </p:cNvPr>
          <p:cNvPicPr>
            <a:picLocks noChangeAspect="1"/>
          </p:cNvPicPr>
          <p:nvPr/>
        </p:nvPicPr>
        <p:blipFill>
          <a:blip r:embed="rId29" cstate="print">
            <a:extLst>
              <a:ext uri="{28A0092B-C50C-407E-A947-70E740481C1C}">
                <a14:useLocalDpi xmlns:a14="http://schemas.microsoft.com/office/drawing/2010/main"/>
              </a:ext>
            </a:extLst>
          </a:blip>
          <a:stretch>
            <a:fillRect/>
          </a:stretch>
        </p:blipFill>
        <p:spPr>
          <a:xfrm>
            <a:off x="7279856" y="3365773"/>
            <a:ext cx="640080" cy="640080"/>
          </a:xfrm>
          <a:prstGeom prst="rect">
            <a:avLst/>
          </a:prstGeom>
        </p:spPr>
      </p:pic>
      <p:pic>
        <p:nvPicPr>
          <p:cNvPr id="95" name="Picture 94">
            <a:extLst>
              <a:ext uri="{FF2B5EF4-FFF2-40B4-BE49-F238E27FC236}">
                <a16:creationId xmlns:a16="http://schemas.microsoft.com/office/drawing/2014/main" id="{057193EB-E685-784F-41CA-AB1121A4ECA3}"/>
              </a:ext>
            </a:extLst>
          </p:cNvPr>
          <p:cNvPicPr>
            <a:picLocks noChangeAspect="1"/>
          </p:cNvPicPr>
          <p:nvPr/>
        </p:nvPicPr>
        <p:blipFill>
          <a:blip r:embed="rId30" cstate="print">
            <a:extLst>
              <a:ext uri="{28A0092B-C50C-407E-A947-70E740481C1C}">
                <a14:useLocalDpi xmlns:a14="http://schemas.microsoft.com/office/drawing/2010/main"/>
              </a:ext>
            </a:extLst>
          </a:blip>
          <a:stretch>
            <a:fillRect/>
          </a:stretch>
        </p:blipFill>
        <p:spPr>
          <a:xfrm>
            <a:off x="7279856" y="4746833"/>
            <a:ext cx="640080" cy="640080"/>
          </a:xfrm>
          <a:prstGeom prst="rect">
            <a:avLst/>
          </a:prstGeom>
        </p:spPr>
      </p:pic>
      <p:sp>
        <p:nvSpPr>
          <p:cNvPr id="96" name="TextBox 95">
            <a:extLst>
              <a:ext uri="{FF2B5EF4-FFF2-40B4-BE49-F238E27FC236}">
                <a16:creationId xmlns:a16="http://schemas.microsoft.com/office/drawing/2014/main" id="{56846550-8641-09BA-9E93-409A22132D4A}"/>
              </a:ext>
            </a:extLst>
          </p:cNvPr>
          <p:cNvSpPr txBox="1"/>
          <p:nvPr/>
        </p:nvSpPr>
        <p:spPr>
          <a:xfrm>
            <a:off x="8176246" y="1760403"/>
            <a:ext cx="1270890" cy="830997"/>
          </a:xfrm>
          <a:prstGeom prst="rect">
            <a:avLst/>
          </a:prstGeom>
          <a:noFill/>
        </p:spPr>
        <p:txBody>
          <a:bodyPr wrap="square">
            <a:sp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Secure deployment </a:t>
            </a:r>
            <a:r>
              <a:rPr lang="en-US" sz="1200" dirty="0">
                <a:solidFill>
                  <a:srgbClr val="FFFFFF"/>
                </a:solidFill>
                <a:latin typeface="Roboto Condensed Light"/>
              </a:rPr>
              <a:t>and</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 </a:t>
            </a:r>
            <a:r>
              <a:rPr lang="en-US" sz="1200" dirty="0" err="1">
                <a:solidFill>
                  <a:srgbClr val="FFFFFF"/>
                </a:solidFill>
                <a:latin typeface="Roboto Condensed Light"/>
              </a:rPr>
              <a:t>i</a:t>
            </a:r>
            <a:r>
              <a:rPr kumimoji="0" lang="en-US" sz="1200" b="0" i="0" u="none" strike="noStrike" kern="1200" cap="none" spc="0" normalizeH="0" baseline="0" noProof="0" dirty="0" err="1">
                <a:ln>
                  <a:noFill/>
                </a:ln>
                <a:solidFill>
                  <a:srgbClr val="FFFFFF"/>
                </a:solidFill>
                <a:effectLst/>
                <a:uLnTx/>
                <a:uFillTx/>
                <a:latin typeface="Roboto Condensed Light"/>
                <a:ea typeface="+mn-ea"/>
                <a:cs typeface="+mn-cs"/>
              </a:rPr>
              <a:t>nfrastructure</a:t>
            </a:r>
            <a:r>
              <a:rPr lang="en-US" sz="1200" dirty="0">
                <a:solidFill>
                  <a:srgbClr val="FFFFFF"/>
                </a:solidFill>
                <a:latin typeface="Roboto Condensed Light"/>
              </a:rPr>
              <a:t> </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as code (</a:t>
            </a:r>
            <a:r>
              <a:rPr kumimoji="0" lang="en-US" sz="1200" b="0" i="0" u="none" strike="noStrike" kern="1200" cap="none" spc="0" normalizeH="0" baseline="0" noProof="0">
                <a:ln>
                  <a:noFill/>
                </a:ln>
                <a:solidFill>
                  <a:srgbClr val="FFFFFF"/>
                </a:solidFill>
                <a:effectLst/>
                <a:uLnTx/>
                <a:uFillTx/>
                <a:latin typeface="Roboto Condensed Light"/>
                <a:ea typeface="+mn-ea"/>
                <a:cs typeface="+mn-cs"/>
              </a:rPr>
              <a:t>IaC</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a:t>
            </a:r>
          </a:p>
        </p:txBody>
      </p:sp>
      <p:sp>
        <p:nvSpPr>
          <p:cNvPr id="97" name="TextBox 96">
            <a:extLst>
              <a:ext uri="{FF2B5EF4-FFF2-40B4-BE49-F238E27FC236}">
                <a16:creationId xmlns:a16="http://schemas.microsoft.com/office/drawing/2014/main" id="{5FA6C932-D4DB-B95B-8B69-F4961B63C55D}"/>
              </a:ext>
            </a:extLst>
          </p:cNvPr>
          <p:cNvSpPr txBox="1"/>
          <p:nvPr/>
        </p:nvSpPr>
        <p:spPr>
          <a:xfrm>
            <a:off x="8176246" y="3384819"/>
            <a:ext cx="1270890" cy="461665"/>
          </a:xfrm>
          <a:prstGeom prst="rect">
            <a:avLst/>
          </a:prstGeom>
          <a:noFill/>
        </p:spPr>
        <p:txBody>
          <a:bodyPr wrap="square">
            <a:sp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Policy as</a:t>
            </a:r>
            <a:r>
              <a:rPr lang="en-US" sz="1200" dirty="0">
                <a:solidFill>
                  <a:srgbClr val="FFFFFF"/>
                </a:solidFill>
                <a:latin typeface="Roboto Condensed Light"/>
              </a:rPr>
              <a:t> co</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de (</a:t>
            </a:r>
            <a:r>
              <a:rPr kumimoji="0" lang="en-US" sz="1200" b="0" i="0" u="none" strike="noStrike" kern="1200" cap="none" spc="0" normalizeH="0" baseline="0" noProof="0">
                <a:ln>
                  <a:noFill/>
                </a:ln>
                <a:solidFill>
                  <a:srgbClr val="FFFFFF"/>
                </a:solidFill>
                <a:effectLst/>
                <a:uLnTx/>
                <a:uFillTx/>
                <a:latin typeface="Roboto Condensed Light"/>
                <a:ea typeface="+mn-ea"/>
                <a:cs typeface="+mn-cs"/>
              </a:rPr>
              <a:t>PaC</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 deployment</a:t>
            </a:r>
          </a:p>
        </p:txBody>
      </p:sp>
      <p:sp>
        <p:nvSpPr>
          <p:cNvPr id="98" name="TextBox 97">
            <a:extLst>
              <a:ext uri="{FF2B5EF4-FFF2-40B4-BE49-F238E27FC236}">
                <a16:creationId xmlns:a16="http://schemas.microsoft.com/office/drawing/2014/main" id="{438856CC-9FDA-0C1F-9555-6FD043F04A34}"/>
              </a:ext>
            </a:extLst>
          </p:cNvPr>
          <p:cNvSpPr txBox="1"/>
          <p:nvPr/>
        </p:nvSpPr>
        <p:spPr>
          <a:xfrm>
            <a:off x="8176246" y="4033805"/>
            <a:ext cx="1270890" cy="461665"/>
          </a:xfrm>
          <a:prstGeom prst="rect">
            <a:avLst/>
          </a:prstGeom>
          <a:noFill/>
        </p:spPr>
        <p:txBody>
          <a:bodyPr wrap="square">
            <a:sp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Artifact signing </a:t>
            </a:r>
            <a:r>
              <a:rPr lang="en-US" sz="1200" dirty="0">
                <a:solidFill>
                  <a:srgbClr val="FFFFFF"/>
                </a:solidFill>
                <a:latin typeface="Roboto Condensed Light"/>
              </a:rPr>
              <a:t>and</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 </a:t>
            </a:r>
            <a:r>
              <a:rPr lang="en-US" sz="1200" dirty="0">
                <a:solidFill>
                  <a:srgbClr val="FFFFFF"/>
                </a:solidFill>
                <a:latin typeface="Roboto Condensed Light"/>
              </a:rPr>
              <a:t>p</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rovenance</a:t>
            </a:r>
          </a:p>
        </p:txBody>
      </p:sp>
      <p:sp>
        <p:nvSpPr>
          <p:cNvPr id="99" name="TextBox 98">
            <a:extLst>
              <a:ext uri="{FF2B5EF4-FFF2-40B4-BE49-F238E27FC236}">
                <a16:creationId xmlns:a16="http://schemas.microsoft.com/office/drawing/2014/main" id="{B797FE12-9EAC-6EF8-8824-5A901918C64C}"/>
              </a:ext>
            </a:extLst>
          </p:cNvPr>
          <p:cNvSpPr txBox="1"/>
          <p:nvPr/>
        </p:nvSpPr>
        <p:spPr>
          <a:xfrm>
            <a:off x="8183807" y="4713475"/>
            <a:ext cx="1270890" cy="646331"/>
          </a:xfrm>
          <a:prstGeom prst="rect">
            <a:avLst/>
          </a:prstGeom>
          <a:noFill/>
        </p:spPr>
        <p:txBody>
          <a:bodyPr wrap="square">
            <a:sp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Deployment security </a:t>
            </a:r>
            <a:r>
              <a:rPr lang="en-US" sz="1200" dirty="0">
                <a:solidFill>
                  <a:srgbClr val="FFFFFF"/>
                </a:solidFill>
                <a:latin typeface="Roboto Condensed Light"/>
              </a:rPr>
              <a:t>g</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ates </a:t>
            </a:r>
            <a:r>
              <a:rPr lang="en-US" sz="1200" dirty="0">
                <a:solidFill>
                  <a:srgbClr val="FFFFFF"/>
                </a:solidFill>
                <a:latin typeface="Roboto Condensed Light"/>
              </a:rPr>
              <a:t>and</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 </a:t>
            </a:r>
            <a:r>
              <a:rPr lang="en-US" sz="1200" dirty="0">
                <a:solidFill>
                  <a:srgbClr val="FFFFFF"/>
                </a:solidFill>
                <a:latin typeface="Roboto Condensed Light"/>
              </a:rPr>
              <a:t>r</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eviews</a:t>
            </a:r>
          </a:p>
        </p:txBody>
      </p:sp>
      <p:sp>
        <p:nvSpPr>
          <p:cNvPr id="100" name="TextBox 99">
            <a:extLst>
              <a:ext uri="{FF2B5EF4-FFF2-40B4-BE49-F238E27FC236}">
                <a16:creationId xmlns:a16="http://schemas.microsoft.com/office/drawing/2014/main" id="{0E5547FF-BAF9-5BD1-FED4-8110A354B0F7}"/>
              </a:ext>
            </a:extLst>
          </p:cNvPr>
          <p:cNvSpPr txBox="1"/>
          <p:nvPr/>
        </p:nvSpPr>
        <p:spPr>
          <a:xfrm>
            <a:off x="8176407" y="2540275"/>
            <a:ext cx="1270890" cy="646331"/>
          </a:xfrm>
          <a:prstGeom prst="rect">
            <a:avLst/>
          </a:prstGeom>
          <a:noFill/>
        </p:spPr>
        <p:txBody>
          <a:bodyPr wrap="square">
            <a:sp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Container and </a:t>
            </a:r>
            <a:r>
              <a:rPr lang="en-US" sz="1200" dirty="0">
                <a:solidFill>
                  <a:srgbClr val="FFFFFF"/>
                </a:solidFill>
                <a:latin typeface="Roboto Condensed Light"/>
              </a:rPr>
              <a:t>o</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rchestrator </a:t>
            </a:r>
            <a:r>
              <a:rPr lang="en-US" sz="1200" dirty="0">
                <a:solidFill>
                  <a:srgbClr val="FFFFFF"/>
                </a:solidFill>
                <a:latin typeface="Roboto Condensed Light"/>
              </a:rPr>
              <a:t>s</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ecurity</a:t>
            </a:r>
          </a:p>
        </p:txBody>
      </p:sp>
      <p:pic>
        <p:nvPicPr>
          <p:cNvPr id="101" name="Picture 100">
            <a:extLst>
              <a:ext uri="{FF2B5EF4-FFF2-40B4-BE49-F238E27FC236}">
                <a16:creationId xmlns:a16="http://schemas.microsoft.com/office/drawing/2014/main" id="{2C61767D-6F7D-296B-D305-C047CABA5ADC}"/>
              </a:ext>
            </a:extLst>
          </p:cNvPr>
          <p:cNvPicPr>
            <a:picLocks noChangeAspect="1"/>
          </p:cNvPicPr>
          <p:nvPr/>
        </p:nvPicPr>
        <p:blipFill>
          <a:blip r:embed="rId31" cstate="print">
            <a:extLst>
              <a:ext uri="{28A0092B-C50C-407E-A947-70E740481C1C}">
                <a14:useLocalDpi xmlns:a14="http://schemas.microsoft.com/office/drawing/2010/main"/>
              </a:ext>
            </a:extLst>
          </a:blip>
          <a:stretch>
            <a:fillRect/>
          </a:stretch>
        </p:blipFill>
        <p:spPr>
          <a:xfrm>
            <a:off x="9562292" y="1736867"/>
            <a:ext cx="640080" cy="640080"/>
          </a:xfrm>
          <a:prstGeom prst="rect">
            <a:avLst/>
          </a:prstGeom>
        </p:spPr>
      </p:pic>
      <p:pic>
        <p:nvPicPr>
          <p:cNvPr id="102" name="Picture 101">
            <a:extLst>
              <a:ext uri="{FF2B5EF4-FFF2-40B4-BE49-F238E27FC236}">
                <a16:creationId xmlns:a16="http://schemas.microsoft.com/office/drawing/2014/main" id="{A2ED66F3-2737-2DA9-1B5E-04E389B54799}"/>
              </a:ext>
            </a:extLst>
          </p:cNvPr>
          <p:cNvPicPr>
            <a:picLocks noChangeAspect="1"/>
          </p:cNvPicPr>
          <p:nvPr/>
        </p:nvPicPr>
        <p:blipFill>
          <a:blip r:embed="rId32" cstate="print">
            <a:extLst>
              <a:ext uri="{28A0092B-C50C-407E-A947-70E740481C1C}">
                <a14:useLocalDpi xmlns:a14="http://schemas.microsoft.com/office/drawing/2010/main"/>
              </a:ext>
            </a:extLst>
          </a:blip>
          <a:stretch>
            <a:fillRect/>
          </a:stretch>
        </p:blipFill>
        <p:spPr>
          <a:xfrm>
            <a:off x="9564048" y="3204349"/>
            <a:ext cx="640080" cy="640080"/>
          </a:xfrm>
          <a:prstGeom prst="rect">
            <a:avLst/>
          </a:prstGeom>
        </p:spPr>
      </p:pic>
      <p:pic>
        <p:nvPicPr>
          <p:cNvPr id="103" name="Picture 102">
            <a:extLst>
              <a:ext uri="{FF2B5EF4-FFF2-40B4-BE49-F238E27FC236}">
                <a16:creationId xmlns:a16="http://schemas.microsoft.com/office/drawing/2014/main" id="{93ECFB00-9036-0387-FDD4-F3DDFFC09849}"/>
              </a:ext>
            </a:extLst>
          </p:cNvPr>
          <p:cNvPicPr>
            <a:picLocks noChangeAspect="1"/>
          </p:cNvPicPr>
          <p:nvPr/>
        </p:nvPicPr>
        <p:blipFill>
          <a:blip r:embed="rId33" cstate="print">
            <a:extLst>
              <a:ext uri="{28A0092B-C50C-407E-A947-70E740481C1C}">
                <a14:useLocalDpi xmlns:a14="http://schemas.microsoft.com/office/drawing/2010/main"/>
              </a:ext>
            </a:extLst>
          </a:blip>
          <a:stretch>
            <a:fillRect/>
          </a:stretch>
        </p:blipFill>
        <p:spPr>
          <a:xfrm>
            <a:off x="9564048" y="5405572"/>
            <a:ext cx="640080" cy="640080"/>
          </a:xfrm>
          <a:prstGeom prst="rect">
            <a:avLst/>
          </a:prstGeom>
        </p:spPr>
      </p:pic>
      <p:pic>
        <p:nvPicPr>
          <p:cNvPr id="104" name="Picture 103">
            <a:extLst>
              <a:ext uri="{FF2B5EF4-FFF2-40B4-BE49-F238E27FC236}">
                <a16:creationId xmlns:a16="http://schemas.microsoft.com/office/drawing/2014/main" id="{CE70181B-2183-CAC9-A355-18DEBFD893E3}"/>
              </a:ext>
            </a:extLst>
          </p:cNvPr>
          <p:cNvPicPr>
            <a:picLocks noChangeAspect="1"/>
          </p:cNvPicPr>
          <p:nvPr/>
        </p:nvPicPr>
        <p:blipFill>
          <a:blip r:embed="rId34" cstate="print">
            <a:extLst>
              <a:ext uri="{28A0092B-C50C-407E-A947-70E740481C1C}">
                <a14:useLocalDpi xmlns:a14="http://schemas.microsoft.com/office/drawing/2010/main"/>
              </a:ext>
            </a:extLst>
          </a:blip>
          <a:stretch>
            <a:fillRect/>
          </a:stretch>
        </p:blipFill>
        <p:spPr>
          <a:xfrm>
            <a:off x="9564048" y="3938090"/>
            <a:ext cx="640080" cy="640080"/>
          </a:xfrm>
          <a:prstGeom prst="rect">
            <a:avLst/>
          </a:prstGeom>
        </p:spPr>
      </p:pic>
      <p:pic>
        <p:nvPicPr>
          <p:cNvPr id="105" name="Picture 104">
            <a:extLst>
              <a:ext uri="{FF2B5EF4-FFF2-40B4-BE49-F238E27FC236}">
                <a16:creationId xmlns:a16="http://schemas.microsoft.com/office/drawing/2014/main" id="{6FCE2291-CB8D-F94C-F730-233AA65BC504}"/>
              </a:ext>
            </a:extLst>
          </p:cNvPr>
          <p:cNvPicPr>
            <a:picLocks noChangeAspect="1"/>
          </p:cNvPicPr>
          <p:nvPr/>
        </p:nvPicPr>
        <p:blipFill>
          <a:blip r:embed="rId35" cstate="print">
            <a:extLst>
              <a:ext uri="{28A0092B-C50C-407E-A947-70E740481C1C}">
                <a14:useLocalDpi xmlns:a14="http://schemas.microsoft.com/office/drawing/2010/main"/>
              </a:ext>
            </a:extLst>
          </a:blip>
          <a:stretch>
            <a:fillRect/>
          </a:stretch>
        </p:blipFill>
        <p:spPr>
          <a:xfrm>
            <a:off x="9564048" y="4671831"/>
            <a:ext cx="640080" cy="640080"/>
          </a:xfrm>
          <a:prstGeom prst="rect">
            <a:avLst/>
          </a:prstGeom>
        </p:spPr>
      </p:pic>
      <p:pic>
        <p:nvPicPr>
          <p:cNvPr id="106" name="Picture 105">
            <a:extLst>
              <a:ext uri="{FF2B5EF4-FFF2-40B4-BE49-F238E27FC236}">
                <a16:creationId xmlns:a16="http://schemas.microsoft.com/office/drawing/2014/main" id="{237D6B46-2A3E-89E7-C9F7-C90FF39BEFDC}"/>
              </a:ext>
            </a:extLst>
          </p:cNvPr>
          <p:cNvPicPr>
            <a:picLocks noChangeAspect="1"/>
          </p:cNvPicPr>
          <p:nvPr/>
        </p:nvPicPr>
        <p:blipFill>
          <a:blip r:embed="rId36" cstate="print">
            <a:extLst>
              <a:ext uri="{28A0092B-C50C-407E-A947-70E740481C1C}">
                <a14:useLocalDpi xmlns:a14="http://schemas.microsoft.com/office/drawing/2010/main"/>
              </a:ext>
            </a:extLst>
          </a:blip>
          <a:stretch>
            <a:fillRect/>
          </a:stretch>
        </p:blipFill>
        <p:spPr>
          <a:xfrm>
            <a:off x="9564048" y="2470608"/>
            <a:ext cx="640080" cy="640080"/>
          </a:xfrm>
          <a:prstGeom prst="rect">
            <a:avLst/>
          </a:prstGeom>
        </p:spPr>
      </p:pic>
      <p:pic>
        <p:nvPicPr>
          <p:cNvPr id="107" name="Picture 106">
            <a:extLst>
              <a:ext uri="{FF2B5EF4-FFF2-40B4-BE49-F238E27FC236}">
                <a16:creationId xmlns:a16="http://schemas.microsoft.com/office/drawing/2014/main" id="{735FA5C6-6B9B-B784-4755-764F47DA7281}"/>
              </a:ext>
            </a:extLst>
          </p:cNvPr>
          <p:cNvPicPr>
            <a:picLocks noChangeAspect="1"/>
          </p:cNvPicPr>
          <p:nvPr/>
        </p:nvPicPr>
        <p:blipFill>
          <a:blip r:embed="rId37" cstate="print">
            <a:extLst>
              <a:ext uri="{28A0092B-C50C-407E-A947-70E740481C1C}">
                <a14:useLocalDpi xmlns:a14="http://schemas.microsoft.com/office/drawing/2010/main"/>
              </a:ext>
            </a:extLst>
          </a:blip>
          <a:stretch>
            <a:fillRect/>
          </a:stretch>
        </p:blipFill>
        <p:spPr>
          <a:xfrm>
            <a:off x="9562292" y="6139314"/>
            <a:ext cx="640080" cy="640080"/>
          </a:xfrm>
          <a:prstGeom prst="rect">
            <a:avLst/>
          </a:prstGeom>
        </p:spPr>
      </p:pic>
      <p:sp>
        <p:nvSpPr>
          <p:cNvPr id="108" name="TextBox 107">
            <a:extLst>
              <a:ext uri="{FF2B5EF4-FFF2-40B4-BE49-F238E27FC236}">
                <a16:creationId xmlns:a16="http://schemas.microsoft.com/office/drawing/2014/main" id="{BA5B959B-AF70-E023-7BE9-6C1BD1ECBCF2}"/>
              </a:ext>
            </a:extLst>
          </p:cNvPr>
          <p:cNvSpPr txBox="1"/>
          <p:nvPr/>
        </p:nvSpPr>
        <p:spPr>
          <a:xfrm>
            <a:off x="10407546" y="1785195"/>
            <a:ext cx="1270890" cy="646331"/>
          </a:xfrm>
          <a:prstGeom prst="rect">
            <a:avLst/>
          </a:prstGeom>
          <a:noFill/>
        </p:spPr>
        <p:txBody>
          <a:bodyPr wrap="square">
            <a:sp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Security monitoring </a:t>
            </a:r>
            <a:r>
              <a:rPr lang="en-US" sz="1200" dirty="0">
                <a:solidFill>
                  <a:srgbClr val="FFFFFF"/>
                </a:solidFill>
                <a:latin typeface="Roboto Condensed Light"/>
              </a:rPr>
              <a:t>and</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 </a:t>
            </a:r>
            <a:r>
              <a:rPr lang="en-US" sz="1200" dirty="0">
                <a:solidFill>
                  <a:srgbClr val="FFFFFF"/>
                </a:solidFill>
                <a:latin typeface="Roboto Condensed Light"/>
              </a:rPr>
              <a:t>t</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hreat detection</a:t>
            </a:r>
          </a:p>
        </p:txBody>
      </p:sp>
      <p:sp>
        <p:nvSpPr>
          <p:cNvPr id="109" name="TextBox 108">
            <a:extLst>
              <a:ext uri="{FF2B5EF4-FFF2-40B4-BE49-F238E27FC236}">
                <a16:creationId xmlns:a16="http://schemas.microsoft.com/office/drawing/2014/main" id="{BFB0842F-B277-DA24-1BF7-31236B8B7AAF}"/>
              </a:ext>
            </a:extLst>
          </p:cNvPr>
          <p:cNvSpPr txBox="1"/>
          <p:nvPr/>
        </p:nvSpPr>
        <p:spPr>
          <a:xfrm>
            <a:off x="10407546" y="3126279"/>
            <a:ext cx="1270890" cy="646331"/>
          </a:xfrm>
          <a:prstGeom prst="rect">
            <a:avLst/>
          </a:prstGeom>
          <a:noFill/>
        </p:spPr>
        <p:txBody>
          <a:bodyPr wrap="square">
            <a:sp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Vulnerability management </a:t>
            </a:r>
            <a:r>
              <a:rPr lang="en-US" sz="1200" dirty="0">
                <a:solidFill>
                  <a:srgbClr val="FFFFFF"/>
                </a:solidFill>
                <a:latin typeface="Roboto Condensed Light"/>
              </a:rPr>
              <a:t>and</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 patching</a:t>
            </a:r>
          </a:p>
        </p:txBody>
      </p:sp>
      <p:sp>
        <p:nvSpPr>
          <p:cNvPr id="110" name="TextBox 109">
            <a:extLst>
              <a:ext uri="{FF2B5EF4-FFF2-40B4-BE49-F238E27FC236}">
                <a16:creationId xmlns:a16="http://schemas.microsoft.com/office/drawing/2014/main" id="{83556F0B-8CFB-48BA-6B13-0CD613E3708D}"/>
              </a:ext>
            </a:extLst>
          </p:cNvPr>
          <p:cNvSpPr txBox="1"/>
          <p:nvPr/>
        </p:nvSpPr>
        <p:spPr>
          <a:xfrm>
            <a:off x="10418720" y="4029495"/>
            <a:ext cx="1270890" cy="276999"/>
          </a:xfrm>
          <a:prstGeom prst="rect">
            <a:avLst/>
          </a:prstGeom>
          <a:noFill/>
        </p:spPr>
        <p:txBody>
          <a:bodyPr wrap="square">
            <a:sp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API security</a:t>
            </a:r>
          </a:p>
        </p:txBody>
      </p:sp>
      <p:sp>
        <p:nvSpPr>
          <p:cNvPr id="111" name="TextBox 110">
            <a:extLst>
              <a:ext uri="{FF2B5EF4-FFF2-40B4-BE49-F238E27FC236}">
                <a16:creationId xmlns:a16="http://schemas.microsoft.com/office/drawing/2014/main" id="{73724B29-054C-16D6-18D4-6E1AD3553448}"/>
              </a:ext>
            </a:extLst>
          </p:cNvPr>
          <p:cNvSpPr txBox="1"/>
          <p:nvPr/>
        </p:nvSpPr>
        <p:spPr>
          <a:xfrm>
            <a:off x="10418720" y="4634376"/>
            <a:ext cx="1270890" cy="646331"/>
          </a:xfrm>
          <a:prstGeom prst="rect">
            <a:avLst/>
          </a:prstGeom>
          <a:noFill/>
        </p:spPr>
        <p:txBody>
          <a:bodyPr wrap="square">
            <a:sp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Environment </a:t>
            </a:r>
            <a:r>
              <a:rPr lang="en-US" sz="1200" dirty="0">
                <a:solidFill>
                  <a:srgbClr val="FFFFFF"/>
                </a:solidFill>
                <a:latin typeface="Roboto Condensed Light"/>
              </a:rPr>
              <a:t>m</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anagement and </a:t>
            </a:r>
            <a:r>
              <a:rPr lang="en-US" sz="1200" dirty="0">
                <a:solidFill>
                  <a:srgbClr val="FFFFFF"/>
                </a:solidFill>
                <a:latin typeface="Roboto Condensed Light"/>
              </a:rPr>
              <a:t>c</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onfiguration</a:t>
            </a:r>
          </a:p>
        </p:txBody>
      </p:sp>
      <p:sp>
        <p:nvSpPr>
          <p:cNvPr id="112" name="TextBox 111">
            <a:extLst>
              <a:ext uri="{FF2B5EF4-FFF2-40B4-BE49-F238E27FC236}">
                <a16:creationId xmlns:a16="http://schemas.microsoft.com/office/drawing/2014/main" id="{056D5C91-8A8C-6C0F-1357-2DBAE7AB6956}"/>
              </a:ext>
            </a:extLst>
          </p:cNvPr>
          <p:cNvSpPr txBox="1"/>
          <p:nvPr/>
        </p:nvSpPr>
        <p:spPr>
          <a:xfrm>
            <a:off x="10407546" y="5340250"/>
            <a:ext cx="1270890" cy="646331"/>
          </a:xfrm>
          <a:prstGeom prst="rect">
            <a:avLst/>
          </a:prstGeom>
          <a:noFill/>
        </p:spPr>
        <p:txBody>
          <a:bodyPr wrap="square">
            <a:sp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Vulnerability disclosure and bug </a:t>
            </a:r>
            <a:r>
              <a:rPr lang="en-US" sz="1200" dirty="0">
                <a:solidFill>
                  <a:srgbClr val="FFFFFF"/>
                </a:solidFill>
                <a:latin typeface="Roboto Condensed Light"/>
              </a:rPr>
              <a:t>b</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ounty</a:t>
            </a:r>
          </a:p>
        </p:txBody>
      </p:sp>
      <p:sp>
        <p:nvSpPr>
          <p:cNvPr id="113" name="TextBox 112">
            <a:extLst>
              <a:ext uri="{FF2B5EF4-FFF2-40B4-BE49-F238E27FC236}">
                <a16:creationId xmlns:a16="http://schemas.microsoft.com/office/drawing/2014/main" id="{C6BD7445-4C8B-165A-6B45-014089731B20}"/>
              </a:ext>
            </a:extLst>
          </p:cNvPr>
          <p:cNvSpPr txBox="1"/>
          <p:nvPr/>
        </p:nvSpPr>
        <p:spPr>
          <a:xfrm>
            <a:off x="10407546" y="6046124"/>
            <a:ext cx="1270890" cy="646331"/>
          </a:xfrm>
          <a:prstGeom prst="rect">
            <a:avLst/>
          </a:prstGeom>
          <a:noFill/>
        </p:spPr>
        <p:txBody>
          <a:bodyPr wrap="square">
            <a:sp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Agentic AI oversight </a:t>
            </a:r>
            <a:r>
              <a:rPr lang="en-US" sz="1200" dirty="0">
                <a:solidFill>
                  <a:srgbClr val="FFFFFF"/>
                </a:solidFill>
                <a:latin typeface="Roboto Condensed Light"/>
              </a:rPr>
              <a:t>and</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 </a:t>
            </a:r>
            <a:r>
              <a:rPr lang="en-US" sz="1200" dirty="0">
                <a:solidFill>
                  <a:srgbClr val="FFFFFF"/>
                </a:solidFill>
                <a:latin typeface="Roboto Condensed Light"/>
              </a:rPr>
              <a:t>c</a:t>
            </a: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ontrol</a:t>
            </a:r>
          </a:p>
        </p:txBody>
      </p:sp>
      <p:sp>
        <p:nvSpPr>
          <p:cNvPr id="114" name="TextBox 113">
            <a:extLst>
              <a:ext uri="{FF2B5EF4-FFF2-40B4-BE49-F238E27FC236}">
                <a16:creationId xmlns:a16="http://schemas.microsoft.com/office/drawing/2014/main" id="{40B1D411-AF2B-8F3B-B800-FC0A3EFC1CEC}"/>
              </a:ext>
            </a:extLst>
          </p:cNvPr>
          <p:cNvSpPr txBox="1"/>
          <p:nvPr/>
        </p:nvSpPr>
        <p:spPr>
          <a:xfrm>
            <a:off x="10418720" y="2475151"/>
            <a:ext cx="1270890" cy="461665"/>
          </a:xfrm>
          <a:prstGeom prst="rect">
            <a:avLst/>
          </a:prstGeom>
          <a:noFill/>
        </p:spPr>
        <p:txBody>
          <a:bodyPr wrap="square">
            <a:sp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Roboto Condensed Light"/>
                <a:ea typeface="+mn-ea"/>
                <a:cs typeface="+mn-cs"/>
              </a:rPr>
              <a:t>Incident response and recovery</a:t>
            </a:r>
          </a:p>
        </p:txBody>
      </p:sp>
      <p:sp>
        <p:nvSpPr>
          <p:cNvPr id="2" name="TextBox 1">
            <a:extLst>
              <a:ext uri="{FF2B5EF4-FFF2-40B4-BE49-F238E27FC236}">
                <a16:creationId xmlns:a16="http://schemas.microsoft.com/office/drawing/2014/main" id="{163600B6-84E6-93BF-E715-8C5BB59DFE89}"/>
              </a:ext>
            </a:extLst>
          </p:cNvPr>
          <p:cNvSpPr txBox="1"/>
          <p:nvPr/>
        </p:nvSpPr>
        <p:spPr>
          <a:xfrm>
            <a:off x="10100984" y="424544"/>
            <a:ext cx="2342465" cy="400000"/>
          </a:xfrm>
          <a:prstGeom prst="rect">
            <a:avLst/>
          </a:prstGeom>
        </p:spPr>
        <p:txBody>
          <a:bodyPr wrap="square" lIns="0" tIns="0" rIns="0" bIns="0" numCol="1" spcCol="360000" rtlCol="0">
            <a:noAutofit/>
          </a:bodyPr>
          <a:lstStyle/>
          <a:p>
            <a:pPr algn="l">
              <a:lnSpc>
                <a:spcPct val="110000"/>
              </a:lnSpc>
              <a:tabLst/>
            </a:pPr>
            <a:r>
              <a:rPr lang="en-US" sz="1200" dirty="0">
                <a:solidFill>
                  <a:schemeClr val="accent1">
                    <a:lumMod val="20000"/>
                    <a:lumOff val="80000"/>
                  </a:schemeClr>
                </a:solidFill>
                <a:latin typeface="Roboto Condensed Light" panose="02000000000000000000" pitchFamily="2" charset="0"/>
                <a:ea typeface="Roboto Condensed Light" panose="02000000000000000000" pitchFamily="2" charset="0"/>
              </a:rPr>
              <a:t>Icons generated by Sora</a:t>
            </a:r>
          </a:p>
        </p:txBody>
      </p:sp>
    </p:spTree>
    <p:extLst>
      <p:ext uri="{BB962C8B-B14F-4D97-AF65-F5344CB8AC3E}">
        <p14:creationId xmlns:p14="http://schemas.microsoft.com/office/powerpoint/2010/main" val="1578771893"/>
      </p:ext>
    </p:extLst>
  </p:cSld>
  <p:clrMapOvr>
    <a:masterClrMapping/>
  </p:clrMapOvr>
</p:sld>
</file>

<file path=ppt/theme/theme1.xml><?xml version="1.0" encoding="utf-8"?>
<a:theme xmlns:a="http://schemas.openxmlformats.org/drawingml/2006/main" name="FronCovers-Dark">
  <a:themeElements>
    <a:clrScheme name="Info-Tech-ResearchDeck">
      <a:dk1>
        <a:srgbClr val="494A4A"/>
      </a:dk1>
      <a:lt1>
        <a:srgbClr val="FFFFFF"/>
      </a:lt1>
      <a:dk2>
        <a:srgbClr val="494A4A"/>
      </a:dk2>
      <a:lt2>
        <a:srgbClr val="FFFFFF"/>
      </a:lt2>
      <a:accent1>
        <a:srgbClr val="2576B6"/>
      </a:accent1>
      <a:accent2>
        <a:srgbClr val="5D3291"/>
      </a:accent2>
      <a:accent3>
        <a:srgbClr val="F7C435"/>
      </a:accent3>
      <a:accent4>
        <a:srgbClr val="299C47"/>
      </a:accent4>
      <a:accent5>
        <a:srgbClr val="B3252E"/>
      </a:accent5>
      <a:accent6>
        <a:srgbClr val="F07925"/>
      </a:accent6>
      <a:hlink>
        <a:srgbClr val="2576B6"/>
      </a:hlink>
      <a:folHlink>
        <a:srgbClr val="16476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wrap="square" lIns="0" tIns="0" rIns="0" bIns="0" numCol="1" spcCol="360000" rtlCol="0">
        <a:noAutofit/>
      </a:bodyPr>
      <a:lstStyle>
        <a:defPPr marL="179388" indent="-179388" algn="l">
          <a:lnSpc>
            <a:spcPct val="110000"/>
          </a:lnSpc>
          <a:buFont typeface="Arial" panose="020B0604020202020204" pitchFamily="34" charset="0"/>
          <a:buChar char="•"/>
          <a:tabLst/>
          <a:defRPr sz="1400" dirty="0" err="1" smtClean="0">
            <a:solidFill>
              <a:schemeClr val="tx1">
                <a:lumMod val="50000"/>
              </a:schemeClr>
            </a:solidFill>
            <a:latin typeface="Roboto Condensed Light" panose="02000000000000000000" pitchFamily="2" charset="0"/>
            <a:ea typeface="Roboto Condensed Light" panose="02000000000000000000" pitchFamily="2" charset="0"/>
          </a:defRPr>
        </a:defPPr>
      </a:lstStyle>
    </a:txDef>
  </a:objectDefaults>
  <a:extraClrSchemeLst/>
</a:theme>
</file>

<file path=ppt/theme/theme2.xml><?xml version="1.0" encoding="utf-8"?>
<a:theme xmlns:a="http://schemas.openxmlformats.org/drawingml/2006/main" name="BackCovers&amp;Dividers-Dark">
  <a:themeElements>
    <a:clrScheme name="Info-Tech-ResearchDeck">
      <a:dk1>
        <a:srgbClr val="494A4A"/>
      </a:dk1>
      <a:lt1>
        <a:srgbClr val="FFFFFF"/>
      </a:lt1>
      <a:dk2>
        <a:srgbClr val="494A4A"/>
      </a:dk2>
      <a:lt2>
        <a:srgbClr val="FFFFFF"/>
      </a:lt2>
      <a:accent1>
        <a:srgbClr val="2576B6"/>
      </a:accent1>
      <a:accent2>
        <a:srgbClr val="5D3291"/>
      </a:accent2>
      <a:accent3>
        <a:srgbClr val="F7C435"/>
      </a:accent3>
      <a:accent4>
        <a:srgbClr val="299C47"/>
      </a:accent4>
      <a:accent5>
        <a:srgbClr val="B3252E"/>
      </a:accent5>
      <a:accent6>
        <a:srgbClr val="F07925"/>
      </a:accent6>
      <a:hlink>
        <a:srgbClr val="2576B6"/>
      </a:hlink>
      <a:folHlink>
        <a:srgbClr val="16476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wrap="square" lIns="0" tIns="0" rIns="0" bIns="0" numCol="1" spcCol="360000" rtlCol="0">
        <a:noAutofit/>
      </a:bodyPr>
      <a:lstStyle>
        <a:defPPr marL="179388" indent="-179388" algn="l">
          <a:lnSpc>
            <a:spcPct val="110000"/>
          </a:lnSpc>
          <a:buFont typeface="Arial" panose="020B0604020202020204" pitchFamily="34" charset="0"/>
          <a:buChar char="•"/>
          <a:tabLst/>
          <a:defRPr sz="1400" dirty="0" err="1" smtClean="0">
            <a:solidFill>
              <a:schemeClr val="tx1">
                <a:lumMod val="50000"/>
              </a:schemeClr>
            </a:solidFill>
            <a:latin typeface="Roboto Condensed Light" panose="02000000000000000000" pitchFamily="2" charset="0"/>
            <a:ea typeface="Roboto Condensed Light" panose="02000000000000000000" pitchFamily="2" charset="0"/>
          </a:defRPr>
        </a:defPPr>
      </a:lstStyle>
    </a:txDef>
  </a:objectDefaults>
  <a:extraClrSchemeLst/>
</a:theme>
</file>

<file path=ppt/theme/theme3.xml><?xml version="1.0" encoding="utf-8"?>
<a:theme xmlns:a="http://schemas.openxmlformats.org/drawingml/2006/main" name="BackCovers&amp;Dividers-Light">
  <a:themeElements>
    <a:clrScheme name="Info-Tech-ResearchDeck">
      <a:dk1>
        <a:srgbClr val="494A4A"/>
      </a:dk1>
      <a:lt1>
        <a:srgbClr val="FFFFFF"/>
      </a:lt1>
      <a:dk2>
        <a:srgbClr val="494A4A"/>
      </a:dk2>
      <a:lt2>
        <a:srgbClr val="FFFFFF"/>
      </a:lt2>
      <a:accent1>
        <a:srgbClr val="2576B6"/>
      </a:accent1>
      <a:accent2>
        <a:srgbClr val="5D3291"/>
      </a:accent2>
      <a:accent3>
        <a:srgbClr val="F7C435"/>
      </a:accent3>
      <a:accent4>
        <a:srgbClr val="299C47"/>
      </a:accent4>
      <a:accent5>
        <a:srgbClr val="B3252E"/>
      </a:accent5>
      <a:accent6>
        <a:srgbClr val="F07925"/>
      </a:accent6>
      <a:hlink>
        <a:srgbClr val="2576B6"/>
      </a:hlink>
      <a:folHlink>
        <a:srgbClr val="16476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wrap="square" lIns="0" tIns="0" rIns="0" bIns="0" numCol="1" spcCol="360000" rtlCol="0">
        <a:noAutofit/>
      </a:bodyPr>
      <a:lstStyle>
        <a:defPPr marL="179388" indent="-179388" algn="l">
          <a:lnSpc>
            <a:spcPct val="110000"/>
          </a:lnSpc>
          <a:buFont typeface="Arial" panose="020B0604020202020204" pitchFamily="34" charset="0"/>
          <a:buChar char="•"/>
          <a:tabLst/>
          <a:defRPr sz="1400" dirty="0" err="1" smtClean="0">
            <a:solidFill>
              <a:schemeClr val="tx1">
                <a:lumMod val="50000"/>
              </a:schemeClr>
            </a:solidFill>
            <a:latin typeface="Roboto Condensed Light" panose="02000000000000000000" pitchFamily="2" charset="0"/>
            <a:ea typeface="Roboto Condensed Light" panose="02000000000000000000" pitchFamily="2" charset="0"/>
          </a:defRPr>
        </a:defPPr>
      </a:lstStyle>
    </a:txDef>
  </a:objectDefaults>
  <a:extraClrSchemeLst/>
</a:theme>
</file>

<file path=ppt/theme/theme4.xml><?xml version="1.0" encoding="utf-8"?>
<a:theme xmlns:a="http://schemas.openxmlformats.org/drawingml/2006/main" name="Slide-Generic">
  <a:themeElements>
    <a:clrScheme name="ITRG">
      <a:dk1>
        <a:srgbClr val="494949"/>
      </a:dk1>
      <a:lt1>
        <a:srgbClr val="FFFFFF"/>
      </a:lt1>
      <a:dk2>
        <a:srgbClr val="494949"/>
      </a:dk2>
      <a:lt2>
        <a:srgbClr val="FFFFFF"/>
      </a:lt2>
      <a:accent1>
        <a:srgbClr val="2576B7"/>
      </a:accent1>
      <a:accent2>
        <a:srgbClr val="5E3391"/>
      </a:accent2>
      <a:accent3>
        <a:srgbClr val="EFC351"/>
      </a:accent3>
      <a:accent4>
        <a:srgbClr val="289D48"/>
      </a:accent4>
      <a:accent5>
        <a:srgbClr val="B3242E"/>
      </a:accent5>
      <a:accent6>
        <a:srgbClr val="F17926"/>
      </a:accent6>
      <a:hlink>
        <a:srgbClr val="2476B7"/>
      </a:hlink>
      <a:folHlink>
        <a:srgbClr val="16476E"/>
      </a:folHlink>
    </a:clrScheme>
    <a:fontScheme name="_ITRG">
      <a:majorFont>
        <a:latin typeface="Montserrat SemiBold"/>
        <a:ea typeface=""/>
        <a:cs typeface=""/>
      </a:majorFont>
      <a:minorFont>
        <a:latin typeface="Roboto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wrap="square" lIns="0" tIns="0" rIns="0" bIns="0" numCol="1" spcCol="360000" rtlCol="0">
        <a:noAutofit/>
      </a:bodyPr>
      <a:lstStyle>
        <a:defPPr marL="179388" indent="-179388" algn="l">
          <a:lnSpc>
            <a:spcPct val="110000"/>
          </a:lnSpc>
          <a:buFont typeface="Arial" panose="020B0604020202020204" pitchFamily="34" charset="0"/>
          <a:buChar char="•"/>
          <a:tabLst/>
          <a:defRPr sz="1400" dirty="0" err="1" smtClean="0">
            <a:solidFill>
              <a:schemeClr val="tx1">
                <a:lumMod val="50000"/>
              </a:schemeClr>
            </a:solidFill>
            <a:latin typeface="Roboto Condensed Light" panose="02000000000000000000" pitchFamily="2" charset="0"/>
            <a:ea typeface="Roboto Condensed Light" panose="02000000000000000000" pitchFamily="2"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2802</Words>
  <Application>Microsoft Office PowerPoint</Application>
  <PresentationFormat>Custom</PresentationFormat>
  <Paragraphs>452</Paragraphs>
  <Slides>31</Slides>
  <Notes>23</Notes>
  <HiddenSlides>0</HiddenSlides>
  <MMClips>0</MMClips>
  <ScaleCrop>false</ScaleCrop>
  <HeadingPairs>
    <vt:vector size="8" baseType="variant">
      <vt:variant>
        <vt:lpstr>Fonts Used</vt:lpstr>
      </vt:variant>
      <vt:variant>
        <vt:i4>12</vt:i4>
      </vt:variant>
      <vt:variant>
        <vt:lpstr>Theme</vt:lpstr>
      </vt:variant>
      <vt:variant>
        <vt:i4>5</vt:i4>
      </vt:variant>
      <vt:variant>
        <vt:lpstr>Embedded OLE Servers</vt:lpstr>
      </vt:variant>
      <vt:variant>
        <vt:i4>1</vt:i4>
      </vt:variant>
      <vt:variant>
        <vt:lpstr>Slide Titles</vt:lpstr>
      </vt:variant>
      <vt:variant>
        <vt:i4>31</vt:i4>
      </vt:variant>
    </vt:vector>
  </HeadingPairs>
  <TitlesOfParts>
    <vt:vector size="49" baseType="lpstr">
      <vt:lpstr>Montserrat Medium</vt:lpstr>
      <vt:lpstr>Exo Light</vt:lpstr>
      <vt:lpstr>Roboto Light</vt:lpstr>
      <vt:lpstr>Montserrat</vt:lpstr>
      <vt:lpstr>Arial</vt:lpstr>
      <vt:lpstr>Calibri</vt:lpstr>
      <vt:lpstr>Exo SemiBold</vt:lpstr>
      <vt:lpstr>Montserrat SemiBold</vt:lpstr>
      <vt:lpstr>Wingdings</vt:lpstr>
      <vt:lpstr>Aptos</vt:lpstr>
      <vt:lpstr>Exo</vt:lpstr>
      <vt:lpstr>Roboto Condensed Light</vt:lpstr>
      <vt:lpstr>FronCovers-Dark</vt:lpstr>
      <vt:lpstr>BackCovers&amp;Dividers-Dark</vt:lpstr>
      <vt:lpstr>BackCovers&amp;Dividers-Light</vt:lpstr>
      <vt:lpstr>Slide-Generic</vt:lpstr>
      <vt:lpstr>1_Office Theme</vt:lpstr>
      <vt:lpstr>Worksheet</vt:lpstr>
      <vt:lpstr>PowerPoint Presentation</vt:lpstr>
      <vt:lpstr>How to use this template</vt:lpstr>
      <vt:lpstr>PowerPoint Presentation</vt:lpstr>
      <vt:lpstr>Now is the moment to secure our digital future</vt:lpstr>
      <vt:lpstr>We must chart a bold path toward intelligent application security</vt:lpstr>
      <vt:lpstr>To ensure success on this journey we shall follow our guiding stars </vt:lpstr>
      <vt:lpstr>Every successful new venture starts with solid support</vt:lpstr>
      <vt:lpstr>PowerPoint Presentation</vt:lpstr>
      <vt:lpstr>PowerPoint Presentation</vt:lpstr>
      <vt:lpstr>iSSDLC Maturity Scale</vt:lpstr>
      <vt:lpstr>Drivers</vt:lpstr>
      <vt:lpstr>Current state assessment</vt:lpstr>
      <vt:lpstr>Baseline metrics</vt:lpstr>
      <vt:lpstr>Threat impacts</vt:lpstr>
      <vt:lpstr>Capability prioritization</vt:lpstr>
      <vt:lpstr>PowerPoint Presentation</vt:lpstr>
      <vt:lpstr>Gap assessment</vt:lpstr>
      <vt:lpstr>Target state assessment</vt:lpstr>
      <vt:lpstr>iSSLDC Target State</vt:lpstr>
      <vt:lpstr>Governance and accountabilities </vt:lpstr>
      <vt:lpstr>iSSDLC improvement initiatives</vt:lpstr>
      <vt:lpstr>Priority initiatives</vt:lpstr>
      <vt:lpstr>Roadmap</vt:lpstr>
      <vt:lpstr>Expected costs and resourcing</vt:lpstr>
      <vt:lpstr>Expected benefits</vt:lpstr>
      <vt:lpstr>Next steps</vt:lpstr>
      <vt:lpstr>PowerPoint Presentation</vt:lpstr>
      <vt:lpstr>PowerPoint Presentation</vt:lpstr>
      <vt:lpstr>PowerPoint Presentation</vt:lpstr>
      <vt:lpstr>PowerPoint Presentation</vt:lpstr>
      <vt:lpstr>iSSLDC Icons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2025-12-08T21:16:32Z</dcterms:created>
  <dcterms:modified xsi:type="dcterms:W3CDTF">2025-12-08T21:17:09Z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d24214e-5322-4789-8422-cbe411bc3a74_Enabled">
    <vt:lpwstr>true</vt:lpwstr>
  </property>
  <property fmtid="{D5CDD505-2E9C-101B-9397-08002B2CF9AE}" pid="3" name="MSIP_Label_7d24214e-5322-4789-8422-cbe411bc3a74_SetDate">
    <vt:lpwstr>2025-12-08T21:16:41Z</vt:lpwstr>
  </property>
  <property fmtid="{D5CDD505-2E9C-101B-9397-08002B2CF9AE}" pid="4" name="MSIP_Label_7d24214e-5322-4789-8422-cbe411bc3a74_Method">
    <vt:lpwstr>Standard</vt:lpwstr>
  </property>
  <property fmtid="{D5CDD505-2E9C-101B-9397-08002B2CF9AE}" pid="5" name="MSIP_Label_7d24214e-5322-4789-8422-cbe411bc3a74_Name">
    <vt:lpwstr>7d24214e-5322-4789-8422-cbe411bc3a74</vt:lpwstr>
  </property>
  <property fmtid="{D5CDD505-2E9C-101B-9397-08002B2CF9AE}" pid="6" name="MSIP_Label_7d24214e-5322-4789-8422-cbe411bc3a74_SiteId">
    <vt:lpwstr>113d1920-a1e0-48cf-a70a-868cbb03f3f6</vt:lpwstr>
  </property>
  <property fmtid="{D5CDD505-2E9C-101B-9397-08002B2CF9AE}" pid="7" name="MSIP_Label_7d24214e-5322-4789-8422-cbe411bc3a74_ActionId">
    <vt:lpwstr>bb17522b-4bce-4779-8beb-057b9ff95cdd</vt:lpwstr>
  </property>
  <property fmtid="{D5CDD505-2E9C-101B-9397-08002B2CF9AE}" pid="8" name="MSIP_Label_7d24214e-5322-4789-8422-cbe411bc3a74_ContentBits">
    <vt:lpwstr>0</vt:lpwstr>
  </property>
  <property fmtid="{D5CDD505-2E9C-101B-9397-08002B2CF9AE}" pid="9" name="MSIP_Label_7d24214e-5322-4789-8422-cbe411bc3a74_Tag">
    <vt:lpwstr>10, 3, 0, 1</vt:lpwstr>
  </property>
</Properties>
</file>