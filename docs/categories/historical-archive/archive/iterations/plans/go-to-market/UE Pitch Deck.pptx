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1" autoAdjust="0"/>
    <p:restoredTop sz="94610"/>
  </p:normalViewPr>
  <p:slideViewPr>
    <p:cSldViewPr snapToGrid="0" snapToObjects="1">
      <p:cViewPr>
        <p:scale>
          <a:sx n="133" d="100"/>
          <a:sy n="133" d="100"/>
        </p:scale>
        <p:origin x="112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354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— $25K BASE FEE OBJECTION HANDLING</a:t>
            </a:r>
          </a:p>
          <a:p>
            <a:endParaRPr/>
          </a:p>
          <a:p>
            <a:r>
              <a:t>This appendix slide is for your preparation only. Do not present it during the pitch. Review it before any meeting where pricing will be discussed.</a:t>
            </a:r>
          </a:p>
          <a:p>
            <a:endParaRPr/>
          </a:p>
          <a:p>
            <a:r>
              <a:t>— — —</a:t>
            </a:r>
          </a:p>
          <a:p>
            <a:endParaRPr/>
          </a:p>
          <a:p>
            <a:r>
              <a:t>WHY THE BASE FEE EXISTS (your internal rationale)</a:t>
            </a:r>
          </a:p>
          <a:p>
            <a:endParaRPr/>
          </a:p>
          <a:p>
            <a:r>
              <a:t>The $25,000 annual base fee covers four real costs that exist regardless of member count:</a:t>
            </a:r>
          </a:p>
          <a:p>
            <a:endParaRPr/>
          </a:p>
          <a:p>
            <a:r>
              <a:t>1. ACCOUNT RELATIONSHIP — A national union gets a named account manager, a direct escalation path, quarterly business reviews, and access to your product roadmap. That relationship has a floor cost that does not scale with members.</a:t>
            </a:r>
          </a:p>
          <a:p>
            <a:endParaRPr/>
          </a:p>
          <a:p>
            <a:r>
              <a:t>2. NATIONAL INFRASTRUCTURE SETUP — The moment a national signs, you provision their environment, configure their org hierarchy (national → regional → local), and establish data isolation. None of this is proportional to member count.</a:t>
            </a:r>
          </a:p>
          <a:p>
            <a:endParaRPr/>
          </a:p>
          <a:p>
            <a:r>
              <a:t>3. LEGAL &amp; COMPLIANCE OVERHEAD — Each contract involves a data processing addendum, PIPEDA review, and likely an IT security questionnaire. Real time, real cost per customer.</a:t>
            </a:r>
          </a:p>
          <a:p>
            <a:endParaRPr/>
          </a:p>
          <a:p>
            <a:r>
              <a:t>4. MARGIN FLOOR — At the Enterprise tier ($2.25/mo), per-member revenue is compressed. The base fee ensures you're not underwriting the relationship at any membership size.</a:t>
            </a:r>
          </a:p>
          <a:p>
            <a:endParaRPr/>
          </a:p>
          <a:p>
            <a:r>
              <a:t>— — —</a:t>
            </a:r>
          </a:p>
          <a:p>
            <a:endParaRPr/>
          </a:p>
          <a:p>
            <a:r>
              <a:t>HOW TO INTRODUCE IT IN THE ROOM</a:t>
            </a:r>
          </a:p>
          <a:p>
            <a:endParaRPr/>
          </a:p>
          <a:p>
            <a:r>
              <a:t>Never introduce it as a "fee." Introduce it as what it covers:</a:t>
            </a:r>
          </a:p>
          <a:p>
            <a:endParaRPr/>
          </a:p>
          <a:p>
            <a:r>
              <a:t>"Every national union on UE gets a dedicated account relationship — a named point of contact, quarterly reviews, and a direct line to our team. The $25,000 annual platform fee covers that relationship and your national-level configuration. Everything above that scales with your membership."</a:t>
            </a:r>
          </a:p>
          <a:p>
            <a:endParaRPr/>
          </a:p>
          <a:p>
            <a:r>
              <a:t>At a 25,000-member union paying $960,000 in Year 1, the $25k is 2.6% of the total contract. Put it in that context early.</a:t>
            </a:r>
          </a:p>
          <a:p>
            <a:endParaRPr/>
          </a:p>
          <a:p>
            <a:r>
              <a:t>— — —</a:t>
            </a:r>
          </a:p>
          <a:p>
            <a:endParaRPr/>
          </a:p>
          <a:p>
            <a:r>
              <a:t>OBJECTION 1: "Just roll it into the per-member rate."</a:t>
            </a:r>
          </a:p>
          <a:p>
            <a:endParaRPr/>
          </a:p>
          <a:p>
            <a:r>
              <a:t>Why they say it: They want simplicity, or they're trying to minimize perceived fixed commitments.</a:t>
            </a:r>
          </a:p>
          <a:p>
            <a:endParaRPr/>
          </a:p>
          <a:p>
            <a:r>
              <a:t>Your response: "We've thought about that — but the base fee is actually what makes this a partnership rather than a product. It funds the account relationship and the national infrastructure that exists regardless of how many members you have. If we folded it into per-member pricing, smaller nationals would end up subsidizing account services at a rate that doesn't reflect their size. Keeping it separate is actually fairer."</a:t>
            </a:r>
          </a:p>
          <a:p>
            <a:endParaRPr/>
          </a:p>
          <a:p>
            <a:r>
              <a:t>Hold the line. The separation is structural and intentional.</a:t>
            </a:r>
          </a:p>
          <a:p>
            <a:endParaRPr/>
          </a:p>
          <a:p>
            <a:r>
              <a:t>— — —</a:t>
            </a:r>
          </a:p>
          <a:p>
            <a:endParaRPr/>
          </a:p>
          <a:p>
            <a:r>
              <a:t>OBJECTION 2: "Other tools don't charge a base fee."</a:t>
            </a:r>
          </a:p>
          <a:p>
            <a:endParaRPr/>
          </a:p>
          <a:p>
            <a:r>
              <a:t>Why they say it: They've shopped around, or their treasurer did.</a:t>
            </a:r>
          </a:p>
          <a:p>
            <a:endParaRPr/>
          </a:p>
          <a:p>
            <a:r>
              <a:t>Your response: "That's true — and those tools also don't give you a dedicated account team, national-to-local deployment, Canadian data residency, or an all-in-one platform. GrievTrac charges $60/month per local for grievances only — across 300 locals, that's $21,600/year for one function. We're replacing five to seven of those tools. The comparison changes entirely when you're looking at scope."</a:t>
            </a:r>
          </a:p>
          <a:p>
            <a:endParaRPr/>
          </a:p>
          <a:p>
            <a:r>
              <a:t>If pressed, ask: "What does your current grievance tool cost per local, multiplied across all your locals?" That math usually reframes the conversation immediately.</a:t>
            </a:r>
          </a:p>
          <a:p>
            <a:endParaRPr/>
          </a:p>
          <a:p>
            <a:r>
              <a:t>— — —</a:t>
            </a:r>
          </a:p>
          <a:p>
            <a:endParaRPr/>
          </a:p>
          <a:p>
            <a:r>
              <a:t>OBJECTION 3: "Can we waive it for Year 1?"</a:t>
            </a:r>
          </a:p>
          <a:p>
            <a:endParaRPr/>
          </a:p>
          <a:p>
            <a:r>
              <a:t>Why they say it: Budget pressure, or a negotiating reflex.</a:t>
            </a:r>
          </a:p>
          <a:p>
            <a:endParaRPr/>
          </a:p>
          <a:p>
            <a:r>
              <a:t>Your response: Do NOT say "waive." Say:</a:t>
            </a:r>
          </a:p>
          <a:p>
            <a:endParaRPr/>
          </a:p>
          <a:p>
            <a:r>
              <a:t>"What we can do is apply the $25,000 as a credit toward your implementation fee. Your regional deployment is $50,000 — we'd bring that down to $25,000 in Year 1. You get half your setup covered, and we're starting the relationship the right way."</a:t>
            </a:r>
          </a:p>
          <a:p>
            <a:endParaRPr/>
          </a:p>
          <a:p>
            <a:r>
              <a:t>This preserves the fee as a structural element, gives them a win, and frames it as a launch incentive rather than a concession. Never fully waive the base fee in Year 1 — it sets a precedent for every renewal negotiation.</a:t>
            </a:r>
          </a:p>
          <a:p>
            <a:endParaRPr/>
          </a:p>
          <a:p>
            <a:r>
              <a:t>— — —</a:t>
            </a:r>
          </a:p>
          <a:p>
            <a:endParaRPr/>
          </a:p>
          <a:p>
            <a:r>
              <a:t>IF THEY STILL PUSH BACK</a:t>
            </a:r>
          </a:p>
          <a:p>
            <a:endParaRPr/>
          </a:p>
          <a:p>
            <a:r>
              <a:t>Consider naming the base fee something more tangible: "National Partnership Fee." Attach a specific deliverable to it — a launch readiness assessment, a data migration audit, or first-year access to a named success manager. When a fee has a named deliverable, it stops being a fee and becomes a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Every Union Function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dirty="0">
                <a:solidFill>
                  <a:srgbClr val="BDB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Nungisa Law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200" dirty="0">
                <a:solidFill>
                  <a:srgbClr val="BDB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Canadian Unions Run on</a:t>
            </a:r>
            <a:endParaRPr lang="en-US" sz="3200" dirty="0"/>
          </a:p>
          <a:p>
            <a:pPr marL="0" indent="0" algn="l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Fragmented Systems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087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Siloed Tools</a:t>
            </a: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Grievances tracked in one system, membership in another, dues in a third. No data flows between them.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Lost Grievances</a:t>
            </a: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tracking means missed filing deadlines and cases dismissed on procedural grounds.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6118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National Visibility</a:t>
            </a: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executives cannot see real-time data across 300+ locals. Reporting requires manual aggregation.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0" y="150876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212080" y="1581912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32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5,000+</a:t>
            </a:r>
            <a:endParaRPr lang="en-US" sz="3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grievances processed annually by a mid-size national union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029200" y="256032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212080" y="2633472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32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2+ hrs</a:t>
            </a:r>
            <a:endParaRPr lang="en-US" sz="3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admin overhead per case with manual systems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029200" y="361188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5212080" y="3685032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32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$500k+</a:t>
            </a:r>
            <a:endParaRPr lang="en-US" sz="3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cost of admin inefficiency (50k-member union)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UE Replaces 5–7 Tools</a:t>
            </a:r>
            <a:endParaRPr lang="en-US" sz="3200" dirty="0"/>
          </a:p>
          <a:p>
            <a:pPr marL="0" indent="0" algn="l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One Platform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508760"/>
            <a:ext cx="258775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2313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Grievance &amp; Claims Management</a:t>
            </a:r>
            <a:endParaRPr lang="en-US" sz="13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case from filing through arbitration with automated deadlines and status updates.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73552" y="1508760"/>
            <a:ext cx="258775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3410712" y="1600200"/>
            <a:ext cx="2313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Membership &amp; Dues</a:t>
            </a:r>
            <a:endParaRPr lang="en-US" sz="13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member records, dues collection, and real-time membership reporting across all locals.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9904" y="1508760"/>
            <a:ext cx="258775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227064" y="1600200"/>
            <a:ext cx="2313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Communications &amp; Notifications</a:t>
            </a:r>
            <a:endParaRPr lang="en-US" sz="13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to members, notify stewards of deadlines, and manage all union communications in one place.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258775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94360" y="2971800"/>
            <a:ext cx="2313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Storage &amp; Compliance</a:t>
            </a:r>
            <a:endParaRPr lang="en-US" sz="13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document management with version control, retention policies, and compliance audit trails.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73552" y="2880360"/>
            <a:ext cx="258775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3410712" y="2971800"/>
            <a:ext cx="2313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 &amp; Reporting</a:t>
            </a:r>
            <a:endParaRPr lang="en-US" sz="13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and custom reports across every local, region, and function — no manual aggregation.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9904" y="2880360"/>
            <a:ext cx="258775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227064" y="2971800"/>
            <a:ext cx="2313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Voting &amp; Decision-Making</a:t>
            </a:r>
            <a:endParaRPr lang="en-US" sz="13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electronic voting for ratifications, elections, and strike votes with full audit trail.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nationally. Managed regionally. Used locally.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 to Local, Seamless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137160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 License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signs one agreement covering all regions and locals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7180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206240" y="164592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20624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8328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Regional Deployment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3108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per province with local customization and migration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0644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7040880" y="164592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704088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1792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Access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3108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steward, officer, and member gets instant access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Fragmentation Costs You Today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61772" y="137160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644652" y="15544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$60/mo</a:t>
            </a:r>
            <a:endParaRPr lang="en-US" sz="28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2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local</a:t>
            </a:r>
            <a:endParaRPr lang="en-US" sz="2800" dirty="0"/>
          </a:p>
          <a:p>
            <a:pPr marL="0" indent="0" algn="l">
              <a:lnSpc>
                <a:spcPts val="2000"/>
              </a:lnSpc>
              <a:buNone/>
            </a:pPr>
            <a:endParaRPr lang="en-US" sz="28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GrievTrac alone — grievances only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314700" y="137160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3497580" y="15544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$500+/mo</a:t>
            </a:r>
            <a:endParaRPr lang="en-US" sz="2800" dirty="0"/>
          </a:p>
          <a:p>
            <a:pPr marL="0" indent="0" algn="l">
              <a:lnSpc>
                <a:spcPts val="2000"/>
              </a:lnSpc>
              <a:buNone/>
            </a:pPr>
            <a:endParaRPr lang="en-US" sz="28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membership CRM (iMIS, UnionWare)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167628" y="137160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350508" y="15544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$5k–15k</a:t>
            </a:r>
            <a:endParaRPr lang="en-US" sz="2800" dirty="0"/>
          </a:p>
          <a:p>
            <a:pPr marL="0" indent="0" algn="l">
              <a:lnSpc>
                <a:spcPts val="2000"/>
              </a:lnSpc>
              <a:buNone/>
            </a:pPr>
            <a:endParaRPr lang="en-US" sz="28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fees per tool, per migration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300-local national union spends $250,000+ per year on disconnected tools that don’t share data.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Cost of Ownership:</a:t>
            </a:r>
            <a:endParaRPr lang="en-US" sz="3200" dirty="0"/>
          </a:p>
          <a:p>
            <a:pPr marL="0" indent="0" algn="l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Fragmented vs. 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8862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94360" y="1572768"/>
            <a:ext cx="361188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Fragmented Systems (50k members)</a:t>
            </a:r>
            <a:endParaRPr lang="en-US" sz="1500" dirty="0"/>
          </a:p>
          <a:p>
            <a:pPr marL="0" indent="0" algn="l">
              <a:lnSpc>
                <a:spcPts val="1800"/>
              </a:lnSpc>
              <a:spcAft>
                <a:spcPts val="400"/>
              </a:spcAft>
              <a:buNone/>
            </a:pPr>
            <a:endParaRPr lang="en-US" sz="1500" dirty="0"/>
          </a:p>
          <a:p>
            <a:pPr marL="0" indent="0" algn="l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tool licenses: $177k/yr</a:t>
            </a:r>
            <a:endParaRPr lang="en-US" sz="1500" dirty="0"/>
          </a:p>
          <a:p>
            <a:pPr marL="0" indent="0" algn="l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overhead (manual processes): $500k+/yr</a:t>
            </a:r>
            <a:endParaRPr lang="en-US" sz="1500" dirty="0"/>
          </a:p>
          <a:p>
            <a:pPr marL="0" indent="0" algn="l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grievances (est. 10% loss rate): Unquantifiable</a:t>
            </a:r>
            <a:endParaRPr lang="en-US" sz="1500" dirty="0"/>
          </a:p>
          <a:p>
            <a:pPr marL="0" indent="0" algn="l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national reporting capability</a:t>
            </a:r>
            <a:endParaRPr lang="en-US" sz="1500" dirty="0"/>
          </a:p>
          <a:p>
            <a:pPr marL="0" indent="0" algn="l">
              <a:lnSpc>
                <a:spcPts val="1800"/>
              </a:lnSpc>
              <a:spcAft>
                <a:spcPts val="400"/>
              </a:spcAft>
              <a:buNone/>
            </a:pPr>
            <a:endParaRPr lang="en-US" sz="1500" dirty="0"/>
          </a:p>
          <a:p>
            <a:pPr marL="0" indent="0" algn="l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visible cost: $677k+/year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00600" y="1463040"/>
            <a:ext cx="38862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4937760" y="1572768"/>
            <a:ext cx="361188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UE Enterprise (50k members)</a:t>
            </a:r>
            <a:endParaRPr lang="en-US" sz="1500" dirty="0"/>
          </a:p>
          <a:p>
            <a:pPr marL="0" indent="0" algn="l">
              <a:lnSpc>
                <a:spcPts val="1800"/>
              </a:lnSpc>
              <a:spcAft>
                <a:spcPts val="400"/>
              </a:spcAft>
              <a:buNone/>
            </a:pPr>
            <a:endParaRPr lang="en-US" sz="1500" dirty="0"/>
          </a:p>
          <a:p>
            <a:pPr marL="0" indent="0" algn="l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platform license: $1,350k/yr</a:t>
            </a:r>
            <a:endParaRPr lang="en-US" sz="1500" dirty="0"/>
          </a:p>
          <a:p>
            <a:pPr marL="0" indent="0" algn="l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overhead reduction: 60–80%</a:t>
            </a:r>
            <a:endParaRPr lang="en-US" sz="1500" dirty="0"/>
          </a:p>
          <a:p>
            <a:pPr marL="0" indent="0" algn="l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missed deadlines (automated tracking)</a:t>
            </a:r>
            <a:endParaRPr lang="en-US" sz="1500" dirty="0"/>
          </a:p>
          <a:p>
            <a:pPr marL="0" indent="0" algn="l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national dashboards</a:t>
            </a:r>
            <a:endParaRPr lang="en-US" sz="1500" dirty="0"/>
          </a:p>
          <a:p>
            <a:pPr marL="0" indent="0" algn="l">
              <a:lnSpc>
                <a:spcPts val="1800"/>
              </a:lnSpc>
              <a:spcAft>
                <a:spcPts val="400"/>
              </a:spcAft>
              <a:buNone/>
            </a:pPr>
            <a:endParaRPr lang="en-US" sz="1500" dirty="0"/>
          </a:p>
          <a:p>
            <a:pPr marL="0" indent="0" algn="l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cost: $1,350k/year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20808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 costs more in licensing — but saves $300k+ in admin overhead and delivers outcomes fragmented tools cannot.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Transparent Per-Member Pricing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Starter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Professional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Premium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Enterprise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Member Band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200–2,000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2,001–15,000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15,001–50,000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50,001–100,000+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Per Member/Month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Per Member/Year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National Base Fee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$25,000/yr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$25,000/yr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$25,000/yr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$25,000/yr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tiers include: grievances, membership, dues, comms, docs, reporting, voting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discount: 15% off per-member rate for 50,000+ members  |  3-year contract: 10% off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Looks Like for Your Union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Regional (10k)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Mid-National (25k)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Large National (50k)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Recommended Tier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Annual Per-Member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$885,000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$1,350,000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National Base Fee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Implementation (10 regions)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Total Year 1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80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$525,000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80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$960,000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80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$1,425,000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80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Effective Cost/Member/Mo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As % of Avg Dues ($60/mo)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Enterprise tier, UE costs less than 5% of member dues for a platform covering every union function.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Better Outcomes for Your Members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7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Missed Deadlines</a:t>
            </a:r>
            <a:endParaRPr lang="en-US" sz="17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case tracking ensures every grievance hits every filing window. No more cases dismissed on procedural grounds.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7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 Response Times</a:t>
            </a:r>
            <a:endParaRPr lang="en-US" sz="17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see action within hours, not days. Stewards get instant notifications. Trust in the union grows.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85800" y="3749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7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Transparency at Convention</a:t>
            </a:r>
            <a:endParaRPr lang="en-US" sz="17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exactly how many grievances were filed, resolved, and won — across every local, every region, in real time.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Canadian Labour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Canadian Data Residency</a:t>
            </a: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hosted in Canada (AWS ca-central-1)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00600" y="137160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4983480" y="150876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Compliant</a:t>
            </a: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PIPEDA and provincial privacy law compliance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Access</a:t>
            </a: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National, regional, and local administrator controls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00600" y="306324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4983480" y="320040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Audit Trail</a:t>
            </a: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for compliance and arbitration support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function. Every local.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michel@nungisalaw.ca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3657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 a 30-minute demo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BDB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nungisalaw.ca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808D"/>
                </a:solidFill>
                <a:latin typeface="Trebuchet MS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91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  <a:latin typeface="Trebuchet MS"/>
              </a:rPr>
              <a:t>UE — Objection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Trebuchet MS"/>
              </a:rPr>
              <a:t>Defending the $25,000 National Base 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7974"/>
                </a:solidFill>
                <a:latin typeface="Calibri"/>
              </a:rPr>
              <a:t>This slide is for your preparation only — do not present it. Use it before the meeting.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64208"/>
            <a:ext cx="8229600" cy="22860"/>
          </a:xfrm>
          <a:prstGeom prst="rect">
            <a:avLst/>
          </a:prstGeom>
          <a:solidFill>
            <a:srgbClr val="20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2606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2606040" cy="54864"/>
          </a:xfrm>
          <a:prstGeom prst="rect">
            <a:avLst/>
          </a:prstGeom>
          <a:solidFill>
            <a:srgbClr val="20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1874520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0808D"/>
                </a:solidFill>
                <a:latin typeface="Trebuchet MS"/>
              </a:rPr>
              <a:t>OBJECTION 1 —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12264"/>
            <a:ext cx="22768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8251D"/>
                </a:solidFill>
                <a:latin typeface="Calibri"/>
              </a:rPr>
              <a:t>"Why not just roll it into the per-member rate?"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624328"/>
            <a:ext cx="2276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2A4A"/>
                </a:solidFill>
                <a:latin typeface="Trebuchet MS"/>
              </a:rPr>
              <a:t>YOUR RESPONSE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2807208"/>
            <a:ext cx="2276856" cy="16459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2843784"/>
            <a:ext cx="137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808D"/>
                </a:solidFill>
                <a:latin typeface="Calibri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843784"/>
            <a:ext cx="2139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51D"/>
                </a:solidFill>
                <a:latin typeface="Calibri"/>
              </a:rPr>
              <a:t>The base fee signals a committed, enterprise relationship — not a SaaS subscription.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255264"/>
            <a:ext cx="137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808D"/>
                </a:solidFill>
                <a:latin typeface="Calibri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3255264"/>
            <a:ext cx="2139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51D"/>
                </a:solidFill>
                <a:latin typeface="Calibri"/>
              </a:rPr>
              <a:t>Folding it in means smaller nationals subsidize account management they can't see.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666744"/>
            <a:ext cx="137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808D"/>
                </a:solidFill>
                <a:latin typeface="Calibri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3666744"/>
            <a:ext cx="2139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51D"/>
                </a:solidFill>
                <a:latin typeface="Calibri"/>
              </a:rPr>
              <a:t>The separation is structurally honest — and it protects your margin at every tier.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16552"/>
            <a:ext cx="2606040" cy="658368"/>
          </a:xfrm>
          <a:prstGeom prst="rect">
            <a:avLst/>
          </a:prstGeom>
          <a:solidFill>
            <a:srgbClr val="E0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4507992"/>
            <a:ext cx="22768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Tip: "The base fee is what makes this a partnership, not a product."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23260" y="1783080"/>
            <a:ext cx="2606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23260" y="1783080"/>
            <a:ext cx="2606040" cy="54864"/>
          </a:xfrm>
          <a:prstGeom prst="rect">
            <a:avLst/>
          </a:prstGeom>
          <a:solidFill>
            <a:srgbClr val="20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87852" y="1874520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0808D"/>
                </a:solidFill>
                <a:latin typeface="Trebuchet MS"/>
              </a:rPr>
              <a:t>OBJECTION 2 — COMPETITION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7852" y="2112264"/>
            <a:ext cx="22768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8251D"/>
                </a:solidFill>
                <a:latin typeface="Calibri"/>
              </a:rPr>
              <a:t>"Other tools don't charge a base fee."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7852" y="2624328"/>
            <a:ext cx="2276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2A4A"/>
                </a:solidFill>
                <a:latin typeface="Trebuchet MS"/>
              </a:rPr>
              <a:t>YOUR RESPONSE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7852" y="2807208"/>
            <a:ext cx="2276856" cy="16459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87852" y="2843784"/>
            <a:ext cx="137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808D"/>
                </a:solidFill>
                <a:latin typeface="Calibri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5012" y="2843784"/>
            <a:ext cx="2139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51D"/>
                </a:solidFill>
                <a:latin typeface="Calibri"/>
              </a:rPr>
              <a:t>True — other tools also don't include a dedicated account team, Canadian data residency, or national-to-local deployment.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7852" y="3255264"/>
            <a:ext cx="137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808D"/>
                </a:solidFill>
                <a:latin typeface="Calibri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5012" y="3255264"/>
            <a:ext cx="2139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51D"/>
                </a:solidFill>
                <a:latin typeface="Calibri"/>
              </a:rPr>
              <a:t>Point-solution competitors (GrievTrac, iMIS) hide equivalent costs in higher per-member rates or per-local fees.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7852" y="3666744"/>
            <a:ext cx="137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808D"/>
                </a:solidFill>
                <a:latin typeface="Calibri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5012" y="3666744"/>
            <a:ext cx="2139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51D"/>
                </a:solidFill>
                <a:latin typeface="Calibri"/>
              </a:rPr>
              <a:t>Comparing line items without comparing scope is an apples-to-oranges argument.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23260" y="4416552"/>
            <a:ext cx="2606040" cy="658368"/>
          </a:xfrm>
          <a:prstGeom prst="rect">
            <a:avLst/>
          </a:prstGeom>
          <a:solidFill>
            <a:srgbClr val="E0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87852" y="4507992"/>
            <a:ext cx="22768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Tip: "What does GrievTrac cost you per local, across 300 locals?"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89320" y="1783080"/>
            <a:ext cx="2606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989320" y="1783080"/>
            <a:ext cx="2606040" cy="54864"/>
          </a:xfrm>
          <a:prstGeom prst="rect">
            <a:avLst/>
          </a:prstGeom>
          <a:solidFill>
            <a:srgbClr val="20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53912" y="1874520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0808D"/>
                </a:solidFill>
                <a:latin typeface="Trebuchet MS"/>
              </a:rPr>
              <a:t>OBJECTION 3 — NEGOTIATION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53912" y="2112264"/>
            <a:ext cx="22768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8251D"/>
                </a:solidFill>
                <a:latin typeface="Calibri"/>
              </a:rPr>
              <a:t>"Can we waive the base fee for Year 1?"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3912" y="2624328"/>
            <a:ext cx="2276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2A4A"/>
                </a:solidFill>
                <a:latin typeface="Trebuchet MS"/>
              </a:rPr>
              <a:t>YOUR RESPONSE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53912" y="2807208"/>
            <a:ext cx="2276856" cy="16459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53912" y="2843784"/>
            <a:ext cx="137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808D"/>
                </a:solidFill>
                <a:latin typeface="Calibri"/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1072" y="2843784"/>
            <a:ext cx="2139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51D"/>
                </a:solidFill>
                <a:latin typeface="Calibri"/>
              </a:rPr>
              <a:t>Don't waive it — credit it. Offer the $25k as a credit toward the $50k implementation fee.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53912" y="3255264"/>
            <a:ext cx="137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808D"/>
                </a:solidFill>
                <a:latin typeface="Calibri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91072" y="3255264"/>
            <a:ext cx="2139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51D"/>
                </a:solidFill>
                <a:latin typeface="Calibri"/>
              </a:rPr>
              <a:t>They get half their setup covered. You keep the fee as a structural element.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53912" y="3666744"/>
            <a:ext cx="137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808D"/>
                </a:solidFill>
                <a:latin typeface="Calibri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91072" y="3666744"/>
            <a:ext cx="2139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51D"/>
                </a:solidFill>
                <a:latin typeface="Calibri"/>
              </a:rPr>
              <a:t>Frame it as a launch incentive, not a concession: "We'll apply it toward your deployment."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89320" y="4416552"/>
            <a:ext cx="2606040" cy="658368"/>
          </a:xfrm>
          <a:prstGeom prst="rect">
            <a:avLst/>
          </a:prstGeom>
          <a:solidFill>
            <a:srgbClr val="E0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53912" y="4507992"/>
            <a:ext cx="22768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Tip: Never say 'waive.' Say 'apply as a credit toward implementation.'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239512"/>
            <a:ext cx="8229600" cy="4754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4360" y="5294376"/>
            <a:ext cx="7955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  <a:latin typeface="Calibri"/>
              </a:rPr>
              <a:t>Core principle: The $25k base fee is not a line item to defend — it is a signal of the relationship. Present it with confidence, not apology.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1921</Words>
  <Application>Microsoft Office PowerPoint</Application>
  <PresentationFormat>On-screen Show (16:9)</PresentationFormat>
  <Paragraphs>281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Michel Nungisa</cp:lastModifiedBy>
  <cp:revision>2</cp:revision>
  <dcterms:created xsi:type="dcterms:W3CDTF">2026-04-02T02:51:34Z</dcterms:created>
  <dcterms:modified xsi:type="dcterms:W3CDTF">2026-04-04T09:52:16Z</dcterms:modified>
</cp:coreProperties>
</file>